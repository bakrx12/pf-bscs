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a file with junk data in Visual Studio 2022, one slide per step. Each step slide reveals the next screen and instruction on every click. The full animation video is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map. Steps 1 to 4 set up and build the first program. Step 5 shows the wrong output on purpose, step 6 explains it, step 7 plans the fix and steps 8 to 11 make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Start Visual Studio 2022 and click "Create a new project".
2. Search for "console" and pick Console App with the C++ tag. Click Next.
3. Name the project JunkReader and click Create.
Tip: Name the project JunkReader. Visual Studio makes a folder with that name under source\repos.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Right-click "Resource Files", then choose Add &gt; New Item...
2. Choose Utility &gt; Text File (.txt), name it readings.txt and click Add.
3. Type the readings. Two of them are junk: abc and x. Then press Ctrl+S to save.
Tip: readings.txt must sit in the project folder, next to JunkReader.cpp. abc and x are the junk.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loop runs while inFile &gt;&gt; a[count] works. This is the same loop that worked for clean files.
Tip: This is the loop from Part 1. It works for clean files, so students expect it to work 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 the Build menu and click Build Solution (Ctrl+Shift+B).
2. Build succeeded with 0 errors. The compiler cannot see what is inside readings.txt.
Tip: The compiler checks the code, not the data. A bad file can never cause a build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Wrong! The file has four numbers, but only 10 and 20 were kept. 40 and 50 are missing, and there is no error message.
Tip: No crash and no message: the program just stops early. That is why reading errors are easy to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Read 1 and read 2: 10 and 20 are numbers, so both are stored.
2. Read 3 sees the letter a. An int cannot start with a letter, so the read fails.
3. A failed read makes the while condition false, so the loop ends. Everything after abc is ignored.
Tip: A failed read puts the stream in a fail state. Every read after that does nothing until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New plan: every pass of the loop asks three questions. A number? The end? Or junk?
2. At the end of the file the loop breaks. Result: 10 20 40 50 kept, 2 skipped.
Tip: You can skip the junk word with inFile &gt;&gt; junk; or with inFile.ignore(100, ' '); which needs no array.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Add bad to count the junk, and char junk[50] to hold a junk word while we skip it.
Tip: bad counts the junk words. junk[50] is a place to put a junk word while skipping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Select the old while loop and delete it.
2. Type the new loop: keep numbers, break at the end, and clear() then skip junk.
Tip: Order matters: test for a number first, then the end of the file, and only then treat it as junk.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Change the last cout so it also prints how many items were skipped.
Tip: Reporting what was skipped tells the user the file had problems, instead of hiding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Press Ctrl+Shift+B to build. The changed lines turn green when the file is saved.
2. Correct! All four numbers are kept and the two junk words are counted.
Tip: Try other files: junk at the start (abc 10 20), at the end (10 20 abc), or an empty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loops. The old one stops at the first failed read. The new one decides what to do on every pass: keep a number, stop at the end, or clear the stream and skip the junk word. ignore(100, ' ') skips up to the next space and does not need the junk array.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slide out as the reference program. The purple lines are the fix from steps 8 to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video to play it. It runs about two and a half minutes and covers every step, with captions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EP">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47120" cy="603504"/>
          </a:xfrm>
          <a:prstGeom prst="rect">
            <a:avLst/>
          </a:prstGeom>
          <a:noFill/>
          <a:ln/>
        </p:spPr>
        <p:txBody>
          <a:bodyPr wrap="square" rtlCol="0"/>
          <a:lstStyle>
            <a:lvl1pPr algn="l" indent="0" marL="0">
              <a:buNone/>
              <a:defRPr lang="en-US" sz="3000" b="1" dirty="0">
                <a:solidFill>
                  <a:srgbClr val="1E1E1E"/>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video" Target="../media/media-16-1.mp4"/><Relationship Id="rId2" Type="http://schemas.microsoft.com/office/2007/relationships/media" Target="../media/media-16-1.mp4"/><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417320"/>
            <a:ext cx="5486400" cy="320040"/>
          </a:xfrm>
          <a:prstGeom prst="rect">
            <a:avLst/>
          </a:prstGeom>
          <a:noFill/>
          <a:ln/>
        </p:spPr>
        <p:txBody>
          <a:bodyPr wrap="square" lIns="0" tIns="0" rIns="0" bIns="0" rtlCol="0" anchor="ctr"/>
          <a:lstStyle/>
          <a:p>
            <a:pPr indent="0" marL="0">
              <a:buNone/>
            </a:pPr>
            <a:r>
              <a:rPr lang="en-US" sz="1300" b="1" spc="200" kern="0" dirty="0">
                <a:solidFill>
                  <a:srgbClr val="5B2D90"/>
                </a:solidFill>
              </a:rPr>
              <a:t>C++ FILE HANDLING · VISUAL STUDIO</a:t>
            </a:r>
            <a:endParaRPr lang="en-US" sz="1300" dirty="0"/>
          </a:p>
        </p:txBody>
      </p:sp>
      <p:sp>
        <p:nvSpPr>
          <p:cNvPr id="3" name="Text 1"/>
          <p:cNvSpPr txBox="1"/>
          <p:nvPr/>
        </p:nvSpPr>
        <p:spPr>
          <a:xfrm>
            <a:off x="548640" y="1828800"/>
            <a:ext cx="5669280" cy="1463040"/>
          </a:xfrm>
          <a:prstGeom prst="rect">
            <a:avLst/>
          </a:prstGeom>
          <a:noFill/>
          <a:ln/>
        </p:spPr>
        <p:txBody>
          <a:bodyPr wrap="square" lIns="0" tIns="0" rIns="0" bIns="0" rtlCol="0" anchor="t"/>
          <a:lstStyle/>
          <a:p>
            <a:pPr indent="0" marL="0">
              <a:buNone/>
            </a:pPr>
            <a:r>
              <a:rPr lang="en-US" sz="4000" b="1" dirty="0">
                <a:solidFill>
                  <a:srgbClr val="1E1E1E"/>
                </a:solidFill>
              </a:rPr>
              <a:t>Skipping junk data in Visual Studio</a:t>
            </a:r>
            <a:endParaRPr lang="en-US" sz="4000" dirty="0"/>
          </a:p>
        </p:txBody>
      </p:sp>
      <p:sp>
        <p:nvSpPr>
          <p:cNvPr id="4" name="Text 2"/>
          <p:cNvSpPr txBox="1"/>
          <p:nvPr/>
        </p:nvSpPr>
        <p:spPr>
          <a:xfrm>
            <a:off x="548640" y="3429000"/>
            <a:ext cx="5394960" cy="1005840"/>
          </a:xfrm>
          <a:prstGeom prst="rect">
            <a:avLst/>
          </a:prstGeom>
          <a:noFill/>
          <a:ln/>
        </p:spPr>
        <p:txBody>
          <a:bodyPr wrap="square" lIns="0" tIns="0" rIns="0" bIns="0" rtlCol="0" anchor="t"/>
          <a:lstStyle/>
          <a:p>
            <a:pPr indent="0" marL="0">
              <a:buNone/>
            </a:pPr>
            <a:r>
              <a:rPr lang="en-US" sz="1700" dirty="0">
                <a:solidFill>
                  <a:srgbClr val="555555"/>
                </a:solidFill>
              </a:rPr>
              <a:t>A file of numbers with junk words mixed in. The first program stops at the first junk word. We find out why, then fix it step by step.</a:t>
            </a:r>
            <a:endParaRPr lang="en-US" sz="1700" dirty="0"/>
          </a:p>
        </p:txBody>
      </p:sp>
      <p:sp>
        <p:nvSpPr>
          <p:cNvPr id="5" name="Text 3"/>
          <p:cNvSpPr txBox="1"/>
          <p:nvPr/>
        </p:nvSpPr>
        <p:spPr>
          <a:xfrm>
            <a:off x="548640" y="4709160"/>
            <a:ext cx="4572000" cy="457200"/>
          </a:xfrm>
          <a:prstGeom prst="rect">
            <a:avLst/>
          </a:prstGeom>
          <a:solidFill>
            <a:srgbClr val="F2F2F2"/>
          </a:solidFill>
          <a:ln w="12700">
            <a:solidFill>
              <a:srgbClr val="A6A6A6"/>
            </a:solidFill>
          </a:ln>
        </p:spPr>
        <p:txBody>
          <a:bodyPr wrap="square" lIns="101600" tIns="101600" rIns="101600" bIns="101600" rtlCol="0" anchor="ctr"/>
          <a:lstStyle/>
          <a:p>
            <a:pPr indent="0" marL="0">
              <a:buNone/>
            </a:pPr>
            <a:r>
              <a:rPr lang="en-US" sz="1600" b="1" dirty="0">
                <a:solidFill>
                  <a:srgbClr val="1E1E1E"/>
                </a:solidFill>
                <a:latin typeface="Courier New" pitchFamily="34" charset="0"/>
                <a:ea typeface="Courier New" pitchFamily="34" charset="-122"/>
                <a:cs typeface="Courier New" pitchFamily="34" charset="-120"/>
              </a:rPr>
              <a:t>readings.txt   </a:t>
            </a:r>
            <a:pPr indent="0" marL="0">
              <a:buNone/>
            </a:pPr>
            <a:r>
              <a:rPr lang="en-US" sz="1600" dirty="0">
                <a:solidFill>
                  <a:srgbClr val="1E1E1E"/>
                </a:solidFill>
                <a:latin typeface="Courier New" pitchFamily="34" charset="0"/>
                <a:ea typeface="Courier New" pitchFamily="34" charset="-122"/>
                <a:cs typeface="Courier New" pitchFamily="34" charset="-120"/>
              </a:rPr>
              <a:t>10 20 abc 40 x 50</a:t>
            </a:r>
            <a:endParaRPr lang="en-US" sz="1600" dirty="0"/>
          </a:p>
        </p:txBody>
      </p:sp>
      <p:sp>
        <p:nvSpPr>
          <p:cNvPr id="6" name="Shape 4"/>
          <p:cNvSpPr/>
          <p:nvPr/>
        </p:nvSpPr>
        <p:spPr>
          <a:xfrm>
            <a:off x="6473952" y="1581912"/>
            <a:ext cx="5248656" cy="2642616"/>
          </a:xfrm>
          <a:prstGeom prst="rect">
            <a:avLst/>
          </a:prstGeom>
          <a:solidFill>
            <a:srgbClr val="FFFFFF"/>
          </a:solidFill>
          <a:ln w="12700">
            <a:solidFill>
              <a:srgbClr val="A6A6A6"/>
            </a:solidFill>
            <a:prstDash val="solid"/>
          </a:ln>
        </p:spPr>
      </p:sp>
      <p:pic>
        <p:nvPicPr>
          <p:cNvPr id="7" name="Image 0" descr="Visual Studio showing Kept: 10 20 40 50 and Skipped: 2">    </p:cNvPr>
          <p:cNvPicPr>
            <a:picLocks noChangeAspect="1"/>
          </p:cNvPicPr>
          <p:nvPr/>
        </p:nvPicPr>
        <p:blipFill>
          <a:blip r:embed="rId1"/>
          <a:stretch>
            <a:fillRect/>
          </a:stretch>
        </p:blipFill>
        <p:spPr>
          <a:xfrm>
            <a:off x="6492240" y="1600200"/>
            <a:ext cx="5212080" cy="2606040"/>
          </a:xfrm>
          <a:prstGeom prst="rect">
            <a:avLst/>
          </a:prstGeom>
        </p:spPr>
      </p:pic>
      <p:sp>
        <p:nvSpPr>
          <p:cNvPr id="8" name="Text 5"/>
          <p:cNvSpPr txBox="1"/>
          <p:nvPr/>
        </p:nvSpPr>
        <p:spPr>
          <a:xfrm>
            <a:off x="6492240" y="4297680"/>
            <a:ext cx="5212080" cy="320040"/>
          </a:xfrm>
          <a:prstGeom prst="rect">
            <a:avLst/>
          </a:prstGeom>
          <a:noFill/>
          <a:ln/>
        </p:spPr>
        <p:txBody>
          <a:bodyPr wrap="square" lIns="0" tIns="0" rIns="0" bIns="0" rtlCol="0" anchor="ctr"/>
          <a:lstStyle/>
          <a:p>
            <a:pPr indent="0" marL="0">
              <a:buNone/>
            </a:pPr>
            <a:r>
              <a:rPr lang="en-US" sz="1200" dirty="0">
                <a:solidFill>
                  <a:srgbClr val="555555"/>
                </a:solidFill>
              </a:rPr>
              <a:t>The finished program keeps 10 20 40 50 and skips 2 junk words.</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92608"/>
            <a:ext cx="3657600" cy="274320"/>
          </a:xfrm>
          <a:prstGeom prst="rect">
            <a:avLst/>
          </a:prstGeom>
          <a:noFill/>
          <a:ln/>
        </p:spPr>
        <p:txBody>
          <a:bodyPr wrap="square" lIns="0" tIns="0" rIns="0" bIns="0" rtlCol="0" anchor="ctr"/>
          <a:lstStyle/>
          <a:p>
            <a:pPr indent="0" marL="0">
              <a:buNone/>
            </a:pPr>
            <a:r>
              <a:rPr lang="en-US" sz="1200" b="1" spc="200" kern="0" dirty="0">
                <a:solidFill>
                  <a:srgbClr val="5B2D90"/>
                </a:solidFill>
              </a:rPr>
              <a:t>OVERVIEW</a:t>
            </a:r>
            <a:endParaRPr lang="en-US" sz="1200" dirty="0"/>
          </a:p>
        </p:txBody>
      </p:sp>
      <p:sp>
        <p:nvSpPr>
          <p:cNvPr id="3" name="Text 0"/>
          <p:cNvSpPr/>
          <p:nvPr>
            <p:ph idx="100" type="title" hasCustomPrompt="1"/>
          </p:nvPr>
        </p:nvSpPr>
        <p:spPr>
          <a:xfrm>
            <a:off x="457200" y="566928"/>
            <a:ext cx="11247120" cy="603504"/>
          </a:xfrm>
          <a:prstGeom prst="rect">
            <a:avLst/>
          </a:prstGeom>
          <a:noFill/>
          <a:ln/>
        </p:spPr>
        <p:txBody>
          <a:bodyPr wrap="square" lIns="0" tIns="0" rIns="0" bIns="0" rtlCol="0" anchor="ctr"/>
          <a:lstStyle/>
          <a:p>
            <a:pPr algn="l" indent="0" marL="0">
              <a:buNone/>
            </a:pPr>
            <a:r>
              <a:rPr lang="en-US" sz="3000" b="1" dirty="0">
                <a:solidFill>
                  <a:srgbClr val="1E1E1E"/>
                </a:solidFill>
                <a:latin typeface="Calibri" pitchFamily="34" charset="0"/>
                <a:ea typeface="Calibri" pitchFamily="34" charset="-122"/>
                <a:cs typeface="Calibri" pitchFamily="34" charset="-120"/>
              </a:rPr>
              <a:t>Eleven steps: from the error to the fix</a:t>
            </a:r>
            <a:endParaRPr lang="en-US" sz="3000" dirty="0"/>
          </a:p>
        </p:txBody>
      </p:sp>
      <p:sp>
        <p:nvSpPr>
          <p:cNvPr id="4" name="Text 2"/>
          <p:cNvSpPr txBox="1"/>
          <p:nvPr/>
        </p:nvSpPr>
        <p:spPr>
          <a:xfrm>
            <a:off x="457200" y="1463040"/>
            <a:ext cx="3566160" cy="365760"/>
          </a:xfrm>
          <a:prstGeom prst="rect">
            <a:avLst/>
          </a:prstGeom>
          <a:noFill/>
          <a:ln/>
        </p:spPr>
        <p:txBody>
          <a:bodyPr wrap="square" lIns="0" tIns="0" rIns="0" bIns="0" rtlCol="0" anchor="ctr"/>
          <a:lstStyle/>
          <a:p>
            <a:pPr indent="0" marL="0">
              <a:buNone/>
            </a:pPr>
            <a:r>
              <a:rPr lang="en-US" sz="1600" b="1" dirty="0">
                <a:solidFill>
                  <a:srgbClr val="1E1E1E"/>
                </a:solidFill>
              </a:rPr>
              <a:t>Set up</a:t>
            </a:r>
            <a:endParaRPr lang="en-US" sz="1600" dirty="0"/>
          </a:p>
        </p:txBody>
      </p:sp>
      <p:sp>
        <p:nvSpPr>
          <p:cNvPr id="5" name="Shape 3"/>
          <p:cNvSpPr/>
          <p:nvPr/>
        </p:nvSpPr>
        <p:spPr>
          <a:xfrm>
            <a:off x="457200" y="1965960"/>
            <a:ext cx="384048" cy="384048"/>
          </a:xfrm>
          <a:prstGeom prst="ellipse">
            <a:avLst/>
          </a:prstGeom>
          <a:solidFill>
            <a:srgbClr val="5B2D90"/>
          </a:solidFill>
          <a:ln w="19050">
            <a:solidFill>
              <a:srgbClr val="5B2D90"/>
            </a:solidFill>
            <a:prstDash val="solid"/>
          </a:ln>
        </p:spPr>
      </p:sp>
      <p:sp>
        <p:nvSpPr>
          <p:cNvPr id="6" name="Text 4"/>
          <p:cNvSpPr txBox="1"/>
          <p:nvPr/>
        </p:nvSpPr>
        <p:spPr>
          <a:xfrm>
            <a:off x="45720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txBox="1"/>
          <p:nvPr/>
        </p:nvSpPr>
        <p:spPr>
          <a:xfrm>
            <a:off x="987552" y="1929384"/>
            <a:ext cx="3017520" cy="457200"/>
          </a:xfrm>
          <a:prstGeom prst="rect">
            <a:avLst/>
          </a:prstGeom>
          <a:noFill/>
          <a:ln/>
        </p:spPr>
        <p:txBody>
          <a:bodyPr wrap="square" lIns="0" tIns="0" rIns="0" bIns="0" rtlCol="0" anchor="ctr"/>
          <a:lstStyle/>
          <a:p>
            <a:pPr indent="0" marL="0">
              <a:buNone/>
            </a:pPr>
            <a:r>
              <a:rPr lang="en-US" sz="1500" dirty="0">
                <a:solidFill>
                  <a:srgbClr val="1E1E1E"/>
                </a:solidFill>
              </a:rPr>
              <a:t>Create the project</a:t>
            </a:r>
            <a:endParaRPr lang="en-US" sz="1500" dirty="0"/>
          </a:p>
        </p:txBody>
      </p:sp>
      <p:sp>
        <p:nvSpPr>
          <p:cNvPr id="8" name="Shape 6"/>
          <p:cNvSpPr/>
          <p:nvPr/>
        </p:nvSpPr>
        <p:spPr>
          <a:xfrm>
            <a:off x="457200" y="2624328"/>
            <a:ext cx="384048" cy="384048"/>
          </a:xfrm>
          <a:prstGeom prst="ellipse">
            <a:avLst/>
          </a:prstGeom>
          <a:solidFill>
            <a:srgbClr val="5B2D90"/>
          </a:solidFill>
          <a:ln w="19050">
            <a:solidFill>
              <a:srgbClr val="5B2D90"/>
            </a:solidFill>
            <a:prstDash val="solid"/>
          </a:ln>
        </p:spPr>
      </p:sp>
      <p:sp>
        <p:nvSpPr>
          <p:cNvPr id="9" name="Text 7"/>
          <p:cNvSpPr txBox="1"/>
          <p:nvPr/>
        </p:nvSpPr>
        <p:spPr>
          <a:xfrm>
            <a:off x="457200" y="2624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Text 8"/>
          <p:cNvSpPr txBox="1"/>
          <p:nvPr/>
        </p:nvSpPr>
        <p:spPr>
          <a:xfrm>
            <a:off x="987552" y="2587752"/>
            <a:ext cx="3017520" cy="457200"/>
          </a:xfrm>
          <a:prstGeom prst="rect">
            <a:avLst/>
          </a:prstGeom>
          <a:noFill/>
          <a:ln/>
        </p:spPr>
        <p:txBody>
          <a:bodyPr wrap="square" lIns="0" tIns="0" rIns="0" bIns="0" rtlCol="0" anchor="ctr"/>
          <a:lstStyle/>
          <a:p>
            <a:pPr indent="0" marL="0">
              <a:buNone/>
            </a:pPr>
            <a:r>
              <a:rPr lang="en-US" sz="1500" dirty="0">
                <a:solidFill>
                  <a:srgbClr val="1E1E1E"/>
                </a:solidFill>
              </a:rPr>
              <a:t>Add the data file readings.txt</a:t>
            </a:r>
            <a:endParaRPr lang="en-US" sz="1500" dirty="0"/>
          </a:p>
        </p:txBody>
      </p:sp>
      <p:sp>
        <p:nvSpPr>
          <p:cNvPr id="11" name="Shape 9"/>
          <p:cNvSpPr/>
          <p:nvPr/>
        </p:nvSpPr>
        <p:spPr>
          <a:xfrm>
            <a:off x="457200" y="3282696"/>
            <a:ext cx="384048" cy="384048"/>
          </a:xfrm>
          <a:prstGeom prst="ellipse">
            <a:avLst/>
          </a:prstGeom>
          <a:solidFill>
            <a:srgbClr val="5B2D90"/>
          </a:solidFill>
          <a:ln w="19050">
            <a:solidFill>
              <a:srgbClr val="5B2D90"/>
            </a:solidFill>
            <a:prstDash val="solid"/>
          </a:ln>
        </p:spPr>
      </p:sp>
      <p:sp>
        <p:nvSpPr>
          <p:cNvPr id="12" name="Text 10"/>
          <p:cNvSpPr txBox="1"/>
          <p:nvPr/>
        </p:nvSpPr>
        <p:spPr>
          <a:xfrm>
            <a:off x="457200" y="3282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3" name="Text 11"/>
          <p:cNvSpPr txBox="1"/>
          <p:nvPr/>
        </p:nvSpPr>
        <p:spPr>
          <a:xfrm>
            <a:off x="987552" y="3246120"/>
            <a:ext cx="3017520" cy="457200"/>
          </a:xfrm>
          <a:prstGeom prst="rect">
            <a:avLst/>
          </a:prstGeom>
          <a:noFill/>
          <a:ln/>
        </p:spPr>
        <p:txBody>
          <a:bodyPr wrap="square" lIns="0" tIns="0" rIns="0" bIns="0" rtlCol="0" anchor="ctr"/>
          <a:lstStyle/>
          <a:p>
            <a:pPr indent="0" marL="0">
              <a:buNone/>
            </a:pPr>
            <a:r>
              <a:rPr lang="en-US" sz="1500" dirty="0">
                <a:solidFill>
                  <a:srgbClr val="1E1E1E"/>
                </a:solidFill>
              </a:rPr>
              <a:t>Write the first program</a:t>
            </a:r>
            <a:endParaRPr lang="en-US" sz="1500" dirty="0"/>
          </a:p>
        </p:txBody>
      </p:sp>
      <p:sp>
        <p:nvSpPr>
          <p:cNvPr id="14" name="Text 12"/>
          <p:cNvSpPr txBox="1"/>
          <p:nvPr/>
        </p:nvSpPr>
        <p:spPr>
          <a:xfrm>
            <a:off x="4297680" y="1463040"/>
            <a:ext cx="3566160" cy="365760"/>
          </a:xfrm>
          <a:prstGeom prst="rect">
            <a:avLst/>
          </a:prstGeom>
          <a:noFill/>
          <a:ln/>
        </p:spPr>
        <p:txBody>
          <a:bodyPr wrap="square" lIns="0" tIns="0" rIns="0" bIns="0" rtlCol="0" anchor="ctr"/>
          <a:lstStyle/>
          <a:p>
            <a:pPr indent="0" marL="0">
              <a:buNone/>
            </a:pPr>
            <a:r>
              <a:rPr lang="en-US" sz="1600" b="1" dirty="0">
                <a:solidFill>
                  <a:srgbClr val="1E1E1E"/>
                </a:solidFill>
              </a:rPr>
              <a:t>Build and run: the error</a:t>
            </a:r>
            <a:endParaRPr lang="en-US" sz="1600" dirty="0"/>
          </a:p>
        </p:txBody>
      </p:sp>
      <p:sp>
        <p:nvSpPr>
          <p:cNvPr id="15" name="Shape 13"/>
          <p:cNvSpPr/>
          <p:nvPr/>
        </p:nvSpPr>
        <p:spPr>
          <a:xfrm>
            <a:off x="4297680" y="1965960"/>
            <a:ext cx="384048" cy="384048"/>
          </a:xfrm>
          <a:prstGeom prst="ellipse">
            <a:avLst/>
          </a:prstGeom>
          <a:solidFill>
            <a:srgbClr val="5B2D90"/>
          </a:solidFill>
          <a:ln w="19050">
            <a:solidFill>
              <a:srgbClr val="5B2D90"/>
            </a:solidFill>
            <a:prstDash val="solid"/>
          </a:ln>
        </p:spPr>
      </p:sp>
      <p:sp>
        <p:nvSpPr>
          <p:cNvPr id="16" name="Text 14"/>
          <p:cNvSpPr txBox="1"/>
          <p:nvPr/>
        </p:nvSpPr>
        <p:spPr>
          <a:xfrm>
            <a:off x="429768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7" name="Text 15"/>
          <p:cNvSpPr txBox="1"/>
          <p:nvPr/>
        </p:nvSpPr>
        <p:spPr>
          <a:xfrm>
            <a:off x="4828032" y="1929384"/>
            <a:ext cx="3017520" cy="457200"/>
          </a:xfrm>
          <a:prstGeom prst="rect">
            <a:avLst/>
          </a:prstGeom>
          <a:noFill/>
          <a:ln/>
        </p:spPr>
        <p:txBody>
          <a:bodyPr wrap="square" lIns="0" tIns="0" rIns="0" bIns="0" rtlCol="0" anchor="ctr"/>
          <a:lstStyle/>
          <a:p>
            <a:pPr indent="0" marL="0">
              <a:buNone/>
            </a:pPr>
            <a:r>
              <a:rPr lang="en-US" sz="1500" dirty="0">
                <a:solidFill>
                  <a:srgbClr val="1E1E1E"/>
                </a:solidFill>
              </a:rPr>
              <a:t>Build the program</a:t>
            </a:r>
            <a:endParaRPr lang="en-US" sz="1500" dirty="0"/>
          </a:p>
        </p:txBody>
      </p:sp>
      <p:sp>
        <p:nvSpPr>
          <p:cNvPr id="18" name="Shape 16"/>
          <p:cNvSpPr/>
          <p:nvPr/>
        </p:nvSpPr>
        <p:spPr>
          <a:xfrm>
            <a:off x="4297680" y="2624328"/>
            <a:ext cx="384048" cy="384048"/>
          </a:xfrm>
          <a:prstGeom prst="ellipse">
            <a:avLst/>
          </a:prstGeom>
          <a:solidFill>
            <a:srgbClr val="FFFFFF"/>
          </a:solidFill>
          <a:ln w="19050">
            <a:solidFill>
              <a:srgbClr val="5B2D90"/>
            </a:solidFill>
            <a:prstDash val="solid"/>
          </a:ln>
        </p:spPr>
      </p:sp>
      <p:sp>
        <p:nvSpPr>
          <p:cNvPr id="19" name="Text 17"/>
          <p:cNvSpPr txBox="1"/>
          <p:nvPr/>
        </p:nvSpPr>
        <p:spPr>
          <a:xfrm>
            <a:off x="4297680" y="2624328"/>
            <a:ext cx="384048" cy="384048"/>
          </a:xfrm>
          <a:prstGeom prst="rect">
            <a:avLst/>
          </a:prstGeom>
          <a:noFill/>
          <a:ln/>
        </p:spPr>
        <p:txBody>
          <a:bodyPr wrap="square" lIns="0" tIns="0" rIns="0" bIns="0" rtlCol="0" anchor="ctr"/>
          <a:lstStyle/>
          <a:p>
            <a:pPr algn="ctr" indent="0" marL="0">
              <a:buNone/>
            </a:pPr>
            <a:r>
              <a:rPr lang="en-US" sz="1300" b="1" dirty="0">
                <a:solidFill>
                  <a:srgbClr val="5B2D90"/>
                </a:solidFill>
              </a:rPr>
              <a:t>5</a:t>
            </a:r>
            <a:endParaRPr lang="en-US" sz="1300" dirty="0"/>
          </a:p>
        </p:txBody>
      </p:sp>
      <p:sp>
        <p:nvSpPr>
          <p:cNvPr id="20" name="Text 18"/>
          <p:cNvSpPr txBox="1"/>
          <p:nvPr/>
        </p:nvSpPr>
        <p:spPr>
          <a:xfrm>
            <a:off x="4828032" y="2587752"/>
            <a:ext cx="3017520" cy="457200"/>
          </a:xfrm>
          <a:prstGeom prst="rect">
            <a:avLst/>
          </a:prstGeom>
          <a:noFill/>
          <a:ln/>
        </p:spPr>
        <p:txBody>
          <a:bodyPr wrap="square" lIns="0" tIns="0" rIns="0" bIns="0" rtlCol="0" anchor="ctr"/>
          <a:lstStyle/>
          <a:p>
            <a:pPr indent="0" marL="0">
              <a:buNone/>
            </a:pPr>
            <a:r>
              <a:rPr lang="en-US" sz="1500" dirty="0">
                <a:solidFill>
                  <a:srgbClr val="1E1E1E"/>
                </a:solidFill>
              </a:rPr>
              <a:t>Run it: the error</a:t>
            </a:r>
            <a:endParaRPr lang="en-US" sz="1500" dirty="0"/>
          </a:p>
        </p:txBody>
      </p:sp>
      <p:sp>
        <p:nvSpPr>
          <p:cNvPr id="21" name="Text 19"/>
          <p:cNvSpPr txBox="1"/>
          <p:nvPr/>
        </p:nvSpPr>
        <p:spPr>
          <a:xfrm>
            <a:off x="8138160" y="1463040"/>
            <a:ext cx="3566160" cy="365760"/>
          </a:xfrm>
          <a:prstGeom prst="rect">
            <a:avLst/>
          </a:prstGeom>
          <a:noFill/>
          <a:ln/>
        </p:spPr>
        <p:txBody>
          <a:bodyPr wrap="square" lIns="0" tIns="0" rIns="0" bIns="0" rtlCol="0" anchor="ctr"/>
          <a:lstStyle/>
          <a:p>
            <a:pPr indent="0" marL="0">
              <a:buNone/>
            </a:pPr>
            <a:r>
              <a:rPr lang="en-US" sz="1600" b="1" dirty="0">
                <a:solidFill>
                  <a:srgbClr val="1E1E1E"/>
                </a:solidFill>
              </a:rPr>
              <a:t>Find and fix it</a:t>
            </a:r>
            <a:endParaRPr lang="en-US" sz="1600" dirty="0"/>
          </a:p>
        </p:txBody>
      </p:sp>
      <p:sp>
        <p:nvSpPr>
          <p:cNvPr id="22" name="Shape 20"/>
          <p:cNvSpPr/>
          <p:nvPr/>
        </p:nvSpPr>
        <p:spPr>
          <a:xfrm>
            <a:off x="8138160" y="1965960"/>
            <a:ext cx="384048" cy="384048"/>
          </a:xfrm>
          <a:prstGeom prst="ellipse">
            <a:avLst/>
          </a:prstGeom>
          <a:solidFill>
            <a:srgbClr val="FFFFFF"/>
          </a:solidFill>
          <a:ln w="19050">
            <a:solidFill>
              <a:srgbClr val="5B2D90"/>
            </a:solidFill>
            <a:prstDash val="solid"/>
          </a:ln>
        </p:spPr>
      </p:sp>
      <p:sp>
        <p:nvSpPr>
          <p:cNvPr id="23" name="Text 21"/>
          <p:cNvSpPr txBox="1"/>
          <p:nvPr/>
        </p:nvSpPr>
        <p:spPr>
          <a:xfrm>
            <a:off x="8138160" y="1965960"/>
            <a:ext cx="384048" cy="384048"/>
          </a:xfrm>
          <a:prstGeom prst="rect">
            <a:avLst/>
          </a:prstGeom>
          <a:noFill/>
          <a:ln/>
        </p:spPr>
        <p:txBody>
          <a:bodyPr wrap="square" lIns="0" tIns="0" rIns="0" bIns="0" rtlCol="0" anchor="ctr"/>
          <a:lstStyle/>
          <a:p>
            <a:pPr algn="ctr" indent="0" marL="0">
              <a:buNone/>
            </a:pPr>
            <a:r>
              <a:rPr lang="en-US" sz="1300" b="1" dirty="0">
                <a:solidFill>
                  <a:srgbClr val="5B2D90"/>
                </a:solidFill>
              </a:rPr>
              <a:t>6</a:t>
            </a:r>
            <a:endParaRPr lang="en-US" sz="1300" dirty="0"/>
          </a:p>
        </p:txBody>
      </p:sp>
      <p:sp>
        <p:nvSpPr>
          <p:cNvPr id="24" name="Text 22"/>
          <p:cNvSpPr txBox="1"/>
          <p:nvPr/>
        </p:nvSpPr>
        <p:spPr>
          <a:xfrm>
            <a:off x="8668512" y="1929384"/>
            <a:ext cx="3017520" cy="457200"/>
          </a:xfrm>
          <a:prstGeom prst="rect">
            <a:avLst/>
          </a:prstGeom>
          <a:noFill/>
          <a:ln/>
        </p:spPr>
        <p:txBody>
          <a:bodyPr wrap="square" lIns="0" tIns="0" rIns="0" bIns="0" rtlCol="0" anchor="ctr"/>
          <a:lstStyle/>
          <a:p>
            <a:pPr indent="0" marL="0">
              <a:buNone/>
            </a:pPr>
            <a:r>
              <a:rPr lang="en-US" sz="1500" dirty="0">
                <a:solidFill>
                  <a:srgbClr val="1E1E1E"/>
                </a:solidFill>
              </a:rPr>
              <a:t>Find the error</a:t>
            </a:r>
            <a:endParaRPr lang="en-US" sz="1500" dirty="0"/>
          </a:p>
        </p:txBody>
      </p:sp>
      <p:sp>
        <p:nvSpPr>
          <p:cNvPr id="25" name="Shape 23"/>
          <p:cNvSpPr/>
          <p:nvPr/>
        </p:nvSpPr>
        <p:spPr>
          <a:xfrm>
            <a:off x="8138160" y="2624328"/>
            <a:ext cx="384048" cy="384048"/>
          </a:xfrm>
          <a:prstGeom prst="ellipse">
            <a:avLst/>
          </a:prstGeom>
          <a:solidFill>
            <a:srgbClr val="5B2D90"/>
          </a:solidFill>
          <a:ln w="19050">
            <a:solidFill>
              <a:srgbClr val="5B2D90"/>
            </a:solidFill>
            <a:prstDash val="solid"/>
          </a:ln>
        </p:spPr>
      </p:sp>
      <p:sp>
        <p:nvSpPr>
          <p:cNvPr id="26" name="Text 24"/>
          <p:cNvSpPr txBox="1"/>
          <p:nvPr/>
        </p:nvSpPr>
        <p:spPr>
          <a:xfrm>
            <a:off x="8138160" y="2624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7" name="Text 25"/>
          <p:cNvSpPr txBox="1"/>
          <p:nvPr/>
        </p:nvSpPr>
        <p:spPr>
          <a:xfrm>
            <a:off x="8668512" y="2587752"/>
            <a:ext cx="3017520" cy="457200"/>
          </a:xfrm>
          <a:prstGeom prst="rect">
            <a:avLst/>
          </a:prstGeom>
          <a:noFill/>
          <a:ln/>
        </p:spPr>
        <p:txBody>
          <a:bodyPr wrap="square" lIns="0" tIns="0" rIns="0" bIns="0" rtlCol="0" anchor="ctr"/>
          <a:lstStyle/>
          <a:p>
            <a:pPr indent="0" marL="0">
              <a:buNone/>
            </a:pPr>
            <a:r>
              <a:rPr lang="en-US" sz="1500" dirty="0">
                <a:solidFill>
                  <a:srgbClr val="1E1E1E"/>
                </a:solidFill>
              </a:rPr>
              <a:t>Plan the fix</a:t>
            </a:r>
            <a:endParaRPr lang="en-US" sz="1500" dirty="0"/>
          </a:p>
        </p:txBody>
      </p:sp>
      <p:sp>
        <p:nvSpPr>
          <p:cNvPr id="28" name="Shape 26"/>
          <p:cNvSpPr/>
          <p:nvPr/>
        </p:nvSpPr>
        <p:spPr>
          <a:xfrm>
            <a:off x="8138160" y="3282696"/>
            <a:ext cx="384048" cy="384048"/>
          </a:xfrm>
          <a:prstGeom prst="ellipse">
            <a:avLst/>
          </a:prstGeom>
          <a:solidFill>
            <a:srgbClr val="5B2D90"/>
          </a:solidFill>
          <a:ln w="19050">
            <a:solidFill>
              <a:srgbClr val="5B2D90"/>
            </a:solidFill>
            <a:prstDash val="solid"/>
          </a:ln>
        </p:spPr>
      </p:sp>
      <p:sp>
        <p:nvSpPr>
          <p:cNvPr id="29" name="Text 27"/>
          <p:cNvSpPr txBox="1"/>
          <p:nvPr/>
        </p:nvSpPr>
        <p:spPr>
          <a:xfrm>
            <a:off x="8138160" y="3282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30" name="Text 28"/>
          <p:cNvSpPr txBox="1"/>
          <p:nvPr/>
        </p:nvSpPr>
        <p:spPr>
          <a:xfrm>
            <a:off x="8668512" y="3246120"/>
            <a:ext cx="3017520" cy="457200"/>
          </a:xfrm>
          <a:prstGeom prst="rect">
            <a:avLst/>
          </a:prstGeom>
          <a:noFill/>
          <a:ln/>
        </p:spPr>
        <p:txBody>
          <a:bodyPr wrap="square" lIns="0" tIns="0" rIns="0" bIns="0" rtlCol="0" anchor="ctr"/>
          <a:lstStyle/>
          <a:p>
            <a:pPr indent="0" marL="0">
              <a:buNone/>
            </a:pPr>
            <a:r>
              <a:rPr lang="en-US" sz="1500" dirty="0">
                <a:solidFill>
                  <a:srgbClr val="1E1E1E"/>
                </a:solidFill>
              </a:rPr>
              <a:t>Fix step 1: add two variables</a:t>
            </a:r>
            <a:endParaRPr lang="en-US" sz="1500" dirty="0"/>
          </a:p>
        </p:txBody>
      </p:sp>
      <p:sp>
        <p:nvSpPr>
          <p:cNvPr id="31" name="Shape 29"/>
          <p:cNvSpPr/>
          <p:nvPr/>
        </p:nvSpPr>
        <p:spPr>
          <a:xfrm>
            <a:off x="8138160" y="3941064"/>
            <a:ext cx="384048" cy="384048"/>
          </a:xfrm>
          <a:prstGeom prst="ellipse">
            <a:avLst/>
          </a:prstGeom>
          <a:solidFill>
            <a:srgbClr val="5B2D90"/>
          </a:solidFill>
          <a:ln w="19050">
            <a:solidFill>
              <a:srgbClr val="5B2D90"/>
            </a:solidFill>
            <a:prstDash val="solid"/>
          </a:ln>
        </p:spPr>
      </p:sp>
      <p:sp>
        <p:nvSpPr>
          <p:cNvPr id="32" name="Text 30"/>
          <p:cNvSpPr txBox="1"/>
          <p:nvPr/>
        </p:nvSpPr>
        <p:spPr>
          <a:xfrm>
            <a:off x="8138160" y="3941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9</a:t>
            </a:r>
            <a:endParaRPr lang="en-US" sz="1300" dirty="0"/>
          </a:p>
        </p:txBody>
      </p:sp>
      <p:sp>
        <p:nvSpPr>
          <p:cNvPr id="33" name="Text 31"/>
          <p:cNvSpPr txBox="1"/>
          <p:nvPr/>
        </p:nvSpPr>
        <p:spPr>
          <a:xfrm>
            <a:off x="8668512" y="3904488"/>
            <a:ext cx="3017520" cy="457200"/>
          </a:xfrm>
          <a:prstGeom prst="rect">
            <a:avLst/>
          </a:prstGeom>
          <a:noFill/>
          <a:ln/>
        </p:spPr>
        <p:txBody>
          <a:bodyPr wrap="square" lIns="0" tIns="0" rIns="0" bIns="0" rtlCol="0" anchor="ctr"/>
          <a:lstStyle/>
          <a:p>
            <a:pPr indent="0" marL="0">
              <a:buNone/>
            </a:pPr>
            <a:r>
              <a:rPr lang="en-US" sz="1500" dirty="0">
                <a:solidFill>
                  <a:srgbClr val="1E1E1E"/>
                </a:solidFill>
              </a:rPr>
              <a:t>Fix step 2: replace the loop</a:t>
            </a:r>
            <a:endParaRPr lang="en-US" sz="1500" dirty="0"/>
          </a:p>
        </p:txBody>
      </p:sp>
      <p:sp>
        <p:nvSpPr>
          <p:cNvPr id="34" name="Shape 32"/>
          <p:cNvSpPr/>
          <p:nvPr/>
        </p:nvSpPr>
        <p:spPr>
          <a:xfrm>
            <a:off x="8138160" y="4599432"/>
            <a:ext cx="384048" cy="384048"/>
          </a:xfrm>
          <a:prstGeom prst="ellipse">
            <a:avLst/>
          </a:prstGeom>
          <a:solidFill>
            <a:srgbClr val="5B2D90"/>
          </a:solidFill>
          <a:ln w="19050">
            <a:solidFill>
              <a:srgbClr val="5B2D90"/>
            </a:solidFill>
            <a:prstDash val="solid"/>
          </a:ln>
        </p:spPr>
      </p:sp>
      <p:sp>
        <p:nvSpPr>
          <p:cNvPr id="35" name="Text 33"/>
          <p:cNvSpPr txBox="1"/>
          <p:nvPr/>
        </p:nvSpPr>
        <p:spPr>
          <a:xfrm>
            <a:off x="8138160" y="4599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10</a:t>
            </a:r>
            <a:endParaRPr lang="en-US" sz="1300" dirty="0"/>
          </a:p>
        </p:txBody>
      </p:sp>
      <p:sp>
        <p:nvSpPr>
          <p:cNvPr id="36" name="Text 34"/>
          <p:cNvSpPr txBox="1"/>
          <p:nvPr/>
        </p:nvSpPr>
        <p:spPr>
          <a:xfrm>
            <a:off x="8668512" y="4562856"/>
            <a:ext cx="3017520" cy="457200"/>
          </a:xfrm>
          <a:prstGeom prst="rect">
            <a:avLst/>
          </a:prstGeom>
          <a:noFill/>
          <a:ln/>
        </p:spPr>
        <p:txBody>
          <a:bodyPr wrap="square" lIns="0" tIns="0" rIns="0" bIns="0" rtlCol="0" anchor="ctr"/>
          <a:lstStyle/>
          <a:p>
            <a:pPr indent="0" marL="0">
              <a:buNone/>
            </a:pPr>
            <a:r>
              <a:rPr lang="en-US" sz="1500" dirty="0">
                <a:solidFill>
                  <a:srgbClr val="1E1E1E"/>
                </a:solidFill>
              </a:rPr>
              <a:t>Fix step 3: print the skipped count</a:t>
            </a:r>
            <a:endParaRPr lang="en-US" sz="1500" dirty="0"/>
          </a:p>
        </p:txBody>
      </p:sp>
      <p:sp>
        <p:nvSpPr>
          <p:cNvPr id="37" name="Shape 35"/>
          <p:cNvSpPr/>
          <p:nvPr/>
        </p:nvSpPr>
        <p:spPr>
          <a:xfrm>
            <a:off x="8138160" y="5257800"/>
            <a:ext cx="384048" cy="384048"/>
          </a:xfrm>
          <a:prstGeom prst="ellipse">
            <a:avLst/>
          </a:prstGeom>
          <a:solidFill>
            <a:srgbClr val="5B2D90"/>
          </a:solidFill>
          <a:ln w="19050">
            <a:solidFill>
              <a:srgbClr val="5B2D90"/>
            </a:solidFill>
            <a:prstDash val="solid"/>
          </a:ln>
        </p:spPr>
      </p:sp>
      <p:sp>
        <p:nvSpPr>
          <p:cNvPr id="38" name="Text 36"/>
          <p:cNvSpPr txBox="1"/>
          <p:nvPr/>
        </p:nvSpPr>
        <p:spPr>
          <a:xfrm>
            <a:off x="8138160" y="5257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11</a:t>
            </a:r>
            <a:endParaRPr lang="en-US" sz="1300" dirty="0"/>
          </a:p>
        </p:txBody>
      </p:sp>
      <p:sp>
        <p:nvSpPr>
          <p:cNvPr id="39" name="Text 37"/>
          <p:cNvSpPr txBox="1"/>
          <p:nvPr/>
        </p:nvSpPr>
        <p:spPr>
          <a:xfrm>
            <a:off x="8668512" y="5221224"/>
            <a:ext cx="3017520" cy="457200"/>
          </a:xfrm>
          <a:prstGeom prst="rect">
            <a:avLst/>
          </a:prstGeom>
          <a:noFill/>
          <a:ln/>
        </p:spPr>
        <p:txBody>
          <a:bodyPr wrap="square" lIns="0" tIns="0" rIns="0" bIns="0" rtlCol="0" anchor="ctr"/>
          <a:lstStyle/>
          <a:p>
            <a:pPr indent="0" marL="0">
              <a:buNone/>
            </a:pPr>
            <a:r>
              <a:rPr lang="en-US" sz="1500" dirty="0">
                <a:solidFill>
                  <a:srgbClr val="1E1E1E"/>
                </a:solidFill>
              </a:rPr>
              <a:t>Build and run again</a:t>
            </a:r>
            <a:endParaRPr lang="en-US" sz="1500" dirty="0"/>
          </a:p>
        </p:txBody>
      </p:sp>
      <p:sp>
        <p:nvSpPr>
          <p:cNvPr id="40" name="Text 38"/>
          <p:cNvSpPr txBox="1"/>
          <p:nvPr/>
        </p:nvSpPr>
        <p:spPr>
          <a:xfrm>
            <a:off x="457200" y="5715000"/>
            <a:ext cx="11247120" cy="411480"/>
          </a:xfrm>
          <a:prstGeom prst="rect">
            <a:avLst/>
          </a:prstGeom>
          <a:noFill/>
          <a:ln/>
        </p:spPr>
        <p:txBody>
          <a:bodyPr wrap="square" lIns="0" tIns="0" rIns="0" bIns="0" rtlCol="0" anchor="ctr"/>
          <a:lstStyle/>
          <a:p>
            <a:pPr indent="0" marL="0">
              <a:buNone/>
            </a:pPr>
            <a:r>
              <a:rPr lang="en-US" sz="1400" dirty="0">
                <a:solidFill>
                  <a:srgbClr val="555555"/>
                </a:solidFill>
              </a:rPr>
              <a:t>Steps 5 and 6 (outlined) show the mistake: the first program stops at the first junk word. Steps 7 to 11 fix it.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92608"/>
            <a:ext cx="3657600" cy="274320"/>
          </a:xfrm>
          <a:prstGeom prst="rect">
            <a:avLst/>
          </a:prstGeom>
          <a:noFill/>
          <a:ln/>
        </p:spPr>
        <p:txBody>
          <a:bodyPr wrap="square" lIns="0" tIns="0" rIns="0" bIns="0" rtlCol="0" anchor="ctr"/>
          <a:lstStyle/>
          <a:p>
            <a:pPr indent="0" marL="0">
              <a:buNone/>
            </a:pPr>
            <a:r>
              <a:rPr lang="en-US" sz="1200" b="1" spc="200" kern="0" dirty="0">
                <a:solidFill>
                  <a:srgbClr val="5B2D90"/>
                </a:solidFill>
              </a:rPr>
              <a:t>STEP 1 OF 11</a:t>
            </a:r>
            <a:endParaRPr lang="en-US" sz="1200" dirty="0"/>
          </a:p>
        </p:txBody>
      </p:sp>
      <p:sp>
        <p:nvSpPr>
          <p:cNvPr id="3" name="Text 0"/>
          <p:cNvSpPr/>
          <p:nvPr>
            <p:ph idx="100" type="title" hasCustomPrompt="1"/>
          </p:nvPr>
        </p:nvSpPr>
        <p:spPr>
          <a:xfrm>
            <a:off x="457200" y="566928"/>
            <a:ext cx="11247120" cy="603504"/>
          </a:xfrm>
          <a:prstGeom prst="rect">
            <a:avLst/>
          </a:prstGeom>
          <a:noFill/>
          <a:ln/>
        </p:spPr>
        <p:txBody>
          <a:bodyPr wrap="square" lIns="0" tIns="0" rIns="0" bIns="0" rtlCol="0" anchor="ctr"/>
          <a:lstStyle/>
          <a:p>
            <a:pPr algn="l" indent="0" marL="0">
              <a:buNone/>
            </a:pPr>
            <a:r>
              <a:rPr lang="en-US" sz="3000" b="1" dirty="0">
                <a:solidFill>
                  <a:srgbClr val="1E1E1E"/>
                </a:solidFill>
                <a:latin typeface="Calibri" pitchFamily="34" charset="0"/>
                <a:ea typeface="Calibri" pitchFamily="34" charset="-122"/>
                <a:cs typeface="Calibri" pitchFamily="34" charset="-120"/>
              </a:rPr>
              <a:t>Create the project</a:t>
            </a:r>
            <a:endParaRPr lang="en-US" sz="3000" dirty="0"/>
          </a:p>
        </p:txBody>
      </p:sp>
      <p:sp>
        <p:nvSpPr>
          <p:cNvPr id="4" name="Shape 2"/>
          <p:cNvSpPr/>
          <p:nvPr/>
        </p:nvSpPr>
        <p:spPr>
          <a:xfrm>
            <a:off x="438912" y="1353312"/>
            <a:ext cx="7808976" cy="3922776"/>
          </a:xfrm>
          <a:prstGeom prst="rect">
            <a:avLst/>
          </a:prstGeom>
          <a:solidFill>
            <a:srgbClr val="FFFFFF"/>
          </a:solidFill>
          <a:ln w="12700">
            <a:solidFill>
              <a:srgbClr val="A6A6A6"/>
            </a:solidFill>
            <a:prstDash val="solid"/>
          </a:ln>
        </p:spPr>
      </p:sp>
      <p:pic>
        <p:nvPicPr>
          <p:cNvPr id="5" name="pic_1" descr="Start Visual Studio 2022 and click &quot;Create a new project&quot;.">    </p:cNvPr>
          <p:cNvPicPr>
            <a:picLocks noChangeAspect="1"/>
          </p:cNvPicPr>
          <p:nvPr/>
        </p:nvPicPr>
        <p:blipFill>
          <a:blip r:embed="rId1"/>
          <a:stretch>
            <a:fillRect/>
          </a:stretch>
        </p:blipFill>
        <p:spPr>
          <a:xfrm>
            <a:off x="457200" y="1371600"/>
            <a:ext cx="7772400" cy="3886200"/>
          </a:xfrm>
          <a:prstGeom prst="rect">
            <a:avLst/>
          </a:prstGeom>
        </p:spPr>
      </p:pic>
      <p:pic>
        <p:nvPicPr>
          <p:cNvPr id="6" name="pic_2" descr="Search for &quot;console&quot; and pick Console App with the C++ tag. Click Next.">    </p:cNvPr>
          <p:cNvPicPr>
            <a:picLocks noChangeAspect="1"/>
          </p:cNvPicPr>
          <p:nvPr/>
        </p:nvPicPr>
        <p:blipFill>
          <a:blip r:embed="rId2"/>
          <a:stretch>
            <a:fillRect/>
          </a:stretch>
        </p:blipFill>
        <p:spPr>
          <a:xfrm>
            <a:off x="457200" y="1371600"/>
            <a:ext cx="7772400" cy="3886200"/>
          </a:xfrm>
          <a:prstGeom prst="rect">
            <a:avLst/>
          </a:prstGeom>
        </p:spPr>
      </p:pic>
      <p:pic>
        <p:nvPicPr>
          <p:cNvPr id="7" name="pic_3" descr="Name the project JunkReader and click Create.">    </p:cNvPr>
          <p:cNvPicPr>
            <a:picLocks noChangeAspect="1"/>
          </p:cNvPicPr>
          <p:nvPr/>
        </p:nvPicPr>
        <p:blipFill>
          <a:blip r:embed="rId3"/>
          <a:stretch>
            <a:fillRect/>
          </a:stretch>
        </p:blipFill>
        <p:spPr>
          <a:xfrm>
            <a:off x="457200" y="1371600"/>
            <a:ext cx="7772400" cy="3886200"/>
          </a:xfrm>
          <a:prstGeom prst="rect">
            <a:avLst/>
          </a:prstGeom>
        </p:spPr>
      </p:pic>
      <p:sp>
        <p:nvSpPr>
          <p:cNvPr id="8" name="num_1"/>
          <p:cNvSpPr/>
          <p:nvPr/>
        </p:nvSpPr>
        <p:spPr>
          <a:xfrm>
            <a:off x="8549640" y="1389888"/>
            <a:ext cx="365760" cy="365760"/>
          </a:xfrm>
          <a:prstGeom prst="ellipse">
            <a:avLst/>
          </a:prstGeom>
          <a:solidFill>
            <a:srgbClr val="5B2D90"/>
          </a:solidFill>
          <a:ln w="12700">
            <a:solidFill>
              <a:srgbClr val="5B2D90"/>
            </a:solidFill>
            <a:prstDash val="solid"/>
          </a:ln>
        </p:spPr>
      </p:sp>
      <p:sp>
        <p:nvSpPr>
          <p:cNvPr id="9" name="numt_1"/>
          <p:cNvSpPr txBox="1"/>
          <p:nvPr/>
        </p:nvSpPr>
        <p:spPr>
          <a:xfrm>
            <a:off x="8549640" y="1389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xt_1"/>
          <p:cNvSpPr txBox="1"/>
          <p:nvPr/>
        </p:nvSpPr>
        <p:spPr>
          <a:xfrm>
            <a:off x="9052560" y="1371600"/>
            <a:ext cx="2697480" cy="566928"/>
          </a:xfrm>
          <a:prstGeom prst="rect">
            <a:avLst/>
          </a:prstGeom>
          <a:noFill/>
          <a:ln/>
        </p:spPr>
        <p:txBody>
          <a:bodyPr wrap="square" lIns="0" tIns="0" rIns="0" bIns="0" rtlCol="0" anchor="t"/>
          <a:lstStyle/>
          <a:p>
            <a:pPr indent="0" marL="0">
              <a:buNone/>
            </a:pPr>
            <a:r>
              <a:rPr lang="en-US" sz="1500" dirty="0">
                <a:solidFill>
                  <a:srgbClr val="1E1E1E"/>
                </a:solidFill>
              </a:rPr>
              <a:t>Start Visual Studio 2022 and click "Create a new project".</a:t>
            </a:r>
            <a:endParaRPr lang="en-US" sz="1500" dirty="0"/>
          </a:p>
        </p:txBody>
      </p:sp>
      <p:sp>
        <p:nvSpPr>
          <p:cNvPr id="11" name="num_2"/>
          <p:cNvSpPr/>
          <p:nvPr/>
        </p:nvSpPr>
        <p:spPr>
          <a:xfrm>
            <a:off x="8549640" y="2231136"/>
            <a:ext cx="365760" cy="365760"/>
          </a:xfrm>
          <a:prstGeom prst="ellipse">
            <a:avLst/>
          </a:prstGeom>
          <a:solidFill>
            <a:srgbClr val="5B2D90"/>
          </a:solidFill>
          <a:ln w="12700">
            <a:solidFill>
              <a:srgbClr val="5B2D90"/>
            </a:solidFill>
            <a:prstDash val="solid"/>
          </a:ln>
        </p:spPr>
      </p:sp>
      <p:sp>
        <p:nvSpPr>
          <p:cNvPr id="12" name="numt_2"/>
          <p:cNvSpPr txBox="1"/>
          <p:nvPr/>
        </p:nvSpPr>
        <p:spPr>
          <a:xfrm>
            <a:off x="8549640" y="22311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xt_2"/>
          <p:cNvSpPr txBox="1"/>
          <p:nvPr/>
        </p:nvSpPr>
        <p:spPr>
          <a:xfrm>
            <a:off x="9052560" y="2212848"/>
            <a:ext cx="2697480" cy="813816"/>
          </a:xfrm>
          <a:prstGeom prst="rect">
            <a:avLst/>
          </a:prstGeom>
          <a:noFill/>
          <a:ln/>
        </p:spPr>
        <p:txBody>
          <a:bodyPr wrap="square" lIns="0" tIns="0" rIns="0" bIns="0" rtlCol="0" anchor="t"/>
          <a:lstStyle/>
          <a:p>
            <a:pPr indent="0" marL="0">
              <a:buNone/>
            </a:pPr>
            <a:r>
              <a:rPr lang="en-US" sz="1500" dirty="0">
                <a:solidFill>
                  <a:srgbClr val="1E1E1E"/>
                </a:solidFill>
              </a:rPr>
              <a:t>Search for "console" and pick Console App with the C++ tag. Click Next.</a:t>
            </a:r>
            <a:endParaRPr lang="en-US" sz="1500" dirty="0"/>
          </a:p>
        </p:txBody>
      </p:sp>
      <p:sp>
        <p:nvSpPr>
          <p:cNvPr id="14" name="num_3"/>
          <p:cNvSpPr/>
          <p:nvPr/>
        </p:nvSpPr>
        <p:spPr>
          <a:xfrm>
            <a:off x="8549640" y="3319272"/>
            <a:ext cx="365760" cy="365760"/>
          </a:xfrm>
          <a:prstGeom prst="ellipse">
            <a:avLst/>
          </a:prstGeom>
          <a:solidFill>
            <a:srgbClr val="5B2D90"/>
          </a:solidFill>
          <a:ln w="12700">
            <a:solidFill>
              <a:srgbClr val="5B2D90"/>
            </a:solidFill>
            <a:prstDash val="solid"/>
          </a:ln>
        </p:spPr>
      </p:sp>
      <p:sp>
        <p:nvSpPr>
          <p:cNvPr id="15" name="numt_3"/>
          <p:cNvSpPr txBox="1"/>
          <p:nvPr/>
        </p:nvSpPr>
        <p:spPr>
          <a:xfrm>
            <a:off x="8549640" y="33192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xt_3"/>
          <p:cNvSpPr txBox="1"/>
          <p:nvPr/>
        </p:nvSpPr>
        <p:spPr>
          <a:xfrm>
            <a:off x="9052560" y="3300984"/>
            <a:ext cx="2697480" cy="566928"/>
          </a:xfrm>
          <a:prstGeom prst="rect">
            <a:avLst/>
          </a:prstGeom>
          <a:noFill/>
          <a:ln/>
        </p:spPr>
        <p:txBody>
          <a:bodyPr wrap="square" lIns="0" tIns="0" rIns="0" bIns="0" rtlCol="0" anchor="t"/>
          <a:lstStyle/>
          <a:p>
            <a:pPr indent="0" marL="0">
              <a:buNone/>
            </a:pPr>
            <a:r>
              <a:rPr lang="en-US" sz="1500" dirty="0">
                <a:solidFill>
                  <a:srgbClr val="1E1E1E"/>
                </a:solidFill>
              </a:rPr>
              <a:t>Name the project JunkReader and click Create.</a:t>
            </a:r>
            <a:endParaRPr lang="en-US" sz="1500" dirty="0"/>
          </a:p>
        </p:txBody>
      </p:sp>
      <p:sp>
        <p:nvSpPr>
          <p:cNvPr id="17" name="Text 12"/>
          <p:cNvSpPr txBox="1"/>
          <p:nvPr/>
        </p:nvSpPr>
        <p:spPr>
          <a:xfrm>
            <a:off x="457200" y="5486400"/>
            <a:ext cx="7772400" cy="685800"/>
          </a:xfrm>
          <a:prstGeom prst="rect">
            <a:avLst/>
          </a:prstGeom>
          <a:solidFill>
            <a:srgbClr val="F2F2F2"/>
          </a:solidFill>
          <a:ln w="9525">
            <a:solidFill>
              <a:srgbClr val="D0D0D0"/>
            </a:solidFill>
          </a:ln>
        </p:spPr>
        <p:txBody>
          <a:bodyPr wrap="square" lIns="76200" tIns="152400" rIns="152400" bIns="76200" rtlCol="0" anchor="ctr"/>
          <a:lstStyle/>
          <a:p>
            <a:pPr indent="0" marL="0">
              <a:buNone/>
            </a:pPr>
            <a:r>
              <a:rPr lang="en-US" sz="1400" b="1" dirty="0">
                <a:solidFill>
                  <a:srgbClr val="5B2D90"/>
                </a:solidFill>
              </a:rPr>
              <a:t>Tip  </a:t>
            </a:r>
            <a:pPr indent="0" marL="0">
              <a:buNone/>
            </a:pPr>
            <a:r>
              <a:rPr lang="en-US" sz="1400" dirty="0">
                <a:solidFill>
                  <a:srgbClr val="1E1E1E"/>
                </a:solidFill>
              </a:rPr>
              <a:t>Name the project JunkReader. Visual Studio makes a folder with that name under source\repos.</a:t>
            </a:r>
            <a:endParaRPr lang="en-US" sz="1400" dirty="0"/>
          </a:p>
        </p:txBody>
      </p:sp>
      <p:sp>
        <p:nvSpPr>
          <p:cNvPr id="18" name="hint"/>
          <p:cNvSpPr txBox="1"/>
          <p:nvPr/>
        </p:nvSpPr>
        <p:spPr>
          <a:xfrm>
            <a:off x="8549640" y="5715000"/>
            <a:ext cx="3200400" cy="274320"/>
          </a:xfrm>
          <a:prstGeom prst="rect">
            <a:avLst/>
          </a:prstGeom>
          <a:noFill/>
          <a:ln/>
        </p:spPr>
        <p:txBody>
          <a:bodyPr wrap="square" lIns="0" tIns="0" rIns="0" bIns="0" rtlCol="0" anchor="ctr"/>
          <a:lstStyle/>
          <a:p>
            <a:pPr indent="0" marL="0">
              <a:buNone/>
            </a:pPr>
            <a:r>
              <a:rPr lang="en-US" sz="1100" i="1" dirty="0">
                <a:solidFill>
                  <a:srgbClr val="555555"/>
                </a:solidFill>
              </a:rPr>
              <a:t>Click to see the next screen</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92608"/>
            <a:ext cx="3657600" cy="274320"/>
          </a:xfrm>
          <a:prstGeom prst="rect">
            <a:avLst/>
          </a:prstGeom>
          <a:noFill/>
          <a:ln/>
        </p:spPr>
        <p:txBody>
          <a:bodyPr wrap="square" lIns="0" tIns="0" rIns="0" bIns="0" rtlCol="0" anchor="ctr"/>
          <a:lstStyle/>
          <a:p>
            <a:pPr indent="0" marL="0">
              <a:buNone/>
            </a:pPr>
            <a:r>
              <a:rPr lang="en-US" sz="1200" b="1" spc="200" kern="0" dirty="0">
                <a:solidFill>
                  <a:srgbClr val="5B2D90"/>
                </a:solidFill>
              </a:rPr>
              <a:t>STEP 2 OF 11</a:t>
            </a:r>
            <a:endParaRPr lang="en-US" sz="1200" dirty="0"/>
          </a:p>
        </p:txBody>
      </p:sp>
      <p:sp>
        <p:nvSpPr>
          <p:cNvPr id="3" name="Text 0"/>
          <p:cNvSpPr/>
          <p:nvPr>
            <p:ph idx="100" type="title" hasCustomPrompt="1"/>
          </p:nvPr>
        </p:nvSpPr>
        <p:spPr>
          <a:xfrm>
            <a:off x="457200" y="566928"/>
            <a:ext cx="11247120" cy="603504"/>
          </a:xfrm>
          <a:prstGeom prst="rect">
            <a:avLst/>
          </a:prstGeom>
          <a:noFill/>
          <a:ln/>
        </p:spPr>
        <p:txBody>
          <a:bodyPr wrap="square" lIns="0" tIns="0" rIns="0" bIns="0" rtlCol="0" anchor="ctr"/>
          <a:lstStyle/>
          <a:p>
            <a:pPr algn="l" indent="0" marL="0">
              <a:buNone/>
            </a:pPr>
            <a:r>
              <a:rPr lang="en-US" sz="3000" b="1" dirty="0">
                <a:solidFill>
                  <a:srgbClr val="1E1E1E"/>
                </a:solidFill>
                <a:latin typeface="Calibri" pitchFamily="34" charset="0"/>
                <a:ea typeface="Calibri" pitchFamily="34" charset="-122"/>
                <a:cs typeface="Calibri" pitchFamily="34" charset="-120"/>
              </a:rPr>
              <a:t>Add the data file readings.txt</a:t>
            </a:r>
            <a:endParaRPr lang="en-US" sz="3000" dirty="0"/>
          </a:p>
        </p:txBody>
      </p:sp>
      <p:sp>
        <p:nvSpPr>
          <p:cNvPr id="4" name="Shape 2"/>
          <p:cNvSpPr/>
          <p:nvPr/>
        </p:nvSpPr>
        <p:spPr>
          <a:xfrm>
            <a:off x="438912" y="1353312"/>
            <a:ext cx="7808976" cy="3922776"/>
          </a:xfrm>
          <a:prstGeom prst="rect">
            <a:avLst/>
          </a:prstGeom>
          <a:solidFill>
            <a:srgbClr val="FFFFFF"/>
          </a:solidFill>
          <a:ln w="12700">
            <a:solidFill>
              <a:srgbClr val="A6A6A6"/>
            </a:solidFill>
            <a:prstDash val="solid"/>
          </a:ln>
        </p:spPr>
      </p:sp>
      <p:pic>
        <p:nvPicPr>
          <p:cNvPr id="5" name="pic_1" descr="Right-click &quot;Resource Files&quot;, then choose Add &gt; New Item...">    </p:cNvPr>
          <p:cNvPicPr>
            <a:picLocks noChangeAspect="1"/>
          </p:cNvPicPr>
          <p:nvPr/>
        </p:nvPicPr>
        <p:blipFill>
          <a:blip r:embed="rId1"/>
          <a:stretch>
            <a:fillRect/>
          </a:stretch>
        </p:blipFill>
        <p:spPr>
          <a:xfrm>
            <a:off x="457200" y="1371600"/>
            <a:ext cx="7772400" cy="3886200"/>
          </a:xfrm>
          <a:prstGeom prst="rect">
            <a:avLst/>
          </a:prstGeom>
        </p:spPr>
      </p:pic>
      <p:pic>
        <p:nvPicPr>
          <p:cNvPr id="6" name="pic_2" descr="Choose Utility &gt; Text File (.txt), name it readings.txt and click Add.">    </p:cNvPr>
          <p:cNvPicPr>
            <a:picLocks noChangeAspect="1"/>
          </p:cNvPicPr>
          <p:nvPr/>
        </p:nvPicPr>
        <p:blipFill>
          <a:blip r:embed="rId2"/>
          <a:stretch>
            <a:fillRect/>
          </a:stretch>
        </p:blipFill>
        <p:spPr>
          <a:xfrm>
            <a:off x="457200" y="1371600"/>
            <a:ext cx="7772400" cy="3886200"/>
          </a:xfrm>
          <a:prstGeom prst="rect">
            <a:avLst/>
          </a:prstGeom>
        </p:spPr>
      </p:pic>
      <p:pic>
        <p:nvPicPr>
          <p:cNvPr id="7" name="pic_3" descr="Type the readings. Two of them are junk: abc and x. Then press Ctrl+S to save.">    </p:cNvPr>
          <p:cNvPicPr>
            <a:picLocks noChangeAspect="1"/>
          </p:cNvPicPr>
          <p:nvPr/>
        </p:nvPicPr>
        <p:blipFill>
          <a:blip r:embed="rId3"/>
          <a:stretch>
            <a:fillRect/>
          </a:stretch>
        </p:blipFill>
        <p:spPr>
          <a:xfrm>
            <a:off x="457200" y="1371600"/>
            <a:ext cx="7772400" cy="3886200"/>
          </a:xfrm>
          <a:prstGeom prst="rect">
            <a:avLst/>
          </a:prstGeom>
        </p:spPr>
      </p:pic>
      <p:sp>
        <p:nvSpPr>
          <p:cNvPr id="8" name="num_1"/>
          <p:cNvSpPr/>
          <p:nvPr/>
        </p:nvSpPr>
        <p:spPr>
          <a:xfrm>
            <a:off x="8549640" y="1389888"/>
            <a:ext cx="365760" cy="365760"/>
          </a:xfrm>
          <a:prstGeom prst="ellipse">
            <a:avLst/>
          </a:prstGeom>
          <a:solidFill>
            <a:srgbClr val="5B2D90"/>
          </a:solidFill>
          <a:ln w="12700">
            <a:solidFill>
              <a:srgbClr val="5B2D90"/>
            </a:solidFill>
            <a:prstDash val="solid"/>
          </a:ln>
        </p:spPr>
      </p:sp>
      <p:sp>
        <p:nvSpPr>
          <p:cNvPr id="9" name="numt_1"/>
          <p:cNvSpPr txBox="1"/>
          <p:nvPr/>
        </p:nvSpPr>
        <p:spPr>
          <a:xfrm>
            <a:off x="8549640" y="1389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xt_1"/>
          <p:cNvSpPr txBox="1"/>
          <p:nvPr/>
        </p:nvSpPr>
        <p:spPr>
          <a:xfrm>
            <a:off x="9052560" y="1371600"/>
            <a:ext cx="2697480" cy="566928"/>
          </a:xfrm>
          <a:prstGeom prst="rect">
            <a:avLst/>
          </a:prstGeom>
          <a:noFill/>
          <a:ln/>
        </p:spPr>
        <p:txBody>
          <a:bodyPr wrap="square" lIns="0" tIns="0" rIns="0" bIns="0" rtlCol="0" anchor="t"/>
          <a:lstStyle/>
          <a:p>
            <a:pPr indent="0" marL="0">
              <a:buNone/>
            </a:pPr>
            <a:r>
              <a:rPr lang="en-US" sz="1500" dirty="0">
                <a:solidFill>
                  <a:srgbClr val="1E1E1E"/>
                </a:solidFill>
              </a:rPr>
              <a:t>Right-click "Resource Files", then choose Add &gt; New Item...</a:t>
            </a:r>
            <a:endParaRPr lang="en-US" sz="1500" dirty="0"/>
          </a:p>
        </p:txBody>
      </p:sp>
      <p:sp>
        <p:nvSpPr>
          <p:cNvPr id="11" name="num_2"/>
          <p:cNvSpPr/>
          <p:nvPr/>
        </p:nvSpPr>
        <p:spPr>
          <a:xfrm>
            <a:off x="8549640" y="2231136"/>
            <a:ext cx="365760" cy="365760"/>
          </a:xfrm>
          <a:prstGeom prst="ellipse">
            <a:avLst/>
          </a:prstGeom>
          <a:solidFill>
            <a:srgbClr val="5B2D90"/>
          </a:solidFill>
          <a:ln w="12700">
            <a:solidFill>
              <a:srgbClr val="5B2D90"/>
            </a:solidFill>
            <a:prstDash val="solid"/>
          </a:ln>
        </p:spPr>
      </p:sp>
      <p:sp>
        <p:nvSpPr>
          <p:cNvPr id="12" name="numt_2"/>
          <p:cNvSpPr txBox="1"/>
          <p:nvPr/>
        </p:nvSpPr>
        <p:spPr>
          <a:xfrm>
            <a:off x="8549640" y="22311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xt_2"/>
          <p:cNvSpPr txBox="1"/>
          <p:nvPr/>
        </p:nvSpPr>
        <p:spPr>
          <a:xfrm>
            <a:off x="9052560" y="2212848"/>
            <a:ext cx="2697480" cy="813816"/>
          </a:xfrm>
          <a:prstGeom prst="rect">
            <a:avLst/>
          </a:prstGeom>
          <a:noFill/>
          <a:ln/>
        </p:spPr>
        <p:txBody>
          <a:bodyPr wrap="square" lIns="0" tIns="0" rIns="0" bIns="0" rtlCol="0" anchor="t"/>
          <a:lstStyle/>
          <a:p>
            <a:pPr indent="0" marL="0">
              <a:buNone/>
            </a:pPr>
            <a:r>
              <a:rPr lang="en-US" sz="1500" dirty="0">
                <a:solidFill>
                  <a:srgbClr val="1E1E1E"/>
                </a:solidFill>
              </a:rPr>
              <a:t>Choose Utility &gt; Text File (.txt), name it readings.txt and click Add.</a:t>
            </a:r>
            <a:endParaRPr lang="en-US" sz="1500" dirty="0"/>
          </a:p>
        </p:txBody>
      </p:sp>
      <p:sp>
        <p:nvSpPr>
          <p:cNvPr id="14" name="num_3"/>
          <p:cNvSpPr/>
          <p:nvPr/>
        </p:nvSpPr>
        <p:spPr>
          <a:xfrm>
            <a:off x="8549640" y="3319272"/>
            <a:ext cx="365760" cy="365760"/>
          </a:xfrm>
          <a:prstGeom prst="ellipse">
            <a:avLst/>
          </a:prstGeom>
          <a:solidFill>
            <a:srgbClr val="5B2D90"/>
          </a:solidFill>
          <a:ln w="12700">
            <a:solidFill>
              <a:srgbClr val="5B2D90"/>
            </a:solidFill>
            <a:prstDash val="solid"/>
          </a:ln>
        </p:spPr>
      </p:sp>
      <p:sp>
        <p:nvSpPr>
          <p:cNvPr id="15" name="numt_3"/>
          <p:cNvSpPr txBox="1"/>
          <p:nvPr/>
        </p:nvSpPr>
        <p:spPr>
          <a:xfrm>
            <a:off x="8549640" y="33192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xt_3"/>
          <p:cNvSpPr txBox="1"/>
          <p:nvPr/>
        </p:nvSpPr>
        <p:spPr>
          <a:xfrm>
            <a:off x="9052560" y="3300984"/>
            <a:ext cx="2697480" cy="813816"/>
          </a:xfrm>
          <a:prstGeom prst="rect">
            <a:avLst/>
          </a:prstGeom>
          <a:noFill/>
          <a:ln/>
        </p:spPr>
        <p:txBody>
          <a:bodyPr wrap="square" lIns="0" tIns="0" rIns="0" bIns="0" rtlCol="0" anchor="t"/>
          <a:lstStyle/>
          <a:p>
            <a:pPr indent="0" marL="0">
              <a:buNone/>
            </a:pPr>
            <a:r>
              <a:rPr lang="en-US" sz="1500" dirty="0">
                <a:solidFill>
                  <a:srgbClr val="1E1E1E"/>
                </a:solidFill>
              </a:rPr>
              <a:t>Type the readings. Two of them are junk: abc and x. Then press Ctrl+S to save.</a:t>
            </a:r>
            <a:endParaRPr lang="en-US" sz="1500" dirty="0"/>
          </a:p>
        </p:txBody>
      </p:sp>
      <p:sp>
        <p:nvSpPr>
          <p:cNvPr id="17" name="Text 12"/>
          <p:cNvSpPr txBox="1"/>
          <p:nvPr/>
        </p:nvSpPr>
        <p:spPr>
          <a:xfrm>
            <a:off x="457200" y="5486400"/>
            <a:ext cx="7772400" cy="685800"/>
          </a:xfrm>
          <a:prstGeom prst="rect">
            <a:avLst/>
          </a:prstGeom>
          <a:solidFill>
            <a:srgbClr val="F2F2F2"/>
          </a:solidFill>
          <a:ln w="9525">
            <a:solidFill>
              <a:srgbClr val="D0D0D0"/>
            </a:solidFill>
          </a:ln>
        </p:spPr>
        <p:txBody>
          <a:bodyPr wrap="square" lIns="76200" tIns="152400" rIns="152400" bIns="76200" rtlCol="0" anchor="ctr"/>
          <a:lstStyle/>
          <a:p>
            <a:pPr indent="0" marL="0">
              <a:buNone/>
            </a:pPr>
            <a:r>
              <a:rPr lang="en-US" sz="1400" b="1" dirty="0">
                <a:solidFill>
                  <a:srgbClr val="5B2D90"/>
                </a:solidFill>
              </a:rPr>
              <a:t>Tip  </a:t>
            </a:r>
            <a:pPr indent="0" marL="0">
              <a:buNone/>
            </a:pPr>
            <a:r>
              <a:rPr lang="en-US" sz="1400" dirty="0">
                <a:solidFill>
                  <a:srgbClr val="1E1E1E"/>
                </a:solidFill>
              </a:rPr>
              <a:t>readings.txt must sit in the project folder, next to JunkReader.cpp. abc and x are the junk.</a:t>
            </a:r>
            <a:endParaRPr lang="en-US" sz="1400" dirty="0"/>
          </a:p>
        </p:txBody>
      </p:sp>
      <p:sp>
        <p:nvSpPr>
          <p:cNvPr id="18" name="hint"/>
          <p:cNvSpPr txBox="1"/>
          <p:nvPr/>
        </p:nvSpPr>
        <p:spPr>
          <a:xfrm>
            <a:off x="8549640" y="5715000"/>
            <a:ext cx="3200400" cy="274320"/>
          </a:xfrm>
          <a:prstGeom prst="rect">
            <a:avLst/>
          </a:prstGeom>
          <a:noFill/>
          <a:ln/>
        </p:spPr>
        <p:txBody>
          <a:bodyPr wrap="square" lIns="0" tIns="0" rIns="0" bIns="0" rtlCol="0" anchor="ctr"/>
          <a:lstStyle/>
          <a:p>
            <a:pPr indent="0" marL="0">
              <a:buNone/>
            </a:pPr>
            <a:r>
              <a:rPr lang="en-US" sz="1100" i="1" dirty="0">
                <a:solidFill>
                  <a:srgbClr val="555555"/>
                </a:solidFill>
              </a:rPr>
              <a:t>Click to see the next screen</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92608"/>
            <a:ext cx="3657600" cy="274320"/>
          </a:xfrm>
          <a:prstGeom prst="rect">
            <a:avLst/>
          </a:prstGeom>
          <a:noFill/>
          <a:ln/>
        </p:spPr>
        <p:txBody>
          <a:bodyPr wrap="square" lIns="0" tIns="0" rIns="0" bIns="0" rtlCol="0" anchor="ctr"/>
          <a:lstStyle/>
          <a:p>
            <a:pPr indent="0" marL="0">
              <a:buNone/>
            </a:pPr>
            <a:r>
              <a:rPr lang="en-US" sz="1200" b="1" spc="200" kern="0" dirty="0">
                <a:solidFill>
                  <a:srgbClr val="5B2D90"/>
                </a:solidFill>
              </a:rPr>
              <a:t>STEP 3 OF 11</a:t>
            </a:r>
            <a:endParaRPr lang="en-US" sz="1200" dirty="0"/>
          </a:p>
        </p:txBody>
      </p:sp>
      <p:sp>
        <p:nvSpPr>
          <p:cNvPr id="3" name="Text 0"/>
          <p:cNvSpPr/>
          <p:nvPr>
            <p:ph idx="100" type="title" hasCustomPrompt="1"/>
          </p:nvPr>
        </p:nvSpPr>
        <p:spPr>
          <a:xfrm>
            <a:off x="457200" y="566928"/>
            <a:ext cx="11247120" cy="603504"/>
          </a:xfrm>
          <a:prstGeom prst="rect">
            <a:avLst/>
          </a:prstGeom>
          <a:noFill/>
          <a:ln/>
        </p:spPr>
        <p:txBody>
          <a:bodyPr wrap="square" lIns="0" tIns="0" rIns="0" bIns="0" rtlCol="0" anchor="ctr"/>
          <a:lstStyle/>
          <a:p>
            <a:pPr algn="l" indent="0" marL="0">
              <a:buNone/>
            </a:pPr>
            <a:r>
              <a:rPr lang="en-US" sz="3000" b="1" dirty="0">
                <a:solidFill>
                  <a:srgbClr val="1E1E1E"/>
                </a:solidFill>
                <a:latin typeface="Calibri" pitchFamily="34" charset="0"/>
                <a:ea typeface="Calibri" pitchFamily="34" charset="-122"/>
                <a:cs typeface="Calibri" pitchFamily="34" charset="-120"/>
              </a:rPr>
              <a:t>Write the first program</a:t>
            </a:r>
            <a:endParaRPr lang="en-US" sz="3000" dirty="0"/>
          </a:p>
        </p:txBody>
      </p:sp>
      <p:sp>
        <p:nvSpPr>
          <p:cNvPr id="4" name="Shape 2"/>
          <p:cNvSpPr/>
          <p:nvPr/>
        </p:nvSpPr>
        <p:spPr>
          <a:xfrm>
            <a:off x="438912" y="1353312"/>
            <a:ext cx="7808976" cy="3922776"/>
          </a:xfrm>
          <a:prstGeom prst="rect">
            <a:avLst/>
          </a:prstGeom>
          <a:solidFill>
            <a:srgbClr val="FFFFFF"/>
          </a:solidFill>
          <a:ln w="12700">
            <a:solidFill>
              <a:srgbClr val="A6A6A6"/>
            </a:solidFill>
            <a:prstDash val="solid"/>
          </a:ln>
        </p:spPr>
      </p:sp>
      <p:pic>
        <p:nvPicPr>
          <p:cNvPr id="5" name="pic_1" descr="The loop runs while inFile &gt;&gt; a[count] works. This is the same loop that worked for clean files.">    </p:cNvPr>
          <p:cNvPicPr>
            <a:picLocks noChangeAspect="1"/>
          </p:cNvPicPr>
          <p:nvPr/>
        </p:nvPicPr>
        <p:blipFill>
          <a:blip r:embed="rId1"/>
          <a:stretch>
            <a:fillRect/>
          </a:stretch>
        </p:blipFill>
        <p:spPr>
          <a:xfrm>
            <a:off x="457200" y="1371600"/>
            <a:ext cx="7772400" cy="3886200"/>
          </a:xfrm>
          <a:prstGeom prst="rect">
            <a:avLst/>
          </a:prstGeom>
        </p:spPr>
      </p:pic>
      <p:sp>
        <p:nvSpPr>
          <p:cNvPr id="6" name="num_1"/>
          <p:cNvSpPr/>
          <p:nvPr/>
        </p:nvSpPr>
        <p:spPr>
          <a:xfrm>
            <a:off x="8549640" y="1389888"/>
            <a:ext cx="365760" cy="365760"/>
          </a:xfrm>
          <a:prstGeom prst="ellipse">
            <a:avLst/>
          </a:prstGeom>
          <a:solidFill>
            <a:srgbClr val="5B2D90"/>
          </a:solidFill>
          <a:ln w="12700">
            <a:solidFill>
              <a:srgbClr val="5B2D90"/>
            </a:solidFill>
            <a:prstDash val="solid"/>
          </a:ln>
        </p:spPr>
      </p:sp>
      <p:sp>
        <p:nvSpPr>
          <p:cNvPr id="7" name="numt_1"/>
          <p:cNvSpPr txBox="1"/>
          <p:nvPr/>
        </p:nvSpPr>
        <p:spPr>
          <a:xfrm>
            <a:off x="8549640" y="1389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xt_1"/>
          <p:cNvSpPr txBox="1"/>
          <p:nvPr/>
        </p:nvSpPr>
        <p:spPr>
          <a:xfrm>
            <a:off x="9052560" y="1371600"/>
            <a:ext cx="2697480" cy="1060704"/>
          </a:xfrm>
          <a:prstGeom prst="rect">
            <a:avLst/>
          </a:prstGeom>
          <a:noFill/>
          <a:ln/>
        </p:spPr>
        <p:txBody>
          <a:bodyPr wrap="square" lIns="0" tIns="0" rIns="0" bIns="0" rtlCol="0" anchor="t"/>
          <a:lstStyle/>
          <a:p>
            <a:pPr indent="0" marL="0">
              <a:buNone/>
            </a:pPr>
            <a:r>
              <a:rPr lang="en-US" sz="1500" dirty="0">
                <a:solidFill>
                  <a:srgbClr val="1E1E1E"/>
                </a:solidFill>
              </a:rPr>
              <a:t>The loop runs while inFile &gt;&gt; a[count] works. This is the same loop that worked for clean files.</a:t>
            </a:r>
            <a:endParaRPr lang="en-US" sz="1500" dirty="0"/>
          </a:p>
        </p:txBody>
      </p:sp>
      <p:sp>
        <p:nvSpPr>
          <p:cNvPr id="9" name="Text 6"/>
          <p:cNvSpPr txBox="1"/>
          <p:nvPr/>
        </p:nvSpPr>
        <p:spPr>
          <a:xfrm>
            <a:off x="457200" y="5486400"/>
            <a:ext cx="7772400" cy="685800"/>
          </a:xfrm>
          <a:prstGeom prst="rect">
            <a:avLst/>
          </a:prstGeom>
          <a:solidFill>
            <a:srgbClr val="F2F2F2"/>
          </a:solidFill>
          <a:ln w="9525">
            <a:solidFill>
              <a:srgbClr val="D0D0D0"/>
            </a:solidFill>
          </a:ln>
        </p:spPr>
        <p:txBody>
          <a:bodyPr wrap="square" lIns="76200" tIns="152400" rIns="152400" bIns="76200" rtlCol="0" anchor="ctr"/>
          <a:lstStyle/>
          <a:p>
            <a:pPr indent="0" marL="0">
              <a:buNone/>
            </a:pPr>
            <a:r>
              <a:rPr lang="en-US" sz="1400" b="1" dirty="0">
                <a:solidFill>
                  <a:srgbClr val="5B2D90"/>
                </a:solidFill>
              </a:rPr>
              <a:t>Tip  </a:t>
            </a:r>
            <a:pPr indent="0" marL="0">
              <a:buNone/>
            </a:pPr>
            <a:r>
              <a:rPr lang="en-US" sz="1400" dirty="0">
                <a:solidFill>
                  <a:srgbClr val="1E1E1E"/>
                </a:solidFill>
              </a:rPr>
              <a:t>This is the loop from Part 1. It works for clean files, so students expect it to work here too.</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3657600" cy="274320"/>
          </a:xfrm>
          <a:prstGeom prst="rect">
            <a:avLst/>
          </a:prstGeom>
          <a:noFill/>
          <a:ln/>
        </p:spPr>
        <p:txBody>
          <a:bodyPr wrap="square" lIns="0" tIns="0" rIns="0" bIns="0" rtlCol="0" anchor="ctr"/>
          <a:lstStyle/>
          <a:p>
            <a:pPr indent="0" marL="0">
              <a:buNone/>
            </a:pPr>
            <a:r>
              <a:rPr lang="en-US" sz="1200" b="1" spc="200" kern="0" dirty="0">
                <a:solidFill>
                  <a:srgbClr val="5B2D90"/>
                </a:solidFill>
              </a:rPr>
              <a:t>STEP 4 OF 11</a:t>
            </a:r>
            <a:endParaRPr lang="en-US" sz="1200" dirty="0"/>
          </a:p>
        </p:txBody>
      </p:sp>
      <p:sp>
        <p:nvSpPr>
          <p:cNvPr id="3" name="Text 0"/>
          <p:cNvSpPr/>
          <p:nvPr>
            <p:ph idx="100" type="title" hasCustomPrompt="1"/>
          </p:nvPr>
        </p:nvSpPr>
        <p:spPr>
          <a:xfrm>
            <a:off x="457200" y="566928"/>
            <a:ext cx="11247120" cy="603504"/>
          </a:xfrm>
          <a:prstGeom prst="rect">
            <a:avLst/>
          </a:prstGeom>
          <a:noFill/>
          <a:ln/>
        </p:spPr>
        <p:txBody>
          <a:bodyPr wrap="square" lIns="0" tIns="0" rIns="0" bIns="0" rtlCol="0" anchor="ctr"/>
          <a:lstStyle/>
          <a:p>
            <a:pPr algn="l" indent="0" marL="0">
              <a:buNone/>
            </a:pPr>
            <a:r>
              <a:rPr lang="en-US" sz="3000" b="1" dirty="0">
                <a:solidFill>
                  <a:srgbClr val="1E1E1E"/>
                </a:solidFill>
                <a:latin typeface="Calibri" pitchFamily="34" charset="0"/>
                <a:ea typeface="Calibri" pitchFamily="34" charset="-122"/>
                <a:cs typeface="Calibri" pitchFamily="34" charset="-120"/>
              </a:rPr>
              <a:t>Build the program</a:t>
            </a:r>
            <a:endParaRPr lang="en-US" sz="3000" dirty="0"/>
          </a:p>
        </p:txBody>
      </p:sp>
      <p:sp>
        <p:nvSpPr>
          <p:cNvPr id="4" name="Shape 2"/>
          <p:cNvSpPr/>
          <p:nvPr/>
        </p:nvSpPr>
        <p:spPr>
          <a:xfrm>
            <a:off x="438912" y="1353312"/>
            <a:ext cx="7808976" cy="3922776"/>
          </a:xfrm>
          <a:prstGeom prst="rect">
            <a:avLst/>
          </a:prstGeom>
          <a:solidFill>
            <a:srgbClr val="FFFFFF"/>
          </a:solidFill>
          <a:ln w="12700">
            <a:solidFill>
              <a:srgbClr val="A6A6A6"/>
            </a:solidFill>
            <a:prstDash val="solid"/>
          </a:ln>
        </p:spPr>
      </p:sp>
      <p:pic>
        <p:nvPicPr>
          <p:cNvPr id="5" name="pic_1" descr="Open the Build menu and click Build Solution (Ctrl+Shift+B).">    </p:cNvPr>
          <p:cNvPicPr>
            <a:picLocks noChangeAspect="1"/>
          </p:cNvPicPr>
          <p:nvPr/>
        </p:nvPicPr>
        <p:blipFill>
          <a:blip r:embed="rId1"/>
          <a:stretch>
            <a:fillRect/>
          </a:stretch>
        </p:blipFill>
        <p:spPr>
          <a:xfrm>
            <a:off x="457200" y="1371600"/>
            <a:ext cx="7772400" cy="3886200"/>
          </a:xfrm>
          <a:prstGeom prst="rect">
            <a:avLst/>
          </a:prstGeom>
        </p:spPr>
      </p:pic>
      <p:pic>
        <p:nvPicPr>
          <p:cNvPr id="6" name="pic_2" descr="Build succeeded with 0 errors. The compiler cannot see what is inside readings.txt.">    </p:cNvPr>
          <p:cNvPicPr>
            <a:picLocks noChangeAspect="1"/>
          </p:cNvPicPr>
          <p:nvPr/>
        </p:nvPicPr>
        <p:blipFill>
          <a:blip r:embed="rId2"/>
          <a:stretch>
            <a:fillRect/>
          </a:stretch>
        </p:blipFill>
        <p:spPr>
          <a:xfrm>
            <a:off x="457200" y="1371600"/>
            <a:ext cx="7772400" cy="3886200"/>
          </a:xfrm>
          <a:prstGeom prst="rect">
            <a:avLst/>
          </a:prstGeom>
        </p:spPr>
      </p:pic>
      <p:sp>
        <p:nvSpPr>
          <p:cNvPr id="7" name="num_1"/>
          <p:cNvSpPr/>
          <p:nvPr/>
        </p:nvSpPr>
        <p:spPr>
          <a:xfrm>
            <a:off x="8549640" y="1389888"/>
            <a:ext cx="365760" cy="365760"/>
          </a:xfrm>
          <a:prstGeom prst="ellipse">
            <a:avLst/>
          </a:prstGeom>
          <a:solidFill>
            <a:srgbClr val="5B2D90"/>
          </a:solidFill>
          <a:ln w="12700">
            <a:solidFill>
              <a:srgbClr val="5B2D90"/>
            </a:solidFill>
            <a:prstDash val="solid"/>
          </a:ln>
        </p:spPr>
      </p:sp>
      <p:sp>
        <p:nvSpPr>
          <p:cNvPr id="8" name="numt_1"/>
          <p:cNvSpPr txBox="1"/>
          <p:nvPr/>
        </p:nvSpPr>
        <p:spPr>
          <a:xfrm>
            <a:off x="8549640" y="1389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xt_1"/>
          <p:cNvSpPr txBox="1"/>
          <p:nvPr/>
        </p:nvSpPr>
        <p:spPr>
          <a:xfrm>
            <a:off x="9052560" y="1371600"/>
            <a:ext cx="2697480" cy="566928"/>
          </a:xfrm>
          <a:prstGeom prst="rect">
            <a:avLst/>
          </a:prstGeom>
          <a:noFill/>
          <a:ln/>
        </p:spPr>
        <p:txBody>
          <a:bodyPr wrap="square" lIns="0" tIns="0" rIns="0" bIns="0" rtlCol="0" anchor="t"/>
          <a:lstStyle/>
          <a:p>
            <a:pPr indent="0" marL="0">
              <a:buNone/>
            </a:pPr>
            <a:r>
              <a:rPr lang="en-US" sz="1500" dirty="0">
                <a:solidFill>
                  <a:srgbClr val="1E1E1E"/>
                </a:solidFill>
              </a:rPr>
              <a:t>Open the Build menu and click Build Solution (Ctrl+Shift+B).</a:t>
            </a:r>
            <a:endParaRPr lang="en-US" sz="1500" dirty="0"/>
          </a:p>
        </p:txBody>
      </p:sp>
      <p:sp>
        <p:nvSpPr>
          <p:cNvPr id="10" name="num_2"/>
          <p:cNvSpPr/>
          <p:nvPr/>
        </p:nvSpPr>
        <p:spPr>
          <a:xfrm>
            <a:off x="8549640" y="2231136"/>
            <a:ext cx="365760" cy="365760"/>
          </a:xfrm>
          <a:prstGeom prst="ellipse">
            <a:avLst/>
          </a:prstGeom>
          <a:solidFill>
            <a:srgbClr val="5B2D90"/>
          </a:solidFill>
          <a:ln w="12700">
            <a:solidFill>
              <a:srgbClr val="5B2D90"/>
            </a:solidFill>
            <a:prstDash val="solid"/>
          </a:ln>
        </p:spPr>
      </p:sp>
      <p:sp>
        <p:nvSpPr>
          <p:cNvPr id="11" name="numt_2"/>
          <p:cNvSpPr txBox="1"/>
          <p:nvPr/>
        </p:nvSpPr>
        <p:spPr>
          <a:xfrm>
            <a:off x="8549640" y="22311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xt_2"/>
          <p:cNvSpPr txBox="1"/>
          <p:nvPr/>
        </p:nvSpPr>
        <p:spPr>
          <a:xfrm>
            <a:off x="9052560" y="2212848"/>
            <a:ext cx="2697480" cy="813816"/>
          </a:xfrm>
          <a:prstGeom prst="rect">
            <a:avLst/>
          </a:prstGeom>
          <a:noFill/>
          <a:ln/>
        </p:spPr>
        <p:txBody>
          <a:bodyPr wrap="square" lIns="0" tIns="0" rIns="0" bIns="0" rtlCol="0" anchor="t"/>
          <a:lstStyle/>
          <a:p>
            <a:pPr indent="0" marL="0">
              <a:buNone/>
            </a:pPr>
            <a:r>
              <a:rPr lang="en-US" sz="1500" dirty="0">
                <a:solidFill>
                  <a:srgbClr val="1E1E1E"/>
                </a:solidFill>
              </a:rPr>
              <a:t>Build succeeded with 0 errors. The compiler cannot see what is inside readings.txt.</a:t>
            </a:r>
            <a:endParaRPr lang="en-US" sz="1500" dirty="0"/>
          </a:p>
        </p:txBody>
      </p:sp>
      <p:sp>
        <p:nvSpPr>
          <p:cNvPr id="13" name="Text 9"/>
          <p:cNvSpPr txBox="1"/>
          <p:nvPr/>
        </p:nvSpPr>
        <p:spPr>
          <a:xfrm>
            <a:off x="457200" y="5486400"/>
            <a:ext cx="7772400" cy="685800"/>
          </a:xfrm>
          <a:prstGeom prst="rect">
            <a:avLst/>
          </a:prstGeom>
          <a:solidFill>
            <a:srgbClr val="F2F2F2"/>
          </a:solidFill>
          <a:ln w="9525">
            <a:solidFill>
              <a:srgbClr val="D0D0D0"/>
            </a:solidFill>
          </a:ln>
        </p:spPr>
        <p:txBody>
          <a:bodyPr wrap="square" lIns="76200" tIns="152400" rIns="152400" bIns="76200" rtlCol="0" anchor="ctr"/>
          <a:lstStyle/>
          <a:p>
            <a:pPr indent="0" marL="0">
              <a:buNone/>
            </a:pPr>
            <a:r>
              <a:rPr lang="en-US" sz="1400" b="1" dirty="0">
                <a:solidFill>
                  <a:srgbClr val="5B2D90"/>
                </a:solidFill>
              </a:rPr>
              <a:t>Tip  </a:t>
            </a:r>
            <a:pPr indent="0" marL="0">
              <a:buNone/>
            </a:pPr>
            <a:r>
              <a:rPr lang="en-US" sz="1400" dirty="0">
                <a:solidFill>
                  <a:srgbClr val="1E1E1E"/>
                </a:solidFill>
              </a:rPr>
              <a:t>The compiler checks the code, not the data. A bad file can never cause a build error.</a:t>
            </a:r>
            <a:endParaRPr lang="en-US" sz="1400" dirty="0"/>
          </a:p>
        </p:txBody>
      </p:sp>
      <p:sp>
        <p:nvSpPr>
          <p:cNvPr id="14" name="hint"/>
          <p:cNvSpPr txBox="1"/>
          <p:nvPr/>
        </p:nvSpPr>
        <p:spPr>
          <a:xfrm>
            <a:off x="8549640" y="5715000"/>
            <a:ext cx="3200400" cy="274320"/>
          </a:xfrm>
          <a:prstGeom prst="rect">
            <a:avLst/>
          </a:prstGeom>
          <a:noFill/>
          <a:ln/>
        </p:spPr>
        <p:txBody>
          <a:bodyPr wrap="square" lIns="0" tIns="0" rIns="0" bIns="0" rtlCol="0" anchor="ctr"/>
          <a:lstStyle/>
          <a:p>
            <a:pPr indent="0" marL="0">
              <a:buNone/>
            </a:pPr>
            <a:r>
              <a:rPr lang="en-US" sz="1100" i="1" dirty="0">
                <a:solidFill>
                  <a:srgbClr val="555555"/>
                </a:solidFill>
              </a:rPr>
              <a:t>Click to see the next screen</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92608"/>
            <a:ext cx="3657600" cy="274320"/>
          </a:xfrm>
          <a:prstGeom prst="rect">
            <a:avLst/>
          </a:prstGeom>
          <a:noFill/>
          <a:ln/>
        </p:spPr>
        <p:txBody>
          <a:bodyPr wrap="square" lIns="0" tIns="0" rIns="0" bIns="0" rtlCol="0" anchor="ctr"/>
          <a:lstStyle/>
          <a:p>
            <a:pPr indent="0" marL="0">
              <a:buNone/>
            </a:pPr>
            <a:r>
              <a:rPr lang="en-US" sz="1200" b="1" spc="200" kern="0" dirty="0">
                <a:solidFill>
                  <a:srgbClr val="5B2D90"/>
                </a:solidFill>
              </a:rPr>
              <a:t>STEP 5 OF 11</a:t>
            </a:r>
            <a:endParaRPr lang="en-US" sz="1200" dirty="0"/>
          </a:p>
        </p:txBody>
      </p:sp>
      <p:sp>
        <p:nvSpPr>
          <p:cNvPr id="3" name="Text 0"/>
          <p:cNvSpPr/>
          <p:nvPr>
            <p:ph idx="100" type="title" hasCustomPrompt="1"/>
          </p:nvPr>
        </p:nvSpPr>
        <p:spPr>
          <a:xfrm>
            <a:off x="457200" y="566928"/>
            <a:ext cx="11247120" cy="603504"/>
          </a:xfrm>
          <a:prstGeom prst="rect">
            <a:avLst/>
          </a:prstGeom>
          <a:noFill/>
          <a:ln/>
        </p:spPr>
        <p:txBody>
          <a:bodyPr wrap="square" lIns="0" tIns="0" rIns="0" bIns="0" rtlCol="0" anchor="ctr"/>
          <a:lstStyle/>
          <a:p>
            <a:pPr algn="l" indent="0" marL="0">
              <a:buNone/>
            </a:pPr>
            <a:r>
              <a:rPr lang="en-US" sz="3000" b="1" dirty="0">
                <a:solidFill>
                  <a:srgbClr val="1E1E1E"/>
                </a:solidFill>
                <a:latin typeface="Calibri" pitchFamily="34" charset="0"/>
                <a:ea typeface="Calibri" pitchFamily="34" charset="-122"/>
                <a:cs typeface="Calibri" pitchFamily="34" charset="-120"/>
              </a:rPr>
              <a:t>Run it: the error</a:t>
            </a:r>
            <a:endParaRPr lang="en-US" sz="3000" dirty="0"/>
          </a:p>
        </p:txBody>
      </p:sp>
      <p:sp>
        <p:nvSpPr>
          <p:cNvPr id="4" name="Shape 2"/>
          <p:cNvSpPr/>
          <p:nvPr/>
        </p:nvSpPr>
        <p:spPr>
          <a:xfrm>
            <a:off x="438912" y="1353312"/>
            <a:ext cx="7808976" cy="3922776"/>
          </a:xfrm>
          <a:prstGeom prst="rect">
            <a:avLst/>
          </a:prstGeom>
          <a:solidFill>
            <a:srgbClr val="FFFFFF"/>
          </a:solidFill>
          <a:ln w="12700">
            <a:solidFill>
              <a:srgbClr val="A6A6A6"/>
            </a:solidFill>
            <a:prstDash val="solid"/>
          </a:ln>
        </p:spPr>
      </p:sp>
      <p:pic>
        <p:nvPicPr>
          <p:cNvPr id="5" name="pic_1" descr="Wrong! The file has four numbers, but only 10 and 20 were kept. 40 and 50 are missing, and there is no error message.">    </p:cNvPr>
          <p:cNvPicPr>
            <a:picLocks noChangeAspect="1"/>
          </p:cNvPicPr>
          <p:nvPr/>
        </p:nvPicPr>
        <p:blipFill>
          <a:blip r:embed="rId1"/>
          <a:stretch>
            <a:fillRect/>
          </a:stretch>
        </p:blipFill>
        <p:spPr>
          <a:xfrm>
            <a:off x="457200" y="1371600"/>
            <a:ext cx="7772400" cy="3886200"/>
          </a:xfrm>
          <a:prstGeom prst="rect">
            <a:avLst/>
          </a:prstGeom>
        </p:spPr>
      </p:pic>
      <p:sp>
        <p:nvSpPr>
          <p:cNvPr id="6" name="num_1"/>
          <p:cNvSpPr/>
          <p:nvPr/>
        </p:nvSpPr>
        <p:spPr>
          <a:xfrm>
            <a:off x="8549640" y="1389888"/>
            <a:ext cx="365760" cy="365760"/>
          </a:xfrm>
          <a:prstGeom prst="ellipse">
            <a:avLst/>
          </a:prstGeom>
          <a:solidFill>
            <a:srgbClr val="5B2D90"/>
          </a:solidFill>
          <a:ln w="12700">
            <a:solidFill>
              <a:srgbClr val="5B2D90"/>
            </a:solidFill>
            <a:prstDash val="solid"/>
          </a:ln>
        </p:spPr>
      </p:sp>
      <p:sp>
        <p:nvSpPr>
          <p:cNvPr id="7" name="numt_1"/>
          <p:cNvSpPr txBox="1"/>
          <p:nvPr/>
        </p:nvSpPr>
        <p:spPr>
          <a:xfrm>
            <a:off x="8549640" y="1389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xt_1"/>
          <p:cNvSpPr txBox="1"/>
          <p:nvPr/>
        </p:nvSpPr>
        <p:spPr>
          <a:xfrm>
            <a:off x="9052560" y="1371600"/>
            <a:ext cx="2697480" cy="1060704"/>
          </a:xfrm>
          <a:prstGeom prst="rect">
            <a:avLst/>
          </a:prstGeom>
          <a:noFill/>
          <a:ln/>
        </p:spPr>
        <p:txBody>
          <a:bodyPr wrap="square" lIns="0" tIns="0" rIns="0" bIns="0" rtlCol="0" anchor="t"/>
          <a:lstStyle/>
          <a:p>
            <a:pPr indent="0" marL="0">
              <a:buNone/>
            </a:pPr>
            <a:r>
              <a:rPr lang="en-US" sz="1500" dirty="0">
                <a:solidFill>
                  <a:srgbClr val="1E1E1E"/>
                </a:solidFill>
              </a:rPr>
              <a:t>Wrong! The file has four numbers, but only 10 and 20 were kept. 40 and 50 are missing, and there is no error message.</a:t>
            </a:r>
            <a:endParaRPr lang="en-US" sz="1500" dirty="0"/>
          </a:p>
        </p:txBody>
      </p:sp>
      <p:sp>
        <p:nvSpPr>
          <p:cNvPr id="9" name="Text 6"/>
          <p:cNvSpPr txBox="1"/>
          <p:nvPr/>
        </p:nvSpPr>
        <p:spPr>
          <a:xfrm>
            <a:off x="457200" y="5486400"/>
            <a:ext cx="7772400" cy="685800"/>
          </a:xfrm>
          <a:prstGeom prst="rect">
            <a:avLst/>
          </a:prstGeom>
          <a:solidFill>
            <a:srgbClr val="F2F2F2"/>
          </a:solidFill>
          <a:ln w="9525">
            <a:solidFill>
              <a:srgbClr val="D0D0D0"/>
            </a:solidFill>
          </a:ln>
        </p:spPr>
        <p:txBody>
          <a:bodyPr wrap="square" lIns="76200" tIns="152400" rIns="152400" bIns="76200" rtlCol="0" anchor="ctr"/>
          <a:lstStyle/>
          <a:p>
            <a:pPr indent="0" marL="0">
              <a:buNone/>
            </a:pPr>
            <a:r>
              <a:rPr lang="en-US" sz="1400" b="1" dirty="0">
                <a:solidFill>
                  <a:srgbClr val="5B2D90"/>
                </a:solidFill>
              </a:rPr>
              <a:t>Tip  </a:t>
            </a:r>
            <a:pPr indent="0" marL="0">
              <a:buNone/>
            </a:pPr>
            <a:r>
              <a:rPr lang="en-US" sz="1400" dirty="0">
                <a:solidFill>
                  <a:srgbClr val="1E1E1E"/>
                </a:solidFill>
              </a:rPr>
              <a:t>No crash and no message: the program just stops early. That is why reading errors are easy to miss.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92608"/>
            <a:ext cx="3657600" cy="274320"/>
          </a:xfrm>
          <a:prstGeom prst="rect">
            <a:avLst/>
          </a:prstGeom>
          <a:noFill/>
          <a:ln/>
        </p:spPr>
        <p:txBody>
          <a:bodyPr wrap="square" lIns="0" tIns="0" rIns="0" bIns="0" rtlCol="0" anchor="ctr"/>
          <a:lstStyle/>
          <a:p>
            <a:pPr indent="0" marL="0">
              <a:buNone/>
            </a:pPr>
            <a:r>
              <a:rPr lang="en-US" sz="1200" b="1" spc="200" kern="0" dirty="0">
                <a:solidFill>
                  <a:srgbClr val="5B2D90"/>
                </a:solidFill>
              </a:rPr>
              <a:t>STEP 6 OF 11</a:t>
            </a:r>
            <a:endParaRPr lang="en-US" sz="1200" dirty="0"/>
          </a:p>
        </p:txBody>
      </p:sp>
      <p:sp>
        <p:nvSpPr>
          <p:cNvPr id="3" name="Text 0"/>
          <p:cNvSpPr/>
          <p:nvPr>
            <p:ph idx="100" type="title" hasCustomPrompt="1"/>
          </p:nvPr>
        </p:nvSpPr>
        <p:spPr>
          <a:xfrm>
            <a:off x="457200" y="566928"/>
            <a:ext cx="11247120" cy="603504"/>
          </a:xfrm>
          <a:prstGeom prst="rect">
            <a:avLst/>
          </a:prstGeom>
          <a:noFill/>
          <a:ln/>
        </p:spPr>
        <p:txBody>
          <a:bodyPr wrap="square" lIns="0" tIns="0" rIns="0" bIns="0" rtlCol="0" anchor="ctr"/>
          <a:lstStyle/>
          <a:p>
            <a:pPr algn="l" indent="0" marL="0">
              <a:buNone/>
            </a:pPr>
            <a:r>
              <a:rPr lang="en-US" sz="3000" b="1" dirty="0">
                <a:solidFill>
                  <a:srgbClr val="1E1E1E"/>
                </a:solidFill>
                <a:latin typeface="Calibri" pitchFamily="34" charset="0"/>
                <a:ea typeface="Calibri" pitchFamily="34" charset="-122"/>
                <a:cs typeface="Calibri" pitchFamily="34" charset="-120"/>
              </a:rPr>
              <a:t>Find the error</a:t>
            </a:r>
            <a:endParaRPr lang="en-US" sz="3000" dirty="0"/>
          </a:p>
        </p:txBody>
      </p:sp>
      <p:sp>
        <p:nvSpPr>
          <p:cNvPr id="4" name="Shape 2"/>
          <p:cNvSpPr/>
          <p:nvPr/>
        </p:nvSpPr>
        <p:spPr>
          <a:xfrm>
            <a:off x="438912" y="1353312"/>
            <a:ext cx="7808976" cy="3922776"/>
          </a:xfrm>
          <a:prstGeom prst="rect">
            <a:avLst/>
          </a:prstGeom>
          <a:solidFill>
            <a:srgbClr val="FFFFFF"/>
          </a:solidFill>
          <a:ln w="12700">
            <a:solidFill>
              <a:srgbClr val="A6A6A6"/>
            </a:solidFill>
            <a:prstDash val="solid"/>
          </a:ln>
        </p:spPr>
      </p:sp>
      <p:pic>
        <p:nvPicPr>
          <p:cNvPr id="5" name="pic_1" descr="Read 1 and read 2: 10 and 20 are numbers, so both are stored.">    </p:cNvPr>
          <p:cNvPicPr>
            <a:picLocks noChangeAspect="1"/>
          </p:cNvPicPr>
          <p:nvPr/>
        </p:nvPicPr>
        <p:blipFill>
          <a:blip r:embed="rId1"/>
          <a:stretch>
            <a:fillRect/>
          </a:stretch>
        </p:blipFill>
        <p:spPr>
          <a:xfrm>
            <a:off x="457200" y="1371600"/>
            <a:ext cx="7772400" cy="3886200"/>
          </a:xfrm>
          <a:prstGeom prst="rect">
            <a:avLst/>
          </a:prstGeom>
        </p:spPr>
      </p:pic>
      <p:pic>
        <p:nvPicPr>
          <p:cNvPr id="6" name="pic_2" descr="Read 3 sees the letter a. An int cannot start with a letter, so the read fails.">    </p:cNvPr>
          <p:cNvPicPr>
            <a:picLocks noChangeAspect="1"/>
          </p:cNvPicPr>
          <p:nvPr/>
        </p:nvPicPr>
        <p:blipFill>
          <a:blip r:embed="rId2"/>
          <a:stretch>
            <a:fillRect/>
          </a:stretch>
        </p:blipFill>
        <p:spPr>
          <a:xfrm>
            <a:off x="457200" y="1371600"/>
            <a:ext cx="7772400" cy="3886200"/>
          </a:xfrm>
          <a:prstGeom prst="rect">
            <a:avLst/>
          </a:prstGeom>
        </p:spPr>
      </p:pic>
      <p:pic>
        <p:nvPicPr>
          <p:cNvPr id="7" name="pic_3" descr="A failed read makes the while condition false, so the loop ends. Everything after abc is ignored.">    </p:cNvPr>
          <p:cNvPicPr>
            <a:picLocks noChangeAspect="1"/>
          </p:cNvPicPr>
          <p:nvPr/>
        </p:nvPicPr>
        <p:blipFill>
          <a:blip r:embed="rId3"/>
          <a:stretch>
            <a:fillRect/>
          </a:stretch>
        </p:blipFill>
        <p:spPr>
          <a:xfrm>
            <a:off x="457200" y="1371600"/>
            <a:ext cx="7772400" cy="3886200"/>
          </a:xfrm>
          <a:prstGeom prst="rect">
            <a:avLst/>
          </a:prstGeom>
        </p:spPr>
      </p:pic>
      <p:sp>
        <p:nvSpPr>
          <p:cNvPr id="8" name="num_1"/>
          <p:cNvSpPr/>
          <p:nvPr/>
        </p:nvSpPr>
        <p:spPr>
          <a:xfrm>
            <a:off x="8549640" y="1389888"/>
            <a:ext cx="365760" cy="365760"/>
          </a:xfrm>
          <a:prstGeom prst="ellipse">
            <a:avLst/>
          </a:prstGeom>
          <a:solidFill>
            <a:srgbClr val="5B2D90"/>
          </a:solidFill>
          <a:ln w="12700">
            <a:solidFill>
              <a:srgbClr val="5B2D90"/>
            </a:solidFill>
            <a:prstDash val="solid"/>
          </a:ln>
        </p:spPr>
      </p:sp>
      <p:sp>
        <p:nvSpPr>
          <p:cNvPr id="9" name="numt_1"/>
          <p:cNvSpPr txBox="1"/>
          <p:nvPr/>
        </p:nvSpPr>
        <p:spPr>
          <a:xfrm>
            <a:off x="8549640" y="1389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xt_1"/>
          <p:cNvSpPr txBox="1"/>
          <p:nvPr/>
        </p:nvSpPr>
        <p:spPr>
          <a:xfrm>
            <a:off x="9052560" y="1371600"/>
            <a:ext cx="2697480" cy="813816"/>
          </a:xfrm>
          <a:prstGeom prst="rect">
            <a:avLst/>
          </a:prstGeom>
          <a:noFill/>
          <a:ln/>
        </p:spPr>
        <p:txBody>
          <a:bodyPr wrap="square" lIns="0" tIns="0" rIns="0" bIns="0" rtlCol="0" anchor="t"/>
          <a:lstStyle/>
          <a:p>
            <a:pPr indent="0" marL="0">
              <a:buNone/>
            </a:pPr>
            <a:r>
              <a:rPr lang="en-US" sz="1500" dirty="0">
                <a:solidFill>
                  <a:srgbClr val="1E1E1E"/>
                </a:solidFill>
              </a:rPr>
              <a:t>Read 1 and read 2: 10 and 20 are numbers, so both are stored.</a:t>
            </a:r>
            <a:endParaRPr lang="en-US" sz="1500" dirty="0"/>
          </a:p>
        </p:txBody>
      </p:sp>
      <p:sp>
        <p:nvSpPr>
          <p:cNvPr id="11" name="num_2"/>
          <p:cNvSpPr/>
          <p:nvPr/>
        </p:nvSpPr>
        <p:spPr>
          <a:xfrm>
            <a:off x="8549640" y="2478024"/>
            <a:ext cx="365760" cy="365760"/>
          </a:xfrm>
          <a:prstGeom prst="ellipse">
            <a:avLst/>
          </a:prstGeom>
          <a:solidFill>
            <a:srgbClr val="5B2D90"/>
          </a:solidFill>
          <a:ln w="12700">
            <a:solidFill>
              <a:srgbClr val="5B2D90"/>
            </a:solidFill>
            <a:prstDash val="solid"/>
          </a:ln>
        </p:spPr>
      </p:sp>
      <p:sp>
        <p:nvSpPr>
          <p:cNvPr id="12" name="numt_2"/>
          <p:cNvSpPr txBox="1"/>
          <p:nvPr/>
        </p:nvSpPr>
        <p:spPr>
          <a:xfrm>
            <a:off x="8549640" y="24780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xt_2"/>
          <p:cNvSpPr txBox="1"/>
          <p:nvPr/>
        </p:nvSpPr>
        <p:spPr>
          <a:xfrm>
            <a:off x="9052560" y="2459736"/>
            <a:ext cx="2697480" cy="813816"/>
          </a:xfrm>
          <a:prstGeom prst="rect">
            <a:avLst/>
          </a:prstGeom>
          <a:noFill/>
          <a:ln/>
        </p:spPr>
        <p:txBody>
          <a:bodyPr wrap="square" lIns="0" tIns="0" rIns="0" bIns="0" rtlCol="0" anchor="t"/>
          <a:lstStyle/>
          <a:p>
            <a:pPr indent="0" marL="0">
              <a:buNone/>
            </a:pPr>
            <a:r>
              <a:rPr lang="en-US" sz="1500" dirty="0">
                <a:solidFill>
                  <a:srgbClr val="1E1E1E"/>
                </a:solidFill>
              </a:rPr>
              <a:t>Read 3 sees the letter a. An int cannot start with a letter, so the read fails.</a:t>
            </a:r>
            <a:endParaRPr lang="en-US" sz="1500" dirty="0"/>
          </a:p>
        </p:txBody>
      </p:sp>
      <p:sp>
        <p:nvSpPr>
          <p:cNvPr id="14" name="num_3"/>
          <p:cNvSpPr/>
          <p:nvPr/>
        </p:nvSpPr>
        <p:spPr>
          <a:xfrm>
            <a:off x="8549640" y="3566160"/>
            <a:ext cx="365760" cy="365760"/>
          </a:xfrm>
          <a:prstGeom prst="ellipse">
            <a:avLst/>
          </a:prstGeom>
          <a:solidFill>
            <a:srgbClr val="5B2D90"/>
          </a:solidFill>
          <a:ln w="12700">
            <a:solidFill>
              <a:srgbClr val="5B2D90"/>
            </a:solidFill>
            <a:prstDash val="solid"/>
          </a:ln>
        </p:spPr>
      </p:sp>
      <p:sp>
        <p:nvSpPr>
          <p:cNvPr id="15" name="numt_3"/>
          <p:cNvSpPr txBox="1"/>
          <p:nvPr/>
        </p:nvSpPr>
        <p:spPr>
          <a:xfrm>
            <a:off x="8549640" y="35661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xt_3"/>
          <p:cNvSpPr txBox="1"/>
          <p:nvPr/>
        </p:nvSpPr>
        <p:spPr>
          <a:xfrm>
            <a:off x="9052560" y="3547872"/>
            <a:ext cx="2697480" cy="1060704"/>
          </a:xfrm>
          <a:prstGeom prst="rect">
            <a:avLst/>
          </a:prstGeom>
          <a:noFill/>
          <a:ln/>
        </p:spPr>
        <p:txBody>
          <a:bodyPr wrap="square" lIns="0" tIns="0" rIns="0" bIns="0" rtlCol="0" anchor="t"/>
          <a:lstStyle/>
          <a:p>
            <a:pPr indent="0" marL="0">
              <a:buNone/>
            </a:pPr>
            <a:r>
              <a:rPr lang="en-US" sz="1500" dirty="0">
                <a:solidFill>
                  <a:srgbClr val="1E1E1E"/>
                </a:solidFill>
              </a:rPr>
              <a:t>A failed read makes the while condition false, so the loop ends. Everything after abc is ignored.</a:t>
            </a:r>
            <a:endParaRPr lang="en-US" sz="1500" dirty="0"/>
          </a:p>
        </p:txBody>
      </p:sp>
      <p:sp>
        <p:nvSpPr>
          <p:cNvPr id="17" name="Text 12"/>
          <p:cNvSpPr txBox="1"/>
          <p:nvPr/>
        </p:nvSpPr>
        <p:spPr>
          <a:xfrm>
            <a:off x="457200" y="5486400"/>
            <a:ext cx="7772400" cy="685800"/>
          </a:xfrm>
          <a:prstGeom prst="rect">
            <a:avLst/>
          </a:prstGeom>
          <a:solidFill>
            <a:srgbClr val="F2F2F2"/>
          </a:solidFill>
          <a:ln w="9525">
            <a:solidFill>
              <a:srgbClr val="D0D0D0"/>
            </a:solidFill>
          </a:ln>
        </p:spPr>
        <p:txBody>
          <a:bodyPr wrap="square" lIns="76200" tIns="152400" rIns="152400" bIns="76200" rtlCol="0" anchor="ctr"/>
          <a:lstStyle/>
          <a:p>
            <a:pPr indent="0" marL="0">
              <a:buNone/>
            </a:pPr>
            <a:r>
              <a:rPr lang="en-US" sz="1400" b="1" dirty="0">
                <a:solidFill>
                  <a:srgbClr val="5B2D90"/>
                </a:solidFill>
              </a:rPr>
              <a:t>Tip  </a:t>
            </a:r>
            <a:pPr indent="0" marL="0">
              <a:buNone/>
            </a:pPr>
            <a:r>
              <a:rPr lang="en-US" sz="1400" dirty="0">
                <a:solidFill>
                  <a:srgbClr val="1E1E1E"/>
                </a:solidFill>
              </a:rPr>
              <a:t>A failed read puts the stream in a fail state. Every read after that does nothing until clear().</a:t>
            </a:r>
            <a:endParaRPr lang="en-US" sz="1400" dirty="0"/>
          </a:p>
        </p:txBody>
      </p:sp>
      <p:sp>
        <p:nvSpPr>
          <p:cNvPr id="18" name="hint"/>
          <p:cNvSpPr txBox="1"/>
          <p:nvPr/>
        </p:nvSpPr>
        <p:spPr>
          <a:xfrm>
            <a:off x="8549640" y="5715000"/>
            <a:ext cx="3200400" cy="274320"/>
          </a:xfrm>
          <a:prstGeom prst="rect">
            <a:avLst/>
          </a:prstGeom>
          <a:noFill/>
          <a:ln/>
        </p:spPr>
        <p:txBody>
          <a:bodyPr wrap="square" lIns="0" tIns="0" rIns="0" bIns="0" rtlCol="0" anchor="ctr"/>
          <a:lstStyle/>
          <a:p>
            <a:pPr indent="0" marL="0">
              <a:buNone/>
            </a:pPr>
            <a:r>
              <a:rPr lang="en-US" sz="1100" i="1" dirty="0">
                <a:solidFill>
                  <a:srgbClr val="555555"/>
                </a:solidFill>
              </a:rPr>
              <a:t>Click to see the next screen</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92608"/>
            <a:ext cx="3657600" cy="274320"/>
          </a:xfrm>
          <a:prstGeom prst="rect">
            <a:avLst/>
          </a:prstGeom>
          <a:noFill/>
          <a:ln/>
        </p:spPr>
        <p:txBody>
          <a:bodyPr wrap="square" lIns="0" tIns="0" rIns="0" bIns="0" rtlCol="0" anchor="ctr"/>
          <a:lstStyle/>
          <a:p>
            <a:pPr indent="0" marL="0">
              <a:buNone/>
            </a:pPr>
            <a:r>
              <a:rPr lang="en-US" sz="1200" b="1" spc="200" kern="0" dirty="0">
                <a:solidFill>
                  <a:srgbClr val="5B2D90"/>
                </a:solidFill>
              </a:rPr>
              <a:t>STEP 7 OF 11</a:t>
            </a:r>
            <a:endParaRPr lang="en-US" sz="1200" dirty="0"/>
          </a:p>
        </p:txBody>
      </p:sp>
      <p:sp>
        <p:nvSpPr>
          <p:cNvPr id="3" name="Text 0"/>
          <p:cNvSpPr/>
          <p:nvPr>
            <p:ph idx="100" type="title" hasCustomPrompt="1"/>
          </p:nvPr>
        </p:nvSpPr>
        <p:spPr>
          <a:xfrm>
            <a:off x="457200" y="566928"/>
            <a:ext cx="11247120" cy="603504"/>
          </a:xfrm>
          <a:prstGeom prst="rect">
            <a:avLst/>
          </a:prstGeom>
          <a:noFill/>
          <a:ln/>
        </p:spPr>
        <p:txBody>
          <a:bodyPr wrap="square" lIns="0" tIns="0" rIns="0" bIns="0" rtlCol="0" anchor="ctr"/>
          <a:lstStyle/>
          <a:p>
            <a:pPr algn="l" indent="0" marL="0">
              <a:buNone/>
            </a:pPr>
            <a:r>
              <a:rPr lang="en-US" sz="3000" b="1" dirty="0">
                <a:solidFill>
                  <a:srgbClr val="1E1E1E"/>
                </a:solidFill>
                <a:latin typeface="Calibri" pitchFamily="34" charset="0"/>
                <a:ea typeface="Calibri" pitchFamily="34" charset="-122"/>
                <a:cs typeface="Calibri" pitchFamily="34" charset="-120"/>
              </a:rPr>
              <a:t>Plan the fix</a:t>
            </a:r>
            <a:endParaRPr lang="en-US" sz="3000" dirty="0"/>
          </a:p>
        </p:txBody>
      </p:sp>
      <p:sp>
        <p:nvSpPr>
          <p:cNvPr id="4" name="Shape 2"/>
          <p:cNvSpPr/>
          <p:nvPr/>
        </p:nvSpPr>
        <p:spPr>
          <a:xfrm>
            <a:off x="438912" y="1353312"/>
            <a:ext cx="7808976" cy="3922776"/>
          </a:xfrm>
          <a:prstGeom prst="rect">
            <a:avLst/>
          </a:prstGeom>
          <a:solidFill>
            <a:srgbClr val="FFFFFF"/>
          </a:solidFill>
          <a:ln w="12700">
            <a:solidFill>
              <a:srgbClr val="A6A6A6"/>
            </a:solidFill>
            <a:prstDash val="solid"/>
          </a:ln>
        </p:spPr>
      </p:sp>
      <p:pic>
        <p:nvPicPr>
          <p:cNvPr id="5" name="pic_1" descr="New plan: every pass of the loop asks three questions. A number? The end? Or junk?">    </p:cNvPr>
          <p:cNvPicPr>
            <a:picLocks noChangeAspect="1"/>
          </p:cNvPicPr>
          <p:nvPr/>
        </p:nvPicPr>
        <p:blipFill>
          <a:blip r:embed="rId1"/>
          <a:stretch>
            <a:fillRect/>
          </a:stretch>
        </p:blipFill>
        <p:spPr>
          <a:xfrm>
            <a:off x="457200" y="1371600"/>
            <a:ext cx="7772400" cy="3886200"/>
          </a:xfrm>
          <a:prstGeom prst="rect">
            <a:avLst/>
          </a:prstGeom>
        </p:spPr>
      </p:pic>
      <p:pic>
        <p:nvPicPr>
          <p:cNvPr id="6" name="pic_2" descr="At the end of the file the loop breaks. Result: 10 20 40 50 kept, 2 skipped.">    </p:cNvPr>
          <p:cNvPicPr>
            <a:picLocks noChangeAspect="1"/>
          </p:cNvPicPr>
          <p:nvPr/>
        </p:nvPicPr>
        <p:blipFill>
          <a:blip r:embed="rId2"/>
          <a:stretch>
            <a:fillRect/>
          </a:stretch>
        </p:blipFill>
        <p:spPr>
          <a:xfrm>
            <a:off x="457200" y="1371600"/>
            <a:ext cx="7772400" cy="3886200"/>
          </a:xfrm>
          <a:prstGeom prst="rect">
            <a:avLst/>
          </a:prstGeom>
        </p:spPr>
      </p:pic>
      <p:sp>
        <p:nvSpPr>
          <p:cNvPr id="7" name="num_1"/>
          <p:cNvSpPr/>
          <p:nvPr/>
        </p:nvSpPr>
        <p:spPr>
          <a:xfrm>
            <a:off x="8549640" y="1389888"/>
            <a:ext cx="365760" cy="365760"/>
          </a:xfrm>
          <a:prstGeom prst="ellipse">
            <a:avLst/>
          </a:prstGeom>
          <a:solidFill>
            <a:srgbClr val="5B2D90"/>
          </a:solidFill>
          <a:ln w="12700">
            <a:solidFill>
              <a:srgbClr val="5B2D90"/>
            </a:solidFill>
            <a:prstDash val="solid"/>
          </a:ln>
        </p:spPr>
      </p:sp>
      <p:sp>
        <p:nvSpPr>
          <p:cNvPr id="8" name="numt_1"/>
          <p:cNvSpPr txBox="1"/>
          <p:nvPr/>
        </p:nvSpPr>
        <p:spPr>
          <a:xfrm>
            <a:off x="8549640" y="1389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xt_1"/>
          <p:cNvSpPr txBox="1"/>
          <p:nvPr/>
        </p:nvSpPr>
        <p:spPr>
          <a:xfrm>
            <a:off x="9052560" y="1371600"/>
            <a:ext cx="2697480" cy="813816"/>
          </a:xfrm>
          <a:prstGeom prst="rect">
            <a:avLst/>
          </a:prstGeom>
          <a:noFill/>
          <a:ln/>
        </p:spPr>
        <p:txBody>
          <a:bodyPr wrap="square" lIns="0" tIns="0" rIns="0" bIns="0" rtlCol="0" anchor="t"/>
          <a:lstStyle/>
          <a:p>
            <a:pPr indent="0" marL="0">
              <a:buNone/>
            </a:pPr>
            <a:r>
              <a:rPr lang="en-US" sz="1500" dirty="0">
                <a:solidFill>
                  <a:srgbClr val="1E1E1E"/>
                </a:solidFill>
              </a:rPr>
              <a:t>New plan: every pass of the loop asks three questions. A number? The end? Or junk?</a:t>
            </a:r>
            <a:endParaRPr lang="en-US" sz="1500" dirty="0"/>
          </a:p>
        </p:txBody>
      </p:sp>
      <p:sp>
        <p:nvSpPr>
          <p:cNvPr id="10" name="num_2"/>
          <p:cNvSpPr/>
          <p:nvPr/>
        </p:nvSpPr>
        <p:spPr>
          <a:xfrm>
            <a:off x="8549640" y="2478024"/>
            <a:ext cx="365760" cy="365760"/>
          </a:xfrm>
          <a:prstGeom prst="ellipse">
            <a:avLst/>
          </a:prstGeom>
          <a:solidFill>
            <a:srgbClr val="5B2D90"/>
          </a:solidFill>
          <a:ln w="12700">
            <a:solidFill>
              <a:srgbClr val="5B2D90"/>
            </a:solidFill>
            <a:prstDash val="solid"/>
          </a:ln>
        </p:spPr>
      </p:sp>
      <p:sp>
        <p:nvSpPr>
          <p:cNvPr id="11" name="numt_2"/>
          <p:cNvSpPr txBox="1"/>
          <p:nvPr/>
        </p:nvSpPr>
        <p:spPr>
          <a:xfrm>
            <a:off x="8549640" y="24780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xt_2"/>
          <p:cNvSpPr txBox="1"/>
          <p:nvPr/>
        </p:nvSpPr>
        <p:spPr>
          <a:xfrm>
            <a:off x="9052560" y="2459736"/>
            <a:ext cx="2697480" cy="813816"/>
          </a:xfrm>
          <a:prstGeom prst="rect">
            <a:avLst/>
          </a:prstGeom>
          <a:noFill/>
          <a:ln/>
        </p:spPr>
        <p:txBody>
          <a:bodyPr wrap="square" lIns="0" tIns="0" rIns="0" bIns="0" rtlCol="0" anchor="t"/>
          <a:lstStyle/>
          <a:p>
            <a:pPr indent="0" marL="0">
              <a:buNone/>
            </a:pPr>
            <a:r>
              <a:rPr lang="en-US" sz="1500" dirty="0">
                <a:solidFill>
                  <a:srgbClr val="1E1E1E"/>
                </a:solidFill>
              </a:rPr>
              <a:t>At the end of the file the loop breaks. Result: 10 20 40 50 kept, 2 skipped.</a:t>
            </a:r>
            <a:endParaRPr lang="en-US" sz="1500" dirty="0"/>
          </a:p>
        </p:txBody>
      </p:sp>
      <p:sp>
        <p:nvSpPr>
          <p:cNvPr id="13" name="Text 9"/>
          <p:cNvSpPr txBox="1"/>
          <p:nvPr/>
        </p:nvSpPr>
        <p:spPr>
          <a:xfrm>
            <a:off x="457200" y="5486400"/>
            <a:ext cx="7772400" cy="685800"/>
          </a:xfrm>
          <a:prstGeom prst="rect">
            <a:avLst/>
          </a:prstGeom>
          <a:solidFill>
            <a:srgbClr val="F2F2F2"/>
          </a:solidFill>
          <a:ln w="9525">
            <a:solidFill>
              <a:srgbClr val="D0D0D0"/>
            </a:solidFill>
          </a:ln>
        </p:spPr>
        <p:txBody>
          <a:bodyPr wrap="square" lIns="76200" tIns="152400" rIns="152400" bIns="76200" rtlCol="0" anchor="ctr"/>
          <a:lstStyle/>
          <a:p>
            <a:pPr indent="0" marL="0">
              <a:buNone/>
            </a:pPr>
            <a:r>
              <a:rPr lang="en-US" sz="1400" b="1" dirty="0">
                <a:solidFill>
                  <a:srgbClr val="5B2D90"/>
                </a:solidFill>
              </a:rPr>
              <a:t>Tip  </a:t>
            </a:r>
            <a:pPr indent="0" marL="0">
              <a:buNone/>
            </a:pPr>
            <a:r>
              <a:rPr lang="en-US" sz="1400" dirty="0">
                <a:solidFill>
                  <a:srgbClr val="1E1E1E"/>
                </a:solidFill>
              </a:rPr>
              <a:t>You can skip the junk word with inFile &gt;&gt; junk; or with inFile.ignore(100, ' '); which needs no array.</a:t>
            </a:r>
            <a:endParaRPr lang="en-US" sz="1400" dirty="0"/>
          </a:p>
        </p:txBody>
      </p:sp>
      <p:sp>
        <p:nvSpPr>
          <p:cNvPr id="14" name="hint"/>
          <p:cNvSpPr txBox="1"/>
          <p:nvPr/>
        </p:nvSpPr>
        <p:spPr>
          <a:xfrm>
            <a:off x="8549640" y="5715000"/>
            <a:ext cx="3200400" cy="274320"/>
          </a:xfrm>
          <a:prstGeom prst="rect">
            <a:avLst/>
          </a:prstGeom>
          <a:noFill/>
          <a:ln/>
        </p:spPr>
        <p:txBody>
          <a:bodyPr wrap="square" lIns="0" tIns="0" rIns="0" bIns="0" rtlCol="0" anchor="ctr"/>
          <a:lstStyle/>
          <a:p>
            <a:pPr indent="0" marL="0">
              <a:buNone/>
            </a:pPr>
            <a:r>
              <a:rPr lang="en-US" sz="1100" i="1" dirty="0">
                <a:solidFill>
                  <a:srgbClr val="555555"/>
                </a:solidFill>
              </a:rPr>
              <a:t>Click to see the next screen</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92608"/>
            <a:ext cx="3657600" cy="274320"/>
          </a:xfrm>
          <a:prstGeom prst="rect">
            <a:avLst/>
          </a:prstGeom>
          <a:noFill/>
          <a:ln/>
        </p:spPr>
        <p:txBody>
          <a:bodyPr wrap="square" lIns="0" tIns="0" rIns="0" bIns="0" rtlCol="0" anchor="ctr"/>
          <a:lstStyle/>
          <a:p>
            <a:pPr indent="0" marL="0">
              <a:buNone/>
            </a:pPr>
            <a:r>
              <a:rPr lang="en-US" sz="1200" b="1" spc="200" kern="0" dirty="0">
                <a:solidFill>
                  <a:srgbClr val="5B2D90"/>
                </a:solidFill>
              </a:rPr>
              <a:t>STEP 8 OF 11</a:t>
            </a:r>
            <a:endParaRPr lang="en-US" sz="1200" dirty="0"/>
          </a:p>
        </p:txBody>
      </p:sp>
      <p:sp>
        <p:nvSpPr>
          <p:cNvPr id="3" name="Text 0"/>
          <p:cNvSpPr/>
          <p:nvPr>
            <p:ph idx="100" type="title" hasCustomPrompt="1"/>
          </p:nvPr>
        </p:nvSpPr>
        <p:spPr>
          <a:xfrm>
            <a:off x="457200" y="566928"/>
            <a:ext cx="11247120" cy="603504"/>
          </a:xfrm>
          <a:prstGeom prst="rect">
            <a:avLst/>
          </a:prstGeom>
          <a:noFill/>
          <a:ln/>
        </p:spPr>
        <p:txBody>
          <a:bodyPr wrap="square" lIns="0" tIns="0" rIns="0" bIns="0" rtlCol="0" anchor="ctr"/>
          <a:lstStyle/>
          <a:p>
            <a:pPr algn="l" indent="0" marL="0">
              <a:buNone/>
            </a:pPr>
            <a:r>
              <a:rPr lang="en-US" sz="3000" b="1" dirty="0">
                <a:solidFill>
                  <a:srgbClr val="1E1E1E"/>
                </a:solidFill>
                <a:latin typeface="Calibri" pitchFamily="34" charset="0"/>
                <a:ea typeface="Calibri" pitchFamily="34" charset="-122"/>
                <a:cs typeface="Calibri" pitchFamily="34" charset="-120"/>
              </a:rPr>
              <a:t>Fix step 1: add two variables</a:t>
            </a:r>
            <a:endParaRPr lang="en-US" sz="3000" dirty="0"/>
          </a:p>
        </p:txBody>
      </p:sp>
      <p:sp>
        <p:nvSpPr>
          <p:cNvPr id="4" name="Shape 2"/>
          <p:cNvSpPr/>
          <p:nvPr/>
        </p:nvSpPr>
        <p:spPr>
          <a:xfrm>
            <a:off x="438912" y="1353312"/>
            <a:ext cx="7808976" cy="3922776"/>
          </a:xfrm>
          <a:prstGeom prst="rect">
            <a:avLst/>
          </a:prstGeom>
          <a:solidFill>
            <a:srgbClr val="FFFFFF"/>
          </a:solidFill>
          <a:ln w="12700">
            <a:solidFill>
              <a:srgbClr val="A6A6A6"/>
            </a:solidFill>
            <a:prstDash val="solid"/>
          </a:ln>
        </p:spPr>
      </p:sp>
      <p:pic>
        <p:nvPicPr>
          <p:cNvPr id="5" name="pic_1" descr="Add bad to count the junk, and char junk[50] to hold a junk word while we skip it.">    </p:cNvPr>
          <p:cNvPicPr>
            <a:picLocks noChangeAspect="1"/>
          </p:cNvPicPr>
          <p:nvPr/>
        </p:nvPicPr>
        <p:blipFill>
          <a:blip r:embed="rId1"/>
          <a:stretch>
            <a:fillRect/>
          </a:stretch>
        </p:blipFill>
        <p:spPr>
          <a:xfrm>
            <a:off x="457200" y="1371600"/>
            <a:ext cx="7772400" cy="3886200"/>
          </a:xfrm>
          <a:prstGeom prst="rect">
            <a:avLst/>
          </a:prstGeom>
        </p:spPr>
      </p:pic>
      <p:sp>
        <p:nvSpPr>
          <p:cNvPr id="6" name="num_1"/>
          <p:cNvSpPr/>
          <p:nvPr/>
        </p:nvSpPr>
        <p:spPr>
          <a:xfrm>
            <a:off x="8549640" y="1389888"/>
            <a:ext cx="365760" cy="365760"/>
          </a:xfrm>
          <a:prstGeom prst="ellipse">
            <a:avLst/>
          </a:prstGeom>
          <a:solidFill>
            <a:srgbClr val="5B2D90"/>
          </a:solidFill>
          <a:ln w="12700">
            <a:solidFill>
              <a:srgbClr val="5B2D90"/>
            </a:solidFill>
            <a:prstDash val="solid"/>
          </a:ln>
        </p:spPr>
      </p:sp>
      <p:sp>
        <p:nvSpPr>
          <p:cNvPr id="7" name="numt_1"/>
          <p:cNvSpPr txBox="1"/>
          <p:nvPr/>
        </p:nvSpPr>
        <p:spPr>
          <a:xfrm>
            <a:off x="8549640" y="1389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xt_1"/>
          <p:cNvSpPr txBox="1"/>
          <p:nvPr/>
        </p:nvSpPr>
        <p:spPr>
          <a:xfrm>
            <a:off x="9052560" y="1371600"/>
            <a:ext cx="2697480" cy="813816"/>
          </a:xfrm>
          <a:prstGeom prst="rect">
            <a:avLst/>
          </a:prstGeom>
          <a:noFill/>
          <a:ln/>
        </p:spPr>
        <p:txBody>
          <a:bodyPr wrap="square" lIns="0" tIns="0" rIns="0" bIns="0" rtlCol="0" anchor="t"/>
          <a:lstStyle/>
          <a:p>
            <a:pPr indent="0" marL="0">
              <a:buNone/>
            </a:pPr>
            <a:r>
              <a:rPr lang="en-US" sz="1500" dirty="0">
                <a:solidFill>
                  <a:srgbClr val="1E1E1E"/>
                </a:solidFill>
              </a:rPr>
              <a:t>Add bad to count the junk, and char junk[50] to hold a junk word while we skip it.</a:t>
            </a:r>
            <a:endParaRPr lang="en-US" sz="1500" dirty="0"/>
          </a:p>
        </p:txBody>
      </p:sp>
      <p:sp>
        <p:nvSpPr>
          <p:cNvPr id="9" name="Text 6"/>
          <p:cNvSpPr txBox="1"/>
          <p:nvPr/>
        </p:nvSpPr>
        <p:spPr>
          <a:xfrm>
            <a:off x="457200" y="5486400"/>
            <a:ext cx="7772400" cy="685800"/>
          </a:xfrm>
          <a:prstGeom prst="rect">
            <a:avLst/>
          </a:prstGeom>
          <a:solidFill>
            <a:srgbClr val="F2F2F2"/>
          </a:solidFill>
          <a:ln w="9525">
            <a:solidFill>
              <a:srgbClr val="D0D0D0"/>
            </a:solidFill>
          </a:ln>
        </p:spPr>
        <p:txBody>
          <a:bodyPr wrap="square" lIns="76200" tIns="152400" rIns="152400" bIns="76200" rtlCol="0" anchor="ctr"/>
          <a:lstStyle/>
          <a:p>
            <a:pPr indent="0" marL="0">
              <a:buNone/>
            </a:pPr>
            <a:r>
              <a:rPr lang="en-US" sz="1400" b="1" dirty="0">
                <a:solidFill>
                  <a:srgbClr val="5B2D90"/>
                </a:solidFill>
              </a:rPr>
              <a:t>Tip  </a:t>
            </a:r>
            <a:pPr indent="0" marL="0">
              <a:buNone/>
            </a:pPr>
            <a:r>
              <a:rPr lang="en-US" sz="1400" dirty="0">
                <a:solidFill>
                  <a:srgbClr val="1E1E1E"/>
                </a:solidFill>
              </a:rPr>
              <a:t>bad counts the junk words. junk[50] is a place to put a junk word while skipping it.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92608"/>
            <a:ext cx="3657600" cy="274320"/>
          </a:xfrm>
          <a:prstGeom prst="rect">
            <a:avLst/>
          </a:prstGeom>
          <a:noFill/>
          <a:ln/>
        </p:spPr>
        <p:txBody>
          <a:bodyPr wrap="square" lIns="0" tIns="0" rIns="0" bIns="0" rtlCol="0" anchor="ctr"/>
          <a:lstStyle/>
          <a:p>
            <a:pPr indent="0" marL="0">
              <a:buNone/>
            </a:pPr>
            <a:r>
              <a:rPr lang="en-US" sz="1200" b="1" spc="200" kern="0" dirty="0">
                <a:solidFill>
                  <a:srgbClr val="5B2D90"/>
                </a:solidFill>
              </a:rPr>
              <a:t>STEP 9 OF 11</a:t>
            </a:r>
            <a:endParaRPr lang="en-US" sz="1200" dirty="0"/>
          </a:p>
        </p:txBody>
      </p:sp>
      <p:sp>
        <p:nvSpPr>
          <p:cNvPr id="3" name="Text 0"/>
          <p:cNvSpPr/>
          <p:nvPr>
            <p:ph idx="100" type="title" hasCustomPrompt="1"/>
          </p:nvPr>
        </p:nvSpPr>
        <p:spPr>
          <a:xfrm>
            <a:off x="457200" y="566928"/>
            <a:ext cx="11247120" cy="603504"/>
          </a:xfrm>
          <a:prstGeom prst="rect">
            <a:avLst/>
          </a:prstGeom>
          <a:noFill/>
          <a:ln/>
        </p:spPr>
        <p:txBody>
          <a:bodyPr wrap="square" lIns="0" tIns="0" rIns="0" bIns="0" rtlCol="0" anchor="ctr"/>
          <a:lstStyle/>
          <a:p>
            <a:pPr algn="l" indent="0" marL="0">
              <a:buNone/>
            </a:pPr>
            <a:r>
              <a:rPr lang="en-US" sz="3000" b="1" dirty="0">
                <a:solidFill>
                  <a:srgbClr val="1E1E1E"/>
                </a:solidFill>
                <a:latin typeface="Calibri" pitchFamily="34" charset="0"/>
                <a:ea typeface="Calibri" pitchFamily="34" charset="-122"/>
                <a:cs typeface="Calibri" pitchFamily="34" charset="-120"/>
              </a:rPr>
              <a:t>Fix step 2: replace the loop</a:t>
            </a:r>
            <a:endParaRPr lang="en-US" sz="3000" dirty="0"/>
          </a:p>
        </p:txBody>
      </p:sp>
      <p:sp>
        <p:nvSpPr>
          <p:cNvPr id="4" name="Shape 2"/>
          <p:cNvSpPr/>
          <p:nvPr/>
        </p:nvSpPr>
        <p:spPr>
          <a:xfrm>
            <a:off x="438912" y="1353312"/>
            <a:ext cx="7808976" cy="3922776"/>
          </a:xfrm>
          <a:prstGeom prst="rect">
            <a:avLst/>
          </a:prstGeom>
          <a:solidFill>
            <a:srgbClr val="FFFFFF"/>
          </a:solidFill>
          <a:ln w="12700">
            <a:solidFill>
              <a:srgbClr val="A6A6A6"/>
            </a:solidFill>
            <a:prstDash val="solid"/>
          </a:ln>
        </p:spPr>
      </p:sp>
      <p:pic>
        <p:nvPicPr>
          <p:cNvPr id="5" name="pic_1" descr="Select the old while loop and delete it.">    </p:cNvPr>
          <p:cNvPicPr>
            <a:picLocks noChangeAspect="1"/>
          </p:cNvPicPr>
          <p:nvPr/>
        </p:nvPicPr>
        <p:blipFill>
          <a:blip r:embed="rId1"/>
          <a:stretch>
            <a:fillRect/>
          </a:stretch>
        </p:blipFill>
        <p:spPr>
          <a:xfrm>
            <a:off x="457200" y="1371600"/>
            <a:ext cx="7772400" cy="3886200"/>
          </a:xfrm>
          <a:prstGeom prst="rect">
            <a:avLst/>
          </a:prstGeom>
        </p:spPr>
      </p:pic>
      <p:pic>
        <p:nvPicPr>
          <p:cNvPr id="6" name="pic_2" descr="Type the new loop: keep numbers, break at the end, and clear() then skip junk.">    </p:cNvPr>
          <p:cNvPicPr>
            <a:picLocks noChangeAspect="1"/>
          </p:cNvPicPr>
          <p:nvPr/>
        </p:nvPicPr>
        <p:blipFill>
          <a:blip r:embed="rId2"/>
          <a:stretch>
            <a:fillRect/>
          </a:stretch>
        </p:blipFill>
        <p:spPr>
          <a:xfrm>
            <a:off x="457200" y="1371600"/>
            <a:ext cx="7772400" cy="3886200"/>
          </a:xfrm>
          <a:prstGeom prst="rect">
            <a:avLst/>
          </a:prstGeom>
        </p:spPr>
      </p:pic>
      <p:sp>
        <p:nvSpPr>
          <p:cNvPr id="7" name="num_1"/>
          <p:cNvSpPr/>
          <p:nvPr/>
        </p:nvSpPr>
        <p:spPr>
          <a:xfrm>
            <a:off x="8549640" y="1389888"/>
            <a:ext cx="365760" cy="365760"/>
          </a:xfrm>
          <a:prstGeom prst="ellipse">
            <a:avLst/>
          </a:prstGeom>
          <a:solidFill>
            <a:srgbClr val="5B2D90"/>
          </a:solidFill>
          <a:ln w="12700">
            <a:solidFill>
              <a:srgbClr val="5B2D90"/>
            </a:solidFill>
            <a:prstDash val="solid"/>
          </a:ln>
        </p:spPr>
      </p:sp>
      <p:sp>
        <p:nvSpPr>
          <p:cNvPr id="8" name="numt_1"/>
          <p:cNvSpPr txBox="1"/>
          <p:nvPr/>
        </p:nvSpPr>
        <p:spPr>
          <a:xfrm>
            <a:off x="8549640" y="1389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xt_1"/>
          <p:cNvSpPr txBox="1"/>
          <p:nvPr/>
        </p:nvSpPr>
        <p:spPr>
          <a:xfrm>
            <a:off x="9052560" y="1371600"/>
            <a:ext cx="2697480" cy="566928"/>
          </a:xfrm>
          <a:prstGeom prst="rect">
            <a:avLst/>
          </a:prstGeom>
          <a:noFill/>
          <a:ln/>
        </p:spPr>
        <p:txBody>
          <a:bodyPr wrap="square" lIns="0" tIns="0" rIns="0" bIns="0" rtlCol="0" anchor="t"/>
          <a:lstStyle/>
          <a:p>
            <a:pPr indent="0" marL="0">
              <a:buNone/>
            </a:pPr>
            <a:r>
              <a:rPr lang="en-US" sz="1500" dirty="0">
                <a:solidFill>
                  <a:srgbClr val="1E1E1E"/>
                </a:solidFill>
              </a:rPr>
              <a:t>Select the old while loop and delete it.</a:t>
            </a:r>
            <a:endParaRPr lang="en-US" sz="1500" dirty="0"/>
          </a:p>
        </p:txBody>
      </p:sp>
      <p:sp>
        <p:nvSpPr>
          <p:cNvPr id="10" name="num_2"/>
          <p:cNvSpPr/>
          <p:nvPr/>
        </p:nvSpPr>
        <p:spPr>
          <a:xfrm>
            <a:off x="8549640" y="2231136"/>
            <a:ext cx="365760" cy="365760"/>
          </a:xfrm>
          <a:prstGeom prst="ellipse">
            <a:avLst/>
          </a:prstGeom>
          <a:solidFill>
            <a:srgbClr val="5B2D90"/>
          </a:solidFill>
          <a:ln w="12700">
            <a:solidFill>
              <a:srgbClr val="5B2D90"/>
            </a:solidFill>
            <a:prstDash val="solid"/>
          </a:ln>
        </p:spPr>
      </p:sp>
      <p:sp>
        <p:nvSpPr>
          <p:cNvPr id="11" name="numt_2"/>
          <p:cNvSpPr txBox="1"/>
          <p:nvPr/>
        </p:nvSpPr>
        <p:spPr>
          <a:xfrm>
            <a:off x="8549640" y="22311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xt_2"/>
          <p:cNvSpPr txBox="1"/>
          <p:nvPr/>
        </p:nvSpPr>
        <p:spPr>
          <a:xfrm>
            <a:off x="9052560" y="2212848"/>
            <a:ext cx="2697480" cy="813816"/>
          </a:xfrm>
          <a:prstGeom prst="rect">
            <a:avLst/>
          </a:prstGeom>
          <a:noFill/>
          <a:ln/>
        </p:spPr>
        <p:txBody>
          <a:bodyPr wrap="square" lIns="0" tIns="0" rIns="0" bIns="0" rtlCol="0" anchor="t"/>
          <a:lstStyle/>
          <a:p>
            <a:pPr indent="0" marL="0">
              <a:buNone/>
            </a:pPr>
            <a:r>
              <a:rPr lang="en-US" sz="1500" dirty="0">
                <a:solidFill>
                  <a:srgbClr val="1E1E1E"/>
                </a:solidFill>
              </a:rPr>
              <a:t>Type the new loop: keep numbers, break at the end, and clear() then skip junk.</a:t>
            </a:r>
            <a:endParaRPr lang="en-US" sz="1500" dirty="0"/>
          </a:p>
        </p:txBody>
      </p:sp>
      <p:sp>
        <p:nvSpPr>
          <p:cNvPr id="13" name="Text 9"/>
          <p:cNvSpPr txBox="1"/>
          <p:nvPr/>
        </p:nvSpPr>
        <p:spPr>
          <a:xfrm>
            <a:off x="457200" y="5486400"/>
            <a:ext cx="7772400" cy="685800"/>
          </a:xfrm>
          <a:prstGeom prst="rect">
            <a:avLst/>
          </a:prstGeom>
          <a:solidFill>
            <a:srgbClr val="F2F2F2"/>
          </a:solidFill>
          <a:ln w="9525">
            <a:solidFill>
              <a:srgbClr val="D0D0D0"/>
            </a:solidFill>
          </a:ln>
        </p:spPr>
        <p:txBody>
          <a:bodyPr wrap="square" lIns="76200" tIns="152400" rIns="152400" bIns="76200" rtlCol="0" anchor="ctr"/>
          <a:lstStyle/>
          <a:p>
            <a:pPr indent="0" marL="0">
              <a:buNone/>
            </a:pPr>
            <a:r>
              <a:rPr lang="en-US" sz="1400" b="1" dirty="0">
                <a:solidFill>
                  <a:srgbClr val="5B2D90"/>
                </a:solidFill>
              </a:rPr>
              <a:t>Tip  </a:t>
            </a:r>
            <a:pPr indent="0" marL="0">
              <a:buNone/>
            </a:pPr>
            <a:r>
              <a:rPr lang="en-US" sz="1400" dirty="0">
                <a:solidFill>
                  <a:srgbClr val="1E1E1E"/>
                </a:solidFill>
              </a:rPr>
              <a:t>Order matters: test for a number first, then the end of the file, and only then treat it as junk.</a:t>
            </a:r>
            <a:endParaRPr lang="en-US" sz="1400" dirty="0"/>
          </a:p>
        </p:txBody>
      </p:sp>
      <p:sp>
        <p:nvSpPr>
          <p:cNvPr id="14" name="hint"/>
          <p:cNvSpPr txBox="1"/>
          <p:nvPr/>
        </p:nvSpPr>
        <p:spPr>
          <a:xfrm>
            <a:off x="8549640" y="5715000"/>
            <a:ext cx="3200400" cy="274320"/>
          </a:xfrm>
          <a:prstGeom prst="rect">
            <a:avLst/>
          </a:prstGeom>
          <a:noFill/>
          <a:ln/>
        </p:spPr>
        <p:txBody>
          <a:bodyPr wrap="square" lIns="0" tIns="0" rIns="0" bIns="0" rtlCol="0" anchor="ctr"/>
          <a:lstStyle/>
          <a:p>
            <a:pPr indent="0" marL="0">
              <a:buNone/>
            </a:pPr>
            <a:r>
              <a:rPr lang="en-US" sz="1100" i="1" dirty="0">
                <a:solidFill>
                  <a:srgbClr val="555555"/>
                </a:solidFill>
              </a:rPr>
              <a:t>Click to see the next screen</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92608"/>
            <a:ext cx="3657600" cy="274320"/>
          </a:xfrm>
          <a:prstGeom prst="rect">
            <a:avLst/>
          </a:prstGeom>
          <a:noFill/>
          <a:ln/>
        </p:spPr>
        <p:txBody>
          <a:bodyPr wrap="square" lIns="0" tIns="0" rIns="0" bIns="0" rtlCol="0" anchor="ctr"/>
          <a:lstStyle/>
          <a:p>
            <a:pPr indent="0" marL="0">
              <a:buNone/>
            </a:pPr>
            <a:r>
              <a:rPr lang="en-US" sz="1200" b="1" spc="200" kern="0" dirty="0">
                <a:solidFill>
                  <a:srgbClr val="5B2D90"/>
                </a:solidFill>
              </a:rPr>
              <a:t>STEP 10 OF 11</a:t>
            </a:r>
            <a:endParaRPr lang="en-US" sz="1200" dirty="0"/>
          </a:p>
        </p:txBody>
      </p:sp>
      <p:sp>
        <p:nvSpPr>
          <p:cNvPr id="3" name="Text 0"/>
          <p:cNvSpPr/>
          <p:nvPr>
            <p:ph idx="100" type="title" hasCustomPrompt="1"/>
          </p:nvPr>
        </p:nvSpPr>
        <p:spPr>
          <a:xfrm>
            <a:off x="457200" y="566928"/>
            <a:ext cx="11247120" cy="603504"/>
          </a:xfrm>
          <a:prstGeom prst="rect">
            <a:avLst/>
          </a:prstGeom>
          <a:noFill/>
          <a:ln/>
        </p:spPr>
        <p:txBody>
          <a:bodyPr wrap="square" lIns="0" tIns="0" rIns="0" bIns="0" rtlCol="0" anchor="ctr"/>
          <a:lstStyle/>
          <a:p>
            <a:pPr algn="l" indent="0" marL="0">
              <a:buNone/>
            </a:pPr>
            <a:r>
              <a:rPr lang="en-US" sz="3000" b="1" dirty="0">
                <a:solidFill>
                  <a:srgbClr val="1E1E1E"/>
                </a:solidFill>
                <a:latin typeface="Calibri" pitchFamily="34" charset="0"/>
                <a:ea typeface="Calibri" pitchFamily="34" charset="-122"/>
                <a:cs typeface="Calibri" pitchFamily="34" charset="-120"/>
              </a:rPr>
              <a:t>Fix step 3: print the skipped count</a:t>
            </a:r>
            <a:endParaRPr lang="en-US" sz="3000" dirty="0"/>
          </a:p>
        </p:txBody>
      </p:sp>
      <p:sp>
        <p:nvSpPr>
          <p:cNvPr id="4" name="Shape 2"/>
          <p:cNvSpPr/>
          <p:nvPr/>
        </p:nvSpPr>
        <p:spPr>
          <a:xfrm>
            <a:off x="438912" y="1353312"/>
            <a:ext cx="7808976" cy="3922776"/>
          </a:xfrm>
          <a:prstGeom prst="rect">
            <a:avLst/>
          </a:prstGeom>
          <a:solidFill>
            <a:srgbClr val="FFFFFF"/>
          </a:solidFill>
          <a:ln w="12700">
            <a:solidFill>
              <a:srgbClr val="A6A6A6"/>
            </a:solidFill>
            <a:prstDash val="solid"/>
          </a:ln>
        </p:spPr>
      </p:sp>
      <p:pic>
        <p:nvPicPr>
          <p:cNvPr id="5" name="pic_1" descr="Change the last cout so it also prints how many items were skipped.">    </p:cNvPr>
          <p:cNvPicPr>
            <a:picLocks noChangeAspect="1"/>
          </p:cNvPicPr>
          <p:nvPr/>
        </p:nvPicPr>
        <p:blipFill>
          <a:blip r:embed="rId1"/>
          <a:stretch>
            <a:fillRect/>
          </a:stretch>
        </p:blipFill>
        <p:spPr>
          <a:xfrm>
            <a:off x="457200" y="1371600"/>
            <a:ext cx="7772400" cy="3886200"/>
          </a:xfrm>
          <a:prstGeom prst="rect">
            <a:avLst/>
          </a:prstGeom>
        </p:spPr>
      </p:pic>
      <p:sp>
        <p:nvSpPr>
          <p:cNvPr id="6" name="num_1"/>
          <p:cNvSpPr/>
          <p:nvPr/>
        </p:nvSpPr>
        <p:spPr>
          <a:xfrm>
            <a:off x="8549640" y="1389888"/>
            <a:ext cx="365760" cy="365760"/>
          </a:xfrm>
          <a:prstGeom prst="ellipse">
            <a:avLst/>
          </a:prstGeom>
          <a:solidFill>
            <a:srgbClr val="5B2D90"/>
          </a:solidFill>
          <a:ln w="12700">
            <a:solidFill>
              <a:srgbClr val="5B2D90"/>
            </a:solidFill>
            <a:prstDash val="solid"/>
          </a:ln>
        </p:spPr>
      </p:sp>
      <p:sp>
        <p:nvSpPr>
          <p:cNvPr id="7" name="numt_1"/>
          <p:cNvSpPr txBox="1"/>
          <p:nvPr/>
        </p:nvSpPr>
        <p:spPr>
          <a:xfrm>
            <a:off x="8549640" y="1389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xt_1"/>
          <p:cNvSpPr txBox="1"/>
          <p:nvPr/>
        </p:nvSpPr>
        <p:spPr>
          <a:xfrm>
            <a:off x="9052560" y="1371600"/>
            <a:ext cx="2697480" cy="813816"/>
          </a:xfrm>
          <a:prstGeom prst="rect">
            <a:avLst/>
          </a:prstGeom>
          <a:noFill/>
          <a:ln/>
        </p:spPr>
        <p:txBody>
          <a:bodyPr wrap="square" lIns="0" tIns="0" rIns="0" bIns="0" rtlCol="0" anchor="t"/>
          <a:lstStyle/>
          <a:p>
            <a:pPr indent="0" marL="0">
              <a:buNone/>
            </a:pPr>
            <a:r>
              <a:rPr lang="en-US" sz="1500" dirty="0">
                <a:solidFill>
                  <a:srgbClr val="1E1E1E"/>
                </a:solidFill>
              </a:rPr>
              <a:t>Change the last cout so it also prints how many items were skipped.</a:t>
            </a:r>
            <a:endParaRPr lang="en-US" sz="1500" dirty="0"/>
          </a:p>
        </p:txBody>
      </p:sp>
      <p:sp>
        <p:nvSpPr>
          <p:cNvPr id="9" name="Text 6"/>
          <p:cNvSpPr txBox="1"/>
          <p:nvPr/>
        </p:nvSpPr>
        <p:spPr>
          <a:xfrm>
            <a:off x="457200" y="5486400"/>
            <a:ext cx="7772400" cy="685800"/>
          </a:xfrm>
          <a:prstGeom prst="rect">
            <a:avLst/>
          </a:prstGeom>
          <a:solidFill>
            <a:srgbClr val="F2F2F2"/>
          </a:solidFill>
          <a:ln w="9525">
            <a:solidFill>
              <a:srgbClr val="D0D0D0"/>
            </a:solidFill>
          </a:ln>
        </p:spPr>
        <p:txBody>
          <a:bodyPr wrap="square" lIns="76200" tIns="152400" rIns="152400" bIns="76200" rtlCol="0" anchor="ctr"/>
          <a:lstStyle/>
          <a:p>
            <a:pPr indent="0" marL="0">
              <a:buNone/>
            </a:pPr>
            <a:r>
              <a:rPr lang="en-US" sz="1400" b="1" dirty="0">
                <a:solidFill>
                  <a:srgbClr val="5B2D90"/>
                </a:solidFill>
              </a:rPr>
              <a:t>Tip  </a:t>
            </a:r>
            <a:pPr indent="0" marL="0">
              <a:buNone/>
            </a:pPr>
            <a:r>
              <a:rPr lang="en-US" sz="1400" dirty="0">
                <a:solidFill>
                  <a:srgbClr val="1E1E1E"/>
                </a:solidFill>
              </a:rPr>
              <a:t>Reporting what was skipped tells the user the file had problems, instead of hiding them.</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92608"/>
            <a:ext cx="3657600" cy="274320"/>
          </a:xfrm>
          <a:prstGeom prst="rect">
            <a:avLst/>
          </a:prstGeom>
          <a:noFill/>
          <a:ln/>
        </p:spPr>
        <p:txBody>
          <a:bodyPr wrap="square" lIns="0" tIns="0" rIns="0" bIns="0" rtlCol="0" anchor="ctr"/>
          <a:lstStyle/>
          <a:p>
            <a:pPr indent="0" marL="0">
              <a:buNone/>
            </a:pPr>
            <a:r>
              <a:rPr lang="en-US" sz="1200" b="1" spc="200" kern="0" dirty="0">
                <a:solidFill>
                  <a:srgbClr val="5B2D90"/>
                </a:solidFill>
              </a:rPr>
              <a:t>STEP 11 OF 11</a:t>
            </a:r>
            <a:endParaRPr lang="en-US" sz="1200" dirty="0"/>
          </a:p>
        </p:txBody>
      </p:sp>
      <p:sp>
        <p:nvSpPr>
          <p:cNvPr id="3" name="Text 0"/>
          <p:cNvSpPr/>
          <p:nvPr>
            <p:ph idx="100" type="title" hasCustomPrompt="1"/>
          </p:nvPr>
        </p:nvSpPr>
        <p:spPr>
          <a:xfrm>
            <a:off x="457200" y="566928"/>
            <a:ext cx="11247120" cy="603504"/>
          </a:xfrm>
          <a:prstGeom prst="rect">
            <a:avLst/>
          </a:prstGeom>
          <a:noFill/>
          <a:ln/>
        </p:spPr>
        <p:txBody>
          <a:bodyPr wrap="square" lIns="0" tIns="0" rIns="0" bIns="0" rtlCol="0" anchor="ctr"/>
          <a:lstStyle/>
          <a:p>
            <a:pPr algn="l" indent="0" marL="0">
              <a:buNone/>
            </a:pPr>
            <a:r>
              <a:rPr lang="en-US" sz="3000" b="1" dirty="0">
                <a:solidFill>
                  <a:srgbClr val="1E1E1E"/>
                </a:solidFill>
                <a:latin typeface="Calibri" pitchFamily="34" charset="0"/>
                <a:ea typeface="Calibri" pitchFamily="34" charset="-122"/>
                <a:cs typeface="Calibri" pitchFamily="34" charset="-120"/>
              </a:rPr>
              <a:t>Build and run again</a:t>
            </a:r>
            <a:endParaRPr lang="en-US" sz="3000" dirty="0"/>
          </a:p>
        </p:txBody>
      </p:sp>
      <p:sp>
        <p:nvSpPr>
          <p:cNvPr id="4" name="Shape 2"/>
          <p:cNvSpPr/>
          <p:nvPr/>
        </p:nvSpPr>
        <p:spPr>
          <a:xfrm>
            <a:off x="438912" y="1353312"/>
            <a:ext cx="7808976" cy="3922776"/>
          </a:xfrm>
          <a:prstGeom prst="rect">
            <a:avLst/>
          </a:prstGeom>
          <a:solidFill>
            <a:srgbClr val="FFFFFF"/>
          </a:solidFill>
          <a:ln w="12700">
            <a:solidFill>
              <a:srgbClr val="A6A6A6"/>
            </a:solidFill>
            <a:prstDash val="solid"/>
          </a:ln>
        </p:spPr>
      </p:sp>
      <p:pic>
        <p:nvPicPr>
          <p:cNvPr id="5" name="pic_1" descr="Press Ctrl+Shift+B to build. The changed lines turn green when the file is saved.">    </p:cNvPr>
          <p:cNvPicPr>
            <a:picLocks noChangeAspect="1"/>
          </p:cNvPicPr>
          <p:nvPr/>
        </p:nvPicPr>
        <p:blipFill>
          <a:blip r:embed="rId1"/>
          <a:stretch>
            <a:fillRect/>
          </a:stretch>
        </p:blipFill>
        <p:spPr>
          <a:xfrm>
            <a:off x="457200" y="1371600"/>
            <a:ext cx="7772400" cy="3886200"/>
          </a:xfrm>
          <a:prstGeom prst="rect">
            <a:avLst/>
          </a:prstGeom>
        </p:spPr>
      </p:pic>
      <p:pic>
        <p:nvPicPr>
          <p:cNvPr id="6" name="pic_2" descr="Correct! All four numbers are kept and the two junk words are counted.">    </p:cNvPr>
          <p:cNvPicPr>
            <a:picLocks noChangeAspect="1"/>
          </p:cNvPicPr>
          <p:nvPr/>
        </p:nvPicPr>
        <p:blipFill>
          <a:blip r:embed="rId2"/>
          <a:stretch>
            <a:fillRect/>
          </a:stretch>
        </p:blipFill>
        <p:spPr>
          <a:xfrm>
            <a:off x="457200" y="1371600"/>
            <a:ext cx="7772400" cy="3886200"/>
          </a:xfrm>
          <a:prstGeom prst="rect">
            <a:avLst/>
          </a:prstGeom>
        </p:spPr>
      </p:pic>
      <p:sp>
        <p:nvSpPr>
          <p:cNvPr id="7" name="num_1"/>
          <p:cNvSpPr/>
          <p:nvPr/>
        </p:nvSpPr>
        <p:spPr>
          <a:xfrm>
            <a:off x="8549640" y="1389888"/>
            <a:ext cx="365760" cy="365760"/>
          </a:xfrm>
          <a:prstGeom prst="ellipse">
            <a:avLst/>
          </a:prstGeom>
          <a:solidFill>
            <a:srgbClr val="5B2D90"/>
          </a:solidFill>
          <a:ln w="12700">
            <a:solidFill>
              <a:srgbClr val="5B2D90"/>
            </a:solidFill>
            <a:prstDash val="solid"/>
          </a:ln>
        </p:spPr>
      </p:sp>
      <p:sp>
        <p:nvSpPr>
          <p:cNvPr id="8" name="numt_1"/>
          <p:cNvSpPr txBox="1"/>
          <p:nvPr/>
        </p:nvSpPr>
        <p:spPr>
          <a:xfrm>
            <a:off x="8549640" y="1389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xt_1"/>
          <p:cNvSpPr txBox="1"/>
          <p:nvPr/>
        </p:nvSpPr>
        <p:spPr>
          <a:xfrm>
            <a:off x="9052560" y="1371600"/>
            <a:ext cx="2697480" cy="813816"/>
          </a:xfrm>
          <a:prstGeom prst="rect">
            <a:avLst/>
          </a:prstGeom>
          <a:noFill/>
          <a:ln/>
        </p:spPr>
        <p:txBody>
          <a:bodyPr wrap="square" lIns="0" tIns="0" rIns="0" bIns="0" rtlCol="0" anchor="t"/>
          <a:lstStyle/>
          <a:p>
            <a:pPr indent="0" marL="0">
              <a:buNone/>
            </a:pPr>
            <a:r>
              <a:rPr lang="en-US" sz="1500" dirty="0">
                <a:solidFill>
                  <a:srgbClr val="1E1E1E"/>
                </a:solidFill>
              </a:rPr>
              <a:t>Press Ctrl+Shift+B to build. The changed lines turn green when the file is saved.</a:t>
            </a:r>
            <a:endParaRPr lang="en-US" sz="1500" dirty="0"/>
          </a:p>
        </p:txBody>
      </p:sp>
      <p:sp>
        <p:nvSpPr>
          <p:cNvPr id="10" name="num_2"/>
          <p:cNvSpPr/>
          <p:nvPr/>
        </p:nvSpPr>
        <p:spPr>
          <a:xfrm>
            <a:off x="8549640" y="2478024"/>
            <a:ext cx="365760" cy="365760"/>
          </a:xfrm>
          <a:prstGeom prst="ellipse">
            <a:avLst/>
          </a:prstGeom>
          <a:solidFill>
            <a:srgbClr val="5B2D90"/>
          </a:solidFill>
          <a:ln w="12700">
            <a:solidFill>
              <a:srgbClr val="5B2D90"/>
            </a:solidFill>
            <a:prstDash val="solid"/>
          </a:ln>
        </p:spPr>
      </p:sp>
      <p:sp>
        <p:nvSpPr>
          <p:cNvPr id="11" name="numt_2"/>
          <p:cNvSpPr txBox="1"/>
          <p:nvPr/>
        </p:nvSpPr>
        <p:spPr>
          <a:xfrm>
            <a:off x="8549640" y="24780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xt_2"/>
          <p:cNvSpPr txBox="1"/>
          <p:nvPr/>
        </p:nvSpPr>
        <p:spPr>
          <a:xfrm>
            <a:off x="9052560" y="2459736"/>
            <a:ext cx="2697480" cy="813816"/>
          </a:xfrm>
          <a:prstGeom prst="rect">
            <a:avLst/>
          </a:prstGeom>
          <a:noFill/>
          <a:ln/>
        </p:spPr>
        <p:txBody>
          <a:bodyPr wrap="square" lIns="0" tIns="0" rIns="0" bIns="0" rtlCol="0" anchor="t"/>
          <a:lstStyle/>
          <a:p>
            <a:pPr indent="0" marL="0">
              <a:buNone/>
            </a:pPr>
            <a:r>
              <a:rPr lang="en-US" sz="1500" dirty="0">
                <a:solidFill>
                  <a:srgbClr val="1E1E1E"/>
                </a:solidFill>
              </a:rPr>
              <a:t>Correct! All four numbers are kept and the two junk words are counted.</a:t>
            </a:r>
            <a:endParaRPr lang="en-US" sz="1500" dirty="0"/>
          </a:p>
        </p:txBody>
      </p:sp>
      <p:sp>
        <p:nvSpPr>
          <p:cNvPr id="13" name="Text 9"/>
          <p:cNvSpPr txBox="1"/>
          <p:nvPr/>
        </p:nvSpPr>
        <p:spPr>
          <a:xfrm>
            <a:off x="457200" y="5486400"/>
            <a:ext cx="7772400" cy="685800"/>
          </a:xfrm>
          <a:prstGeom prst="rect">
            <a:avLst/>
          </a:prstGeom>
          <a:solidFill>
            <a:srgbClr val="F2F2F2"/>
          </a:solidFill>
          <a:ln w="9525">
            <a:solidFill>
              <a:srgbClr val="D0D0D0"/>
            </a:solidFill>
          </a:ln>
        </p:spPr>
        <p:txBody>
          <a:bodyPr wrap="square" lIns="76200" tIns="152400" rIns="152400" bIns="76200" rtlCol="0" anchor="ctr"/>
          <a:lstStyle/>
          <a:p>
            <a:pPr indent="0" marL="0">
              <a:buNone/>
            </a:pPr>
            <a:r>
              <a:rPr lang="en-US" sz="1400" b="1" dirty="0">
                <a:solidFill>
                  <a:srgbClr val="5B2D90"/>
                </a:solidFill>
              </a:rPr>
              <a:t>Tip  </a:t>
            </a:r>
            <a:pPr indent="0" marL="0">
              <a:buNone/>
            </a:pPr>
            <a:r>
              <a:rPr lang="en-US" sz="1400" dirty="0">
                <a:solidFill>
                  <a:srgbClr val="1E1E1E"/>
                </a:solidFill>
              </a:rPr>
              <a:t>Try other files: junk at the start (abc 10 20), at the end (10 20 abc), or an empty file.</a:t>
            </a:r>
            <a:endParaRPr lang="en-US" sz="1400" dirty="0"/>
          </a:p>
        </p:txBody>
      </p:sp>
      <p:sp>
        <p:nvSpPr>
          <p:cNvPr id="14" name="hint"/>
          <p:cNvSpPr txBox="1"/>
          <p:nvPr/>
        </p:nvSpPr>
        <p:spPr>
          <a:xfrm>
            <a:off x="8549640" y="5715000"/>
            <a:ext cx="3200400" cy="274320"/>
          </a:xfrm>
          <a:prstGeom prst="rect">
            <a:avLst/>
          </a:prstGeom>
          <a:noFill/>
          <a:ln/>
        </p:spPr>
        <p:txBody>
          <a:bodyPr wrap="square" lIns="0" tIns="0" rIns="0" bIns="0" rtlCol="0" anchor="ctr"/>
          <a:lstStyle/>
          <a:p>
            <a:pPr indent="0" marL="0">
              <a:buNone/>
            </a:pPr>
            <a:r>
              <a:rPr lang="en-US" sz="1100" i="1" dirty="0">
                <a:solidFill>
                  <a:srgbClr val="555555"/>
                </a:solidFill>
              </a:rPr>
              <a:t>Click to see the next screen</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92608"/>
            <a:ext cx="3657600" cy="274320"/>
          </a:xfrm>
          <a:prstGeom prst="rect">
            <a:avLst/>
          </a:prstGeom>
          <a:noFill/>
          <a:ln/>
        </p:spPr>
        <p:txBody>
          <a:bodyPr wrap="square" lIns="0" tIns="0" rIns="0" bIns="0" rtlCol="0" anchor="ctr"/>
          <a:lstStyle/>
          <a:p>
            <a:pPr indent="0" marL="0">
              <a:buNone/>
            </a:pPr>
            <a:r>
              <a:rPr lang="en-US" sz="1200" b="1" spc="200" kern="0" dirty="0">
                <a:solidFill>
                  <a:srgbClr val="5B2D90"/>
                </a:solidFill>
              </a:rPr>
              <a:t>THE FIX</a:t>
            </a:r>
            <a:endParaRPr lang="en-US" sz="1200" dirty="0"/>
          </a:p>
        </p:txBody>
      </p:sp>
      <p:sp>
        <p:nvSpPr>
          <p:cNvPr id="3" name="Text 0"/>
          <p:cNvSpPr/>
          <p:nvPr>
            <p:ph idx="100" type="title" hasCustomPrompt="1"/>
          </p:nvPr>
        </p:nvSpPr>
        <p:spPr>
          <a:xfrm>
            <a:off x="457200" y="566928"/>
            <a:ext cx="11247120" cy="603504"/>
          </a:xfrm>
          <a:prstGeom prst="rect">
            <a:avLst/>
          </a:prstGeom>
          <a:noFill/>
          <a:ln/>
        </p:spPr>
        <p:txBody>
          <a:bodyPr wrap="square" lIns="0" tIns="0" rIns="0" bIns="0" rtlCol="0" anchor="ctr"/>
          <a:lstStyle/>
          <a:p>
            <a:pPr algn="l" indent="0" marL="0">
              <a:buNone/>
            </a:pPr>
            <a:r>
              <a:rPr lang="en-US" sz="3000" b="1" dirty="0">
                <a:solidFill>
                  <a:srgbClr val="1E1E1E"/>
                </a:solidFill>
                <a:latin typeface="Calibri" pitchFamily="34" charset="0"/>
                <a:ea typeface="Calibri" pitchFamily="34" charset="-122"/>
                <a:cs typeface="Calibri" pitchFamily="34" charset="-120"/>
              </a:rPr>
              <a:t>The new loop asks: number, end, or junk?</a:t>
            </a:r>
            <a:endParaRPr lang="en-US" sz="3000" dirty="0"/>
          </a:p>
        </p:txBody>
      </p:sp>
      <p:sp>
        <p:nvSpPr>
          <p:cNvPr id="4" name="Text 2"/>
          <p:cNvSpPr txBox="1"/>
          <p:nvPr/>
        </p:nvSpPr>
        <p:spPr>
          <a:xfrm>
            <a:off x="457200" y="1371600"/>
            <a:ext cx="5440680" cy="365760"/>
          </a:xfrm>
          <a:prstGeom prst="rect">
            <a:avLst/>
          </a:prstGeom>
          <a:noFill/>
          <a:ln/>
        </p:spPr>
        <p:txBody>
          <a:bodyPr wrap="square" lIns="0" tIns="0" rIns="0" bIns="0" rtlCol="0" anchor="ctr"/>
          <a:lstStyle/>
          <a:p>
            <a:pPr indent="0" marL="0">
              <a:buNone/>
            </a:pPr>
            <a:r>
              <a:rPr lang="en-US" sz="1700" b="1" dirty="0">
                <a:solidFill>
                  <a:srgbClr val="1E1E1E"/>
                </a:solidFill>
              </a:rPr>
              <a:t>Before: stops at the first junk word</a:t>
            </a:r>
            <a:endParaRPr lang="en-US" sz="1700" dirty="0"/>
          </a:p>
        </p:txBody>
      </p:sp>
      <p:sp>
        <p:nvSpPr>
          <p:cNvPr id="5" name="Text 3"/>
          <p:cNvSpPr txBox="1"/>
          <p:nvPr/>
        </p:nvSpPr>
        <p:spPr>
          <a:xfrm>
            <a:off x="457200" y="1783080"/>
            <a:ext cx="5440680" cy="1280160"/>
          </a:xfrm>
          <a:prstGeom prst="rect">
            <a:avLst/>
          </a:prstGeom>
          <a:solidFill>
            <a:srgbClr val="F2F2F2"/>
          </a:solidFill>
          <a:ln w="12700">
            <a:solidFill>
              <a:srgbClr val="A6A6A6"/>
            </a:solidFill>
          </a:ln>
        </p:spPr>
        <p:txBody>
          <a:bodyPr wrap="square" lIns="152400" tIns="152400" rIns="152400" bIns="152400" rtlCol="0" anchor="t"/>
          <a:lstStyle/>
          <a:p>
            <a:pPr indent="0" marL="0">
              <a:buNone/>
            </a:pPr>
            <a:r>
              <a:rPr lang="en-US" sz="1300" dirty="0">
                <a:solidFill>
                  <a:srgbClr val="1E1E1E"/>
                </a:solidFill>
                <a:latin typeface="Courier New" pitchFamily="34" charset="0"/>
                <a:ea typeface="Courier New" pitchFamily="34" charset="-122"/>
                <a:cs typeface="Courier New" pitchFamily="34" charset="-120"/>
              </a:rPr>
              <a:t>int a[10], count = 0;</a:t>
            </a:r>
            <a:endParaRPr lang="en-US" sz="1300" dirty="0"/>
          </a:p>
          <a:p>
            <a:pPr indent="0" marL="0">
              <a:buNone/>
            </a:pPr>
            <a:r>
              <a:rPr lang="en-US" sz="1300" dirty="0">
                <a:solidFill>
                  <a:srgbClr val="1E1E1E"/>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E1E1E"/>
                </a:solidFill>
                <a:latin typeface="Courier New" pitchFamily="34" charset="0"/>
                <a:ea typeface="Courier New" pitchFamily="34" charset="-122"/>
                <a:cs typeface="Courier New" pitchFamily="34" charset="-120"/>
              </a:rPr>
              <a:t>while (count &lt; 10 &amp;&amp; inFile &gt;&gt; a[count]) {</a:t>
            </a:r>
            <a:endParaRPr lang="en-US" sz="1300" dirty="0"/>
          </a:p>
          <a:p>
            <a:pPr indent="0" marL="0">
              <a:buNone/>
            </a:pPr>
            <a:r>
              <a:rPr lang="en-US" sz="1300" dirty="0">
                <a:solidFill>
                  <a:srgbClr val="1E1E1E"/>
                </a:solidFill>
                <a:latin typeface="Courier New" pitchFamily="34" charset="0"/>
                <a:ea typeface="Courier New" pitchFamily="34" charset="-122"/>
                <a:cs typeface="Courier New" pitchFamily="34" charset="-120"/>
              </a:rPr>
              <a:t>    count++;</a:t>
            </a:r>
            <a:endParaRPr lang="en-US" sz="1300" dirty="0"/>
          </a:p>
          <a:p>
            <a:pPr indent="0" marL="0">
              <a:buNone/>
            </a:pPr>
            <a:r>
              <a:rPr lang="en-US" sz="1300" dirty="0">
                <a:solidFill>
                  <a:srgbClr val="1E1E1E"/>
                </a:solidFill>
                <a:latin typeface="Courier New" pitchFamily="34" charset="0"/>
                <a:ea typeface="Courier New" pitchFamily="34" charset="-122"/>
                <a:cs typeface="Courier New" pitchFamily="34" charset="-120"/>
              </a:rPr>
              <a:t>}</a:t>
            </a:r>
            <a:endParaRPr lang="en-US" sz="1300" dirty="0"/>
          </a:p>
        </p:txBody>
      </p:sp>
      <p:sp>
        <p:nvSpPr>
          <p:cNvPr id="6" name="Text 4"/>
          <p:cNvSpPr txBox="1"/>
          <p:nvPr/>
        </p:nvSpPr>
        <p:spPr>
          <a:xfrm>
            <a:off x="457200" y="3291840"/>
            <a:ext cx="5440680" cy="320040"/>
          </a:xfrm>
          <a:prstGeom prst="rect">
            <a:avLst/>
          </a:prstGeom>
          <a:noFill/>
          <a:ln/>
        </p:spPr>
        <p:txBody>
          <a:bodyPr wrap="square" lIns="0" tIns="0" rIns="0" bIns="0" rtlCol="0" anchor="ctr"/>
          <a:lstStyle/>
          <a:p>
            <a:pPr indent="0" marL="0">
              <a:buNone/>
            </a:pPr>
            <a:r>
              <a:rPr lang="en-US" sz="1400" b="1" dirty="0">
                <a:solidFill>
                  <a:srgbClr val="1E1E1E"/>
                </a:solidFill>
              </a:rPr>
              <a:t>Output</a:t>
            </a:r>
            <a:endParaRPr lang="en-US" sz="1400" dirty="0"/>
          </a:p>
        </p:txBody>
      </p:sp>
      <p:sp>
        <p:nvSpPr>
          <p:cNvPr id="7" name="Text 5"/>
          <p:cNvSpPr txBox="1"/>
          <p:nvPr/>
        </p:nvSpPr>
        <p:spPr>
          <a:xfrm>
            <a:off x="457200" y="3657600"/>
            <a:ext cx="5440680" cy="685800"/>
          </a:xfrm>
          <a:prstGeom prst="rect">
            <a:avLst/>
          </a:prstGeom>
          <a:solidFill>
            <a:srgbClr val="FFFFFF"/>
          </a:solidFill>
          <a:ln w="25400">
            <a:solidFill>
              <a:srgbClr val="C42B1C"/>
            </a:solidFill>
          </a:ln>
        </p:spPr>
        <p:txBody>
          <a:bodyPr wrap="square" lIns="127000" tIns="127000" rIns="127000" bIns="127000" rtlCol="0" anchor="t"/>
          <a:lstStyle/>
          <a:p>
            <a:pPr indent="0" marL="0">
              <a:buNone/>
            </a:pPr>
            <a:r>
              <a:rPr lang="en-US" sz="1500" dirty="0">
                <a:solidFill>
                  <a:srgbClr val="1E1E1E"/>
                </a:solidFill>
                <a:latin typeface="Courier New" pitchFamily="34" charset="0"/>
                <a:ea typeface="Courier New" pitchFamily="34" charset="-122"/>
                <a:cs typeface="Courier New" pitchFamily="34" charset="-120"/>
              </a:rPr>
              <a:t>Kept: 10 20</a:t>
            </a:r>
            <a:endParaRPr lang="en-US" sz="1500" dirty="0"/>
          </a:p>
        </p:txBody>
      </p:sp>
      <p:sp>
        <p:nvSpPr>
          <p:cNvPr id="8" name="Text 6"/>
          <p:cNvSpPr txBox="1"/>
          <p:nvPr/>
        </p:nvSpPr>
        <p:spPr>
          <a:xfrm>
            <a:off x="6263640" y="1371600"/>
            <a:ext cx="5440680" cy="365760"/>
          </a:xfrm>
          <a:prstGeom prst="rect">
            <a:avLst/>
          </a:prstGeom>
          <a:noFill/>
          <a:ln/>
        </p:spPr>
        <p:txBody>
          <a:bodyPr wrap="square" lIns="0" tIns="0" rIns="0" bIns="0" rtlCol="0" anchor="ctr"/>
          <a:lstStyle/>
          <a:p>
            <a:pPr indent="0" marL="0">
              <a:buNone/>
            </a:pPr>
            <a:r>
              <a:rPr lang="en-US" sz="1700" b="1" dirty="0">
                <a:solidFill>
                  <a:srgbClr val="1E1E1E"/>
                </a:solidFill>
              </a:rPr>
              <a:t>After: clears and skips the junk</a:t>
            </a:r>
            <a:endParaRPr lang="en-US" sz="1700" dirty="0"/>
          </a:p>
        </p:txBody>
      </p:sp>
      <p:sp>
        <p:nvSpPr>
          <p:cNvPr id="9" name="Text 7"/>
          <p:cNvSpPr txBox="1"/>
          <p:nvPr/>
        </p:nvSpPr>
        <p:spPr>
          <a:xfrm>
            <a:off x="6263640" y="1783080"/>
            <a:ext cx="5440680" cy="2880360"/>
          </a:xfrm>
          <a:prstGeom prst="rect">
            <a:avLst/>
          </a:prstGeom>
          <a:solidFill>
            <a:srgbClr val="F2F2F2"/>
          </a:solidFill>
          <a:ln w="12700">
            <a:solidFill>
              <a:srgbClr val="A6A6A6"/>
            </a:solidFill>
          </a:ln>
        </p:spPr>
        <p:txBody>
          <a:bodyPr wrap="square" lIns="152400" tIns="152400" rIns="152400" bIns="152400" rtlCol="0" anchor="t"/>
          <a:lstStyle/>
          <a:p>
            <a:pPr indent="0" marL="0">
              <a:buNone/>
            </a:pPr>
            <a:r>
              <a:rPr lang="en-US" sz="1300" b="1" dirty="0">
                <a:solidFill>
                  <a:srgbClr val="5B2D90"/>
                </a:solidFill>
                <a:latin typeface="Courier New" pitchFamily="34" charset="0"/>
                <a:ea typeface="Courier New" pitchFamily="34" charset="-122"/>
                <a:cs typeface="Courier New" pitchFamily="34" charset="-120"/>
              </a:rPr>
              <a:t>int a[10], count = 0, bad = 0;</a:t>
            </a:r>
            <a:endParaRPr lang="en-US" sz="1300" dirty="0"/>
          </a:p>
          <a:p>
            <a:pPr indent="0" marL="0">
              <a:buNone/>
            </a:pPr>
            <a:r>
              <a:rPr lang="en-US" sz="1300" b="1" dirty="0">
                <a:solidFill>
                  <a:srgbClr val="5B2D90"/>
                </a:solidFill>
                <a:latin typeface="Courier New" pitchFamily="34" charset="0"/>
                <a:ea typeface="Courier New" pitchFamily="34" charset="-122"/>
                <a:cs typeface="Courier New" pitchFamily="34" charset="-120"/>
              </a:rPr>
              <a:t>char junk[50];</a:t>
            </a:r>
            <a:endParaRPr lang="en-US" sz="1300" dirty="0"/>
          </a:p>
          <a:p>
            <a:pPr indent="0" marL="0">
              <a:buNone/>
            </a:pPr>
            <a:r>
              <a:rPr lang="en-US" sz="1300" b="1" dirty="0">
                <a:solidFill>
                  <a:srgbClr val="5B2D90"/>
                </a:solidFill>
                <a:latin typeface="Courier New" pitchFamily="34" charset="0"/>
                <a:ea typeface="Courier New" pitchFamily="34" charset="-122"/>
                <a:cs typeface="Courier New" pitchFamily="34" charset="-120"/>
              </a:rPr>
              <a:t>while (count &lt; 10) {</a:t>
            </a:r>
            <a:endParaRPr lang="en-US" sz="1300" dirty="0"/>
          </a:p>
          <a:p>
            <a:pPr indent="0" marL="0">
              <a:buNone/>
            </a:pPr>
            <a:r>
              <a:rPr lang="en-US" sz="1300" b="1" dirty="0">
                <a:solidFill>
                  <a:srgbClr val="5B2D90"/>
                </a:solidFill>
                <a:latin typeface="Courier New" pitchFamily="34" charset="0"/>
                <a:ea typeface="Courier New" pitchFamily="34" charset="-122"/>
                <a:cs typeface="Courier New" pitchFamily="34" charset="-120"/>
              </a:rPr>
              <a:t>    if (inFile &gt;&gt; a[count])    // a number</a:t>
            </a:r>
            <a:endParaRPr lang="en-US" sz="1300" dirty="0"/>
          </a:p>
          <a:p>
            <a:pPr indent="0" marL="0">
              <a:buNone/>
            </a:pPr>
            <a:r>
              <a:rPr lang="en-US" sz="1300" dirty="0">
                <a:solidFill>
                  <a:srgbClr val="1E1E1E"/>
                </a:solidFill>
                <a:latin typeface="Courier New" pitchFamily="34" charset="0"/>
                <a:ea typeface="Courier New" pitchFamily="34" charset="-122"/>
                <a:cs typeface="Courier New" pitchFamily="34" charset="-120"/>
              </a:rPr>
              <a:t>        count++;</a:t>
            </a:r>
            <a:endParaRPr lang="en-US" sz="1300" dirty="0"/>
          </a:p>
          <a:p>
            <a:pPr indent="0" marL="0">
              <a:buNone/>
            </a:pPr>
            <a:r>
              <a:rPr lang="en-US" sz="1300" b="1" dirty="0">
                <a:solidFill>
                  <a:srgbClr val="5B2D90"/>
                </a:solidFill>
                <a:latin typeface="Courier New" pitchFamily="34" charset="0"/>
                <a:ea typeface="Courier New" pitchFamily="34" charset="-122"/>
                <a:cs typeface="Courier New" pitchFamily="34" charset="-120"/>
              </a:rPr>
              <a:t>    else if (inFile.eof())     // the end</a:t>
            </a:r>
            <a:endParaRPr lang="en-US" sz="1300" dirty="0"/>
          </a:p>
          <a:p>
            <a:pPr indent="0" marL="0">
              <a:buNone/>
            </a:pPr>
            <a:r>
              <a:rPr lang="en-US" sz="1300" b="1" dirty="0">
                <a:solidFill>
                  <a:srgbClr val="5B2D90"/>
                </a:solidFill>
                <a:latin typeface="Courier New" pitchFamily="34" charset="0"/>
                <a:ea typeface="Courier New" pitchFamily="34" charset="-122"/>
                <a:cs typeface="Courier New" pitchFamily="34" charset="-120"/>
              </a:rPr>
              <a:t>        break;</a:t>
            </a:r>
            <a:endParaRPr lang="en-US" sz="1300" dirty="0"/>
          </a:p>
          <a:p>
            <a:pPr indent="0" marL="0">
              <a:buNone/>
            </a:pPr>
            <a:r>
              <a:rPr lang="en-US" sz="1300" b="1" dirty="0">
                <a:solidFill>
                  <a:srgbClr val="5B2D90"/>
                </a:solidFill>
                <a:latin typeface="Courier New" pitchFamily="34" charset="0"/>
                <a:ea typeface="Courier New" pitchFamily="34" charset="-122"/>
                <a:cs typeface="Courier New" pitchFamily="34" charset="-120"/>
              </a:rPr>
              <a:t>    else {                     // junk</a:t>
            </a:r>
            <a:endParaRPr lang="en-US" sz="1300" dirty="0"/>
          </a:p>
          <a:p>
            <a:pPr indent="0" marL="0">
              <a:buNone/>
            </a:pPr>
            <a:r>
              <a:rPr lang="en-US" sz="1300" b="1" dirty="0">
                <a:solidFill>
                  <a:srgbClr val="5B2D90"/>
                </a:solidFill>
                <a:latin typeface="Courier New" pitchFamily="34" charset="0"/>
                <a:ea typeface="Courier New" pitchFamily="34" charset="-122"/>
                <a:cs typeface="Courier New" pitchFamily="34" charset="-120"/>
              </a:rPr>
              <a:t>        inFile.clear();</a:t>
            </a:r>
            <a:endParaRPr lang="en-US" sz="1300" dirty="0"/>
          </a:p>
          <a:p>
            <a:pPr indent="0" marL="0">
              <a:buNone/>
            </a:pPr>
            <a:r>
              <a:rPr lang="en-US" sz="1300" b="1" dirty="0">
                <a:solidFill>
                  <a:srgbClr val="5B2D90"/>
                </a:solidFill>
                <a:latin typeface="Courier New" pitchFamily="34" charset="0"/>
                <a:ea typeface="Courier New" pitchFamily="34" charset="-122"/>
                <a:cs typeface="Courier New" pitchFamily="34" charset="-120"/>
              </a:rPr>
              <a:t>        inFile &gt;&gt; junk;</a:t>
            </a:r>
            <a:endParaRPr lang="en-US" sz="1300" dirty="0"/>
          </a:p>
          <a:p>
            <a:pPr indent="0" marL="0">
              <a:buNone/>
            </a:pPr>
            <a:r>
              <a:rPr lang="en-US" sz="1300" b="1" dirty="0">
                <a:solidFill>
                  <a:srgbClr val="5B2D90"/>
                </a:solidFill>
                <a:latin typeface="Courier New" pitchFamily="34" charset="0"/>
                <a:ea typeface="Courier New" pitchFamily="34" charset="-122"/>
                <a:cs typeface="Courier New" pitchFamily="34" charset="-120"/>
              </a:rPr>
              <a:t>        bad++;</a:t>
            </a:r>
            <a:endParaRPr lang="en-US" sz="1300" dirty="0"/>
          </a:p>
          <a:p>
            <a:pPr indent="0" marL="0">
              <a:buNone/>
            </a:pPr>
            <a:r>
              <a:rPr lang="en-US" sz="1300" dirty="0">
                <a:solidFill>
                  <a:srgbClr val="1E1E1E"/>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E1E1E"/>
                </a:solidFill>
                <a:latin typeface="Courier New" pitchFamily="34" charset="0"/>
                <a:ea typeface="Courier New" pitchFamily="34" charset="-122"/>
                <a:cs typeface="Courier New" pitchFamily="34" charset="-120"/>
              </a:rPr>
              <a:t>}</a:t>
            </a:r>
            <a:endParaRPr lang="en-US" sz="1300" dirty="0"/>
          </a:p>
        </p:txBody>
      </p:sp>
      <p:sp>
        <p:nvSpPr>
          <p:cNvPr id="10" name="Text 8"/>
          <p:cNvSpPr txBox="1"/>
          <p:nvPr/>
        </p:nvSpPr>
        <p:spPr>
          <a:xfrm>
            <a:off x="6263640" y="4892040"/>
            <a:ext cx="5440680" cy="320040"/>
          </a:xfrm>
          <a:prstGeom prst="rect">
            <a:avLst/>
          </a:prstGeom>
          <a:noFill/>
          <a:ln/>
        </p:spPr>
        <p:txBody>
          <a:bodyPr wrap="square" lIns="0" tIns="0" rIns="0" bIns="0" rtlCol="0" anchor="ctr"/>
          <a:lstStyle/>
          <a:p>
            <a:pPr indent="0" marL="0">
              <a:buNone/>
            </a:pPr>
            <a:r>
              <a:rPr lang="en-US" sz="1400" b="1" dirty="0">
                <a:solidFill>
                  <a:srgbClr val="1E1E1E"/>
                </a:solidFill>
              </a:rPr>
              <a:t>Output</a:t>
            </a:r>
            <a:endParaRPr lang="en-US" sz="1400" dirty="0"/>
          </a:p>
        </p:txBody>
      </p:sp>
      <p:sp>
        <p:nvSpPr>
          <p:cNvPr id="11" name="Text 9"/>
          <p:cNvSpPr txBox="1"/>
          <p:nvPr/>
        </p:nvSpPr>
        <p:spPr>
          <a:xfrm>
            <a:off x="6263640" y="5257800"/>
            <a:ext cx="5440680" cy="685800"/>
          </a:xfrm>
          <a:prstGeom prst="rect">
            <a:avLst/>
          </a:prstGeom>
          <a:solidFill>
            <a:srgbClr val="FFFFFF"/>
          </a:solidFill>
          <a:ln w="25400">
            <a:solidFill>
              <a:srgbClr val="2E7D32"/>
            </a:solidFill>
          </a:ln>
        </p:spPr>
        <p:txBody>
          <a:bodyPr wrap="square" lIns="127000" tIns="127000" rIns="127000" bIns="127000" rtlCol="0" anchor="t"/>
          <a:lstStyle/>
          <a:p>
            <a:pPr indent="0" marL="0">
              <a:buNone/>
            </a:pPr>
            <a:r>
              <a:rPr lang="en-US" sz="1500" dirty="0">
                <a:solidFill>
                  <a:srgbClr val="1E1E1E"/>
                </a:solidFill>
                <a:latin typeface="Courier New" pitchFamily="34" charset="0"/>
                <a:ea typeface="Courier New" pitchFamily="34" charset="-122"/>
                <a:cs typeface="Courier New" pitchFamily="34" charset="-120"/>
              </a:rPr>
              <a:t>Kept: 10 20 40 50</a:t>
            </a:r>
            <a:endParaRPr lang="en-US" sz="1500" dirty="0"/>
          </a:p>
          <a:p>
            <a:pPr indent="0" marL="0">
              <a:buNone/>
            </a:pPr>
            <a:r>
              <a:rPr lang="en-US" sz="1500" dirty="0">
                <a:solidFill>
                  <a:srgbClr val="1E1E1E"/>
                </a:solidFill>
                <a:latin typeface="Courier New" pitchFamily="34" charset="0"/>
                <a:ea typeface="Courier New" pitchFamily="34" charset="-122"/>
                <a:cs typeface="Courier New" pitchFamily="34" charset="-120"/>
              </a:rPr>
              <a:t>Skipped: 2</a:t>
            </a:r>
            <a:endParaRPr lang="en-US" sz="1500" dirty="0"/>
          </a:p>
        </p:txBody>
      </p:sp>
      <p:sp>
        <p:nvSpPr>
          <p:cNvPr id="12" name="Text 10"/>
          <p:cNvSpPr txBox="1"/>
          <p:nvPr/>
        </p:nvSpPr>
        <p:spPr>
          <a:xfrm>
            <a:off x="457200" y="4526280"/>
            <a:ext cx="5440680" cy="822960"/>
          </a:xfrm>
          <a:prstGeom prst="rect">
            <a:avLst/>
          </a:prstGeom>
          <a:noFill/>
          <a:ln/>
        </p:spPr>
        <p:txBody>
          <a:bodyPr wrap="square" lIns="0" tIns="0" rIns="0" bIns="0" rtlCol="0" anchor="t"/>
          <a:lstStyle/>
          <a:p>
            <a:pPr indent="0" marL="0">
              <a:buNone/>
            </a:pPr>
            <a:r>
              <a:rPr lang="en-US" sz="1400" b="1" dirty="0">
                <a:solidFill>
                  <a:srgbClr val="1E1E1E"/>
                </a:solidFill>
              </a:rPr>
              <a:t>Or skip the junk without an array: </a:t>
            </a:r>
            <a:pPr indent="0" marL="0">
              <a:buNone/>
            </a:pPr>
            <a:r>
              <a:rPr lang="en-US" sz="1400" dirty="0">
                <a:solidFill>
                  <a:srgbClr val="1E1E1E"/>
                </a:solidFill>
                <a:latin typeface="Courier New" pitchFamily="34" charset="0"/>
                <a:ea typeface="Courier New" pitchFamily="34" charset="-122"/>
                <a:cs typeface="Courier New" pitchFamily="34" charset="-120"/>
              </a:rPr>
              <a:t>inFile.clear(); inFile.ignore(100, ' ');</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92608"/>
            <a:ext cx="4572000" cy="274320"/>
          </a:xfrm>
          <a:prstGeom prst="rect">
            <a:avLst/>
          </a:prstGeom>
          <a:noFill/>
          <a:ln/>
        </p:spPr>
        <p:txBody>
          <a:bodyPr wrap="square" lIns="0" tIns="0" rIns="0" bIns="0" rtlCol="0" anchor="ctr"/>
          <a:lstStyle/>
          <a:p>
            <a:pPr indent="0" marL="0">
              <a:buNone/>
            </a:pPr>
            <a:r>
              <a:rPr lang="en-US" sz="1200" b="1" spc="200" kern="0" dirty="0">
                <a:solidFill>
                  <a:srgbClr val="5B2D90"/>
                </a:solidFill>
              </a:rPr>
              <a:t>THE FINISHED PROGRAM</a:t>
            </a:r>
            <a:endParaRPr lang="en-US" sz="1200" dirty="0"/>
          </a:p>
        </p:txBody>
      </p:sp>
      <p:sp>
        <p:nvSpPr>
          <p:cNvPr id="3" name="Text 0"/>
          <p:cNvSpPr/>
          <p:nvPr>
            <p:ph idx="100" type="title" hasCustomPrompt="1"/>
          </p:nvPr>
        </p:nvSpPr>
        <p:spPr>
          <a:xfrm>
            <a:off x="457200" y="566928"/>
            <a:ext cx="11247120" cy="603504"/>
          </a:xfrm>
          <a:prstGeom prst="rect">
            <a:avLst/>
          </a:prstGeom>
          <a:noFill/>
          <a:ln/>
        </p:spPr>
        <p:txBody>
          <a:bodyPr wrap="square" lIns="0" tIns="0" rIns="0" bIns="0" rtlCol="0" anchor="ctr"/>
          <a:lstStyle/>
          <a:p>
            <a:pPr algn="l" indent="0" marL="0">
              <a:buNone/>
            </a:pPr>
            <a:r>
              <a:rPr lang="en-US" sz="3000" b="1" dirty="0">
                <a:solidFill>
                  <a:srgbClr val="1E1E1E"/>
                </a:solidFill>
                <a:latin typeface="Calibri" pitchFamily="34" charset="0"/>
                <a:ea typeface="Calibri" pitchFamily="34" charset="-122"/>
                <a:cs typeface="Calibri" pitchFamily="34" charset="-120"/>
              </a:rPr>
              <a:t>JunkReader.cpp, complete and working</a:t>
            </a:r>
            <a:endParaRPr lang="en-US" sz="3000" dirty="0"/>
          </a:p>
        </p:txBody>
      </p:sp>
      <p:sp>
        <p:nvSpPr>
          <p:cNvPr id="4" name="Text 2"/>
          <p:cNvSpPr txBox="1"/>
          <p:nvPr/>
        </p:nvSpPr>
        <p:spPr>
          <a:xfrm>
            <a:off x="457200" y="1371600"/>
            <a:ext cx="6949440" cy="5074920"/>
          </a:xfrm>
          <a:prstGeom prst="rect">
            <a:avLst/>
          </a:prstGeom>
          <a:solidFill>
            <a:srgbClr val="F2F2F2"/>
          </a:solidFill>
          <a:ln w="12700">
            <a:solidFill>
              <a:srgbClr val="A6A6A6"/>
            </a:solidFill>
          </a:ln>
        </p:spPr>
        <p:txBody>
          <a:bodyPr wrap="square" lIns="152400" tIns="152400" rIns="152400" bIns="152400" rtlCol="0" anchor="t"/>
          <a:lstStyle/>
          <a:p>
            <a:pPr indent="0" marL="0">
              <a:buNone/>
            </a:pPr>
            <a:r>
              <a:rPr lang="en-US" sz="1100" dirty="0">
                <a:solidFill>
                  <a:srgbClr val="1E1E1E"/>
                </a:solidFill>
                <a:latin typeface="Courier New" pitchFamily="34" charset="0"/>
                <a:ea typeface="Courier New" pitchFamily="34" charset="-122"/>
                <a:cs typeface="Courier New" pitchFamily="34" charset="-120"/>
              </a:rPr>
              <a:t>#include &lt;iostream&gt;</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#include &lt;fstream&gt;</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using namespace std;</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int main() {</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    ifstream inFile("readings.txt");</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    if (!inFile) { cout &lt;&lt; "File not found!"; return 1; }</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5B2D90"/>
                </a:solidFill>
                <a:latin typeface="Courier New" pitchFamily="34" charset="0"/>
                <a:ea typeface="Courier New" pitchFamily="34" charset="-122"/>
                <a:cs typeface="Courier New" pitchFamily="34" charset="-120"/>
              </a:rPr>
              <a:t>    int a[10], count = 0, bad = 0;</a:t>
            </a:r>
            <a:endParaRPr lang="en-US" sz="1100" dirty="0"/>
          </a:p>
          <a:p>
            <a:pPr indent="0" marL="0">
              <a:buNone/>
            </a:pPr>
            <a:r>
              <a:rPr lang="en-US" sz="1100" b="1" dirty="0">
                <a:solidFill>
                  <a:srgbClr val="5B2D90"/>
                </a:solidFill>
                <a:latin typeface="Courier New" pitchFamily="34" charset="0"/>
                <a:ea typeface="Courier New" pitchFamily="34" charset="-122"/>
                <a:cs typeface="Courier New" pitchFamily="34" charset="-120"/>
              </a:rPr>
              <a:t>    char junk[50];</a:t>
            </a:r>
            <a:endParaRPr lang="en-US" sz="1100" dirty="0"/>
          </a:p>
          <a:p>
            <a:pPr indent="0" marL="0">
              <a:buNone/>
            </a:pPr>
            <a:r>
              <a:rPr lang="en-US" sz="1100" b="1" dirty="0">
                <a:solidFill>
                  <a:srgbClr val="5B2D90"/>
                </a:solidFill>
                <a:latin typeface="Courier New" pitchFamily="34" charset="0"/>
                <a:ea typeface="Courier New" pitchFamily="34" charset="-122"/>
                <a:cs typeface="Courier New" pitchFamily="34" charset="-120"/>
              </a:rPr>
              <a:t>    while (count &lt; 10) {</a:t>
            </a:r>
            <a:endParaRPr lang="en-US" sz="1100" dirty="0"/>
          </a:p>
          <a:p>
            <a:pPr indent="0" marL="0">
              <a:buNone/>
            </a:pPr>
            <a:r>
              <a:rPr lang="en-US" sz="1100" b="1" dirty="0">
                <a:solidFill>
                  <a:srgbClr val="5B2D90"/>
                </a:solidFill>
                <a:latin typeface="Courier New" pitchFamily="34" charset="0"/>
                <a:ea typeface="Courier New" pitchFamily="34" charset="-122"/>
                <a:cs typeface="Courier New" pitchFamily="34" charset="-120"/>
              </a:rPr>
              <a:t>        if (inFile &gt;&gt; a[count])      // a number</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            count++;</a:t>
            </a:r>
            <a:endParaRPr lang="en-US" sz="1100" dirty="0"/>
          </a:p>
          <a:p>
            <a:pPr indent="0" marL="0">
              <a:buNone/>
            </a:pPr>
            <a:r>
              <a:rPr lang="en-US" sz="1100" b="1" dirty="0">
                <a:solidFill>
                  <a:srgbClr val="5B2D90"/>
                </a:solidFill>
                <a:latin typeface="Courier New" pitchFamily="34" charset="0"/>
                <a:ea typeface="Courier New" pitchFamily="34" charset="-122"/>
                <a:cs typeface="Courier New" pitchFamily="34" charset="-120"/>
              </a:rPr>
              <a:t>        else if (inFile.eof())       // the end</a:t>
            </a:r>
            <a:endParaRPr lang="en-US" sz="1100" dirty="0"/>
          </a:p>
          <a:p>
            <a:pPr indent="0" marL="0">
              <a:buNone/>
            </a:pPr>
            <a:r>
              <a:rPr lang="en-US" sz="1100" b="1" dirty="0">
                <a:solidFill>
                  <a:srgbClr val="5B2D90"/>
                </a:solidFill>
                <a:latin typeface="Courier New" pitchFamily="34" charset="0"/>
                <a:ea typeface="Courier New" pitchFamily="34" charset="-122"/>
                <a:cs typeface="Courier New" pitchFamily="34" charset="-120"/>
              </a:rPr>
              <a:t>            break;</a:t>
            </a:r>
            <a:endParaRPr lang="en-US" sz="1100" dirty="0"/>
          </a:p>
          <a:p>
            <a:pPr indent="0" marL="0">
              <a:buNone/>
            </a:pPr>
            <a:r>
              <a:rPr lang="en-US" sz="1100" b="1" dirty="0">
                <a:solidFill>
                  <a:srgbClr val="5B2D90"/>
                </a:solidFill>
                <a:latin typeface="Courier New" pitchFamily="34" charset="0"/>
                <a:ea typeface="Courier New" pitchFamily="34" charset="-122"/>
                <a:cs typeface="Courier New" pitchFamily="34" charset="-120"/>
              </a:rPr>
              <a:t>        else {                       // junk</a:t>
            </a:r>
            <a:endParaRPr lang="en-US" sz="1100" dirty="0"/>
          </a:p>
          <a:p>
            <a:pPr indent="0" marL="0">
              <a:buNone/>
            </a:pPr>
            <a:r>
              <a:rPr lang="en-US" sz="1100" b="1" dirty="0">
                <a:solidFill>
                  <a:srgbClr val="5B2D90"/>
                </a:solidFill>
                <a:latin typeface="Courier New" pitchFamily="34" charset="0"/>
                <a:ea typeface="Courier New" pitchFamily="34" charset="-122"/>
                <a:cs typeface="Courier New" pitchFamily="34" charset="-120"/>
              </a:rPr>
              <a:t>            inFile.clear();</a:t>
            </a:r>
            <a:endParaRPr lang="en-US" sz="1100" dirty="0"/>
          </a:p>
          <a:p>
            <a:pPr indent="0" marL="0">
              <a:buNone/>
            </a:pPr>
            <a:r>
              <a:rPr lang="en-US" sz="1100" b="1" dirty="0">
                <a:solidFill>
                  <a:srgbClr val="5B2D90"/>
                </a:solidFill>
                <a:latin typeface="Courier New" pitchFamily="34" charset="0"/>
                <a:ea typeface="Courier New" pitchFamily="34" charset="-122"/>
                <a:cs typeface="Courier New" pitchFamily="34" charset="-120"/>
              </a:rPr>
              <a:t>            inFile &gt;&gt; junk;</a:t>
            </a:r>
            <a:endParaRPr lang="en-US" sz="1100" dirty="0"/>
          </a:p>
          <a:p>
            <a:pPr indent="0" marL="0">
              <a:buNone/>
            </a:pPr>
            <a:r>
              <a:rPr lang="en-US" sz="1100" b="1" dirty="0">
                <a:solidFill>
                  <a:srgbClr val="5B2D90"/>
                </a:solidFill>
                <a:latin typeface="Courier New" pitchFamily="34" charset="0"/>
                <a:ea typeface="Courier New" pitchFamily="34" charset="-122"/>
                <a:cs typeface="Courier New" pitchFamily="34" charset="-120"/>
              </a:rPr>
              <a:t>            bad++;</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    inFile.close();</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    cout &lt;&lt; "Kept: ";</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    for (int i = 0; i &lt; count; i++)</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        cout &lt;&lt; a[i] &lt;&lt; " ";</a:t>
            </a:r>
            <a:endParaRPr lang="en-US" sz="1100" dirty="0"/>
          </a:p>
          <a:p>
            <a:pPr indent="0" marL="0">
              <a:buNone/>
            </a:pPr>
            <a:r>
              <a:rPr lang="en-US" sz="1100" b="1" dirty="0">
                <a:solidFill>
                  <a:srgbClr val="5B2D90"/>
                </a:solidFill>
                <a:latin typeface="Courier New" pitchFamily="34" charset="0"/>
                <a:ea typeface="Courier New" pitchFamily="34" charset="-122"/>
                <a:cs typeface="Courier New" pitchFamily="34" charset="-120"/>
              </a:rPr>
              <a:t>    cout &lt;&lt; endl &lt;&lt; "Skipped: " &lt;&lt; bad &lt;&lt; endl;</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    return 0;</a:t>
            </a:r>
            <a:endParaRPr lang="en-US" sz="1100" dirty="0"/>
          </a:p>
          <a:p>
            <a:pPr indent="0" marL="0">
              <a:buNone/>
            </a:pPr>
            <a:r>
              <a:rPr lang="en-US" sz="1100" dirty="0">
                <a:solidFill>
                  <a:srgbClr val="1E1E1E"/>
                </a:solidFill>
                <a:latin typeface="Courier New" pitchFamily="34" charset="0"/>
                <a:ea typeface="Courier New" pitchFamily="34" charset="-122"/>
                <a:cs typeface="Courier New" pitchFamily="34" charset="-120"/>
              </a:rPr>
              <a:t>}</a:t>
            </a:r>
            <a:endParaRPr lang="en-US" sz="1100" dirty="0"/>
          </a:p>
        </p:txBody>
      </p:sp>
      <p:sp>
        <p:nvSpPr>
          <p:cNvPr id="5" name="Text 3"/>
          <p:cNvSpPr txBox="1"/>
          <p:nvPr/>
        </p:nvSpPr>
        <p:spPr>
          <a:xfrm>
            <a:off x="7772400" y="1371600"/>
            <a:ext cx="3931920" cy="320040"/>
          </a:xfrm>
          <a:prstGeom prst="rect">
            <a:avLst/>
          </a:prstGeom>
          <a:noFill/>
          <a:ln/>
        </p:spPr>
        <p:txBody>
          <a:bodyPr wrap="square" lIns="0" tIns="0" rIns="0" bIns="0" rtlCol="0" anchor="ctr"/>
          <a:lstStyle/>
          <a:p>
            <a:pPr indent="0" marL="0">
              <a:buNone/>
            </a:pPr>
            <a:r>
              <a:rPr lang="en-US" sz="1500" b="1" dirty="0">
                <a:solidFill>
                  <a:srgbClr val="1E1E1E"/>
                </a:solidFill>
              </a:rPr>
              <a:t>readings.txt</a:t>
            </a:r>
            <a:endParaRPr lang="en-US" sz="1500" dirty="0"/>
          </a:p>
        </p:txBody>
      </p:sp>
      <p:sp>
        <p:nvSpPr>
          <p:cNvPr id="6" name="Text 4"/>
          <p:cNvSpPr txBox="1"/>
          <p:nvPr/>
        </p:nvSpPr>
        <p:spPr>
          <a:xfrm>
            <a:off x="7772400" y="1737360"/>
            <a:ext cx="3931920" cy="502920"/>
          </a:xfrm>
          <a:prstGeom prst="rect">
            <a:avLst/>
          </a:prstGeom>
          <a:solidFill>
            <a:srgbClr val="FFFFFF"/>
          </a:solidFill>
          <a:ln w="12700">
            <a:solidFill>
              <a:srgbClr val="A6A6A6"/>
            </a:solidFill>
          </a:ln>
        </p:spPr>
        <p:txBody>
          <a:bodyPr wrap="square" lIns="127000" tIns="127000" rIns="127000" bIns="127000" rtlCol="0" anchor="ctr"/>
          <a:lstStyle/>
          <a:p>
            <a:pPr indent="0" marL="0">
              <a:buNone/>
            </a:pPr>
            <a:r>
              <a:rPr lang="en-US" sz="1600" dirty="0">
                <a:solidFill>
                  <a:srgbClr val="1E1E1E"/>
                </a:solidFill>
                <a:latin typeface="Courier New" pitchFamily="34" charset="0"/>
                <a:ea typeface="Courier New" pitchFamily="34" charset="-122"/>
                <a:cs typeface="Courier New" pitchFamily="34" charset="-120"/>
              </a:rPr>
              <a:t>10 20 abc 40 x 50</a:t>
            </a:r>
            <a:endParaRPr lang="en-US" sz="1600" dirty="0"/>
          </a:p>
        </p:txBody>
      </p:sp>
      <p:sp>
        <p:nvSpPr>
          <p:cNvPr id="7" name="Text 5"/>
          <p:cNvSpPr txBox="1"/>
          <p:nvPr/>
        </p:nvSpPr>
        <p:spPr>
          <a:xfrm>
            <a:off x="7772400" y="2514600"/>
            <a:ext cx="3931920" cy="320040"/>
          </a:xfrm>
          <a:prstGeom prst="rect">
            <a:avLst/>
          </a:prstGeom>
          <a:noFill/>
          <a:ln/>
        </p:spPr>
        <p:txBody>
          <a:bodyPr wrap="square" lIns="0" tIns="0" rIns="0" bIns="0" rtlCol="0" anchor="ctr"/>
          <a:lstStyle/>
          <a:p>
            <a:pPr indent="0" marL="0">
              <a:buNone/>
            </a:pPr>
            <a:r>
              <a:rPr lang="en-US" sz="1500" b="1" dirty="0">
                <a:solidFill>
                  <a:srgbClr val="1E1E1E"/>
                </a:solidFill>
              </a:rPr>
              <a:t>Output</a:t>
            </a:r>
            <a:endParaRPr lang="en-US" sz="1500" dirty="0"/>
          </a:p>
        </p:txBody>
      </p:sp>
      <p:sp>
        <p:nvSpPr>
          <p:cNvPr id="8" name="Text 6"/>
          <p:cNvSpPr txBox="1"/>
          <p:nvPr/>
        </p:nvSpPr>
        <p:spPr>
          <a:xfrm>
            <a:off x="7772400" y="2880360"/>
            <a:ext cx="3931920" cy="777240"/>
          </a:xfrm>
          <a:prstGeom prst="rect">
            <a:avLst/>
          </a:prstGeom>
          <a:solidFill>
            <a:srgbClr val="FFFFFF"/>
          </a:solidFill>
          <a:ln w="25400">
            <a:solidFill>
              <a:srgbClr val="2E7D32"/>
            </a:solidFill>
          </a:ln>
        </p:spPr>
        <p:txBody>
          <a:bodyPr wrap="square" lIns="127000" tIns="127000" rIns="127000" bIns="127000" rtlCol="0" anchor="t"/>
          <a:lstStyle/>
          <a:p>
            <a:pPr indent="0" marL="0">
              <a:buNone/>
            </a:pPr>
            <a:r>
              <a:rPr lang="en-US" sz="1600" dirty="0">
                <a:solidFill>
                  <a:srgbClr val="1E1E1E"/>
                </a:solidFill>
                <a:latin typeface="Courier New" pitchFamily="34" charset="0"/>
                <a:ea typeface="Courier New" pitchFamily="34" charset="-122"/>
                <a:cs typeface="Courier New" pitchFamily="34" charset="-120"/>
              </a:rPr>
              <a:t>Kept: 10 20 40 50</a:t>
            </a:r>
            <a:endParaRPr lang="en-US" sz="1600" dirty="0"/>
          </a:p>
          <a:p>
            <a:pPr indent="0" marL="0">
              <a:buNone/>
            </a:pPr>
            <a:r>
              <a:rPr lang="en-US" sz="1600" dirty="0">
                <a:solidFill>
                  <a:srgbClr val="1E1E1E"/>
                </a:solidFill>
                <a:latin typeface="Courier New" pitchFamily="34" charset="0"/>
                <a:ea typeface="Courier New" pitchFamily="34" charset="-122"/>
                <a:cs typeface="Courier New" pitchFamily="34" charset="-120"/>
              </a:rPr>
              <a:t>Skipped: 2</a:t>
            </a:r>
            <a:endParaRPr lang="en-US" sz="1600" dirty="0"/>
          </a:p>
        </p:txBody>
      </p:sp>
      <p:sp>
        <p:nvSpPr>
          <p:cNvPr id="9" name="Text 7"/>
          <p:cNvSpPr txBox="1"/>
          <p:nvPr/>
        </p:nvSpPr>
        <p:spPr>
          <a:xfrm>
            <a:off x="7772400" y="3977640"/>
            <a:ext cx="3931920" cy="914400"/>
          </a:xfrm>
          <a:prstGeom prst="rect">
            <a:avLst/>
          </a:prstGeom>
          <a:noFill/>
          <a:ln/>
        </p:spPr>
        <p:txBody>
          <a:bodyPr wrap="square" lIns="0" tIns="0" rIns="0" bIns="0" rtlCol="0" anchor="t"/>
          <a:lstStyle/>
          <a:p>
            <a:pPr indent="0" marL="0">
              <a:buNone/>
            </a:pPr>
            <a:r>
              <a:rPr lang="en-US" sz="1400" dirty="0">
                <a:solidFill>
                  <a:srgbClr val="555555"/>
                </a:solidFill>
              </a:rPr>
              <a:t>Save readings.txt in the project folder, next to JunkReader.cpp. Build with Ctrl+Shift+B, run with Ctrl+F5.</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92608"/>
            <a:ext cx="3657600" cy="274320"/>
          </a:xfrm>
          <a:prstGeom prst="rect">
            <a:avLst/>
          </a:prstGeom>
          <a:noFill/>
          <a:ln/>
        </p:spPr>
        <p:txBody>
          <a:bodyPr wrap="square" lIns="0" tIns="0" rIns="0" bIns="0" rtlCol="0" anchor="ctr"/>
          <a:lstStyle/>
          <a:p>
            <a:pPr indent="0" marL="0">
              <a:buNone/>
            </a:pPr>
            <a:r>
              <a:rPr lang="en-US" sz="1200" b="1" spc="200" kern="0" dirty="0">
                <a:solidFill>
                  <a:srgbClr val="5B2D90"/>
                </a:solidFill>
              </a:rPr>
              <a:t>ANIMATION</a:t>
            </a:r>
            <a:endParaRPr lang="en-US" sz="1200" dirty="0"/>
          </a:p>
        </p:txBody>
      </p:sp>
      <p:sp>
        <p:nvSpPr>
          <p:cNvPr id="3" name="Text 0"/>
          <p:cNvSpPr/>
          <p:nvPr>
            <p:ph idx="100" type="title" hasCustomPrompt="1"/>
          </p:nvPr>
        </p:nvSpPr>
        <p:spPr>
          <a:xfrm>
            <a:off x="457200" y="566928"/>
            <a:ext cx="11247120" cy="603504"/>
          </a:xfrm>
          <a:prstGeom prst="rect">
            <a:avLst/>
          </a:prstGeom>
          <a:noFill/>
          <a:ln/>
        </p:spPr>
        <p:txBody>
          <a:bodyPr wrap="square" lIns="0" tIns="0" rIns="0" bIns="0" rtlCol="0" anchor="ctr"/>
          <a:lstStyle/>
          <a:p>
            <a:pPr algn="l" indent="0" marL="0">
              <a:buNone/>
            </a:pPr>
            <a:r>
              <a:rPr lang="en-US" sz="3000" b="1" dirty="0">
                <a:solidFill>
                  <a:srgbClr val="1E1E1E"/>
                </a:solidFill>
                <a:latin typeface="Calibri" pitchFamily="34" charset="0"/>
                <a:ea typeface="Calibri" pitchFamily="34" charset="-122"/>
                <a:cs typeface="Calibri" pitchFamily="34" charset="-120"/>
              </a:rPr>
              <a:t>Watch the whole process</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508760" y="1371600"/>
            <a:ext cx="9144000" cy="514350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555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VS Walkthrough">
  <a:themeElements>
    <a:clrScheme name="VS Walkthrough">
      <a:dk1>
        <a:srgbClr val="1E1E1E"/>
      </a:dk1>
      <a:lt1>
        <a:srgbClr val="FFFFFF"/>
      </a:lt1>
      <a:dk2>
        <a:srgbClr val="3D1A5B"/>
      </a:dk2>
      <a:lt2>
        <a:srgbClr val="F2F2F2"/>
      </a:lt2>
      <a:accent1>
        <a:srgbClr val="5B2D90"/>
      </a:accent1>
      <a:accent2>
        <a:srgbClr val="2E7D32"/>
      </a:accent2>
      <a:accent3>
        <a:srgbClr val="C42B1C"/>
      </a:accent3>
      <a:accent4>
        <a:srgbClr val="007ACC"/>
      </a:accent4>
      <a:accent5>
        <a:srgbClr val="808080"/>
      </a:accent5>
      <a:accent6>
        <a:srgbClr val="D9D9D9"/>
      </a:accent6>
      <a:hlink>
        <a:srgbClr val="5B2D90"/>
      </a:hlink>
      <a:folHlink>
        <a:srgbClr val="7A4FA8"/>
      </a:folHlink>
    </a:clrScheme>
    <a:fontScheme name="VS Walkthroug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Skipping junk data in Visual Studio</dc:title>
  <dc:subject>PptxGenJS Presentation</dc:subject>
  <dc:creator>PptxGenJS</dc:creator>
  <cp:lastModifiedBy>PptxGenJS</cp:lastModifiedBy>
  <cp:revision>1</cp:revision>
  <dcterms:created xsi:type="dcterms:W3CDTF">2026-10-12T14:09:01Z</dcterms:created>
  <dcterms:modified xsi:type="dcterms:W3CDTF">2026-10-12T14:09:01Z</dcterms:modified>
</cp:coreProperties>
</file>