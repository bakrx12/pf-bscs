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60"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10C5A2-11CB-4A6B-B6F8-FC17F8E73C36}" v="1" dt="2026-10-13T04:53:06.4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8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eeha Iqbal" userId="92ee55c5-ebe1-4b24-a80b-44c3fa312313" providerId="ADAL" clId="{DAD66C0D-2CAE-4C5E-8BCE-C526EB98D19E}"/>
    <pc:docChg chg="custSel delSld modSld">
      <pc:chgData name="Fareeha Iqbal" userId="92ee55c5-ebe1-4b24-a80b-44c3fa312313" providerId="ADAL" clId="{DAD66C0D-2CAE-4C5E-8BCE-C526EB98D19E}" dt="2026-10-13T04:53:15.818" v="7" actId="47"/>
      <pc:docMkLst>
        <pc:docMk/>
      </pc:docMkLst>
      <pc:sldChg chg="delSp modSp del mod">
        <pc:chgData name="Fareeha Iqbal" userId="92ee55c5-ebe1-4b24-a80b-44c3fa312313" providerId="ADAL" clId="{DAD66C0D-2CAE-4C5E-8BCE-C526EB98D19E}" dt="2026-10-13T04:53:15.818" v="7" actId="47"/>
        <pc:sldMkLst>
          <pc:docMk/>
          <pc:sldMk cId="0" sldId="259"/>
        </pc:sldMkLst>
        <pc:spChg chg="del">
          <ac:chgData name="Fareeha Iqbal" userId="92ee55c5-ebe1-4b24-a80b-44c3fa312313" providerId="ADAL" clId="{DAD66C0D-2CAE-4C5E-8BCE-C526EB98D19E}" dt="2026-10-13T04:52:47.331" v="2" actId="478"/>
          <ac:spMkLst>
            <pc:docMk/>
            <pc:sldMk cId="0" sldId="259"/>
            <ac:spMk id="4" creationId="{00000000-0000-0000-0000-000000000000}"/>
          </ac:spMkLst>
        </pc:spChg>
        <pc:spChg chg="mod">
          <ac:chgData name="Fareeha Iqbal" userId="92ee55c5-ebe1-4b24-a80b-44c3fa312313" providerId="ADAL" clId="{DAD66C0D-2CAE-4C5E-8BCE-C526EB98D19E}" dt="2026-10-13T04:52:33.287" v="1" actId="20577"/>
          <ac:spMkLst>
            <pc:docMk/>
            <pc:sldMk cId="0" sldId="259"/>
            <ac:spMk id="6" creationId="{00000000-0000-0000-0000-000000000000}"/>
          </ac:spMkLst>
        </pc:spChg>
      </pc:sldChg>
      <pc:sldChg chg="modSp mod">
        <pc:chgData name="Fareeha Iqbal" userId="92ee55c5-ebe1-4b24-a80b-44c3fa312313" providerId="ADAL" clId="{DAD66C0D-2CAE-4C5E-8BCE-C526EB98D19E}" dt="2026-10-13T04:53:11.612" v="6" actId="20577"/>
        <pc:sldMkLst>
          <pc:docMk/>
          <pc:sldMk cId="0" sldId="260"/>
        </pc:sldMkLst>
        <pc:spChg chg="mod">
          <ac:chgData name="Fareeha Iqbal" userId="92ee55c5-ebe1-4b24-a80b-44c3fa312313" providerId="ADAL" clId="{DAD66C0D-2CAE-4C5E-8BCE-C526EB98D19E}" dt="2026-10-13T04:53:11.612" v="6" actId="20577"/>
          <ac:spMkLst>
            <pc:docMk/>
            <pc:sldMk cId="0" sldId="26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609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 minutes to introduce, 20 minutes to solve, 10 minutes to discuss. Show the plan and hints slide only when a pair is stuck. The solution is at the end of the deck, after the divider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trap: Chicken Roll and Jam Pie have a space, so &gt;&gt; into a char array would stop early. The best seller is Tea, not the most expensive item: students must compare price x qty, not price. Expected answer: total 1985, best seller Tea with Rs. 800.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 symbol in the table means a new line in the file. The second test is the challenge: if getline or &gt;&gt; fails inside the for loop, print how many items were read and break out of the loop.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lines: ignore after reading n, getline with a comma for the name, the char comma between price and qty, ignore at the end of each line, and strcpy to remember the best name. The if (!inFile) block inside the loop is the challenge.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66928"/>
            <a:ext cx="11247120" cy="640080"/>
          </a:xfrm>
          <a:prstGeom prst="rect">
            <a:avLst/>
          </a:prstGeom>
          <a:noFill/>
          <a:ln/>
        </p:spPr>
        <p:txBody>
          <a:bodyPr wrap="square" rtlCol="0"/>
          <a:lstStyle>
            <a:lvl1pPr marL="0" indent="0" algn="l">
              <a:buNone/>
              <a:defRPr lang="en-US" sz="3200" b="1" dirty="0">
                <a:solidFill>
                  <a:srgbClr val="1A1A1A"/>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4D4D"/>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4D4D"/>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274320"/>
            <a:ext cx="7315200" cy="274320"/>
          </a:xfrm>
          <a:prstGeom prst="rect">
            <a:avLst/>
          </a:prstGeom>
          <a:noFill/>
          <a:ln/>
        </p:spPr>
        <p:txBody>
          <a:bodyPr wrap="square" lIns="0" tIns="0" rIns="0" bIns="0" rtlCol="0" anchor="t"/>
          <a:lstStyle/>
          <a:p>
            <a:pPr marL="0" indent="0">
              <a:buNone/>
            </a:pPr>
            <a:r>
              <a:rPr lang="en-US" sz="1200" b="1" kern="0" spc="200" dirty="0">
                <a:solidFill>
                  <a:srgbClr val="1A1A1A"/>
                </a:solidFill>
                <a:latin typeface="Calibri" pitchFamily="34" charset="0"/>
                <a:ea typeface="Calibri" pitchFamily="34" charset="-122"/>
                <a:cs typeface="Calibri" pitchFamily="34" charset="-120"/>
              </a:rPr>
              <a:t>FILE HANDLING IN C++ · PART 2 · CLASS ACTIVITY</a:t>
            </a:r>
            <a:endParaRPr lang="en-US" sz="1200" dirty="0"/>
          </a:p>
        </p:txBody>
      </p:sp>
      <p:sp>
        <p:nvSpPr>
          <p:cNvPr id="3" name="Text 0"/>
          <p:cNvSpPr>
            <a:spLocks noGrp="1"/>
          </p:cNvSpPr>
          <p:nvPr>
            <p:ph type="title" idx="100" hasCustomPrompt="1"/>
          </p:nvPr>
        </p:nvSpPr>
        <p:spPr>
          <a:xfrm>
            <a:off x="457200" y="566928"/>
            <a:ext cx="11247120" cy="640080"/>
          </a:xfrm>
          <a:prstGeom prst="rect">
            <a:avLst/>
          </a:prstGeom>
          <a:noFill/>
          <a:ln/>
        </p:spPr>
        <p:txBody>
          <a:bodyPr wrap="square" lIns="0" tIns="0" rIns="0" bIns="0"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Your turn: read a real file</a:t>
            </a:r>
            <a:endParaRPr lang="en-US" sz="3200" dirty="0"/>
          </a:p>
        </p:txBody>
      </p:sp>
      <p:sp>
        <p:nvSpPr>
          <p:cNvPr id="4" name="Text 2"/>
          <p:cNvSpPr txBox="1"/>
          <p:nvPr/>
        </p:nvSpPr>
        <p:spPr>
          <a:xfrm>
            <a:off x="457200" y="1371600"/>
            <a:ext cx="6583680" cy="914400"/>
          </a:xfrm>
          <a:prstGeom prst="rect">
            <a:avLst/>
          </a:prstGeom>
          <a:noFill/>
          <a:ln/>
        </p:spPr>
        <p:txBody>
          <a:bodyPr wrap="square" lIns="0" tIns="0" rIns="0" bIns="0" rtlCol="0" anchor="t"/>
          <a:lstStyle/>
          <a:p>
            <a:pPr marL="0" indent="0">
              <a:buNone/>
            </a:pPr>
            <a:r>
              <a:rPr lang="en-US" sz="1700" dirty="0">
                <a:solidFill>
                  <a:srgbClr val="4D4D4D"/>
                </a:solidFill>
                <a:latin typeface="Calibri" pitchFamily="34" charset="0"/>
                <a:ea typeface="Calibri" pitchFamily="34" charset="-122"/>
                <a:cs typeface="Calibri" pitchFamily="34" charset="-120"/>
              </a:rPr>
              <a:t>A new problem. It was not solved in the lecture, but every skill you need was. Write the program yourself, run it, and check your output against the expected output.</a:t>
            </a:r>
            <a:endParaRPr lang="en-US" sz="1700" dirty="0"/>
          </a:p>
        </p:txBody>
      </p:sp>
      <p:sp>
        <p:nvSpPr>
          <p:cNvPr id="5" name="Shape 3"/>
          <p:cNvSpPr/>
          <p:nvPr/>
        </p:nvSpPr>
        <p:spPr>
          <a:xfrm>
            <a:off x="457200" y="2606040"/>
            <a:ext cx="6720840" cy="3246120"/>
          </a:xfrm>
          <a:prstGeom prst="rect">
            <a:avLst/>
          </a:prstGeom>
          <a:solidFill>
            <a:srgbClr val="FFFFFF"/>
          </a:solidFill>
          <a:ln w="12700">
            <a:solidFill>
              <a:srgbClr val="7F7F7F"/>
            </a:solidFill>
            <a:prstDash val="solid"/>
          </a:ln>
        </p:spPr>
        <p:txBody>
          <a:bodyPr/>
          <a:lstStyle/>
          <a:p>
            <a:endParaRPr lang="en-US"/>
          </a:p>
        </p:txBody>
      </p:sp>
      <p:sp>
        <p:nvSpPr>
          <p:cNvPr id="6" name="Text 4"/>
          <p:cNvSpPr txBox="1"/>
          <p:nvPr/>
        </p:nvSpPr>
        <p:spPr>
          <a:xfrm>
            <a:off x="685800" y="2788920"/>
            <a:ext cx="2834640" cy="274320"/>
          </a:xfrm>
          <a:prstGeom prst="rect">
            <a:avLst/>
          </a:prstGeom>
          <a:noFill/>
          <a:ln/>
        </p:spPr>
        <p:txBody>
          <a:bodyPr wrap="square" lIns="0" tIns="0" rIns="0" bIns="0" rtlCol="0" anchor="t"/>
          <a:lstStyle/>
          <a:p>
            <a:pPr marL="0" indent="0">
              <a:buNone/>
            </a:pPr>
            <a:r>
              <a:rPr lang="en-US" sz="1100" b="1" kern="0" spc="200" dirty="0">
                <a:solidFill>
                  <a:srgbClr val="4D4D4D"/>
                </a:solidFill>
                <a:latin typeface="Calibri" pitchFamily="34" charset="0"/>
                <a:ea typeface="Calibri" pitchFamily="34" charset="-122"/>
                <a:cs typeface="Calibri" pitchFamily="34" charset="-120"/>
              </a:rPr>
              <a:t>THE PROBLEM  ·  20 MIN</a:t>
            </a:r>
            <a:endParaRPr lang="en-US" sz="1100" dirty="0"/>
          </a:p>
        </p:txBody>
      </p:sp>
      <p:sp>
        <p:nvSpPr>
          <p:cNvPr id="7" name="Text 5"/>
          <p:cNvSpPr txBox="1"/>
          <p:nvPr/>
        </p:nvSpPr>
        <p:spPr>
          <a:xfrm>
            <a:off x="685800" y="3090672"/>
            <a:ext cx="6217920" cy="457200"/>
          </a:xfrm>
          <a:prstGeom prst="rect">
            <a:avLst/>
          </a:prstGeom>
          <a:noFill/>
          <a:ln/>
        </p:spPr>
        <p:txBody>
          <a:bodyPr wrap="square" lIns="0" tIns="0" rIns="0" bIns="0" rtlCol="0" anchor="t"/>
          <a:lstStyle/>
          <a:p>
            <a:pPr marL="0" indent="0">
              <a:buNone/>
            </a:pPr>
            <a:r>
              <a:rPr lang="en-US" sz="2100" b="1" dirty="0">
                <a:solidFill>
                  <a:srgbClr val="1A1A1A"/>
                </a:solidFill>
                <a:latin typeface="Cambria" pitchFamily="34" charset="0"/>
                <a:ea typeface="Cambria" pitchFamily="34" charset="-122"/>
                <a:cs typeface="Cambria" pitchFamily="34" charset="-120"/>
              </a:rPr>
              <a:t>Canteen sales report</a:t>
            </a:r>
            <a:endParaRPr lang="en-US" sz="2100" dirty="0"/>
          </a:p>
        </p:txBody>
      </p:sp>
      <p:sp>
        <p:nvSpPr>
          <p:cNvPr id="8" name="Text 6"/>
          <p:cNvSpPr txBox="1"/>
          <p:nvPr/>
        </p:nvSpPr>
        <p:spPr>
          <a:xfrm>
            <a:off x="685800" y="3611880"/>
            <a:ext cx="6217920" cy="274320"/>
          </a:xfrm>
          <a:prstGeom prst="rect">
            <a:avLst/>
          </a:prstGeom>
          <a:noFill/>
          <a:ln/>
        </p:spPr>
        <p:txBody>
          <a:bodyPr wrap="square" lIns="0" tIns="0" rIns="0" bIns="0" rtlCol="0" anchor="t"/>
          <a:lstStyle/>
          <a:p>
            <a:pPr marL="0" indent="0">
              <a:buNone/>
            </a:pPr>
            <a:r>
              <a:rPr lang="en-US" sz="1400" dirty="0">
                <a:solidFill>
                  <a:srgbClr val="1A1A1A"/>
                </a:solidFill>
                <a:latin typeface="Courier New" pitchFamily="34" charset="0"/>
                <a:ea typeface="Courier New" pitchFamily="34" charset="-122"/>
                <a:cs typeface="Courier New" pitchFamily="34" charset="-120"/>
              </a:rPr>
              <a:t>canteen.txt</a:t>
            </a:r>
            <a:endParaRPr lang="en-US" sz="1400" dirty="0"/>
          </a:p>
        </p:txBody>
      </p:sp>
      <p:sp>
        <p:nvSpPr>
          <p:cNvPr id="9" name="Text 7"/>
          <p:cNvSpPr txBox="1"/>
          <p:nvPr/>
        </p:nvSpPr>
        <p:spPr>
          <a:xfrm>
            <a:off x="685800" y="4023360"/>
            <a:ext cx="621792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Count on the first line</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Names with spaces: getline</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Comma between values</a:t>
            </a:r>
            <a:endParaRPr lang="en-US" sz="1400" dirty="0"/>
          </a:p>
          <a:p>
            <a:pPr marL="342900" indent="-342900">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ignore() to finish a line</a:t>
            </a:r>
            <a:endParaRPr lang="en-US" sz="1400" dirty="0"/>
          </a:p>
        </p:txBody>
      </p:sp>
      <p:sp>
        <p:nvSpPr>
          <p:cNvPr id="10" name="Shape 8"/>
          <p:cNvSpPr/>
          <p:nvPr/>
        </p:nvSpPr>
        <p:spPr>
          <a:xfrm>
            <a:off x="7635240" y="1371600"/>
            <a:ext cx="4069080" cy="4480560"/>
          </a:xfrm>
          <a:prstGeom prst="rect">
            <a:avLst/>
          </a:prstGeom>
          <a:solidFill>
            <a:srgbClr val="F2F2F2"/>
          </a:solidFill>
          <a:ln w="12700">
            <a:solidFill>
              <a:srgbClr val="7F7F7F"/>
            </a:solidFill>
            <a:prstDash val="solid"/>
          </a:ln>
        </p:spPr>
        <p:txBody>
          <a:bodyPr/>
          <a:lstStyle/>
          <a:p>
            <a:endParaRPr lang="en-US"/>
          </a:p>
        </p:txBody>
      </p:sp>
      <p:sp>
        <p:nvSpPr>
          <p:cNvPr id="11" name="Text 9"/>
          <p:cNvSpPr txBox="1"/>
          <p:nvPr/>
        </p:nvSpPr>
        <p:spPr>
          <a:xfrm>
            <a:off x="7863840" y="1554480"/>
            <a:ext cx="3657600" cy="365760"/>
          </a:xfrm>
          <a:prstGeom prst="rect">
            <a:avLst/>
          </a:prstGeom>
          <a:noFill/>
          <a:ln/>
        </p:spPr>
        <p:txBody>
          <a:bodyPr wrap="square" lIns="0" tIns="0" rIns="0" bIns="0" rtlCol="0" anchor="t"/>
          <a:lstStyle/>
          <a:p>
            <a:pPr marL="0" indent="0">
              <a:buNone/>
            </a:pPr>
            <a:r>
              <a:rPr lang="en-US" sz="1800" b="1" dirty="0">
                <a:solidFill>
                  <a:srgbClr val="1A1A1A"/>
                </a:solidFill>
                <a:latin typeface="Cambria" pitchFamily="34" charset="0"/>
                <a:ea typeface="Cambria" pitchFamily="34" charset="-122"/>
                <a:cs typeface="Cambria" pitchFamily="34" charset="-120"/>
              </a:rPr>
              <a:t>How to work</a:t>
            </a:r>
            <a:endParaRPr lang="en-US" sz="1800" dirty="0"/>
          </a:p>
        </p:txBody>
      </p:sp>
      <p:sp>
        <p:nvSpPr>
          <p:cNvPr id="12" name="Shape 10"/>
          <p:cNvSpPr/>
          <p:nvPr/>
        </p:nvSpPr>
        <p:spPr>
          <a:xfrm>
            <a:off x="7863840" y="2066544"/>
            <a:ext cx="310896" cy="310896"/>
          </a:xfrm>
          <a:prstGeom prst="ellipse">
            <a:avLst/>
          </a:prstGeom>
          <a:solidFill>
            <a:srgbClr val="FFFFFF"/>
          </a:solidFill>
          <a:ln w="15875">
            <a:solidFill>
              <a:srgbClr val="1A1A1A"/>
            </a:solidFill>
            <a:prstDash val="solid"/>
          </a:ln>
        </p:spPr>
        <p:txBody>
          <a:bodyPr/>
          <a:lstStyle/>
          <a:p>
            <a:endParaRPr lang="en-US"/>
          </a:p>
        </p:txBody>
      </p:sp>
      <p:sp>
        <p:nvSpPr>
          <p:cNvPr id="13" name="Text 11"/>
          <p:cNvSpPr txBox="1"/>
          <p:nvPr/>
        </p:nvSpPr>
        <p:spPr>
          <a:xfrm>
            <a:off x="7863840" y="2066544"/>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1</a:t>
            </a:r>
            <a:endParaRPr lang="en-US" sz="1200" dirty="0"/>
          </a:p>
        </p:txBody>
      </p:sp>
      <p:sp>
        <p:nvSpPr>
          <p:cNvPr id="14" name="Text 12"/>
          <p:cNvSpPr txBox="1"/>
          <p:nvPr/>
        </p:nvSpPr>
        <p:spPr>
          <a:xfrm>
            <a:off x="8321040" y="2057400"/>
            <a:ext cx="3200400" cy="528523"/>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Work in </a:t>
            </a:r>
            <a:r>
              <a:rPr lang="en-US" sz="1400" b="1" dirty="0">
                <a:solidFill>
                  <a:srgbClr val="1A1A1A"/>
                </a:solidFill>
                <a:latin typeface="Calibri" pitchFamily="34" charset="0"/>
                <a:ea typeface="Calibri" pitchFamily="34" charset="-122"/>
                <a:cs typeface="Calibri" pitchFamily="34" charset="-120"/>
              </a:rPr>
              <a:t>pairs</a:t>
            </a:r>
            <a:r>
              <a:rPr lang="en-US" sz="1400" dirty="0">
                <a:solidFill>
                  <a:srgbClr val="1A1A1A"/>
                </a:solidFill>
                <a:latin typeface="Calibri" pitchFamily="34" charset="0"/>
                <a:ea typeface="Calibri" pitchFamily="34" charset="-122"/>
                <a:cs typeface="Calibri" pitchFamily="34" charset="-120"/>
              </a:rPr>
              <a:t>. One types, one checks, then swap halfway.</a:t>
            </a:r>
            <a:endParaRPr lang="en-US" sz="1400" dirty="0"/>
          </a:p>
        </p:txBody>
      </p:sp>
      <p:sp>
        <p:nvSpPr>
          <p:cNvPr id="15" name="Shape 13"/>
          <p:cNvSpPr/>
          <p:nvPr/>
        </p:nvSpPr>
        <p:spPr>
          <a:xfrm>
            <a:off x="7863840" y="2723083"/>
            <a:ext cx="310896" cy="310896"/>
          </a:xfrm>
          <a:prstGeom prst="ellipse">
            <a:avLst/>
          </a:prstGeom>
          <a:solidFill>
            <a:srgbClr val="FFFFFF"/>
          </a:solidFill>
          <a:ln w="15875">
            <a:solidFill>
              <a:srgbClr val="1A1A1A"/>
            </a:solidFill>
            <a:prstDash val="solid"/>
          </a:ln>
        </p:spPr>
        <p:txBody>
          <a:bodyPr/>
          <a:lstStyle/>
          <a:p>
            <a:endParaRPr lang="en-US"/>
          </a:p>
        </p:txBody>
      </p:sp>
      <p:sp>
        <p:nvSpPr>
          <p:cNvPr id="16" name="Text 14"/>
          <p:cNvSpPr txBox="1"/>
          <p:nvPr/>
        </p:nvSpPr>
        <p:spPr>
          <a:xfrm>
            <a:off x="7863840" y="2723083"/>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8321040" y="2713939"/>
            <a:ext cx="3200400" cy="528523"/>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Create the </a:t>
            </a:r>
            <a:r>
              <a:rPr lang="en-US" sz="1400" b="1" dirty="0">
                <a:solidFill>
                  <a:srgbClr val="1A1A1A"/>
                </a:solidFill>
                <a:latin typeface="Calibri" pitchFamily="34" charset="0"/>
                <a:ea typeface="Calibri" pitchFamily="34" charset="-122"/>
                <a:cs typeface="Calibri" pitchFamily="34" charset="-120"/>
              </a:rPr>
              <a:t>.txt file</a:t>
            </a:r>
            <a:r>
              <a:rPr lang="en-US" sz="1400" dirty="0">
                <a:solidFill>
                  <a:srgbClr val="1A1A1A"/>
                </a:solidFill>
                <a:latin typeface="Calibri" pitchFamily="34" charset="0"/>
                <a:ea typeface="Calibri" pitchFamily="34" charset="-122"/>
                <a:cs typeface="Calibri" pitchFamily="34" charset="-120"/>
              </a:rPr>
              <a:t> exactly as shown, in the project folder next to your .cpp file.</a:t>
            </a:r>
            <a:endParaRPr lang="en-US" sz="1400" dirty="0"/>
          </a:p>
        </p:txBody>
      </p:sp>
      <p:sp>
        <p:nvSpPr>
          <p:cNvPr id="18" name="Shape 16"/>
          <p:cNvSpPr/>
          <p:nvPr/>
        </p:nvSpPr>
        <p:spPr>
          <a:xfrm>
            <a:off x="7863840" y="3379622"/>
            <a:ext cx="310896" cy="310896"/>
          </a:xfrm>
          <a:prstGeom prst="ellipse">
            <a:avLst/>
          </a:prstGeom>
          <a:solidFill>
            <a:srgbClr val="FFFFFF"/>
          </a:solidFill>
          <a:ln w="15875">
            <a:solidFill>
              <a:srgbClr val="1A1A1A"/>
            </a:solidFill>
            <a:prstDash val="solid"/>
          </a:ln>
        </p:spPr>
        <p:txBody>
          <a:bodyPr/>
          <a:lstStyle/>
          <a:p>
            <a:endParaRPr lang="en-US"/>
          </a:p>
        </p:txBody>
      </p:sp>
      <p:sp>
        <p:nvSpPr>
          <p:cNvPr id="19" name="Text 17"/>
          <p:cNvSpPr txBox="1"/>
          <p:nvPr/>
        </p:nvSpPr>
        <p:spPr>
          <a:xfrm>
            <a:off x="7863840" y="3379622"/>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8321040" y="3370478"/>
            <a:ext cx="3200400" cy="528523"/>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Plan on paper first: which variable reads which part of a line?</a:t>
            </a:r>
            <a:endParaRPr lang="en-US" sz="1400" dirty="0"/>
          </a:p>
        </p:txBody>
      </p:sp>
      <p:sp>
        <p:nvSpPr>
          <p:cNvPr id="21" name="Shape 19"/>
          <p:cNvSpPr/>
          <p:nvPr/>
        </p:nvSpPr>
        <p:spPr>
          <a:xfrm>
            <a:off x="7863840" y="4036162"/>
            <a:ext cx="310896" cy="310896"/>
          </a:xfrm>
          <a:prstGeom prst="ellipse">
            <a:avLst/>
          </a:prstGeom>
          <a:solidFill>
            <a:srgbClr val="FFFFFF"/>
          </a:solidFill>
          <a:ln w="15875">
            <a:solidFill>
              <a:srgbClr val="1A1A1A"/>
            </a:solidFill>
            <a:prstDash val="solid"/>
          </a:ln>
        </p:spPr>
        <p:txBody>
          <a:bodyPr/>
          <a:lstStyle/>
          <a:p>
            <a:endParaRPr lang="en-US"/>
          </a:p>
        </p:txBody>
      </p:sp>
      <p:sp>
        <p:nvSpPr>
          <p:cNvPr id="22" name="Text 20"/>
          <p:cNvSpPr txBox="1"/>
          <p:nvPr/>
        </p:nvSpPr>
        <p:spPr>
          <a:xfrm>
            <a:off x="7863840" y="4036162"/>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8321040" y="4027018"/>
            <a:ext cx="3200400" cy="528523"/>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Run the extra </a:t>
            </a:r>
            <a:r>
              <a:rPr lang="en-US" sz="1400" b="1" dirty="0">
                <a:solidFill>
                  <a:srgbClr val="1A1A1A"/>
                </a:solidFill>
                <a:latin typeface="Calibri" pitchFamily="34" charset="0"/>
                <a:ea typeface="Calibri" pitchFamily="34" charset="-122"/>
                <a:cs typeface="Calibri" pitchFamily="34" charset="-120"/>
              </a:rPr>
              <a:t>test files</a:t>
            </a:r>
            <a:r>
              <a:rPr lang="en-US" sz="1400" dirty="0">
                <a:solidFill>
                  <a:srgbClr val="1A1A1A"/>
                </a:solidFill>
                <a:latin typeface="Calibri" pitchFamily="34" charset="0"/>
                <a:ea typeface="Calibri" pitchFamily="34" charset="-122"/>
                <a:cs typeface="Calibri" pitchFamily="34" charset="-120"/>
              </a:rPr>
              <a:t> on the hints slide, not just the sample.</a:t>
            </a:r>
            <a:endParaRPr lang="en-US" sz="1400" dirty="0"/>
          </a:p>
        </p:txBody>
      </p:sp>
      <p:sp>
        <p:nvSpPr>
          <p:cNvPr id="24" name="Shape 22"/>
          <p:cNvSpPr/>
          <p:nvPr/>
        </p:nvSpPr>
        <p:spPr>
          <a:xfrm>
            <a:off x="7863840" y="4692701"/>
            <a:ext cx="310896" cy="310896"/>
          </a:xfrm>
          <a:prstGeom prst="ellipse">
            <a:avLst/>
          </a:prstGeom>
          <a:solidFill>
            <a:srgbClr val="FFFFFF"/>
          </a:solidFill>
          <a:ln w="15875">
            <a:solidFill>
              <a:srgbClr val="1A1A1A"/>
            </a:solidFill>
            <a:prstDash val="solid"/>
          </a:ln>
        </p:spPr>
        <p:txBody>
          <a:bodyPr/>
          <a:lstStyle/>
          <a:p>
            <a:endParaRPr lang="en-US"/>
          </a:p>
        </p:txBody>
      </p:sp>
      <p:sp>
        <p:nvSpPr>
          <p:cNvPr id="25" name="Text 23"/>
          <p:cNvSpPr txBox="1"/>
          <p:nvPr/>
        </p:nvSpPr>
        <p:spPr>
          <a:xfrm>
            <a:off x="7863840" y="4692701"/>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8321040" y="4683557"/>
            <a:ext cx="3200400" cy="291694"/>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Stuck for 5 minutes? Read the </a:t>
            </a:r>
            <a:r>
              <a:rPr lang="en-US" sz="1400" b="1" dirty="0">
                <a:solidFill>
                  <a:srgbClr val="1A1A1A"/>
                </a:solidFill>
                <a:latin typeface="Calibri" pitchFamily="34" charset="0"/>
                <a:ea typeface="Calibri" pitchFamily="34" charset="-122"/>
                <a:cs typeface="Calibri" pitchFamily="34" charset="-120"/>
              </a:rPr>
              <a:t>hints</a:t>
            </a:r>
            <a:r>
              <a:rPr lang="en-US" sz="1400" dirty="0">
                <a:solidFill>
                  <a:srgbClr val="1A1A1A"/>
                </a:solidFill>
                <a:latin typeface="Calibri" pitchFamily="34" charset="0"/>
                <a:ea typeface="Calibri" pitchFamily="34" charset="-122"/>
                <a:cs typeface="Calibri" pitchFamily="34" charset="-120"/>
              </a:rPr>
              <a:t> slide.</a:t>
            </a:r>
            <a:endParaRPr lang="en-US" sz="1400" dirty="0"/>
          </a:p>
        </p:txBody>
      </p:sp>
      <p:sp>
        <p:nvSpPr>
          <p:cNvPr id="27"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4D4D"/>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7315200" cy="274320"/>
          </a:xfrm>
          <a:prstGeom prst="rect">
            <a:avLst/>
          </a:prstGeom>
          <a:noFill/>
          <a:ln/>
        </p:spPr>
        <p:txBody>
          <a:bodyPr wrap="square" lIns="0" tIns="0" rIns="0" bIns="0" rtlCol="0" anchor="t"/>
          <a:lstStyle/>
          <a:p>
            <a:pPr marL="0" indent="0">
              <a:buNone/>
            </a:pPr>
            <a:r>
              <a:rPr lang="en-US" sz="1200" b="1" kern="0" spc="200" dirty="0">
                <a:solidFill>
                  <a:srgbClr val="1A1A1A"/>
                </a:solidFill>
                <a:latin typeface="Calibri" pitchFamily="34" charset="0"/>
                <a:ea typeface="Calibri" pitchFamily="34" charset="-122"/>
                <a:cs typeface="Calibri" pitchFamily="34" charset="-120"/>
              </a:rPr>
              <a:t>PROBLEM · 20 MINUTES</a:t>
            </a:r>
            <a:endParaRPr lang="en-US" sz="1200" dirty="0"/>
          </a:p>
        </p:txBody>
      </p:sp>
      <p:sp>
        <p:nvSpPr>
          <p:cNvPr id="3" name="Text 0"/>
          <p:cNvSpPr>
            <a:spLocks noGrp="1"/>
          </p:cNvSpPr>
          <p:nvPr>
            <p:ph type="title" idx="100" hasCustomPrompt="1"/>
          </p:nvPr>
        </p:nvSpPr>
        <p:spPr>
          <a:xfrm>
            <a:off x="457200" y="566928"/>
            <a:ext cx="11247120" cy="640080"/>
          </a:xfrm>
          <a:prstGeom prst="rect">
            <a:avLst/>
          </a:prstGeom>
          <a:noFill/>
          <a:ln/>
        </p:spPr>
        <p:txBody>
          <a:bodyPr wrap="square" lIns="0" tIns="0" rIns="0" bIns="0"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Canteen sales report</a:t>
            </a:r>
            <a:endParaRPr lang="en-US" sz="3200" dirty="0"/>
          </a:p>
        </p:txBody>
      </p:sp>
      <p:sp>
        <p:nvSpPr>
          <p:cNvPr id="4" name="Text 2"/>
          <p:cNvSpPr txBox="1"/>
          <p:nvPr/>
        </p:nvSpPr>
        <p:spPr>
          <a:xfrm>
            <a:off x="457200" y="1371600"/>
            <a:ext cx="5852160" cy="1051560"/>
          </a:xfrm>
          <a:prstGeom prst="rect">
            <a:avLst/>
          </a:prstGeom>
          <a:noFill/>
          <a:ln/>
        </p:spPr>
        <p:txBody>
          <a:bodyPr wrap="square" lIns="0" tIns="0" rIns="0" bIns="0" rtlCol="0" anchor="t"/>
          <a:lstStyle/>
          <a:p>
            <a:pPr marL="0" indent="0">
              <a:buNone/>
            </a:pPr>
            <a:r>
              <a:rPr lang="en-US" sz="1550" dirty="0">
                <a:solidFill>
                  <a:srgbClr val="4D4D4D"/>
                </a:solidFill>
                <a:latin typeface="Calibri" pitchFamily="34" charset="0"/>
                <a:ea typeface="Calibri" pitchFamily="34" charset="-122"/>
                <a:cs typeface="Calibri" pitchFamily="34" charset="-120"/>
              </a:rPr>
              <a:t>The school canteen saves each day's sales in canteen.txt. The first line says how many items follow. Each item line has the item name, its price in rupees and how many were sold, separated by commas.</a:t>
            </a:r>
            <a:endParaRPr lang="en-US" sz="1550" dirty="0"/>
          </a:p>
        </p:txBody>
      </p:sp>
      <p:sp>
        <p:nvSpPr>
          <p:cNvPr id="5" name="Text 3"/>
          <p:cNvSpPr txBox="1"/>
          <p:nvPr/>
        </p:nvSpPr>
        <p:spPr>
          <a:xfrm>
            <a:off x="457200" y="2514600"/>
            <a:ext cx="5852160" cy="310896"/>
          </a:xfrm>
          <a:prstGeom prst="rect">
            <a:avLst/>
          </a:prstGeom>
          <a:noFill/>
          <a:ln/>
        </p:spPr>
        <p:txBody>
          <a:bodyPr wrap="square" lIns="0" tIns="0" rIns="0" bIns="0" rtlCol="0" anchor="t"/>
          <a:lstStyle/>
          <a:p>
            <a:pPr marL="0" indent="0">
              <a:buNone/>
            </a:pPr>
            <a:r>
              <a:rPr lang="en-US" sz="1500" b="1" dirty="0">
                <a:solidFill>
                  <a:srgbClr val="1A1A1A"/>
                </a:solidFill>
                <a:latin typeface="Calibri" pitchFamily="34" charset="0"/>
                <a:ea typeface="Calibri" pitchFamily="34" charset="-122"/>
                <a:cs typeface="Calibri" pitchFamily="34" charset="-120"/>
              </a:rPr>
              <a:t>Your program must</a:t>
            </a:r>
            <a:endParaRPr lang="en-US" sz="1500" dirty="0"/>
          </a:p>
        </p:txBody>
      </p:sp>
      <p:sp>
        <p:nvSpPr>
          <p:cNvPr id="6" name="Shape 4"/>
          <p:cNvSpPr/>
          <p:nvPr/>
        </p:nvSpPr>
        <p:spPr>
          <a:xfrm>
            <a:off x="457200" y="2935224"/>
            <a:ext cx="310896" cy="310896"/>
          </a:xfrm>
          <a:prstGeom prst="ellipse">
            <a:avLst/>
          </a:prstGeom>
          <a:solidFill>
            <a:srgbClr val="FFFFFF"/>
          </a:solidFill>
          <a:ln w="15875">
            <a:solidFill>
              <a:srgbClr val="1A1A1A"/>
            </a:solidFill>
            <a:prstDash val="solid"/>
          </a:ln>
        </p:spPr>
        <p:txBody>
          <a:bodyPr/>
          <a:lstStyle/>
          <a:p>
            <a:endParaRPr lang="en-US"/>
          </a:p>
        </p:txBody>
      </p:sp>
      <p:sp>
        <p:nvSpPr>
          <p:cNvPr id="7" name="Text 5"/>
          <p:cNvSpPr txBox="1"/>
          <p:nvPr/>
        </p:nvSpPr>
        <p:spPr>
          <a:xfrm>
            <a:off x="457200" y="2935224"/>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914400" y="2926080"/>
            <a:ext cx="5394960" cy="308610"/>
          </a:xfrm>
          <a:prstGeom prst="rect">
            <a:avLst/>
          </a:prstGeom>
          <a:noFill/>
          <a:ln/>
        </p:spPr>
        <p:txBody>
          <a:bodyPr wrap="square" lIns="0" tIns="0" rIns="0" bIns="0" rtlCol="0" anchor="t"/>
          <a:lstStyle/>
          <a:p>
            <a:pPr marL="0" indent="0">
              <a:buNone/>
            </a:pPr>
            <a:r>
              <a:rPr lang="en-US" sz="1500" dirty="0">
                <a:solidFill>
                  <a:srgbClr val="1A1A1A"/>
                </a:solidFill>
                <a:latin typeface="Calibri" pitchFamily="34" charset="0"/>
                <a:ea typeface="Calibri" pitchFamily="34" charset="-122"/>
                <a:cs typeface="Calibri" pitchFamily="34" charset="-120"/>
              </a:rPr>
              <a:t>Open canteen.txt and print </a:t>
            </a:r>
            <a:r>
              <a:rPr lang="en-US" sz="1500" b="1" dirty="0">
                <a:solidFill>
                  <a:srgbClr val="1A1A1A"/>
                </a:solidFill>
                <a:latin typeface="Calibri" pitchFamily="34" charset="0"/>
                <a:ea typeface="Calibri" pitchFamily="34" charset="-122"/>
                <a:cs typeface="Calibri" pitchFamily="34" charset="-120"/>
              </a:rPr>
              <a:t>Cannot open canteen.txt</a:t>
            </a:r>
            <a:r>
              <a:rPr lang="en-US" sz="1500" dirty="0">
                <a:solidFill>
                  <a:srgbClr val="1A1A1A"/>
                </a:solidFill>
                <a:latin typeface="Calibri" pitchFamily="34" charset="0"/>
                <a:ea typeface="Calibri" pitchFamily="34" charset="-122"/>
                <a:cs typeface="Calibri" pitchFamily="34" charset="-120"/>
              </a:rPr>
              <a:t> if it is missing.</a:t>
            </a:r>
            <a:endParaRPr lang="en-US" sz="1500" dirty="0"/>
          </a:p>
        </p:txBody>
      </p:sp>
      <p:sp>
        <p:nvSpPr>
          <p:cNvPr id="9" name="Shape 7"/>
          <p:cNvSpPr/>
          <p:nvPr/>
        </p:nvSpPr>
        <p:spPr>
          <a:xfrm>
            <a:off x="457200" y="3355848"/>
            <a:ext cx="310896" cy="310896"/>
          </a:xfrm>
          <a:prstGeom prst="ellipse">
            <a:avLst/>
          </a:prstGeom>
          <a:solidFill>
            <a:srgbClr val="FFFFFF"/>
          </a:solidFill>
          <a:ln w="15875">
            <a:solidFill>
              <a:srgbClr val="1A1A1A"/>
            </a:solidFill>
            <a:prstDash val="solid"/>
          </a:ln>
        </p:spPr>
        <p:txBody>
          <a:bodyPr/>
          <a:lstStyle/>
          <a:p>
            <a:endParaRPr lang="en-US"/>
          </a:p>
        </p:txBody>
      </p:sp>
      <p:sp>
        <p:nvSpPr>
          <p:cNvPr id="10" name="Text 8"/>
          <p:cNvSpPr txBox="1"/>
          <p:nvPr/>
        </p:nvSpPr>
        <p:spPr>
          <a:xfrm>
            <a:off x="457200" y="3355848"/>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914400" y="3346704"/>
            <a:ext cx="5394960" cy="308610"/>
          </a:xfrm>
          <a:prstGeom prst="rect">
            <a:avLst/>
          </a:prstGeom>
          <a:noFill/>
          <a:ln/>
        </p:spPr>
        <p:txBody>
          <a:bodyPr wrap="square" lIns="0" tIns="0" rIns="0" bIns="0" rtlCol="0" anchor="t"/>
          <a:lstStyle/>
          <a:p>
            <a:pPr marL="0" indent="0">
              <a:buNone/>
            </a:pPr>
            <a:r>
              <a:rPr lang="en-US" sz="1500" dirty="0">
                <a:solidFill>
                  <a:srgbClr val="1A1A1A"/>
                </a:solidFill>
                <a:latin typeface="Calibri" pitchFamily="34" charset="0"/>
                <a:ea typeface="Calibri" pitchFamily="34" charset="-122"/>
                <a:cs typeface="Calibri" pitchFamily="34" charset="-120"/>
              </a:rPr>
              <a:t>Read the count, then read exactly that many item lines.</a:t>
            </a:r>
            <a:endParaRPr lang="en-US" sz="1500" dirty="0"/>
          </a:p>
        </p:txBody>
      </p:sp>
      <p:sp>
        <p:nvSpPr>
          <p:cNvPr id="12" name="Shape 10"/>
          <p:cNvSpPr/>
          <p:nvPr/>
        </p:nvSpPr>
        <p:spPr>
          <a:xfrm>
            <a:off x="457200" y="3776472"/>
            <a:ext cx="310896" cy="310896"/>
          </a:xfrm>
          <a:prstGeom prst="ellipse">
            <a:avLst/>
          </a:prstGeom>
          <a:solidFill>
            <a:srgbClr val="FFFFFF"/>
          </a:solidFill>
          <a:ln w="15875">
            <a:solidFill>
              <a:srgbClr val="1A1A1A"/>
            </a:solidFill>
            <a:prstDash val="solid"/>
          </a:ln>
        </p:spPr>
        <p:txBody>
          <a:bodyPr/>
          <a:lstStyle/>
          <a:p>
            <a:endParaRPr lang="en-US"/>
          </a:p>
        </p:txBody>
      </p:sp>
      <p:sp>
        <p:nvSpPr>
          <p:cNvPr id="13" name="Text 11"/>
          <p:cNvSpPr txBox="1"/>
          <p:nvPr/>
        </p:nvSpPr>
        <p:spPr>
          <a:xfrm>
            <a:off x="457200" y="3776472"/>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914400" y="3767328"/>
            <a:ext cx="5394960" cy="308610"/>
          </a:xfrm>
          <a:prstGeom prst="rect">
            <a:avLst/>
          </a:prstGeom>
          <a:noFill/>
          <a:ln/>
        </p:spPr>
        <p:txBody>
          <a:bodyPr wrap="square" lIns="0" tIns="0" rIns="0" bIns="0" rtlCol="0" anchor="t"/>
          <a:lstStyle/>
          <a:p>
            <a:pPr marL="0" indent="0">
              <a:buNone/>
            </a:pPr>
            <a:r>
              <a:rPr lang="en-US" sz="1500" dirty="0">
                <a:solidFill>
                  <a:srgbClr val="1A1A1A"/>
                </a:solidFill>
                <a:latin typeface="Calibri" pitchFamily="34" charset="0"/>
                <a:ea typeface="Calibri" pitchFamily="34" charset="-122"/>
                <a:cs typeface="Calibri" pitchFamily="34" charset="-120"/>
              </a:rPr>
              <a:t>Print each item as </a:t>
            </a:r>
            <a:r>
              <a:rPr lang="en-US" sz="1500" b="1" dirty="0">
                <a:solidFill>
                  <a:srgbClr val="1A1A1A"/>
                </a:solidFill>
                <a:latin typeface="Calibri" pitchFamily="34" charset="0"/>
                <a:ea typeface="Calibri" pitchFamily="34" charset="-122"/>
                <a:cs typeface="Calibri" pitchFamily="34" charset="-120"/>
              </a:rPr>
              <a:t>name: price x qty = amount</a:t>
            </a:r>
            <a:r>
              <a:rPr lang="en-US" sz="1500" dirty="0">
                <a:solidFill>
                  <a:srgbClr val="1A1A1A"/>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457200" y="4197096"/>
            <a:ext cx="310896" cy="310896"/>
          </a:xfrm>
          <a:prstGeom prst="ellipse">
            <a:avLst/>
          </a:prstGeom>
          <a:solidFill>
            <a:srgbClr val="FFFFFF"/>
          </a:solidFill>
          <a:ln w="15875">
            <a:solidFill>
              <a:srgbClr val="1A1A1A"/>
            </a:solidFill>
            <a:prstDash val="solid"/>
          </a:ln>
        </p:spPr>
        <p:txBody>
          <a:bodyPr/>
          <a:lstStyle/>
          <a:p>
            <a:endParaRPr lang="en-US"/>
          </a:p>
        </p:txBody>
      </p:sp>
      <p:sp>
        <p:nvSpPr>
          <p:cNvPr id="16" name="Text 14"/>
          <p:cNvSpPr txBox="1"/>
          <p:nvPr/>
        </p:nvSpPr>
        <p:spPr>
          <a:xfrm>
            <a:off x="457200" y="4197096"/>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4</a:t>
            </a:r>
            <a:endParaRPr lang="en-US" sz="1200" dirty="0"/>
          </a:p>
        </p:txBody>
      </p:sp>
      <p:sp>
        <p:nvSpPr>
          <p:cNvPr id="17" name="Text 15"/>
          <p:cNvSpPr txBox="1"/>
          <p:nvPr/>
        </p:nvSpPr>
        <p:spPr>
          <a:xfrm>
            <a:off x="914400" y="4187952"/>
            <a:ext cx="5394960" cy="308610"/>
          </a:xfrm>
          <a:prstGeom prst="rect">
            <a:avLst/>
          </a:prstGeom>
          <a:noFill/>
          <a:ln/>
        </p:spPr>
        <p:txBody>
          <a:bodyPr wrap="square" lIns="0" tIns="0" rIns="0" bIns="0" rtlCol="0" anchor="t"/>
          <a:lstStyle/>
          <a:p>
            <a:pPr marL="0" indent="0">
              <a:buNone/>
            </a:pPr>
            <a:r>
              <a:rPr lang="en-US" sz="1500" dirty="0">
                <a:solidFill>
                  <a:srgbClr val="1A1A1A"/>
                </a:solidFill>
                <a:latin typeface="Calibri" pitchFamily="34" charset="0"/>
                <a:ea typeface="Calibri" pitchFamily="34" charset="-122"/>
                <a:cs typeface="Calibri" pitchFamily="34" charset="-120"/>
              </a:rPr>
              <a:t>Print the </a:t>
            </a:r>
            <a:r>
              <a:rPr lang="en-US" sz="1500" b="1" dirty="0">
                <a:solidFill>
                  <a:srgbClr val="1A1A1A"/>
                </a:solidFill>
                <a:latin typeface="Calibri" pitchFamily="34" charset="0"/>
                <a:ea typeface="Calibri" pitchFamily="34" charset="-122"/>
                <a:cs typeface="Calibri" pitchFamily="34" charset="-120"/>
              </a:rPr>
              <a:t>total sales</a:t>
            </a:r>
            <a:r>
              <a:rPr lang="en-US" sz="1500" dirty="0">
                <a:solidFill>
                  <a:srgbClr val="1A1A1A"/>
                </a:solidFill>
                <a:latin typeface="Calibri" pitchFamily="34" charset="0"/>
                <a:ea typeface="Calibri" pitchFamily="34" charset="-122"/>
                <a:cs typeface="Calibri" pitchFamily="34" charset="-120"/>
              </a:rPr>
              <a:t> of the day.</a:t>
            </a:r>
            <a:endParaRPr lang="en-US" sz="1500" dirty="0"/>
          </a:p>
        </p:txBody>
      </p:sp>
      <p:sp>
        <p:nvSpPr>
          <p:cNvPr id="18" name="Shape 16"/>
          <p:cNvSpPr/>
          <p:nvPr/>
        </p:nvSpPr>
        <p:spPr>
          <a:xfrm>
            <a:off x="457200" y="4617720"/>
            <a:ext cx="310896" cy="310896"/>
          </a:xfrm>
          <a:prstGeom prst="ellipse">
            <a:avLst/>
          </a:prstGeom>
          <a:solidFill>
            <a:srgbClr val="FFFFFF"/>
          </a:solidFill>
          <a:ln w="15875">
            <a:solidFill>
              <a:srgbClr val="1A1A1A"/>
            </a:solidFill>
            <a:prstDash val="solid"/>
          </a:ln>
        </p:spPr>
        <p:txBody>
          <a:bodyPr/>
          <a:lstStyle/>
          <a:p>
            <a:endParaRPr lang="en-US"/>
          </a:p>
        </p:txBody>
      </p:sp>
      <p:sp>
        <p:nvSpPr>
          <p:cNvPr id="19" name="Text 17"/>
          <p:cNvSpPr txBox="1"/>
          <p:nvPr/>
        </p:nvSpPr>
        <p:spPr>
          <a:xfrm>
            <a:off x="457200" y="4617720"/>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5</a:t>
            </a:r>
            <a:endParaRPr lang="en-US" sz="1200" dirty="0"/>
          </a:p>
        </p:txBody>
      </p:sp>
      <p:sp>
        <p:nvSpPr>
          <p:cNvPr id="20" name="Text 18"/>
          <p:cNvSpPr txBox="1"/>
          <p:nvPr/>
        </p:nvSpPr>
        <p:spPr>
          <a:xfrm>
            <a:off x="914400" y="4608576"/>
            <a:ext cx="5394960" cy="308610"/>
          </a:xfrm>
          <a:prstGeom prst="rect">
            <a:avLst/>
          </a:prstGeom>
          <a:noFill/>
          <a:ln/>
        </p:spPr>
        <p:txBody>
          <a:bodyPr wrap="square" lIns="0" tIns="0" rIns="0" bIns="0" rtlCol="0" anchor="t"/>
          <a:lstStyle/>
          <a:p>
            <a:pPr marL="0" indent="0">
              <a:buNone/>
            </a:pPr>
            <a:r>
              <a:rPr lang="en-US" sz="1500" dirty="0">
                <a:solidFill>
                  <a:srgbClr val="1A1A1A"/>
                </a:solidFill>
                <a:latin typeface="Calibri" pitchFamily="34" charset="0"/>
                <a:ea typeface="Calibri" pitchFamily="34" charset="-122"/>
                <a:cs typeface="Calibri" pitchFamily="34" charset="-120"/>
              </a:rPr>
              <a:t>Print the </a:t>
            </a:r>
            <a:r>
              <a:rPr lang="en-US" sz="1500" b="1" dirty="0">
                <a:solidFill>
                  <a:srgbClr val="1A1A1A"/>
                </a:solidFill>
                <a:latin typeface="Calibri" pitchFamily="34" charset="0"/>
                <a:ea typeface="Calibri" pitchFamily="34" charset="-122"/>
                <a:cs typeface="Calibri" pitchFamily="34" charset="-120"/>
              </a:rPr>
              <a:t>best seller</a:t>
            </a:r>
            <a:r>
              <a:rPr lang="en-US" sz="1500" dirty="0">
                <a:solidFill>
                  <a:srgbClr val="1A1A1A"/>
                </a:solidFill>
                <a:latin typeface="Calibri" pitchFamily="34" charset="0"/>
                <a:ea typeface="Calibri" pitchFamily="34" charset="-122"/>
                <a:cs typeface="Calibri" pitchFamily="34" charset="-120"/>
              </a:rPr>
              <a:t>: the item that earned the most money.</a:t>
            </a:r>
            <a:endParaRPr lang="en-US" sz="1500" dirty="0"/>
          </a:p>
        </p:txBody>
      </p:sp>
      <p:sp>
        <p:nvSpPr>
          <p:cNvPr id="21" name="Text 19"/>
          <p:cNvSpPr txBox="1"/>
          <p:nvPr/>
        </p:nvSpPr>
        <p:spPr>
          <a:xfrm>
            <a:off x="6720840" y="1371600"/>
            <a:ext cx="4983480" cy="310896"/>
          </a:xfrm>
          <a:prstGeom prst="rect">
            <a:avLst/>
          </a:prstGeom>
          <a:noFill/>
          <a:ln/>
        </p:spPr>
        <p:txBody>
          <a:bodyPr wrap="square" lIns="0" tIns="0" rIns="0" bIns="0" rtlCol="0" anchor="t"/>
          <a:lstStyle/>
          <a:p>
            <a:pPr marL="0" indent="0">
              <a:buNone/>
            </a:pPr>
            <a:r>
              <a:rPr lang="en-US" sz="1500" b="1" dirty="0">
                <a:solidFill>
                  <a:srgbClr val="1A1A1A"/>
                </a:solidFill>
                <a:latin typeface="Calibri" pitchFamily="34" charset="0"/>
                <a:ea typeface="Calibri" pitchFamily="34" charset="-122"/>
                <a:cs typeface="Calibri" pitchFamily="34" charset="-120"/>
              </a:rPr>
              <a:t>canteen.txt</a:t>
            </a:r>
            <a:endParaRPr lang="en-US" sz="1500" dirty="0"/>
          </a:p>
        </p:txBody>
      </p:sp>
      <p:sp>
        <p:nvSpPr>
          <p:cNvPr id="22" name="Text 20"/>
          <p:cNvSpPr txBox="1"/>
          <p:nvPr/>
        </p:nvSpPr>
        <p:spPr>
          <a:xfrm>
            <a:off x="6720840" y="1737360"/>
            <a:ext cx="4983480" cy="1508760"/>
          </a:xfrm>
          <a:prstGeom prst="rect">
            <a:avLst/>
          </a:prstGeom>
          <a:solidFill>
            <a:srgbClr val="FFFFFF"/>
          </a:solidFill>
          <a:ln w="12700">
            <a:solidFill>
              <a:srgbClr val="7F7F7F"/>
            </a:solidFill>
          </a:ln>
        </p:spPr>
        <p:txBody>
          <a:bodyPr wrap="square" lIns="127000" tIns="127000" rIns="127000" bIns="127000" rtlCol="0" anchor="t"/>
          <a:lstStyle/>
          <a:p>
            <a:pPr marL="0" indent="0">
              <a:buNone/>
            </a:pPr>
            <a:r>
              <a:rPr lang="en-US" sz="1500" dirty="0">
                <a:solidFill>
                  <a:srgbClr val="1A1A1A"/>
                </a:solidFill>
                <a:latin typeface="Courier New" pitchFamily="34" charset="0"/>
                <a:ea typeface="Courier New" pitchFamily="34" charset="-122"/>
                <a:cs typeface="Courier New" pitchFamily="34" charset="-120"/>
              </a:rPr>
              <a:t>4</a:t>
            </a:r>
            <a:endParaRPr lang="en-US" sz="1500" dirty="0"/>
          </a:p>
          <a:p>
            <a:pPr marL="0" indent="0">
              <a:buNone/>
            </a:pPr>
            <a:r>
              <a:rPr lang="en-US" sz="1500" dirty="0">
                <a:solidFill>
                  <a:srgbClr val="1A1A1A"/>
                </a:solidFill>
                <a:latin typeface="Courier New" pitchFamily="34" charset="0"/>
                <a:ea typeface="Courier New" pitchFamily="34" charset="-122"/>
                <a:cs typeface="Courier New" pitchFamily="34" charset="-120"/>
              </a:rPr>
              <a:t>Samosa,30,12</a:t>
            </a:r>
            <a:endParaRPr lang="en-US" sz="1500" dirty="0"/>
          </a:p>
          <a:p>
            <a:pPr marL="0" indent="0">
              <a:buNone/>
            </a:pPr>
            <a:r>
              <a:rPr lang="en-US" sz="1500" dirty="0">
                <a:solidFill>
                  <a:srgbClr val="1A1A1A"/>
                </a:solidFill>
                <a:latin typeface="Courier New" pitchFamily="34" charset="0"/>
                <a:ea typeface="Courier New" pitchFamily="34" charset="-122"/>
                <a:cs typeface="Courier New" pitchFamily="34" charset="-120"/>
              </a:rPr>
              <a:t>Chicken Roll,120,5</a:t>
            </a:r>
            <a:endParaRPr lang="en-US" sz="1500" dirty="0"/>
          </a:p>
          <a:p>
            <a:pPr marL="0" indent="0">
              <a:buNone/>
            </a:pPr>
            <a:r>
              <a:rPr lang="en-US" sz="1500" dirty="0">
                <a:solidFill>
                  <a:srgbClr val="1A1A1A"/>
                </a:solidFill>
                <a:latin typeface="Courier New" pitchFamily="34" charset="0"/>
                <a:ea typeface="Courier New" pitchFamily="34" charset="-122"/>
                <a:cs typeface="Courier New" pitchFamily="34" charset="-120"/>
              </a:rPr>
              <a:t>Tea,40,20</a:t>
            </a:r>
            <a:endParaRPr lang="en-US" sz="1500" dirty="0"/>
          </a:p>
          <a:p>
            <a:pPr marL="0" indent="0">
              <a:buNone/>
            </a:pPr>
            <a:r>
              <a:rPr lang="en-US" sz="1500" dirty="0">
                <a:solidFill>
                  <a:srgbClr val="1A1A1A"/>
                </a:solidFill>
                <a:latin typeface="Courier New" pitchFamily="34" charset="0"/>
                <a:ea typeface="Courier New" pitchFamily="34" charset="-122"/>
                <a:cs typeface="Courier New" pitchFamily="34" charset="-120"/>
              </a:rPr>
              <a:t>Jam Pie,25,9</a:t>
            </a:r>
            <a:endParaRPr lang="en-US" sz="1500" dirty="0"/>
          </a:p>
        </p:txBody>
      </p:sp>
      <p:sp>
        <p:nvSpPr>
          <p:cNvPr id="23" name="Text 21"/>
          <p:cNvSpPr txBox="1"/>
          <p:nvPr/>
        </p:nvSpPr>
        <p:spPr>
          <a:xfrm>
            <a:off x="6720840" y="3520440"/>
            <a:ext cx="4983480" cy="310896"/>
          </a:xfrm>
          <a:prstGeom prst="rect">
            <a:avLst/>
          </a:prstGeom>
          <a:noFill/>
          <a:ln/>
        </p:spPr>
        <p:txBody>
          <a:bodyPr wrap="square" lIns="0" tIns="0" rIns="0" bIns="0" rtlCol="0" anchor="t"/>
          <a:lstStyle/>
          <a:p>
            <a:pPr marL="0" indent="0">
              <a:buNone/>
            </a:pPr>
            <a:r>
              <a:rPr lang="en-US" sz="1500" b="1" dirty="0">
                <a:solidFill>
                  <a:srgbClr val="1A1A1A"/>
                </a:solidFill>
                <a:latin typeface="Calibri" pitchFamily="34" charset="0"/>
                <a:ea typeface="Calibri" pitchFamily="34" charset="-122"/>
                <a:cs typeface="Calibri" pitchFamily="34" charset="-120"/>
              </a:rPr>
              <a:t>Expected output</a:t>
            </a:r>
            <a:endParaRPr lang="en-US" sz="1500" dirty="0"/>
          </a:p>
        </p:txBody>
      </p:sp>
      <p:sp>
        <p:nvSpPr>
          <p:cNvPr id="24" name="Text 22"/>
          <p:cNvSpPr txBox="1"/>
          <p:nvPr/>
        </p:nvSpPr>
        <p:spPr>
          <a:xfrm>
            <a:off x="6720840" y="3886200"/>
            <a:ext cx="4983480" cy="1700784"/>
          </a:xfrm>
          <a:prstGeom prst="rect">
            <a:avLst/>
          </a:prstGeom>
          <a:solidFill>
            <a:srgbClr val="F2F2F2"/>
          </a:solidFill>
          <a:ln w="19050">
            <a:solidFill>
              <a:srgbClr val="1A1A1A"/>
            </a:solidFill>
          </a:ln>
        </p:spPr>
        <p:txBody>
          <a:bodyPr wrap="square" lIns="127000" tIns="127000" rIns="127000" bIns="127000" rtlCol="0" anchor="t"/>
          <a:lstStyle/>
          <a:p>
            <a:pPr marL="0" indent="0">
              <a:buNone/>
            </a:pPr>
            <a:r>
              <a:rPr lang="en-US" sz="1400" dirty="0">
                <a:solidFill>
                  <a:srgbClr val="1A1A1A"/>
                </a:solidFill>
                <a:latin typeface="Courier New" pitchFamily="34" charset="0"/>
                <a:ea typeface="Courier New" pitchFamily="34" charset="-122"/>
                <a:cs typeface="Courier New" pitchFamily="34" charset="-120"/>
              </a:rPr>
              <a:t>Samosa: 30 x 12 = 360</a:t>
            </a:r>
            <a:endParaRPr lang="en-US" sz="1400" dirty="0"/>
          </a:p>
          <a:p>
            <a:pPr marL="0" indent="0">
              <a:buNone/>
            </a:pPr>
            <a:r>
              <a:rPr lang="en-US" sz="1400" dirty="0">
                <a:solidFill>
                  <a:srgbClr val="1A1A1A"/>
                </a:solidFill>
                <a:latin typeface="Courier New" pitchFamily="34" charset="0"/>
                <a:ea typeface="Courier New" pitchFamily="34" charset="-122"/>
                <a:cs typeface="Courier New" pitchFamily="34" charset="-120"/>
              </a:rPr>
              <a:t>Chicken Roll: 120 x 5 = 600</a:t>
            </a:r>
            <a:endParaRPr lang="en-US" sz="1400" dirty="0"/>
          </a:p>
          <a:p>
            <a:pPr marL="0" indent="0">
              <a:buNone/>
            </a:pPr>
            <a:r>
              <a:rPr lang="en-US" sz="1400" dirty="0">
                <a:solidFill>
                  <a:srgbClr val="1A1A1A"/>
                </a:solidFill>
                <a:latin typeface="Courier New" pitchFamily="34" charset="0"/>
                <a:ea typeface="Courier New" pitchFamily="34" charset="-122"/>
                <a:cs typeface="Courier New" pitchFamily="34" charset="-120"/>
              </a:rPr>
              <a:t>Tea: 40 x 20 = 800</a:t>
            </a:r>
            <a:endParaRPr lang="en-US" sz="1400" dirty="0"/>
          </a:p>
          <a:p>
            <a:pPr marL="0" indent="0">
              <a:buNone/>
            </a:pPr>
            <a:r>
              <a:rPr lang="en-US" sz="1400" dirty="0">
                <a:solidFill>
                  <a:srgbClr val="1A1A1A"/>
                </a:solidFill>
                <a:latin typeface="Courier New" pitchFamily="34" charset="0"/>
                <a:ea typeface="Courier New" pitchFamily="34" charset="-122"/>
                <a:cs typeface="Courier New" pitchFamily="34" charset="-120"/>
              </a:rPr>
              <a:t>Jam Pie: 25 x 9 = 225</a:t>
            </a:r>
            <a:endParaRPr lang="en-US" sz="1400" dirty="0"/>
          </a:p>
          <a:p>
            <a:pPr marL="0" indent="0">
              <a:buNone/>
            </a:pPr>
            <a:r>
              <a:rPr lang="en-US" sz="1400" dirty="0">
                <a:solidFill>
                  <a:srgbClr val="1A1A1A"/>
                </a:solidFill>
                <a:latin typeface="Courier New" pitchFamily="34" charset="0"/>
                <a:ea typeface="Courier New" pitchFamily="34" charset="-122"/>
                <a:cs typeface="Courier New" pitchFamily="34" charset="-120"/>
              </a:rPr>
              <a:t>Total sales = Rs. 1985</a:t>
            </a:r>
            <a:endParaRPr lang="en-US" sz="1400" dirty="0"/>
          </a:p>
          <a:p>
            <a:pPr marL="0" indent="0">
              <a:buNone/>
            </a:pPr>
            <a:r>
              <a:rPr lang="en-US" sz="1400" dirty="0">
                <a:solidFill>
                  <a:srgbClr val="1A1A1A"/>
                </a:solidFill>
                <a:latin typeface="Courier New" pitchFamily="34" charset="0"/>
                <a:ea typeface="Courier New" pitchFamily="34" charset="-122"/>
                <a:cs typeface="Courier New" pitchFamily="34" charset="-120"/>
              </a:rPr>
              <a:t>Best seller: Tea (Rs. 800)</a:t>
            </a:r>
            <a:endParaRPr lang="en-US" sz="1400" dirty="0"/>
          </a:p>
        </p:txBody>
      </p:sp>
      <p:sp>
        <p:nvSpPr>
          <p:cNvPr id="25" name="Text 23"/>
          <p:cNvSpPr txBox="1"/>
          <p:nvPr/>
        </p:nvSpPr>
        <p:spPr>
          <a:xfrm>
            <a:off x="457200" y="5989320"/>
            <a:ext cx="11247120" cy="320040"/>
          </a:xfrm>
          <a:prstGeom prst="rect">
            <a:avLst/>
          </a:prstGeom>
          <a:noFill/>
          <a:ln/>
        </p:spPr>
        <p:txBody>
          <a:bodyPr wrap="square" lIns="0" tIns="0" rIns="0" bIns="0" rtlCol="0" anchor="t"/>
          <a:lstStyle/>
          <a:p>
            <a:pPr marL="0" indent="0">
              <a:buNone/>
            </a:pPr>
            <a:r>
              <a:rPr lang="en-US" sz="1300" b="1" dirty="0">
                <a:solidFill>
                  <a:srgbClr val="4D4D4D"/>
                </a:solidFill>
                <a:latin typeface="Calibri" pitchFamily="34" charset="0"/>
                <a:ea typeface="Calibri" pitchFamily="34" charset="-122"/>
                <a:cs typeface="Calibri" pitchFamily="34" charset="-120"/>
              </a:rPr>
              <a:t>Skills used:  </a:t>
            </a:r>
            <a:r>
              <a:rPr lang="en-US" sz="1300" dirty="0">
                <a:solidFill>
                  <a:srgbClr val="4D4D4D"/>
                </a:solidFill>
                <a:latin typeface="Calibri" pitchFamily="34" charset="0"/>
                <a:ea typeface="Calibri" pitchFamily="34" charset="-122"/>
                <a:cs typeface="Calibri" pitchFamily="34" charset="-120"/>
              </a:rPr>
              <a:t>count first · getline(name, 30, ',') for names with spaces · &gt;&gt; into a char for the comma · ignore(100, '\n')</a:t>
            </a:r>
            <a:endParaRPr lang="en-US" sz="1300" dirty="0"/>
          </a:p>
        </p:txBody>
      </p:sp>
      <p:sp>
        <p:nvSpPr>
          <p:cNvPr id="26"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4D4D"/>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7315200" cy="274320"/>
          </a:xfrm>
          <a:prstGeom prst="rect">
            <a:avLst/>
          </a:prstGeom>
          <a:noFill/>
          <a:ln/>
        </p:spPr>
        <p:txBody>
          <a:bodyPr wrap="square" lIns="0" tIns="0" rIns="0" bIns="0" rtlCol="0" anchor="t"/>
          <a:lstStyle/>
          <a:p>
            <a:pPr marL="0" indent="0">
              <a:buNone/>
            </a:pPr>
            <a:r>
              <a:rPr lang="en-US" sz="1200" b="1" kern="0" spc="200" dirty="0">
                <a:solidFill>
                  <a:srgbClr val="1A1A1A"/>
                </a:solidFill>
                <a:latin typeface="Calibri" pitchFamily="34" charset="0"/>
                <a:ea typeface="Calibri" pitchFamily="34" charset="-122"/>
                <a:cs typeface="Calibri" pitchFamily="34" charset="-120"/>
              </a:rPr>
              <a:t>PLAN, HINTS AND TESTS</a:t>
            </a:r>
            <a:endParaRPr lang="en-US" sz="1200" dirty="0"/>
          </a:p>
        </p:txBody>
      </p:sp>
      <p:sp>
        <p:nvSpPr>
          <p:cNvPr id="3" name="Text 0"/>
          <p:cNvSpPr>
            <a:spLocks noGrp="1"/>
          </p:cNvSpPr>
          <p:nvPr>
            <p:ph type="title" idx="100" hasCustomPrompt="1"/>
          </p:nvPr>
        </p:nvSpPr>
        <p:spPr>
          <a:xfrm>
            <a:off x="457200" y="566928"/>
            <a:ext cx="11247120" cy="640080"/>
          </a:xfrm>
          <a:prstGeom prst="rect">
            <a:avLst/>
          </a:prstGeom>
          <a:noFill/>
          <a:ln/>
        </p:spPr>
        <p:txBody>
          <a:bodyPr wrap="square" lIns="0" tIns="0" rIns="0" bIns="0" rtlCol="0" anchor="ctr"/>
          <a:lstStyle/>
          <a:p>
            <a:pPr marL="0" indent="0" algn="l">
              <a:buNone/>
            </a:pPr>
            <a:r>
              <a:rPr lang="en-US" sz="3200" b="1" dirty="0">
                <a:solidFill>
                  <a:srgbClr val="1A1A1A"/>
                </a:solidFill>
                <a:latin typeface="Cambria" pitchFamily="34" charset="0"/>
                <a:ea typeface="Cambria" pitchFamily="34" charset="-122"/>
                <a:cs typeface="Cambria" pitchFamily="34" charset="-120"/>
              </a:rPr>
              <a:t>Canteen: how to read one line</a:t>
            </a:r>
            <a:endParaRPr lang="en-US" sz="3200" dirty="0"/>
          </a:p>
        </p:txBody>
      </p:sp>
      <p:sp>
        <p:nvSpPr>
          <p:cNvPr id="4" name="Text 2"/>
          <p:cNvSpPr txBox="1"/>
          <p:nvPr/>
        </p:nvSpPr>
        <p:spPr>
          <a:xfrm>
            <a:off x="457200" y="1371600"/>
            <a:ext cx="5669280" cy="310896"/>
          </a:xfrm>
          <a:prstGeom prst="rect">
            <a:avLst/>
          </a:prstGeom>
          <a:noFill/>
          <a:ln/>
        </p:spPr>
        <p:txBody>
          <a:bodyPr wrap="square" lIns="0" tIns="0" rIns="0" bIns="0" rtlCol="0" anchor="t"/>
          <a:lstStyle/>
          <a:p>
            <a:pPr marL="0" indent="0">
              <a:buNone/>
            </a:pPr>
            <a:r>
              <a:rPr lang="en-US" sz="1500" b="1" dirty="0">
                <a:solidFill>
                  <a:srgbClr val="1A1A1A"/>
                </a:solidFill>
                <a:latin typeface="Calibri" pitchFamily="34" charset="0"/>
                <a:ea typeface="Calibri" pitchFamily="34" charset="-122"/>
                <a:cs typeface="Calibri" pitchFamily="34" charset="-120"/>
              </a:rPr>
              <a:t>Plan it in this order</a:t>
            </a:r>
            <a:endParaRPr lang="en-US" sz="1500" dirty="0"/>
          </a:p>
        </p:txBody>
      </p:sp>
      <p:sp>
        <p:nvSpPr>
          <p:cNvPr id="5" name="Shape 3"/>
          <p:cNvSpPr/>
          <p:nvPr/>
        </p:nvSpPr>
        <p:spPr>
          <a:xfrm>
            <a:off x="457200" y="1792224"/>
            <a:ext cx="310896" cy="310896"/>
          </a:xfrm>
          <a:prstGeom prst="ellipse">
            <a:avLst/>
          </a:prstGeom>
          <a:solidFill>
            <a:srgbClr val="FFFFFF"/>
          </a:solidFill>
          <a:ln w="15875">
            <a:solidFill>
              <a:srgbClr val="1A1A1A"/>
            </a:solidFill>
            <a:prstDash val="solid"/>
          </a:ln>
        </p:spPr>
        <p:txBody>
          <a:bodyPr/>
          <a:lstStyle/>
          <a:p>
            <a:endParaRPr lang="en-US"/>
          </a:p>
        </p:txBody>
      </p:sp>
      <p:sp>
        <p:nvSpPr>
          <p:cNvPr id="6" name="Text 4"/>
          <p:cNvSpPr txBox="1"/>
          <p:nvPr/>
        </p:nvSpPr>
        <p:spPr>
          <a:xfrm>
            <a:off x="457200" y="1792224"/>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14400" y="1783080"/>
            <a:ext cx="5212080" cy="528523"/>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Read the count: </a:t>
            </a:r>
            <a:r>
              <a:rPr lang="en-US" sz="1400" b="1" dirty="0">
                <a:solidFill>
                  <a:srgbClr val="1A1A1A"/>
                </a:solidFill>
                <a:latin typeface="Calibri" pitchFamily="34" charset="0"/>
                <a:ea typeface="Calibri" pitchFamily="34" charset="-122"/>
                <a:cs typeface="Calibri" pitchFamily="34" charset="-120"/>
              </a:rPr>
              <a:t>inFile &gt;&gt; n;</a:t>
            </a:r>
            <a:r>
              <a:rPr lang="en-US" sz="1400" dirty="0">
                <a:solidFill>
                  <a:srgbClr val="1A1A1A"/>
                </a:solidFill>
                <a:latin typeface="Calibri" pitchFamily="34" charset="0"/>
                <a:ea typeface="Calibri" pitchFamily="34" charset="-122"/>
                <a:cs typeface="Calibri" pitchFamily="34" charset="-120"/>
              </a:rPr>
              <a:t> then </a:t>
            </a:r>
            <a:r>
              <a:rPr lang="en-US" sz="1400" b="1" dirty="0">
                <a:solidFill>
                  <a:srgbClr val="1A1A1A"/>
                </a:solidFill>
                <a:latin typeface="Calibri" pitchFamily="34" charset="0"/>
                <a:ea typeface="Calibri" pitchFamily="34" charset="-122"/>
                <a:cs typeface="Calibri" pitchFamily="34" charset="-120"/>
              </a:rPr>
              <a:t>ignore(100, '\n')</a:t>
            </a:r>
            <a:r>
              <a:rPr lang="en-US" sz="1400" dirty="0">
                <a:solidFill>
                  <a:srgbClr val="1A1A1A"/>
                </a:solidFill>
                <a:latin typeface="Calibri" pitchFamily="34" charset="0"/>
                <a:ea typeface="Calibri" pitchFamily="34" charset="-122"/>
                <a:cs typeface="Calibri" pitchFamily="34" charset="-120"/>
              </a:rPr>
              <a:t> so the next read starts on line 2.</a:t>
            </a:r>
            <a:endParaRPr lang="en-US" sz="1400" dirty="0"/>
          </a:p>
        </p:txBody>
      </p:sp>
      <p:sp>
        <p:nvSpPr>
          <p:cNvPr id="8" name="Shape 6"/>
          <p:cNvSpPr/>
          <p:nvPr/>
        </p:nvSpPr>
        <p:spPr>
          <a:xfrm>
            <a:off x="457200" y="2412187"/>
            <a:ext cx="310896" cy="310896"/>
          </a:xfrm>
          <a:prstGeom prst="ellipse">
            <a:avLst/>
          </a:prstGeom>
          <a:solidFill>
            <a:srgbClr val="FFFFFF"/>
          </a:solidFill>
          <a:ln w="15875">
            <a:solidFill>
              <a:srgbClr val="1A1A1A"/>
            </a:solidFill>
            <a:prstDash val="solid"/>
          </a:ln>
        </p:spPr>
        <p:txBody>
          <a:bodyPr/>
          <a:lstStyle/>
          <a:p>
            <a:endParaRPr lang="en-US"/>
          </a:p>
        </p:txBody>
      </p:sp>
      <p:sp>
        <p:nvSpPr>
          <p:cNvPr id="9" name="Text 7"/>
          <p:cNvSpPr txBox="1"/>
          <p:nvPr/>
        </p:nvSpPr>
        <p:spPr>
          <a:xfrm>
            <a:off x="457200" y="2412187"/>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914400" y="2403043"/>
            <a:ext cx="5212080" cy="528523"/>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For each item, </a:t>
            </a:r>
            <a:r>
              <a:rPr lang="en-US" sz="1400" b="1" dirty="0">
                <a:solidFill>
                  <a:srgbClr val="1A1A1A"/>
                </a:solidFill>
                <a:latin typeface="Calibri" pitchFamily="34" charset="0"/>
                <a:ea typeface="Calibri" pitchFamily="34" charset="-122"/>
                <a:cs typeface="Calibri" pitchFamily="34" charset="-120"/>
              </a:rPr>
              <a:t>getline(name, 30, ',')</a:t>
            </a:r>
            <a:r>
              <a:rPr lang="en-US" sz="1400" dirty="0">
                <a:solidFill>
                  <a:srgbClr val="1A1A1A"/>
                </a:solidFill>
                <a:latin typeface="Calibri" pitchFamily="34" charset="0"/>
                <a:ea typeface="Calibri" pitchFamily="34" charset="-122"/>
                <a:cs typeface="Calibri" pitchFamily="34" charset="-120"/>
              </a:rPr>
              <a:t> reads the name up to the comma, spaces included.</a:t>
            </a:r>
            <a:endParaRPr lang="en-US" sz="1400" dirty="0"/>
          </a:p>
        </p:txBody>
      </p:sp>
      <p:sp>
        <p:nvSpPr>
          <p:cNvPr id="11" name="Shape 9"/>
          <p:cNvSpPr/>
          <p:nvPr/>
        </p:nvSpPr>
        <p:spPr>
          <a:xfrm>
            <a:off x="457200" y="3032150"/>
            <a:ext cx="310896" cy="310896"/>
          </a:xfrm>
          <a:prstGeom prst="ellipse">
            <a:avLst/>
          </a:prstGeom>
          <a:solidFill>
            <a:srgbClr val="FFFFFF"/>
          </a:solidFill>
          <a:ln w="15875">
            <a:solidFill>
              <a:srgbClr val="1A1A1A"/>
            </a:solidFill>
            <a:prstDash val="solid"/>
          </a:ln>
        </p:spPr>
        <p:txBody>
          <a:bodyPr/>
          <a:lstStyle/>
          <a:p>
            <a:endParaRPr lang="en-US"/>
          </a:p>
        </p:txBody>
      </p:sp>
      <p:sp>
        <p:nvSpPr>
          <p:cNvPr id="12" name="Text 10"/>
          <p:cNvSpPr txBox="1"/>
          <p:nvPr/>
        </p:nvSpPr>
        <p:spPr>
          <a:xfrm>
            <a:off x="457200" y="3032150"/>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3</a:t>
            </a:r>
            <a:endParaRPr lang="en-US" sz="1200" dirty="0"/>
          </a:p>
        </p:txBody>
      </p:sp>
      <p:sp>
        <p:nvSpPr>
          <p:cNvPr id="13" name="Text 11"/>
          <p:cNvSpPr txBox="1"/>
          <p:nvPr/>
        </p:nvSpPr>
        <p:spPr>
          <a:xfrm>
            <a:off x="914400" y="3023006"/>
            <a:ext cx="5212080" cy="291694"/>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Then read </a:t>
            </a:r>
            <a:r>
              <a:rPr lang="en-US" sz="1400" b="1" dirty="0">
                <a:solidFill>
                  <a:srgbClr val="1A1A1A"/>
                </a:solidFill>
                <a:latin typeface="Calibri" pitchFamily="34" charset="0"/>
                <a:ea typeface="Calibri" pitchFamily="34" charset="-122"/>
                <a:cs typeface="Calibri" pitchFamily="34" charset="-120"/>
              </a:rPr>
              <a:t>price</a:t>
            </a:r>
            <a:r>
              <a:rPr lang="en-US" sz="1400" dirty="0">
                <a:solidFill>
                  <a:srgbClr val="1A1A1A"/>
                </a:solidFill>
                <a:latin typeface="Calibri" pitchFamily="34" charset="0"/>
                <a:ea typeface="Calibri" pitchFamily="34" charset="-122"/>
                <a:cs typeface="Calibri" pitchFamily="34" charset="-120"/>
              </a:rPr>
              <a:t>, a </a:t>
            </a:r>
            <a:r>
              <a:rPr lang="en-US" sz="1400" b="1" dirty="0">
                <a:solidFill>
                  <a:srgbClr val="1A1A1A"/>
                </a:solidFill>
                <a:latin typeface="Calibri" pitchFamily="34" charset="0"/>
                <a:ea typeface="Calibri" pitchFamily="34" charset="-122"/>
                <a:cs typeface="Calibri" pitchFamily="34" charset="-120"/>
              </a:rPr>
              <a:t>char</a:t>
            </a:r>
            <a:r>
              <a:rPr lang="en-US" sz="1400" dirty="0">
                <a:solidFill>
                  <a:srgbClr val="1A1A1A"/>
                </a:solidFill>
                <a:latin typeface="Calibri" pitchFamily="34" charset="0"/>
                <a:ea typeface="Calibri" pitchFamily="34" charset="-122"/>
                <a:cs typeface="Calibri" pitchFamily="34" charset="-120"/>
              </a:rPr>
              <a:t> for the comma, and </a:t>
            </a:r>
            <a:r>
              <a:rPr lang="en-US" sz="1400" b="1" dirty="0">
                <a:solidFill>
                  <a:srgbClr val="1A1A1A"/>
                </a:solidFill>
                <a:latin typeface="Calibri" pitchFamily="34" charset="0"/>
                <a:ea typeface="Calibri" pitchFamily="34" charset="-122"/>
                <a:cs typeface="Calibri" pitchFamily="34" charset="-120"/>
              </a:rPr>
              <a:t>qty</a:t>
            </a:r>
            <a:r>
              <a:rPr lang="en-US" sz="1400" dirty="0">
                <a:solidFill>
                  <a:srgbClr val="1A1A1A"/>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457200" y="3452774"/>
            <a:ext cx="310896" cy="310896"/>
          </a:xfrm>
          <a:prstGeom prst="ellipse">
            <a:avLst/>
          </a:prstGeom>
          <a:solidFill>
            <a:srgbClr val="FFFFFF"/>
          </a:solidFill>
          <a:ln w="15875">
            <a:solidFill>
              <a:srgbClr val="1A1A1A"/>
            </a:solidFill>
            <a:prstDash val="solid"/>
          </a:ln>
        </p:spPr>
        <p:txBody>
          <a:bodyPr/>
          <a:lstStyle/>
          <a:p>
            <a:endParaRPr lang="en-US"/>
          </a:p>
        </p:txBody>
      </p:sp>
      <p:sp>
        <p:nvSpPr>
          <p:cNvPr id="15" name="Text 13"/>
          <p:cNvSpPr txBox="1"/>
          <p:nvPr/>
        </p:nvSpPr>
        <p:spPr>
          <a:xfrm>
            <a:off x="457200" y="3452774"/>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4</a:t>
            </a:r>
            <a:endParaRPr lang="en-US" sz="1200" dirty="0"/>
          </a:p>
        </p:txBody>
      </p:sp>
      <p:sp>
        <p:nvSpPr>
          <p:cNvPr id="16" name="Text 14"/>
          <p:cNvSpPr txBox="1"/>
          <p:nvPr/>
        </p:nvSpPr>
        <p:spPr>
          <a:xfrm>
            <a:off x="914400" y="3443630"/>
            <a:ext cx="5212080" cy="528523"/>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Call </a:t>
            </a:r>
            <a:r>
              <a:rPr lang="en-US" sz="1400" b="1" dirty="0">
                <a:solidFill>
                  <a:srgbClr val="1A1A1A"/>
                </a:solidFill>
                <a:latin typeface="Calibri" pitchFamily="34" charset="0"/>
                <a:ea typeface="Calibri" pitchFamily="34" charset="-122"/>
                <a:cs typeface="Calibri" pitchFamily="34" charset="-120"/>
              </a:rPr>
              <a:t>ignore(100, '\n')</a:t>
            </a:r>
            <a:r>
              <a:rPr lang="en-US" sz="1400" dirty="0">
                <a:solidFill>
                  <a:srgbClr val="1A1A1A"/>
                </a:solidFill>
                <a:latin typeface="Calibri" pitchFamily="34" charset="0"/>
                <a:ea typeface="Calibri" pitchFamily="34" charset="-122"/>
                <a:cs typeface="Calibri" pitchFamily="34" charset="-120"/>
              </a:rPr>
              <a:t> again. Without it, the next name starts with a new line.</a:t>
            </a:r>
            <a:endParaRPr lang="en-US" sz="1400" dirty="0"/>
          </a:p>
        </p:txBody>
      </p:sp>
      <p:sp>
        <p:nvSpPr>
          <p:cNvPr id="17" name="Shape 15"/>
          <p:cNvSpPr/>
          <p:nvPr/>
        </p:nvSpPr>
        <p:spPr>
          <a:xfrm>
            <a:off x="457200" y="4072738"/>
            <a:ext cx="310896" cy="310896"/>
          </a:xfrm>
          <a:prstGeom prst="ellipse">
            <a:avLst/>
          </a:prstGeom>
          <a:solidFill>
            <a:srgbClr val="FFFFFF"/>
          </a:solidFill>
          <a:ln w="15875">
            <a:solidFill>
              <a:srgbClr val="1A1A1A"/>
            </a:solidFill>
            <a:prstDash val="solid"/>
          </a:ln>
        </p:spPr>
        <p:txBody>
          <a:bodyPr/>
          <a:lstStyle/>
          <a:p>
            <a:endParaRPr lang="en-US"/>
          </a:p>
        </p:txBody>
      </p:sp>
      <p:sp>
        <p:nvSpPr>
          <p:cNvPr id="18" name="Text 16"/>
          <p:cNvSpPr txBox="1"/>
          <p:nvPr/>
        </p:nvSpPr>
        <p:spPr>
          <a:xfrm>
            <a:off x="457200" y="4072738"/>
            <a:ext cx="310896" cy="310896"/>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5</a:t>
            </a:r>
            <a:endParaRPr lang="en-US" sz="1200" dirty="0"/>
          </a:p>
        </p:txBody>
      </p:sp>
      <p:sp>
        <p:nvSpPr>
          <p:cNvPr id="19" name="Text 17"/>
          <p:cNvSpPr txBox="1"/>
          <p:nvPr/>
        </p:nvSpPr>
        <p:spPr>
          <a:xfrm>
            <a:off x="914400" y="4063594"/>
            <a:ext cx="5212080" cy="528523"/>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Keep a running </a:t>
            </a:r>
            <a:r>
              <a:rPr lang="en-US" sz="1400" b="1" dirty="0">
                <a:solidFill>
                  <a:srgbClr val="1A1A1A"/>
                </a:solidFill>
                <a:latin typeface="Calibri" pitchFamily="34" charset="0"/>
                <a:ea typeface="Calibri" pitchFamily="34" charset="-122"/>
                <a:cs typeface="Calibri" pitchFamily="34" charset="-120"/>
              </a:rPr>
              <a:t>total</a:t>
            </a:r>
            <a:r>
              <a:rPr lang="en-US" sz="1400" dirty="0">
                <a:solidFill>
                  <a:srgbClr val="1A1A1A"/>
                </a:solidFill>
                <a:latin typeface="Calibri" pitchFamily="34" charset="0"/>
                <a:ea typeface="Calibri" pitchFamily="34" charset="-122"/>
                <a:cs typeface="Calibri" pitchFamily="34" charset="-120"/>
              </a:rPr>
              <a:t>. Keep the </a:t>
            </a:r>
            <a:r>
              <a:rPr lang="en-US" sz="1400" b="1" dirty="0">
                <a:solidFill>
                  <a:srgbClr val="1A1A1A"/>
                </a:solidFill>
                <a:latin typeface="Calibri" pitchFamily="34" charset="0"/>
                <a:ea typeface="Calibri" pitchFamily="34" charset="-122"/>
                <a:cs typeface="Calibri" pitchFamily="34" charset="-120"/>
              </a:rPr>
              <a:t>best amount</a:t>
            </a:r>
            <a:r>
              <a:rPr lang="en-US" sz="1400" dirty="0">
                <a:solidFill>
                  <a:srgbClr val="1A1A1A"/>
                </a:solidFill>
                <a:latin typeface="Calibri" pitchFamily="34" charset="0"/>
                <a:ea typeface="Calibri" pitchFamily="34" charset="-122"/>
                <a:cs typeface="Calibri" pitchFamily="34" charset="-120"/>
              </a:rPr>
              <a:t> so far, and copy the name with </a:t>
            </a:r>
            <a:r>
              <a:rPr lang="en-US" sz="1400" b="1" dirty="0">
                <a:solidFill>
                  <a:srgbClr val="1A1A1A"/>
                </a:solidFill>
                <a:latin typeface="Calibri" pitchFamily="34" charset="0"/>
                <a:ea typeface="Calibri" pitchFamily="34" charset="-122"/>
                <a:cs typeface="Calibri" pitchFamily="34" charset="-120"/>
              </a:rPr>
              <a:t>strcpy</a:t>
            </a:r>
            <a:r>
              <a:rPr lang="en-US" sz="1400" dirty="0">
                <a:solidFill>
                  <a:srgbClr val="1A1A1A"/>
                </a:solidFill>
                <a:latin typeface="Calibri" pitchFamily="34" charset="0"/>
                <a:ea typeface="Calibri" pitchFamily="34" charset="-122"/>
                <a:cs typeface="Calibri" pitchFamily="34" charset="-120"/>
              </a:rPr>
              <a:t> (needs &lt;cstring&gt;).</a:t>
            </a:r>
            <a:endParaRPr lang="en-US" sz="1400" dirty="0"/>
          </a:p>
        </p:txBody>
      </p:sp>
      <p:sp>
        <p:nvSpPr>
          <p:cNvPr id="20" name="Text 18"/>
          <p:cNvSpPr txBox="1"/>
          <p:nvPr/>
        </p:nvSpPr>
        <p:spPr>
          <a:xfrm>
            <a:off x="6583680" y="1371600"/>
            <a:ext cx="5120640" cy="310896"/>
          </a:xfrm>
          <a:prstGeom prst="rect">
            <a:avLst/>
          </a:prstGeom>
          <a:noFill/>
          <a:ln/>
        </p:spPr>
        <p:txBody>
          <a:bodyPr wrap="square" lIns="0" tIns="0" rIns="0" bIns="0" rtlCol="0" anchor="t"/>
          <a:lstStyle/>
          <a:p>
            <a:pPr marL="0" indent="0">
              <a:buNone/>
            </a:pPr>
            <a:r>
              <a:rPr lang="en-US" sz="1500" b="1" dirty="0">
                <a:solidFill>
                  <a:srgbClr val="1A1A1A"/>
                </a:solidFill>
                <a:latin typeface="Calibri" pitchFamily="34" charset="0"/>
                <a:ea typeface="Calibri" pitchFamily="34" charset="-122"/>
                <a:cs typeface="Calibri" pitchFamily="34" charset="-120"/>
              </a:rPr>
              <a:t>Test with these files too</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83680" y="1783080"/>
          <a:ext cx="5120640" cy="2185416"/>
        </p:xfrm>
        <a:graphic>
          <a:graphicData uri="http://schemas.openxmlformats.org/drawingml/2006/table">
            <a:tbl>
              <a:tblPr/>
              <a:tblGrid>
                <a:gridCol w="224028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1A1A1A"/>
                          </a:solidFill>
                          <a:latin typeface="Calibri" pitchFamily="34" charset="0"/>
                          <a:ea typeface="Calibri" pitchFamily="34" charset="-122"/>
                          <a:cs typeface="Calibri" pitchFamily="34" charset="-120"/>
                        </a:rPr>
                        <a:t>File contains</a:t>
                      </a:r>
                      <a:endParaRPr lang="en-US" sz="1300" dirty="0">
                        <a:latin typeface="Calibri" charset="0"/>
                        <a:ea typeface="Calibri" charset="0"/>
                        <a:cs typeface="Calibri" charset="0"/>
                      </a:endParaRPr>
                    </a:p>
                  </a:txBody>
                  <a:tcPr marL="73152" marR="73152" marT="73152" marB="73152">
                    <a:lnL w="9525" cap="flat" cmpd="sng" algn="ctr">
                      <a:solidFill>
                        <a:srgbClr val="7F7F7F"/>
                      </a:solidFill>
                      <a:prstDash val="solid"/>
                      <a:round/>
                      <a:headEnd type="none" w="med" len="med"/>
                      <a:tailEnd type="none" w="med" len="med"/>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solidFill>
                      <a:srgbClr val="D9D9D9"/>
                    </a:solidFill>
                  </a:tcPr>
                </a:tc>
                <a:tc>
                  <a:txBody>
                    <a:bodyPr/>
                    <a:lstStyle/>
                    <a:p>
                      <a:pPr marL="0" indent="0">
                        <a:buNone/>
                      </a:pPr>
                      <a:r>
                        <a:rPr lang="en-US" sz="1300" b="1" dirty="0">
                          <a:solidFill>
                            <a:srgbClr val="1A1A1A"/>
                          </a:solidFill>
                          <a:latin typeface="Calibri" pitchFamily="34" charset="0"/>
                          <a:ea typeface="Calibri" pitchFamily="34" charset="-122"/>
                          <a:cs typeface="Calibri" pitchFamily="34" charset="-120"/>
                        </a:rPr>
                        <a:t>Your program prints</a:t>
                      </a:r>
                      <a:endParaRPr lang="en-US" sz="1300" dirty="0">
                        <a:latin typeface="Calibri" charset="0"/>
                        <a:ea typeface="Calibri" charset="0"/>
                        <a:cs typeface="Calibri" charset="0"/>
                      </a:endParaRPr>
                    </a:p>
                  </a:txBody>
                  <a:tcPr marL="73152" marR="73152" marT="73152" marB="73152">
                    <a:lnL w="9525" cap="flat" cmpd="sng" algn="ctr">
                      <a:solidFill>
                        <a:srgbClr val="7F7F7F"/>
                      </a:solidFill>
                      <a:prstDash val="solid"/>
                      <a:round/>
                      <a:headEnd type="none" w="med" len="med"/>
                      <a:tailEnd type="none" w="med" len="med"/>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0">
                <a:tc>
                  <a:txBody>
                    <a:bodyPr/>
                    <a:lstStyle/>
                    <a:p>
                      <a:pPr marL="0" indent="0">
                        <a:buNone/>
                      </a:pPr>
                      <a:r>
                        <a:rPr lang="en-US" sz="1150" dirty="0">
                          <a:solidFill>
                            <a:srgbClr val="1A1A1A"/>
                          </a:solidFill>
                          <a:latin typeface="Courier New" pitchFamily="34" charset="0"/>
                          <a:ea typeface="Courier New" pitchFamily="34" charset="-122"/>
                          <a:cs typeface="Courier New" pitchFamily="34" charset="-120"/>
                        </a:rPr>
                        <a:t>4 | Samosa,30,12 | ... (the sample)</a:t>
                      </a:r>
                      <a:endParaRPr lang="en-US" sz="1150" dirty="0">
                        <a:latin typeface="Courier New" charset="0"/>
                        <a:ea typeface="Courier New" charset="0"/>
                        <a:cs typeface="Courier New" charset="0"/>
                      </a:endParaRPr>
                    </a:p>
                  </a:txBody>
                  <a:tcPr marL="73152" marR="73152" marT="73152" marB="73152">
                    <a:lnL w="9525" cap="flat" cmpd="sng" algn="ctr">
                      <a:solidFill>
                        <a:srgbClr val="7F7F7F"/>
                      </a:solidFill>
                      <a:prstDash val="solid"/>
                      <a:round/>
                      <a:headEnd type="none" w="med" len="med"/>
                      <a:tailEnd type="none" w="med" len="med"/>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tcPr>
                </a:tc>
                <a:tc>
                  <a:txBody>
                    <a:bodyPr/>
                    <a:lstStyle/>
                    <a:p>
                      <a:pPr marL="0" indent="0">
                        <a:buNone/>
                      </a:pPr>
                      <a:r>
                        <a:rPr lang="en-US" sz="1150" dirty="0">
                          <a:solidFill>
                            <a:srgbClr val="1A1A1A"/>
                          </a:solidFill>
                          <a:latin typeface="Courier New" pitchFamily="34" charset="0"/>
                          <a:ea typeface="Courier New" pitchFamily="34" charset="-122"/>
                          <a:cs typeface="Courier New" pitchFamily="34" charset="-120"/>
                        </a:rPr>
                        <a:t>Total sales = Rs. 1985</a:t>
                      </a:r>
                      <a:endParaRPr lang="en-US" sz="1150" dirty="0">
                        <a:latin typeface="Courier New" charset="0"/>
                        <a:ea typeface="Courier New" charset="0"/>
                        <a:cs typeface="Courier New" charset="0"/>
                      </a:endParaRPr>
                    </a:p>
                    <a:p>
                      <a:pPr marL="0" indent="0">
                        <a:buNone/>
                      </a:pPr>
                      <a:r>
                        <a:rPr lang="en-US" sz="1150" dirty="0">
                          <a:solidFill>
                            <a:srgbClr val="1A1A1A"/>
                          </a:solidFill>
                          <a:latin typeface="Courier New" pitchFamily="34" charset="0"/>
                          <a:ea typeface="Courier New" pitchFamily="34" charset="-122"/>
                          <a:cs typeface="Courier New" pitchFamily="34" charset="-120"/>
                        </a:rPr>
                        <a:t>Best seller: Tea (Rs. 800)</a:t>
                      </a:r>
                      <a:endParaRPr lang="en-US" sz="1150" dirty="0">
                        <a:latin typeface="Courier New" charset="0"/>
                        <a:ea typeface="Courier New" charset="0"/>
                        <a:cs typeface="Courier New" charset="0"/>
                      </a:endParaRPr>
                    </a:p>
                  </a:txBody>
                  <a:tcPr marL="73152" marR="73152" marT="73152" marB="73152">
                    <a:lnL w="9525" cap="flat" cmpd="sng" algn="ctr">
                      <a:solidFill>
                        <a:srgbClr val="7F7F7F"/>
                      </a:solidFill>
                      <a:prstDash val="solid"/>
                      <a:round/>
                      <a:headEnd type="none" w="med" len="med"/>
                      <a:tailEnd type="none" w="med" len="med"/>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50" dirty="0">
                          <a:solidFill>
                            <a:srgbClr val="1A1A1A"/>
                          </a:solidFill>
                          <a:latin typeface="Courier New" pitchFamily="34" charset="0"/>
                          <a:ea typeface="Courier New" pitchFamily="34" charset="-122"/>
                          <a:cs typeface="Courier New" pitchFamily="34" charset="-120"/>
                        </a:rPr>
                        <a:t>5 | the same 4 item lines</a:t>
                      </a:r>
                      <a:endParaRPr lang="en-US" sz="1150" dirty="0">
                        <a:latin typeface="Courier New" charset="0"/>
                        <a:ea typeface="Courier New" charset="0"/>
                        <a:cs typeface="Courier New" charset="0"/>
                      </a:endParaRPr>
                    </a:p>
                  </a:txBody>
                  <a:tcPr marL="73152" marR="73152" marT="73152" marB="73152">
                    <a:lnL w="9525" cap="flat" cmpd="sng" algn="ctr">
                      <a:solidFill>
                        <a:srgbClr val="7F7F7F"/>
                      </a:solidFill>
                      <a:prstDash val="solid"/>
                      <a:round/>
                      <a:headEnd type="none" w="med" len="med"/>
                      <a:tailEnd type="none" w="med" len="med"/>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tcPr>
                </a:tc>
                <a:tc>
                  <a:txBody>
                    <a:bodyPr/>
                    <a:lstStyle/>
                    <a:p>
                      <a:pPr marL="0" indent="0">
                        <a:buNone/>
                      </a:pPr>
                      <a:r>
                        <a:rPr lang="en-US" sz="1150" dirty="0">
                          <a:solidFill>
                            <a:srgbClr val="1A1A1A"/>
                          </a:solidFill>
                          <a:latin typeface="Courier New" pitchFamily="34" charset="0"/>
                          <a:ea typeface="Courier New" pitchFamily="34" charset="-122"/>
                          <a:cs typeface="Courier New" pitchFamily="34" charset="-120"/>
                        </a:rPr>
                        <a:t>... the 4 items ...</a:t>
                      </a:r>
                      <a:endParaRPr lang="en-US" sz="1150" dirty="0">
                        <a:latin typeface="Courier New" charset="0"/>
                        <a:ea typeface="Courier New" charset="0"/>
                        <a:cs typeface="Courier New" charset="0"/>
                      </a:endParaRPr>
                    </a:p>
                    <a:p>
                      <a:pPr marL="0" indent="0">
                        <a:buNone/>
                      </a:pPr>
                      <a:r>
                        <a:rPr lang="en-US" sz="1150" dirty="0">
                          <a:solidFill>
                            <a:srgbClr val="1A1A1A"/>
                          </a:solidFill>
                          <a:latin typeface="Courier New" pitchFamily="34" charset="0"/>
                          <a:ea typeface="Courier New" pitchFamily="34" charset="-122"/>
                          <a:cs typeface="Courier New" pitchFamily="34" charset="-120"/>
                        </a:rPr>
                        <a:t>Only 4 of 5 items could be read.</a:t>
                      </a:r>
                      <a:endParaRPr lang="en-US" sz="1150" dirty="0">
                        <a:latin typeface="Courier New" charset="0"/>
                        <a:ea typeface="Courier New" charset="0"/>
                        <a:cs typeface="Courier New" charset="0"/>
                      </a:endParaRPr>
                    </a:p>
                    <a:p>
                      <a:pPr marL="0" indent="0">
                        <a:buNone/>
                      </a:pPr>
                      <a:r>
                        <a:rPr lang="en-US" sz="1150" dirty="0">
                          <a:solidFill>
                            <a:srgbClr val="1A1A1A"/>
                          </a:solidFill>
                          <a:latin typeface="Courier New" pitchFamily="34" charset="0"/>
                          <a:ea typeface="Courier New" pitchFamily="34" charset="-122"/>
                          <a:cs typeface="Courier New" pitchFamily="34" charset="-120"/>
                        </a:rPr>
                        <a:t>Total sales = Rs. 1985</a:t>
                      </a:r>
                      <a:endParaRPr lang="en-US" sz="1150" dirty="0">
                        <a:latin typeface="Courier New" charset="0"/>
                        <a:ea typeface="Courier New" charset="0"/>
                        <a:cs typeface="Courier New" charset="0"/>
                      </a:endParaRPr>
                    </a:p>
                  </a:txBody>
                  <a:tcPr marL="73152" marR="73152" marT="73152" marB="73152">
                    <a:lnL w="9525" cap="flat" cmpd="sng" algn="ctr">
                      <a:solidFill>
                        <a:srgbClr val="7F7F7F"/>
                      </a:solidFill>
                      <a:prstDash val="solid"/>
                      <a:round/>
                      <a:headEnd type="none" w="med" len="med"/>
                      <a:tailEnd type="none" w="med" len="med"/>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150" dirty="0">
                          <a:solidFill>
                            <a:srgbClr val="1A1A1A"/>
                          </a:solidFill>
                          <a:latin typeface="Courier New" pitchFamily="34" charset="0"/>
                          <a:ea typeface="Courier New" pitchFamily="34" charset="-122"/>
                          <a:cs typeface="Courier New" pitchFamily="34" charset="-120"/>
                        </a:rPr>
                        <a:t>2 | Tea,40,20 | Jam Pie,25,9</a:t>
                      </a:r>
                      <a:endParaRPr lang="en-US" sz="1150" dirty="0">
                        <a:latin typeface="Courier New" charset="0"/>
                        <a:ea typeface="Courier New" charset="0"/>
                        <a:cs typeface="Courier New" charset="0"/>
                      </a:endParaRPr>
                    </a:p>
                  </a:txBody>
                  <a:tcPr marL="73152" marR="73152" marT="73152" marB="73152">
                    <a:lnL w="9525" cap="flat" cmpd="sng" algn="ctr">
                      <a:solidFill>
                        <a:srgbClr val="7F7F7F"/>
                      </a:solidFill>
                      <a:prstDash val="solid"/>
                      <a:round/>
                      <a:headEnd type="none" w="med" len="med"/>
                      <a:tailEnd type="none" w="med" len="med"/>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tcPr>
                </a:tc>
                <a:tc>
                  <a:txBody>
                    <a:bodyPr/>
                    <a:lstStyle/>
                    <a:p>
                      <a:pPr marL="0" indent="0">
                        <a:buNone/>
                      </a:pPr>
                      <a:r>
                        <a:rPr lang="en-US" sz="1150" dirty="0">
                          <a:solidFill>
                            <a:srgbClr val="1A1A1A"/>
                          </a:solidFill>
                          <a:latin typeface="Courier New" pitchFamily="34" charset="0"/>
                          <a:ea typeface="Courier New" pitchFamily="34" charset="-122"/>
                          <a:cs typeface="Courier New" pitchFamily="34" charset="-120"/>
                        </a:rPr>
                        <a:t>Total sales = Rs. 1025</a:t>
                      </a:r>
                      <a:endParaRPr lang="en-US" sz="1150" dirty="0">
                        <a:latin typeface="Courier New" charset="0"/>
                        <a:ea typeface="Courier New" charset="0"/>
                        <a:cs typeface="Courier New" charset="0"/>
                      </a:endParaRPr>
                    </a:p>
                    <a:p>
                      <a:pPr marL="0" indent="0">
                        <a:buNone/>
                      </a:pPr>
                      <a:r>
                        <a:rPr lang="en-US" sz="1150" dirty="0">
                          <a:solidFill>
                            <a:srgbClr val="1A1A1A"/>
                          </a:solidFill>
                          <a:latin typeface="Courier New" pitchFamily="34" charset="0"/>
                          <a:ea typeface="Courier New" pitchFamily="34" charset="-122"/>
                          <a:cs typeface="Courier New" pitchFamily="34" charset="-120"/>
                        </a:rPr>
                        <a:t>Best seller: Tea (Rs. 800)</a:t>
                      </a:r>
                      <a:endParaRPr lang="en-US" sz="1150" dirty="0">
                        <a:latin typeface="Courier New" charset="0"/>
                        <a:ea typeface="Courier New" charset="0"/>
                        <a:cs typeface="Courier New" charset="0"/>
                      </a:endParaRPr>
                    </a:p>
                  </a:txBody>
                  <a:tcPr marL="73152" marR="73152" marT="73152" marB="73152">
                    <a:lnL w="9525" cap="flat" cmpd="sng" algn="ctr">
                      <a:solidFill>
                        <a:srgbClr val="7F7F7F"/>
                      </a:solidFill>
                      <a:prstDash val="solid"/>
                      <a:round/>
                      <a:headEnd type="none" w="med" len="med"/>
                      <a:tailEnd type="none" w="med" len="med"/>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2" name="Shape 19"/>
          <p:cNvSpPr/>
          <p:nvPr/>
        </p:nvSpPr>
        <p:spPr>
          <a:xfrm>
            <a:off x="6583680" y="4892040"/>
            <a:ext cx="5120640" cy="1051560"/>
          </a:xfrm>
          <a:prstGeom prst="rect">
            <a:avLst/>
          </a:prstGeom>
          <a:solidFill>
            <a:srgbClr val="FFFFFF"/>
          </a:solidFill>
          <a:ln w="12700">
            <a:solidFill>
              <a:srgbClr val="7F7F7F"/>
            </a:solidFill>
            <a:prstDash val="solid"/>
          </a:ln>
        </p:spPr>
        <p:txBody>
          <a:bodyPr/>
          <a:lstStyle/>
          <a:p>
            <a:endParaRPr lang="en-US"/>
          </a:p>
        </p:txBody>
      </p:sp>
      <p:sp>
        <p:nvSpPr>
          <p:cNvPr id="23" name="Text 20"/>
          <p:cNvSpPr txBox="1"/>
          <p:nvPr/>
        </p:nvSpPr>
        <p:spPr>
          <a:xfrm>
            <a:off x="6766560" y="5001768"/>
            <a:ext cx="4754880" cy="868680"/>
          </a:xfrm>
          <a:prstGeom prst="rect">
            <a:avLst/>
          </a:prstGeom>
          <a:noFill/>
          <a:ln/>
        </p:spPr>
        <p:txBody>
          <a:bodyPr wrap="square" lIns="0" tIns="0" rIns="0" bIns="0" rtlCol="0" anchor="t"/>
          <a:lstStyle/>
          <a:p>
            <a:pPr marL="0" indent="0">
              <a:buNone/>
            </a:pPr>
            <a:r>
              <a:rPr lang="en-US" sz="1350" b="1" dirty="0">
                <a:solidFill>
                  <a:srgbClr val="1A1A1A"/>
                </a:solidFill>
                <a:latin typeface="Calibri" pitchFamily="34" charset="0"/>
                <a:ea typeface="Calibri" pitchFamily="34" charset="-122"/>
                <a:cs typeface="Calibri" pitchFamily="34" charset="-120"/>
              </a:rPr>
              <a:t>Challenge  </a:t>
            </a:r>
            <a:r>
              <a:rPr lang="en-US" sz="1350" dirty="0">
                <a:solidFill>
                  <a:srgbClr val="1A1A1A"/>
                </a:solidFill>
                <a:latin typeface="Calibri" pitchFamily="34" charset="0"/>
                <a:ea typeface="Calibri" pitchFamily="34" charset="-122"/>
                <a:cs typeface="Calibri" pitchFamily="34" charset="-120"/>
              </a:rPr>
              <a:t>The first line promises more items than the file has. Check the reads inside the loop and print "Only 4 of 5 items could be read." instead of garbage.</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4D4D"/>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7315200" cy="274320"/>
          </a:xfrm>
          <a:prstGeom prst="rect">
            <a:avLst/>
          </a:prstGeom>
          <a:noFill/>
          <a:ln/>
        </p:spPr>
        <p:txBody>
          <a:bodyPr wrap="square" lIns="0" tIns="0" rIns="0" bIns="0" rtlCol="0" anchor="t"/>
          <a:lstStyle/>
          <a:p>
            <a:pPr marL="0" indent="0">
              <a:buNone/>
            </a:pPr>
            <a:r>
              <a:rPr lang="en-US" sz="1200" b="1" kern="0" spc="200" dirty="0">
                <a:solidFill>
                  <a:srgbClr val="1A1A1A"/>
                </a:solidFill>
                <a:latin typeface="Calibri" pitchFamily="34" charset="0"/>
                <a:ea typeface="Calibri" pitchFamily="34" charset="-122"/>
                <a:cs typeface="Calibri" pitchFamily="34" charset="-120"/>
              </a:rPr>
              <a:t>SOLUTION</a:t>
            </a:r>
            <a:endParaRPr lang="en-US" sz="1200" dirty="0"/>
          </a:p>
        </p:txBody>
      </p:sp>
      <p:sp>
        <p:nvSpPr>
          <p:cNvPr id="3" name="Text 0"/>
          <p:cNvSpPr>
            <a:spLocks noGrp="1"/>
          </p:cNvSpPr>
          <p:nvPr>
            <p:ph type="title" idx="100" hasCustomPrompt="1"/>
          </p:nvPr>
        </p:nvSpPr>
        <p:spPr>
          <a:xfrm>
            <a:off x="457200" y="566928"/>
            <a:ext cx="11247120" cy="640080"/>
          </a:xfrm>
          <a:prstGeom prst="rect">
            <a:avLst/>
          </a:prstGeom>
          <a:noFill/>
          <a:ln/>
        </p:spPr>
        <p:txBody>
          <a:bodyPr wrap="square" lIns="0" tIns="0" rIns="0" bIns="0" rtlCol="0" anchor="ctr"/>
          <a:lstStyle/>
          <a:p>
            <a:r>
              <a:rPr lang="en-US" dirty="0"/>
              <a:t>Solution: </a:t>
            </a:r>
            <a:r>
              <a:rPr lang="en-US" sz="3200" b="1" dirty="0">
                <a:solidFill>
                  <a:srgbClr val="1A1A1A"/>
                </a:solidFill>
                <a:latin typeface="Cambria" pitchFamily="34" charset="0"/>
                <a:ea typeface="Cambria" pitchFamily="34" charset="-122"/>
                <a:cs typeface="Cambria" pitchFamily="34" charset="-120"/>
              </a:rPr>
              <a:t>Canteen sales report</a:t>
            </a:r>
            <a:endParaRPr lang="en-US" sz="3200" dirty="0"/>
          </a:p>
        </p:txBody>
      </p:sp>
      <p:sp>
        <p:nvSpPr>
          <p:cNvPr id="4" name="Text 2"/>
          <p:cNvSpPr txBox="1"/>
          <p:nvPr/>
        </p:nvSpPr>
        <p:spPr>
          <a:xfrm>
            <a:off x="457200" y="1371600"/>
            <a:ext cx="5486400" cy="4841748"/>
          </a:xfrm>
          <a:prstGeom prst="rect">
            <a:avLst/>
          </a:prstGeom>
          <a:solidFill>
            <a:srgbClr val="F2F2F2"/>
          </a:solidFill>
          <a:ln w="12700">
            <a:solidFill>
              <a:srgbClr val="7F7F7F"/>
            </a:solidFill>
          </a:ln>
        </p:spPr>
        <p:txBody>
          <a:bodyPr wrap="square" lIns="127000" tIns="127000" rIns="127000" bIns="127000" rtlCol="0" anchor="t"/>
          <a:lstStyle/>
          <a:p>
            <a:pPr marL="0" indent="0">
              <a:buNone/>
            </a:pPr>
            <a:r>
              <a:rPr lang="en-US" sz="1150" dirty="0">
                <a:solidFill>
                  <a:srgbClr val="1A1A1A"/>
                </a:solidFill>
                <a:latin typeface="Courier New" pitchFamily="34" charset="0"/>
                <a:ea typeface="Courier New" pitchFamily="34" charset="-122"/>
                <a:cs typeface="Courier New" pitchFamily="34" charset="-120"/>
              </a:rPr>
              <a:t>#include &lt;iostream&gt;</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#include &lt;fstream&gt;</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#include &lt;cstring&gt;</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using namespace std;</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int main()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ifstream inFile("canteen.txt");</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if (!inFile)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cout &lt;&lt; "Cannot open canteen.txt" &lt;&lt; endl;</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return 1;</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int n, price, qty, total = 0, best = -1;</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char name[30], bestName[30] = "", comma;</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inFile &gt;&gt; n;</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inFile.ignore(100, '\n');      // go to line 2</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a:t>
            </a:r>
            <a:endParaRPr lang="en-US" sz="1150" dirty="0"/>
          </a:p>
        </p:txBody>
      </p:sp>
      <p:sp>
        <p:nvSpPr>
          <p:cNvPr id="5" name="Text 3"/>
          <p:cNvSpPr txBox="1"/>
          <p:nvPr/>
        </p:nvSpPr>
        <p:spPr>
          <a:xfrm>
            <a:off x="6217920" y="1371600"/>
            <a:ext cx="5486400" cy="4841748"/>
          </a:xfrm>
          <a:prstGeom prst="rect">
            <a:avLst/>
          </a:prstGeom>
          <a:solidFill>
            <a:srgbClr val="F2F2F2"/>
          </a:solidFill>
          <a:ln w="12700">
            <a:solidFill>
              <a:srgbClr val="7F7F7F"/>
            </a:solidFill>
          </a:ln>
        </p:spPr>
        <p:txBody>
          <a:bodyPr wrap="square" lIns="127000" tIns="127000" rIns="127000" bIns="127000" rtlCol="0" anchor="t"/>
          <a:lstStyle/>
          <a:p>
            <a:pPr marL="0" indent="0">
              <a:buNone/>
            </a:pPr>
            <a:r>
              <a:rPr lang="en-US" sz="1150" dirty="0">
                <a:solidFill>
                  <a:srgbClr val="1A1A1A"/>
                </a:solidFill>
                <a:latin typeface="Courier New" pitchFamily="34" charset="0"/>
                <a:ea typeface="Courier New" pitchFamily="34" charset="-122"/>
                <a:cs typeface="Courier New" pitchFamily="34" charset="-120"/>
              </a:rPr>
              <a:t>    for (int i = 0; i &lt; n; i++)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inFile.getline(name, 30,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inFile &gt;&gt; price &gt;&gt; comma &gt;&gt; qty;</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if (!inFile) {             // challenge</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cout &lt;&lt; "Only " &lt;&lt; i &lt;&lt; " of " &lt;&lt; n</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&lt;&lt; " items could be read." &lt;&lt; endl;</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break;</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inFile.ignore(100, '\n');  // end of line</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int amount = price * qty;</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cout &lt;&lt; name &lt;&lt; ": " &lt;&lt; price &lt;&lt; " x " &lt;&lt; qty</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&lt;&lt; " = " &lt;&lt; amount &lt;&lt; endl;</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total += amount;</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if (amount &gt; best)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best = amount;</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strcpy(bestName, name);</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cout &lt;&lt; "Total sales = Rs. " &lt;&lt; total &lt;&lt; endl;</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if (best &gt;= 0)</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cout &lt;&lt; "Best seller: " &lt;&lt; bestName</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&lt;&lt; " (Rs. " &lt;&lt; best &lt;&lt; ")" &lt;&lt; endl;</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inFile.close();</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    return 0;</a:t>
            </a:r>
            <a:endParaRPr lang="en-US" sz="1150" dirty="0"/>
          </a:p>
          <a:p>
            <a:pPr marL="0" indent="0">
              <a:buNone/>
            </a:pPr>
            <a:r>
              <a:rPr lang="en-US" sz="1150" dirty="0">
                <a:solidFill>
                  <a:srgbClr val="1A1A1A"/>
                </a:solidFill>
                <a:latin typeface="Courier New" pitchFamily="34" charset="0"/>
                <a:ea typeface="Courier New" pitchFamily="34" charset="-122"/>
                <a:cs typeface="Courier New" pitchFamily="34" charset="-120"/>
              </a:rPr>
              <a:t>}</a:t>
            </a:r>
            <a:endParaRPr 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4D4D"/>
                </a:solidFill>
              </a:defRPr>
            </a:lvl1pPr>
          </a:lstStyle>
          <a:p>
            <a:pPr algn="r"/>
            <a:fld id="{F7021451-1387-4CA6-816F-3879F97B5CBC}" type="slidenum">
              <a:rPr lang="en-US" b="0"/>
              <a:t>4</a:t>
            </a:fld>
            <a:endParaRPr lang="en-US"/>
          </a:p>
        </p:txBody>
      </p:sp>
    </p:spTree>
  </p:cSld>
  <p:clrMapOvr>
    <a:masterClrMapping/>
  </p:clrMapOvr>
</p:sld>
</file>

<file path=ppt/theme/theme1.xml><?xml version="1.0" encoding="utf-8"?>
<a:theme xmlns:a="http://schemas.openxmlformats.org/drawingml/2006/main" name="Activity Print">
  <a:themeElements>
    <a:clrScheme name="Activity Print">
      <a:dk1>
        <a:srgbClr val="1A1A1A"/>
      </a:dk1>
      <a:lt1>
        <a:srgbClr val="FFFFFF"/>
      </a:lt1>
      <a:dk2>
        <a:srgbClr val="333333"/>
      </a:dk2>
      <a:lt2>
        <a:srgbClr val="F2F2F2"/>
      </a:lt2>
      <a:accent1>
        <a:srgbClr val="404040"/>
      </a:accent1>
      <a:accent2>
        <a:srgbClr val="7F7F7F"/>
      </a:accent2>
      <a:accent3>
        <a:srgbClr val="A6A6A6"/>
      </a:accent3>
      <a:accent4>
        <a:srgbClr val="595959"/>
      </a:accent4>
      <a:accent5>
        <a:srgbClr val="BFBFBF"/>
      </a:accent5>
      <a:accent6>
        <a:srgbClr val="D9D9D9"/>
      </a:accent6>
      <a:hlink>
        <a:srgbClr val="1A1A1A"/>
      </a:hlink>
      <a:folHlink>
        <a:srgbClr val="404040"/>
      </a:folHlink>
    </a:clrScheme>
    <a:fontScheme name="Activity Pri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1162</Words>
  <Application>Microsoft Office PowerPoint</Application>
  <PresentationFormat>Widescreen</PresentationFormat>
  <Paragraphs>132</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Cambria</vt:lpstr>
      <vt:lpstr>Courier New</vt:lpstr>
      <vt:lpstr>Activity Print</vt:lpstr>
      <vt:lpstr>Your turn: read a real file</vt:lpstr>
      <vt:lpstr>Canteen sales report</vt:lpstr>
      <vt:lpstr>Canteen: how to read one line</vt:lpstr>
      <vt:lpstr>Solution: Canteen sales report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Handling in C++ Part 2: Class Activity</dc:title>
  <dc:subject>PptxGenJS Presentation</dc:subject>
  <dc:creator>PptxGenJS</dc:creator>
  <cp:lastModifiedBy>Fareeha Iqbal</cp:lastModifiedBy>
  <cp:revision>1</cp:revision>
  <dcterms:created xsi:type="dcterms:W3CDTF">2026-10-12T13:26:01Z</dcterms:created>
  <dcterms:modified xsi:type="dcterms:W3CDTF">2026-10-13T04:53:16Z</dcterms:modified>
</cp:coreProperties>
</file>