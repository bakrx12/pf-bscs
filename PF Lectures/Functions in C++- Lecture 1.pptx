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0" d="100"/>
          <a:sy n="80" d="100"/>
        </p:scale>
        <p:origin x="35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156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Do not define “function” yet. Ask: “Who has written a program that got so long you got lost in it?” Let a few students answer. Tell them: today we learn the tool every real programmer uses to keep programs small and organised. Say that by the end of the hour they will write their own function.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plan quickly (1 minute). Tell students there will be a quick check at the end, so they should stay with you. Keep a timer visible if you can; the first lecture usually overruns in the “why” part, so watch the 20-minute mark.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write it in their notebooks. Walk around. Most will write the loop that prints a star line four times. Ask one student to read their answer aloud. Then ask: “How many places would you change to make the lines 20 stars long?” Answer: four.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repeated lines. Say: this works, but it is fragile. Real programs are thousands of lines long. If one job is copied 50 times and it has a bug, we must fix it 50 times. Ask: “Wouldn’t it be nice to write the star-line code ONCE, give it a name, and just say the name whenever we need it?” That idea is a function.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any local example the students relate to: a wedding where one person handles food, one handles decoration, one handles guests; or a cricket team where each player has a role. Key message: a big job goes smoothly when it is split among helpers who each do ONE thing. In C++, main() is the head chef and functions are the helpers.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slowly and ask two students to repeat it in their own words. Draw the input–process–output picture on the board too. Mention that some functions take no input and some give no output; we will see both today. The “machine” idea works well: you put something in, the machine does its work, something comes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card by card, linking each back to the warm-up program: less repetition (4 copies became 1), easier to fix (change 10 to 20 in one place), easier to read (main says printLine instead of a loop). For teamwork: in a software company one person writes login, another writes payment. Ask the class which benefit they think matters most.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“divide and conquer”: an old military idea — you can’t defeat a big army at once, so you split it and defeat each part. In programming we can’t solve a big problem at once, so we split it into small problems that are each easy. Ask the class: “If you were building an ATM program, which small functions would you need?” Collect answers on the board: checkPin, showBalance, withdraw, deposit, printReceipt.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side by side with the earlier program (go back one slide if needed). Same output, but now the loop exists only once. Don’t explain every part of the syntax yet; just say: “void printLine() is the name tag, the part in curly braces is the job, and printLine(); is how we ask for the job to be done.” We will look at every part properly in 10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rule for students: if you did not write it and you got it by #include, it is predefined. If you wrote it yourself, it is user-defined. Remind them they have already used predefined functions without knowing it — main() itself is a function we write, and things like sqrt or getline are library functions.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pattern in every row: a NAME, something we GIVE it in the brackets, and something it GIVES BACK. Ask: “Do you know how sqrt calculates the root inside?” No — and we don’t need to. That idea (use it without knowing the inside) is called abstraction. Strictly, isdigit returns a non-zero int for true; “true” is fine at this level.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and run this in the IDE in front of the class — running real code builds confidence. Then remove “#include &lt;cmath&gt;” and compile again so they see the error: the compiler doesn’t know sqrt. Lesson: a predefined function needs its header file. Put the include 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live. Before running, ask the class to predict the output and write it down. Then run. Ask: “Why does Hello appear twice when we wrote the cout only once?” Then try: delete one of the calls and run — Hello appears once. Delete both calls — the function is still there but never runs. A function only runs when it is called.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each colour in the code to its card. Parts 1–3 together form the function HEADER (first line); part 4 is the BODY. Naming rules are the same as variable names: no spaces, can’t start with a digit, use meaningful verbs (calcTotal, printLine). If a function needs no input, the brackets are still written but left empty: sayHello().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this is the idea beginners struggle with most. Ask: “If I ask a function for someone’s grade, what type comes back?” (char). “For the average of marks?” (double). “For whether a number is even?” (bool). “For printing a line of stars?” (nothing, so void). Students often confuse return with cout: cout shows a value on the screen for the user; return hands a value back to the program so it can be stored or used.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a parameter is just a variable that is declared inside the brackets instead of inside the body. It gets its value from whoever calls the function. Ask the class to say what each header needs, out loud, before revealing the explanation. Then ask: “What parameters would a function need to calculate the area of a circle?” (one double: the radius).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boxes slowly, pointing at each. Then do the same with the class for square(3) and square(10), asking them to say each step aloud: “3 goes into n, the body calculates 9, 9 comes back.” The “door in / door out” picture is worth repeating: parameters bring values in, return sends one value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one more example with the class before moving on: “calculate the area of a rectangle”. Q1 name: area. Q2 needs: length and width, both double. Q3 gives back: a double. So: double area(double length, double width). Then ask them to design “check if a student passed” (bool passed(int marks)). This 3-question habit is what lets beginners write a header without fear.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video starts by itself when this slide opens in Present mode; click it to pause or play (about 1½ minutes, with a spoken English narration and on-screen captions). Check the classroom speakers before the lecture. Play it once all the way through. Then play it again and pause at three moments to ask questions: (1) after “main() CALLS square(a)” — “Where will control go now?”; (2) after “COPIED into n” — “Is n the same box as a?” (no, a separate box with a copy); (3) after “DESTROYED” — “Can main() still use result?” (no, it no longer exists). The next slide has the same steps on paper for printing.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printable version of the video. Ask students to copy the table into their notebooks and redo it themselves with a = 7 (n becomes 7, result 49, b 49). Key sentence to repeat: a function’s variables (its parameters and the variables declared inside it) are created when the function is called and destroyed when it ends. That is why main() cannot use n or result.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comparison of today. Use the real-life row: you ask a calculator something and it hands you an answer you can use; you send a page to a printer and it just does the job. Ask: “Is sqrt value-returning or void?” (value-returning). “Is printLine?” (void). Mention that a void function MAY use “return;” with no value to leave early, but it’s not required.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 the board: square(5) → n becomes 5 → return 25 → the call is replaced by 25 → a = 25. Then square(3) prints 9, square(4) is 16 which is greater than 10, so “ big” prints. Ask a student to change the function into cube. Stress: a value-returning function returns exactly ONE value and return also ends the function immediately.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warm-up: the earlier printLine always printed 10 stars. By putting a value in the brackets, the same function prints 5, 12 or 20 stars — one function, many uses. Ask the class to predict the output of printStars(0) (an empty line) before you run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each mistake in the IDE if time allows; seeing the real compiler error message helps students recognise it later. The last one is the most common in the lab. Note that “square(5);” compiles without error but is useless — the answer is lost.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predefined (from &lt;cmath&gt;). Q2 void. Q3 an int, the value 8. Q4 printLine is void and gives back nothing, so there is nothing for cout to print — call it alone: printLine(); Ask different students for each answer; if many get Q4 wrong, go back to the void vs value-returning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read each point aloud together. Then ask one student: “In one sentence, why do programmers use functions?” A good answer mentions breaking the problem down and not repeating code.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is deliberate: it creates the problem that function prototypes solve, so Lecture 2 opens with students already curious about it. Remind them that in task 3 the division needs a double (divide by 3.0), otherwise the average loses its decimal part.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739"/>
            <a:ext cx="10566400" cy="502913"/>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08452"/>
            <a:ext cx="10566400" cy="423674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739"/>
            <a:ext cx="10566400" cy="502913"/>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08452"/>
            <a:ext cx="10566400" cy="423674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EEF7"/>
        </a:solidFill>
        <a:effectLst/>
      </p:bgPr>
    </p:bg>
    <p:spTree>
      <p:nvGrpSpPr>
        <p:cNvPr id="1" name=""/>
        <p:cNvGrpSpPr/>
        <p:nvPr/>
      </p:nvGrpSpPr>
      <p:grpSpPr>
        <a:xfrm>
          <a:off x="0" y="0"/>
          <a:ext cx="0" cy="0"/>
          <a:chOff x="0" y="0"/>
          <a:chExt cx="0" cy="0"/>
        </a:xfrm>
      </p:grpSpPr>
      <p:sp>
        <p:nvSpPr>
          <p:cNvPr id="2" name="Text 0"/>
          <p:cNvSpPr/>
          <p:nvPr/>
        </p:nvSpPr>
        <p:spPr>
          <a:xfrm>
            <a:off x="7493000" y="1587500"/>
            <a:ext cx="4185920" cy="1930400"/>
          </a:xfrm>
          <a:prstGeom prst="rect">
            <a:avLst/>
          </a:prstGeom>
          <a:noFill/>
          <a:ln/>
        </p:spPr>
        <p:txBody>
          <a:bodyPr wrap="none" lIns="0" tIns="0" rIns="0" bIns="0" rtlCol="0" anchor="t">
            <a:normAutofit/>
          </a:bodyPr>
          <a:lstStyle/>
          <a:p>
            <a:pPr marL="0" indent="0" algn="l">
              <a:lnSpc>
                <a:spcPts val="15000"/>
              </a:lnSpc>
              <a:buNone/>
            </a:pPr>
            <a:r>
              <a:rPr lang="en-US" sz="15000" b="1" dirty="0">
                <a:solidFill>
                  <a:srgbClr val="E07A2E">
                    <a:alpha val="90000"/>
                  </a:srgbClr>
                </a:solidFill>
                <a:latin typeface="JetBrains Mono" pitchFamily="49" charset="0"/>
                <a:ea typeface="JetBrains Mono" pitchFamily="49" charset="-122"/>
                <a:cs typeface="JetBrains Mono" pitchFamily="49" charset="-120"/>
              </a:rPr>
              <a:t>f( )</a:t>
            </a:r>
            <a:endParaRPr lang="en-US" sz="15000" dirty="0"/>
          </a:p>
        </p:txBody>
      </p:sp>
      <p:sp>
        <p:nvSpPr>
          <p:cNvPr id="3" name="Text 1"/>
          <p:cNvSpPr/>
          <p:nvPr/>
        </p:nvSpPr>
        <p:spPr>
          <a:xfrm>
            <a:off x="812800" y="1778072"/>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PROGRAMMING FUNDAMENTALS · WEEK 3 · LECTURE 1</a:t>
            </a:r>
            <a:endParaRPr lang="en-US" sz="1200" dirty="0"/>
          </a:p>
        </p:txBody>
      </p:sp>
      <p:sp>
        <p:nvSpPr>
          <p:cNvPr id="4" name="Text 2"/>
          <p:cNvSpPr>
            <a:spLocks noGrp="1"/>
          </p:cNvSpPr>
          <p:nvPr>
            <p:ph type="title"/>
          </p:nvPr>
        </p:nvSpPr>
        <p:spPr>
          <a:xfrm>
            <a:off x="812800" y="2245411"/>
            <a:ext cx="6802120" cy="2037015"/>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14213D"/>
                </a:solidFill>
                <a:latin typeface="Rubik" pitchFamily="34" charset="0"/>
                <a:ea typeface="Rubik" pitchFamily="34" charset="-122"/>
                <a:cs typeface="Rubik" pitchFamily="34" charset="-120"/>
              </a:rPr>
              <a:t>Functions: breaking big problems into small pieces</a:t>
            </a:r>
            <a:endParaRPr lang="en-US" sz="4800" dirty="0"/>
          </a:p>
        </p:txBody>
      </p:sp>
      <p:sp>
        <p:nvSpPr>
          <p:cNvPr id="5" name="Text 3"/>
          <p:cNvSpPr/>
          <p:nvPr/>
        </p:nvSpPr>
        <p:spPr>
          <a:xfrm>
            <a:off x="812800" y="4511026"/>
            <a:ext cx="6409690" cy="59430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657"/>
                </a:solidFill>
                <a:latin typeface="Rubik" pitchFamily="34" charset="0"/>
                <a:ea typeface="Rubik" pitchFamily="34" charset="-122"/>
                <a:cs typeface="Rubik" pitchFamily="34" charset="-120"/>
              </a:rPr>
              <a:t>Why we need functions, the two families of functions, and writing our very first one</a:t>
            </a:r>
            <a:endParaRPr lang="en-US" sz="1600" dirty="0"/>
          </a:p>
        </p:txBody>
      </p:sp>
      <p:sp>
        <p:nvSpPr>
          <p:cNvPr id="6" name="Text 4"/>
          <p:cNvSpPr/>
          <p:nvPr/>
        </p:nvSpPr>
        <p:spPr>
          <a:xfrm>
            <a:off x="812800" y="6238262"/>
            <a:ext cx="5886450" cy="23873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7"/>
                </a:solidFill>
                <a:latin typeface="Rubik" pitchFamily="34" charset="0"/>
                <a:ea typeface="Rubik" pitchFamily="34" charset="-122"/>
                <a:cs typeface="Rubik" pitchFamily="34" charset="-120"/>
              </a:rPr>
              <a:t>Lecture 1 of 2 · 60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TODAY’S PLAN</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b="1" dirty="0"/>
              <a:t>S</a:t>
            </a:r>
            <a:r>
              <a:rPr lang="en-US" sz="3600" b="1" i="0" dirty="0">
                <a:solidFill>
                  <a:srgbClr val="14213D"/>
                </a:solidFill>
                <a:latin typeface="Rubik" pitchFamily="34" charset="0"/>
                <a:ea typeface="Rubik" pitchFamily="34" charset="-122"/>
                <a:cs typeface="Rubik" pitchFamily="34" charset="-120"/>
              </a:rPr>
              <a:t>ix steps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69308470"/>
              </p:ext>
            </p:extLst>
          </p:nvPr>
        </p:nvGraphicFramePr>
        <p:xfrm>
          <a:off x="824345" y="1769197"/>
          <a:ext cx="10554855" cy="3584067"/>
        </p:xfrm>
        <a:graphic>
          <a:graphicData uri="http://schemas.openxmlformats.org/drawingml/2006/table">
            <a:tbl>
              <a:tblPr/>
              <a:tblGrid>
                <a:gridCol w="10554855">
                  <a:extLst>
                    <a:ext uri="{9D8B030D-6E8A-4147-A177-3AD203B41FA5}">
                      <a16:colId xmlns:a16="http://schemas.microsoft.com/office/drawing/2014/main" val="20000"/>
                    </a:ext>
                  </a:extLst>
                </a:gridCol>
              </a:tblGrid>
              <a:tr h="2881165">
                <a:tc>
                  <a:txBody>
                    <a:bodyPr/>
                    <a:lstStyle/>
                    <a:p>
                      <a:pPr marL="0" indent="0">
                        <a:lnSpc>
                          <a:spcPts val="2100"/>
                        </a:lnSpc>
                        <a:buNone/>
                      </a:pPr>
                      <a:r>
                        <a:rPr lang="en-US" sz="1500" b="1" dirty="0">
                          <a:solidFill>
                            <a:srgbClr val="14213D"/>
                          </a:solidFill>
                          <a:latin typeface="Rubik" pitchFamily="34" charset="0"/>
                          <a:ea typeface="Rubik" pitchFamily="34" charset="-122"/>
                        </a:rPr>
                        <a:t>What we do:</a:t>
                      </a:r>
                      <a:br>
                        <a:rPr lang="en-US" sz="1500" b="1" dirty="0">
                          <a:solidFill>
                            <a:srgbClr val="14213D"/>
                          </a:solidFill>
                          <a:latin typeface="Rubik" pitchFamily="34" charset="0"/>
                          <a:ea typeface="Rubik" pitchFamily="34" charset="-122"/>
                        </a:rPr>
                      </a:br>
                      <a:endParaRPr lang="en-US" sz="1500" b="1" dirty="0">
                        <a:solidFill>
                          <a:srgbClr val="14213D"/>
                        </a:solidFill>
                        <a:latin typeface="Rubik" pitchFamily="34" charset="0"/>
                        <a:ea typeface="Rubik" pitchFamily="34" charset="-122"/>
                      </a:endParaRPr>
                    </a:p>
                    <a:p>
                      <a:pPr marL="285750" indent="-285750">
                        <a:lnSpc>
                          <a:spcPts val="2100"/>
                        </a:lnSpc>
                        <a:buFont typeface="Arial" panose="020B0604020202020204" pitchFamily="34" charset="0"/>
                        <a:buChar char="•"/>
                      </a:pPr>
                      <a:r>
                        <a:rPr lang="en-US" sz="1500" dirty="0">
                          <a:solidFill>
                            <a:srgbClr val="3D4657"/>
                          </a:solidFill>
                          <a:latin typeface="Rubik" pitchFamily="34" charset="0"/>
                          <a:ea typeface="Rubik" pitchFamily="34" charset="-122"/>
                        </a:rPr>
                        <a:t>Warm-up: a long, repetitive program</a:t>
                      </a:r>
                    </a:p>
                    <a:p>
                      <a:pPr marL="285750" indent="-285750">
                        <a:lnSpc>
                          <a:spcPts val="2100"/>
                        </a:lnSpc>
                        <a:buFont typeface="Arial" panose="020B0604020202020204" pitchFamily="34" charset="0"/>
                        <a:buChar char="•"/>
                      </a:pPr>
                      <a:endParaRPr lang="en-US" sz="1500" dirty="0">
                        <a:solidFill>
                          <a:srgbClr val="3D4657"/>
                        </a:solidFill>
                        <a:latin typeface="Rubik" pitchFamily="34" charset="0"/>
                        <a:ea typeface="Rubik" pitchFamily="34" charset="-122"/>
                      </a:endParaRPr>
                    </a:p>
                    <a:p>
                      <a:pPr marL="285750" indent="-285750">
                        <a:lnSpc>
                          <a:spcPts val="2100"/>
                        </a:lnSpc>
                        <a:buFont typeface="Arial" panose="020B0604020202020204" pitchFamily="34" charset="0"/>
                        <a:buChar char="•"/>
                      </a:pPr>
                      <a:r>
                        <a:rPr lang="en-US" sz="1500" dirty="0">
                          <a:solidFill>
                            <a:srgbClr val="3D4657"/>
                          </a:solidFill>
                          <a:latin typeface="Rubik" pitchFamily="34" charset="0"/>
                          <a:ea typeface="Rubik" pitchFamily="34" charset="-122"/>
                        </a:rPr>
                        <a:t>Why functions? Need, importance, divide and conquer</a:t>
                      </a:r>
                    </a:p>
                    <a:p>
                      <a:pPr marL="285750" indent="-285750">
                        <a:lnSpc>
                          <a:spcPts val="2100"/>
                        </a:lnSpc>
                        <a:buFont typeface="Arial" panose="020B0604020202020204" pitchFamily="34" charset="0"/>
                        <a:buChar char="•"/>
                      </a:pPr>
                      <a:endParaRPr lang="en-US" sz="1500" dirty="0">
                        <a:solidFill>
                          <a:srgbClr val="3D4657"/>
                        </a:solidFill>
                        <a:latin typeface="Rubik" pitchFamily="34" charset="0"/>
                        <a:ea typeface="Rubik" pitchFamily="34" charset="-122"/>
                      </a:endParaRPr>
                    </a:p>
                    <a:p>
                      <a:pPr marL="285750" indent="-285750">
                        <a:lnSpc>
                          <a:spcPts val="2100"/>
                        </a:lnSpc>
                        <a:buFont typeface="Arial" panose="020B0604020202020204" pitchFamily="34" charset="0"/>
                        <a:buChar char="•"/>
                      </a:pPr>
                      <a:r>
                        <a:rPr lang="en-US" sz="1500" dirty="0">
                          <a:solidFill>
                            <a:srgbClr val="3D4657"/>
                          </a:solidFill>
                          <a:latin typeface="Rubik" pitchFamily="34" charset="0"/>
                          <a:ea typeface="Rubik" pitchFamily="34" charset="-122"/>
                        </a:rPr>
                        <a:t>Reusability; predefined vs user-defined functions</a:t>
                      </a:r>
                    </a:p>
                    <a:p>
                      <a:pPr marL="285750" indent="-285750">
                        <a:lnSpc>
                          <a:spcPts val="2100"/>
                        </a:lnSpc>
                        <a:buFont typeface="Arial" panose="020B0604020202020204" pitchFamily="34" charset="0"/>
                        <a:buChar char="•"/>
                      </a:pPr>
                      <a:endParaRPr lang="en-US" sz="1500" dirty="0">
                        <a:solidFill>
                          <a:srgbClr val="3D4657"/>
                        </a:solidFill>
                        <a:latin typeface="Rubik" pitchFamily="34" charset="0"/>
                        <a:ea typeface="Rubik" pitchFamily="34" charset="-122"/>
                      </a:endParaRPr>
                    </a:p>
                    <a:p>
                      <a:pPr marL="285750" indent="-285750">
                        <a:lnSpc>
                          <a:spcPts val="2100"/>
                        </a:lnSpc>
                        <a:buFont typeface="Arial" panose="020B0604020202020204" pitchFamily="34" charset="0"/>
                        <a:buChar char="•"/>
                      </a:pPr>
                      <a:r>
                        <a:rPr lang="en-US" sz="1500" dirty="0">
                          <a:solidFill>
                            <a:srgbClr val="3D4657"/>
                          </a:solidFill>
                          <a:latin typeface="Rubik" pitchFamily="34" charset="0"/>
                          <a:ea typeface="Rubik" pitchFamily="34" charset="-122"/>
                        </a:rPr>
                        <a:t>First function, return type, parameters, memory video</a:t>
                      </a:r>
                    </a:p>
                    <a:p>
                      <a:pPr marL="285750" indent="-285750">
                        <a:lnSpc>
                          <a:spcPts val="2100"/>
                        </a:lnSpc>
                        <a:buFont typeface="Arial" panose="020B0604020202020204" pitchFamily="34" charset="0"/>
                        <a:buChar char="•"/>
                      </a:pPr>
                      <a:endParaRPr lang="en-US" sz="1500" dirty="0">
                        <a:solidFill>
                          <a:srgbClr val="3D4657"/>
                        </a:solidFill>
                        <a:latin typeface="Rubik" pitchFamily="34" charset="0"/>
                        <a:ea typeface="Rubik" pitchFamily="34" charset="-122"/>
                      </a:endParaRPr>
                    </a:p>
                    <a:p>
                      <a:pPr marL="285750" indent="-285750">
                        <a:lnSpc>
                          <a:spcPts val="2100"/>
                        </a:lnSpc>
                        <a:buFont typeface="Arial" panose="020B0604020202020204" pitchFamily="34" charset="0"/>
                        <a:buChar char="•"/>
                      </a:pPr>
                      <a:r>
                        <a:rPr lang="en-US" sz="1500" dirty="0">
                          <a:solidFill>
                            <a:srgbClr val="3D4657"/>
                          </a:solidFill>
                          <a:latin typeface="Rubik" pitchFamily="34" charset="0"/>
                          <a:ea typeface="Rubik" pitchFamily="34" charset="-122"/>
                        </a:rPr>
                        <a:t>Void functions vs value-returning functions</a:t>
                      </a:r>
                    </a:p>
                    <a:p>
                      <a:pPr marL="285750" indent="-285750">
                        <a:lnSpc>
                          <a:spcPts val="2100"/>
                        </a:lnSpc>
                        <a:buFont typeface="Arial" panose="020B0604020202020204" pitchFamily="34" charset="0"/>
                        <a:buChar char="•"/>
                      </a:pPr>
                      <a:endParaRPr lang="en-US" sz="1500" dirty="0">
                        <a:solidFill>
                          <a:srgbClr val="3D4657"/>
                        </a:solidFill>
                        <a:latin typeface="Rubik" pitchFamily="34" charset="0"/>
                        <a:ea typeface="Rubik" pitchFamily="34" charset="-122"/>
                      </a:endParaRPr>
                    </a:p>
                    <a:p>
                      <a:pPr marL="285750" indent="-285750">
                        <a:lnSpc>
                          <a:spcPts val="2100"/>
                        </a:lnSpc>
                        <a:buFont typeface="Arial" panose="020B0604020202020204" pitchFamily="34" charset="0"/>
                        <a:buChar char="•"/>
                      </a:pPr>
                      <a:r>
                        <a:rPr lang="en-US" sz="1500" dirty="0">
                          <a:solidFill>
                            <a:srgbClr val="3D4657"/>
                          </a:solidFill>
                          <a:latin typeface="Rubik" pitchFamily="34" charset="0"/>
                          <a:ea typeface="Rubik" pitchFamily="34" charset="-122"/>
                        </a:rPr>
                        <a:t>Quick check, recap and homework</a:t>
                      </a:r>
                      <a:endParaRPr lang="en-US" sz="1500" dirty="0">
                        <a:latin typeface="Rubik" charset="0"/>
                        <a:ea typeface="Rubik" charset="0"/>
                      </a:endParaRPr>
                    </a:p>
                  </a:txBody>
                  <a:tcPr marL="66675" marR="66675" marT="66675" marB="66675">
                    <a:lnL w="12700" cap="flat" cmpd="sng" algn="ctr">
                      <a:solidFill>
                        <a:srgbClr val="C8C6C0"/>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WARM-UP · 2 MINUTES</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Write a program that prints this</a:t>
            </a:r>
            <a:endParaRPr lang="en-US" sz="3600" dirty="0"/>
          </a:p>
        </p:txBody>
      </p:sp>
      <p:sp>
        <p:nvSpPr>
          <p:cNvPr id="4" name="Text 2"/>
          <p:cNvSpPr/>
          <p:nvPr/>
        </p:nvSpPr>
        <p:spPr>
          <a:xfrm>
            <a:off x="812800" y="1757651"/>
            <a:ext cx="5207000" cy="2574925"/>
          </a:xfrm>
          <a:prstGeom prst="roundRect">
            <a:avLst>
              <a:gd name="adj" fmla="val 4932"/>
            </a:avLst>
          </a:prstGeom>
          <a:solidFill>
            <a:srgbClr val="EDE7DA"/>
          </a:solidFill>
          <a:ln/>
        </p:spPr>
        <p:txBody>
          <a:bodyPr wrap="none" lIns="267603" tIns="216803" rIns="129681" bIns="191403" rtlCol="0" anchor="t">
            <a:normAutofit/>
          </a:bodyPr>
          <a:lstStyle/>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Welcome to the Result System</a:t>
            </a:r>
            <a:endParaRPr lang="en-US" sz="1500" dirty="0"/>
          </a:p>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Enter your marks below</a:t>
            </a:r>
            <a:endParaRPr lang="en-US" sz="1500" dirty="0"/>
          </a:p>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Thank you!</a:t>
            </a:r>
            <a:endParaRPr lang="en-US" sz="1500" dirty="0"/>
          </a:p>
          <a:p>
            <a:pPr marL="0" indent="0" algn="l">
              <a:lnSpc>
                <a:spcPts val="2325"/>
              </a:lnSpc>
              <a:buNone/>
            </a:pP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6426200" y="2135476"/>
            <a:ext cx="5101590" cy="660400"/>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14213D"/>
                </a:solidFill>
                <a:latin typeface="Rubik" pitchFamily="34" charset="0"/>
                <a:ea typeface="Rubik" pitchFamily="34" charset="-122"/>
                <a:cs typeface="Rubik" pitchFamily="34" charset="-120"/>
              </a:rPr>
              <a:t>Use only what you already know: cout and loops.</a:t>
            </a:r>
            <a:endParaRPr lang="en-US" sz="2000" dirty="0"/>
          </a:p>
        </p:txBody>
      </p:sp>
      <p:sp>
        <p:nvSpPr>
          <p:cNvPr id="6" name="Text 4"/>
          <p:cNvSpPr/>
          <p:nvPr/>
        </p:nvSpPr>
        <p:spPr>
          <a:xfrm>
            <a:off x="6426200" y="2948277"/>
            <a:ext cx="5101590"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657"/>
                </a:solidFill>
                <a:latin typeface="Rubik" pitchFamily="34" charset="0"/>
                <a:ea typeface="Rubik" pitchFamily="34" charset="-122"/>
                <a:cs typeface="Rubik" pitchFamily="34" charset="-120"/>
              </a:rPr>
              <a:t>Count how many times you write the same lines.</a:t>
            </a:r>
            <a:endParaRPr lang="en-US" sz="1500" dirty="0"/>
          </a:p>
        </p:txBody>
      </p:sp>
      <p:sp>
        <p:nvSpPr>
          <p:cNvPr id="7" name="Text 5"/>
          <p:cNvSpPr/>
          <p:nvPr/>
        </p:nvSpPr>
        <p:spPr>
          <a:xfrm>
            <a:off x="6426200" y="3402302"/>
            <a:ext cx="510159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657"/>
                </a:solidFill>
                <a:latin typeface="Rubik" pitchFamily="34" charset="0"/>
                <a:ea typeface="Rubik" pitchFamily="34" charset="-122"/>
                <a:cs typeface="Rubik" pitchFamily="34" charset="-120"/>
              </a:rPr>
              <a:t>Then imagine your teacher says: “Make every line 20 stars instead of 10.”</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THE PROBLEM</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What most of us write</a:t>
            </a:r>
            <a:endParaRPr lang="en-US" sz="3600" dirty="0"/>
          </a:p>
        </p:txBody>
      </p:sp>
      <p:sp>
        <p:nvSpPr>
          <p:cNvPr id="4" name="Text 2"/>
          <p:cNvSpPr/>
          <p:nvPr/>
        </p:nvSpPr>
        <p:spPr>
          <a:xfrm>
            <a:off x="812800" y="1757652"/>
            <a:ext cx="6096000" cy="3676650"/>
          </a:xfrm>
          <a:prstGeom prst="roundRect">
            <a:avLst>
              <a:gd name="adj" fmla="val 3454"/>
            </a:avLst>
          </a:prstGeom>
          <a:solidFill>
            <a:srgbClr val="EDE7DA"/>
          </a:solidFill>
          <a:ln/>
        </p:spPr>
        <p:txBody>
          <a:bodyPr wrap="none" lIns="216803" tIns="191403" rIns="49163" bIns="166003" rtlCol="0" anchor="t">
            <a:normAutofit/>
          </a:bodyPr>
          <a:lstStyle/>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main()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for</a:t>
            </a:r>
            <a:r>
              <a:rPr lang="en-US" sz="1300" dirty="0">
                <a:solidFill>
                  <a:srgbClr val="14213D"/>
                </a:solidFill>
                <a:latin typeface="JetBrains Mono" pitchFamily="49" charset="0"/>
                <a:ea typeface="JetBrains Mono" pitchFamily="49" charset="-122"/>
                <a:cs typeface="JetBrains Mono" pitchFamily="49" charset="-120"/>
              </a:rPr>
              <a:t> (int i = 0; i &lt; 10; i++) cout &lt;&lt;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"Welcome to the Result System\n"</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for</a:t>
            </a:r>
            <a:r>
              <a:rPr lang="en-US" sz="1300" dirty="0">
                <a:solidFill>
                  <a:srgbClr val="14213D"/>
                </a:solidFill>
                <a:latin typeface="JetBrains Mono" pitchFamily="49" charset="0"/>
                <a:ea typeface="JetBrains Mono" pitchFamily="49" charset="-122"/>
                <a:cs typeface="JetBrains Mono" pitchFamily="49" charset="-120"/>
              </a:rPr>
              <a:t> (int i = 0; i &lt; 10; i++) cout &lt;&lt;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"Enter your marks below\n"</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for</a:t>
            </a:r>
            <a:r>
              <a:rPr lang="en-US" sz="1300" dirty="0">
                <a:solidFill>
                  <a:srgbClr val="14213D"/>
                </a:solidFill>
                <a:latin typeface="JetBrains Mono" pitchFamily="49" charset="0"/>
                <a:ea typeface="JetBrains Mono" pitchFamily="49" charset="-122"/>
                <a:cs typeface="JetBrains Mono" pitchFamily="49" charset="-120"/>
              </a:rPr>
              <a:t> (int i = 0; i &lt; 10; i++) cout &lt;&lt;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"Thank you!\n"</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for</a:t>
            </a:r>
            <a:r>
              <a:rPr lang="en-US" sz="1300" dirty="0">
                <a:solidFill>
                  <a:srgbClr val="14213D"/>
                </a:solidFill>
                <a:latin typeface="JetBrains Mono" pitchFamily="49" charset="0"/>
                <a:ea typeface="JetBrains Mono" pitchFamily="49" charset="-122"/>
                <a:cs typeface="JetBrains Mono" pitchFamily="49" charset="-120"/>
              </a:rPr>
              <a:t> (int i = 0; i &lt; 10; i++) cout &lt;&lt;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64400" y="1757652"/>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The same 2 lines are written </a:t>
            </a:r>
            <a:r>
              <a:rPr lang="en-US" sz="1500" b="1" dirty="0">
                <a:solidFill>
                  <a:srgbClr val="14213D"/>
                </a:solidFill>
                <a:latin typeface="Rubik" pitchFamily="34" charset="0"/>
                <a:ea typeface="Rubik" pitchFamily="34" charset="-122"/>
                <a:cs typeface="Rubik" pitchFamily="34" charset="-120"/>
              </a:rPr>
              <a:t>4 times</a:t>
            </a:r>
            <a:endParaRPr lang="en-US" sz="1500" dirty="0"/>
          </a:p>
        </p:txBody>
      </p:sp>
      <p:sp>
        <p:nvSpPr>
          <p:cNvPr id="6" name="Shape 4"/>
          <p:cNvSpPr/>
          <p:nvPr/>
        </p:nvSpPr>
        <p:spPr>
          <a:xfrm>
            <a:off x="7264400" y="1757652"/>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E07A2E"/>
          </a:solidFill>
          <a:ln/>
        </p:spPr>
        <p:txBody>
          <a:bodyPr/>
          <a:lstStyle/>
          <a:p>
            <a:endParaRPr lang="en-US"/>
          </a:p>
        </p:txBody>
      </p:sp>
      <p:sp>
        <p:nvSpPr>
          <p:cNvPr id="7" name="Text 5"/>
          <p:cNvSpPr/>
          <p:nvPr/>
        </p:nvSpPr>
        <p:spPr>
          <a:xfrm>
            <a:off x="7264400" y="2472027"/>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20 stars? Change </a:t>
            </a:r>
            <a:r>
              <a:rPr lang="en-US" sz="1500" b="1" dirty="0">
                <a:solidFill>
                  <a:srgbClr val="14213D"/>
                </a:solidFill>
                <a:latin typeface="Rubik" pitchFamily="34" charset="0"/>
                <a:ea typeface="Rubik" pitchFamily="34" charset="-122"/>
                <a:cs typeface="Rubik" pitchFamily="34" charset="-120"/>
              </a:rPr>
              <a:t>4 places</a:t>
            </a:r>
            <a:endParaRPr lang="en-US" sz="1500" dirty="0"/>
          </a:p>
        </p:txBody>
      </p:sp>
      <p:sp>
        <p:nvSpPr>
          <p:cNvPr id="8" name="Shape 6"/>
          <p:cNvSpPr/>
          <p:nvPr/>
        </p:nvSpPr>
        <p:spPr>
          <a:xfrm>
            <a:off x="7264400" y="2472027"/>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E07A2E"/>
          </a:solidFill>
          <a:ln/>
        </p:spPr>
        <p:txBody>
          <a:bodyPr/>
          <a:lstStyle/>
          <a:p>
            <a:endParaRPr lang="en-US"/>
          </a:p>
        </p:txBody>
      </p:sp>
      <p:sp>
        <p:nvSpPr>
          <p:cNvPr id="9" name="Text 7"/>
          <p:cNvSpPr/>
          <p:nvPr/>
        </p:nvSpPr>
        <p:spPr>
          <a:xfrm>
            <a:off x="7264400" y="3186402"/>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Forget one place and the output is </a:t>
            </a:r>
            <a:r>
              <a:rPr lang="en-US" sz="1500" b="1" dirty="0">
                <a:solidFill>
                  <a:srgbClr val="14213D"/>
                </a:solidFill>
                <a:latin typeface="Rubik" pitchFamily="34" charset="0"/>
                <a:ea typeface="Rubik" pitchFamily="34" charset="-122"/>
                <a:cs typeface="Rubik" pitchFamily="34" charset="-120"/>
              </a:rPr>
              <a:t>wrong</a:t>
            </a:r>
            <a:endParaRPr lang="en-US" sz="1500" dirty="0"/>
          </a:p>
        </p:txBody>
      </p:sp>
      <p:sp>
        <p:nvSpPr>
          <p:cNvPr id="10" name="Shape 8"/>
          <p:cNvSpPr/>
          <p:nvPr/>
        </p:nvSpPr>
        <p:spPr>
          <a:xfrm>
            <a:off x="7264400" y="3186402"/>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E07A2E"/>
          </a:solidFill>
          <a:ln/>
        </p:spPr>
        <p:txBody>
          <a:bodyPr/>
          <a:lstStyle/>
          <a:p>
            <a:endParaRPr lang="en-US"/>
          </a:p>
        </p:txBody>
      </p:sp>
      <p:sp>
        <p:nvSpPr>
          <p:cNvPr id="11" name="Text 9"/>
          <p:cNvSpPr/>
          <p:nvPr/>
        </p:nvSpPr>
        <p:spPr>
          <a:xfrm>
            <a:off x="7264400" y="3900777"/>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Now imagine a program of </a:t>
            </a:r>
            <a:r>
              <a:rPr lang="en-US" sz="1500" b="1" dirty="0">
                <a:solidFill>
                  <a:srgbClr val="14213D"/>
                </a:solidFill>
                <a:latin typeface="Rubik" pitchFamily="34" charset="0"/>
                <a:ea typeface="Rubik" pitchFamily="34" charset="-122"/>
                <a:cs typeface="Rubik" pitchFamily="34" charset="-120"/>
              </a:rPr>
              <a:t>2,000 lines</a:t>
            </a:r>
            <a:endParaRPr lang="en-US" sz="1500" dirty="0"/>
          </a:p>
        </p:txBody>
      </p:sp>
      <p:sp>
        <p:nvSpPr>
          <p:cNvPr id="12" name="Shape 10"/>
          <p:cNvSpPr/>
          <p:nvPr/>
        </p:nvSpPr>
        <p:spPr>
          <a:xfrm>
            <a:off x="7264400" y="3900777"/>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E07A2E"/>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REAL-LIFE PICTURE</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Think of a restaurant kitchen</a:t>
            </a:r>
            <a:endParaRPr lang="en-US" sz="3600" dirty="0"/>
          </a:p>
        </p:txBody>
      </p:sp>
      <p:sp>
        <p:nvSpPr>
          <p:cNvPr id="4" name="Shape 2"/>
          <p:cNvSpPr/>
          <p:nvPr/>
        </p:nvSpPr>
        <p:spPr>
          <a:xfrm>
            <a:off x="819150" y="1814801"/>
            <a:ext cx="3340100" cy="2232891"/>
          </a:xfrm>
          <a:prstGeom prst="roundRect">
            <a:avLst>
              <a:gd name="adj" fmla="val 5403"/>
            </a:avLst>
          </a:prstGeom>
          <a:solidFill>
            <a:srgbClr val="FFFFFF"/>
          </a:solidFill>
          <a:ln w="12700">
            <a:solidFill>
              <a:srgbClr val="E3DCCB"/>
            </a:solidFill>
            <a:prstDash val="solid"/>
          </a:ln>
        </p:spPr>
        <p:txBody>
          <a:bodyPr/>
          <a:lstStyle/>
          <a:p>
            <a:endParaRPr lang="en-US"/>
          </a:p>
        </p:txBody>
      </p:sp>
      <p:pic>
        <p:nvPicPr>
          <p:cNvPr id="5" name="Image 0" descr="Users"/>
          <p:cNvPicPr>
            <a:picLocks noChangeAspect="1"/>
          </p:cNvPicPr>
          <p:nvPr/>
        </p:nvPicPr>
        <p:blipFill>
          <a:blip r:embed="rId3"/>
          <a:srcRect/>
          <a:stretch/>
        </p:blipFill>
        <p:spPr>
          <a:xfrm>
            <a:off x="1078346" y="2073997"/>
            <a:ext cx="406400" cy="406400"/>
          </a:xfrm>
          <a:prstGeom prst="rect">
            <a:avLst/>
          </a:prstGeom>
        </p:spPr>
      </p:pic>
      <p:sp>
        <p:nvSpPr>
          <p:cNvPr id="6" name="Text 3"/>
          <p:cNvSpPr/>
          <p:nvPr/>
        </p:nvSpPr>
        <p:spPr>
          <a:xfrm>
            <a:off x="1078346" y="2581997"/>
            <a:ext cx="29063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Head chef = main()</a:t>
            </a:r>
            <a:endParaRPr lang="en-US" sz="2000" dirty="0"/>
          </a:p>
        </p:txBody>
      </p:sp>
      <p:sp>
        <p:nvSpPr>
          <p:cNvPr id="7" name="Text 4"/>
          <p:cNvSpPr/>
          <p:nvPr/>
        </p:nvSpPr>
        <p:spPr>
          <a:xfrm>
            <a:off x="1078346" y="2988397"/>
            <a:ext cx="290636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657"/>
                </a:solidFill>
                <a:latin typeface="Rubik" pitchFamily="34" charset="0"/>
                <a:ea typeface="Rubik" pitchFamily="34" charset="-122"/>
                <a:cs typeface="Rubik" pitchFamily="34" charset="-120"/>
              </a:rPr>
              <a:t>Does not cook everything alone. Gives orders and puts the meal together.</a:t>
            </a:r>
            <a:endParaRPr lang="en-US" sz="1500" dirty="0"/>
          </a:p>
        </p:txBody>
      </p:sp>
      <p:sp>
        <p:nvSpPr>
          <p:cNvPr id="8" name="Shape 5"/>
          <p:cNvSpPr/>
          <p:nvPr/>
        </p:nvSpPr>
        <p:spPr>
          <a:xfrm>
            <a:off x="4425950" y="1814801"/>
            <a:ext cx="3340100" cy="2232891"/>
          </a:xfrm>
          <a:prstGeom prst="roundRect">
            <a:avLst>
              <a:gd name="adj" fmla="val 5403"/>
            </a:avLst>
          </a:prstGeom>
          <a:solidFill>
            <a:srgbClr val="FFFFFF"/>
          </a:solidFill>
          <a:ln w="12700">
            <a:solidFill>
              <a:srgbClr val="E3DCCB"/>
            </a:solidFill>
            <a:prstDash val="solid"/>
          </a:ln>
        </p:spPr>
        <p:txBody>
          <a:bodyPr/>
          <a:lstStyle/>
          <a:p>
            <a:endParaRPr lang="en-US"/>
          </a:p>
        </p:txBody>
      </p:sp>
      <p:pic>
        <p:nvPicPr>
          <p:cNvPr id="9" name="Image 1" descr="Tool"/>
          <p:cNvPicPr>
            <a:picLocks noChangeAspect="1"/>
          </p:cNvPicPr>
          <p:nvPr/>
        </p:nvPicPr>
        <p:blipFill>
          <a:blip r:embed="rId4"/>
          <a:srcRect/>
          <a:stretch/>
        </p:blipFill>
        <p:spPr>
          <a:xfrm>
            <a:off x="4685145" y="2073997"/>
            <a:ext cx="406400" cy="406400"/>
          </a:xfrm>
          <a:prstGeom prst="rect">
            <a:avLst/>
          </a:prstGeom>
        </p:spPr>
      </p:pic>
      <p:sp>
        <p:nvSpPr>
          <p:cNvPr id="10" name="Text 6"/>
          <p:cNvSpPr/>
          <p:nvPr/>
        </p:nvSpPr>
        <p:spPr>
          <a:xfrm>
            <a:off x="4685145" y="2581997"/>
            <a:ext cx="29063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Helper = function</a:t>
            </a:r>
            <a:endParaRPr lang="en-US" sz="2000" dirty="0"/>
          </a:p>
        </p:txBody>
      </p:sp>
      <p:sp>
        <p:nvSpPr>
          <p:cNvPr id="11" name="Text 7"/>
          <p:cNvSpPr/>
          <p:nvPr/>
        </p:nvSpPr>
        <p:spPr>
          <a:xfrm>
            <a:off x="4685145" y="2988397"/>
            <a:ext cx="290636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657"/>
                </a:solidFill>
                <a:latin typeface="Rubik" pitchFamily="34" charset="0"/>
                <a:ea typeface="Rubik" pitchFamily="34" charset="-122"/>
                <a:cs typeface="Rubik" pitchFamily="34" charset="-120"/>
              </a:rPr>
              <a:t>Has one job only: make the sauce, cut the onions, bake the naan.</a:t>
            </a:r>
            <a:endParaRPr lang="en-US" sz="1500" dirty="0"/>
          </a:p>
        </p:txBody>
      </p:sp>
      <p:sp>
        <p:nvSpPr>
          <p:cNvPr id="12" name="Shape 8"/>
          <p:cNvSpPr/>
          <p:nvPr/>
        </p:nvSpPr>
        <p:spPr>
          <a:xfrm>
            <a:off x="8032750" y="1814801"/>
            <a:ext cx="3340100" cy="2232891"/>
          </a:xfrm>
          <a:prstGeom prst="roundRect">
            <a:avLst>
              <a:gd name="adj" fmla="val 5403"/>
            </a:avLst>
          </a:prstGeom>
          <a:solidFill>
            <a:srgbClr val="FFFFFF"/>
          </a:solidFill>
          <a:ln w="12700">
            <a:solidFill>
              <a:srgbClr val="E3DCCB"/>
            </a:solidFill>
            <a:prstDash val="solid"/>
          </a:ln>
        </p:spPr>
        <p:txBody>
          <a:bodyPr/>
          <a:lstStyle/>
          <a:p>
            <a:endParaRPr lang="en-US"/>
          </a:p>
        </p:txBody>
      </p:sp>
      <p:pic>
        <p:nvPicPr>
          <p:cNvPr id="13" name="Image 2" descr="Chat"/>
          <p:cNvPicPr>
            <a:picLocks noChangeAspect="1"/>
          </p:cNvPicPr>
          <p:nvPr/>
        </p:nvPicPr>
        <p:blipFill>
          <a:blip r:embed="rId5"/>
          <a:srcRect/>
          <a:stretch/>
        </p:blipFill>
        <p:spPr>
          <a:xfrm>
            <a:off x="8291946" y="2073997"/>
            <a:ext cx="406400" cy="406400"/>
          </a:xfrm>
          <a:prstGeom prst="rect">
            <a:avLst/>
          </a:prstGeom>
        </p:spPr>
      </p:pic>
      <p:sp>
        <p:nvSpPr>
          <p:cNvPr id="14" name="Text 9"/>
          <p:cNvSpPr/>
          <p:nvPr/>
        </p:nvSpPr>
        <p:spPr>
          <a:xfrm>
            <a:off x="8291946" y="2581997"/>
            <a:ext cx="29063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Rubik" pitchFamily="34" charset="0"/>
                <a:ea typeface="Rubik" pitchFamily="34" charset="-122"/>
                <a:cs typeface="Rubik" pitchFamily="34" charset="-120"/>
              </a:rPr>
              <a:t>Order = function call</a:t>
            </a:r>
            <a:endParaRPr lang="en-US" sz="2000" dirty="0"/>
          </a:p>
        </p:txBody>
      </p:sp>
      <p:sp>
        <p:nvSpPr>
          <p:cNvPr id="15" name="Text 10"/>
          <p:cNvSpPr/>
          <p:nvPr/>
        </p:nvSpPr>
        <p:spPr>
          <a:xfrm>
            <a:off x="8291946" y="2988397"/>
            <a:ext cx="2906360"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657"/>
                </a:solidFill>
                <a:latin typeface="Rubik" pitchFamily="34" charset="0"/>
                <a:ea typeface="Rubik" pitchFamily="34" charset="-122"/>
                <a:cs typeface="Rubik" pitchFamily="34" charset="-120"/>
              </a:rPr>
              <a:t>“Make sauce!” The helper does the job and hands back the result.</a:t>
            </a:r>
            <a:endParaRPr lang="en-US" sz="1500" dirty="0"/>
          </a:p>
        </p:txBody>
      </p:sp>
      <p:sp>
        <p:nvSpPr>
          <p:cNvPr id="16" name="Text 11"/>
          <p:cNvSpPr/>
          <p:nvPr/>
        </p:nvSpPr>
        <p:spPr>
          <a:xfrm>
            <a:off x="812800" y="4358844"/>
            <a:ext cx="10883392" cy="33398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213D"/>
                </a:solidFill>
                <a:latin typeface="Rubik" pitchFamily="34" charset="0"/>
                <a:ea typeface="Rubik" pitchFamily="34" charset="-122"/>
                <a:cs typeface="Rubik" pitchFamily="34" charset="-120"/>
              </a:rPr>
              <a:t>The chef does not care </a:t>
            </a:r>
            <a:r>
              <a:rPr lang="en-US" sz="1800" i="1" dirty="0">
                <a:solidFill>
                  <a:srgbClr val="14213D"/>
                </a:solidFill>
                <a:latin typeface="Rubik" pitchFamily="34" charset="0"/>
                <a:ea typeface="Rubik" pitchFamily="34" charset="-122"/>
                <a:cs typeface="Rubik" pitchFamily="34" charset="-120"/>
              </a:rPr>
              <a:t>how</a:t>
            </a:r>
            <a:r>
              <a:rPr lang="en-US" sz="1800" dirty="0">
                <a:solidFill>
                  <a:srgbClr val="14213D"/>
                </a:solidFill>
                <a:latin typeface="Rubik" pitchFamily="34" charset="0"/>
                <a:ea typeface="Rubik" pitchFamily="34" charset="-122"/>
                <a:cs typeface="Rubik" pitchFamily="34" charset="-120"/>
              </a:rPr>
              <a:t> the sauce is made, only that it comes back ready.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EF7"/>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DEFINITION</a:t>
            </a:r>
            <a:endParaRPr lang="en-US" sz="1200" dirty="0"/>
          </a:p>
        </p:txBody>
      </p:sp>
      <p:sp>
        <p:nvSpPr>
          <p:cNvPr id="3" name="Text 1"/>
          <p:cNvSpPr>
            <a:spLocks noGrp="1"/>
          </p:cNvSpPr>
          <p:nvPr>
            <p:ph type="title"/>
          </p:nvPr>
        </p:nvSpPr>
        <p:spPr>
          <a:xfrm>
            <a:off x="812800" y="1000739"/>
            <a:ext cx="10883392" cy="1488353"/>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4213D"/>
                </a:solidFill>
                <a:latin typeface="Rubik" pitchFamily="34" charset="0"/>
                <a:ea typeface="Rubik" pitchFamily="34" charset="-122"/>
                <a:cs typeface="Rubik" pitchFamily="34" charset="-120"/>
              </a:rPr>
              <a:t>A function is a named block of code that does one specific job. Write it once, run it whenever you call its name.</a:t>
            </a:r>
            <a:endParaRPr lang="en-US" sz="3200" dirty="0"/>
          </a:p>
        </p:txBody>
      </p:sp>
      <p:sp>
        <p:nvSpPr>
          <p:cNvPr id="4" name="Shape 2"/>
          <p:cNvSpPr/>
          <p:nvPr/>
        </p:nvSpPr>
        <p:spPr>
          <a:xfrm>
            <a:off x="812800" y="2819291"/>
            <a:ext cx="2785521" cy="1455377"/>
          </a:xfrm>
          <a:prstGeom prst="roundRect">
            <a:avLst>
              <a:gd name="adj" fmla="val 8726"/>
            </a:avLst>
          </a:prstGeom>
          <a:solidFill>
            <a:srgbClr val="FFFFFF"/>
          </a:solidFill>
          <a:ln/>
        </p:spPr>
        <p:txBody>
          <a:bodyPr/>
          <a:lstStyle/>
          <a:p>
            <a:endParaRPr lang="en-US"/>
          </a:p>
        </p:txBody>
      </p:sp>
      <p:sp>
        <p:nvSpPr>
          <p:cNvPr id="5" name="Text 3"/>
          <p:cNvSpPr/>
          <p:nvPr/>
        </p:nvSpPr>
        <p:spPr>
          <a:xfrm>
            <a:off x="1041400" y="3047891"/>
            <a:ext cx="2398171" cy="23873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Rubik" pitchFamily="34" charset="0"/>
                <a:ea typeface="Rubik" pitchFamily="34" charset="-122"/>
                <a:cs typeface="Rubik" pitchFamily="34" charset="-120"/>
              </a:rPr>
              <a:t>INPUT</a:t>
            </a:r>
            <a:endParaRPr lang="en-US" sz="1200" dirty="0"/>
          </a:p>
        </p:txBody>
      </p:sp>
      <p:sp>
        <p:nvSpPr>
          <p:cNvPr id="6" name="Text 4"/>
          <p:cNvSpPr/>
          <p:nvPr/>
        </p:nvSpPr>
        <p:spPr>
          <a:xfrm>
            <a:off x="1041400" y="3324730"/>
            <a:ext cx="239817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Rubik" pitchFamily="34" charset="0"/>
                <a:ea typeface="Rubik" pitchFamily="34" charset="-122"/>
                <a:cs typeface="Rubik" pitchFamily="34" charset="-120"/>
              </a:rPr>
              <a:t>Values we give it</a:t>
            </a:r>
            <a:endParaRPr lang="en-US" sz="1500" dirty="0"/>
          </a:p>
        </p:txBody>
      </p:sp>
      <p:sp>
        <p:nvSpPr>
          <p:cNvPr id="7" name="Text 5"/>
          <p:cNvSpPr/>
          <p:nvPr/>
        </p:nvSpPr>
        <p:spPr>
          <a:xfrm>
            <a:off x="1041400" y="3654930"/>
            <a:ext cx="2398171" cy="416538"/>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5</a:t>
            </a:r>
            <a:endParaRPr lang="en-US" sz="2200" dirty="0"/>
          </a:p>
        </p:txBody>
      </p:sp>
      <p:pic>
        <p:nvPicPr>
          <p:cNvPr id="8" name="Image 0" descr="arrow-right"/>
          <p:cNvPicPr>
            <a:picLocks noChangeAspect="1"/>
          </p:cNvPicPr>
          <p:nvPr/>
        </p:nvPicPr>
        <p:blipFill>
          <a:blip r:embed="rId3"/>
          <a:srcRect/>
          <a:stretch/>
        </p:blipFill>
        <p:spPr>
          <a:xfrm>
            <a:off x="3801521" y="3369180"/>
            <a:ext cx="698500" cy="355600"/>
          </a:xfrm>
          <a:prstGeom prst="rect">
            <a:avLst/>
          </a:prstGeom>
        </p:spPr>
      </p:pic>
      <p:sp>
        <p:nvSpPr>
          <p:cNvPr id="9" name="Shape 6"/>
          <p:cNvSpPr/>
          <p:nvPr/>
        </p:nvSpPr>
        <p:spPr>
          <a:xfrm>
            <a:off x="4703221" y="2819291"/>
            <a:ext cx="2785557" cy="1455377"/>
          </a:xfrm>
          <a:prstGeom prst="roundRect">
            <a:avLst>
              <a:gd name="adj" fmla="val 8726"/>
            </a:avLst>
          </a:prstGeom>
          <a:solidFill>
            <a:srgbClr val="E07A2E"/>
          </a:solidFill>
          <a:ln/>
        </p:spPr>
        <p:txBody>
          <a:bodyPr/>
          <a:lstStyle/>
          <a:p>
            <a:endParaRPr lang="en-US"/>
          </a:p>
        </p:txBody>
      </p:sp>
      <p:sp>
        <p:nvSpPr>
          <p:cNvPr id="10" name="Text 7"/>
          <p:cNvSpPr/>
          <p:nvPr/>
        </p:nvSpPr>
        <p:spPr>
          <a:xfrm>
            <a:off x="4931821" y="3047891"/>
            <a:ext cx="2398208" cy="23873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3D"/>
                </a:solidFill>
                <a:latin typeface="Rubik" pitchFamily="34" charset="0"/>
                <a:ea typeface="Rubik" pitchFamily="34" charset="-122"/>
                <a:cs typeface="Rubik" pitchFamily="34" charset="-120"/>
              </a:rPr>
              <a:t>FUNCTION</a:t>
            </a:r>
            <a:endParaRPr lang="en-US" sz="1200" dirty="0"/>
          </a:p>
        </p:txBody>
      </p:sp>
      <p:sp>
        <p:nvSpPr>
          <p:cNvPr id="11" name="Text 8"/>
          <p:cNvSpPr/>
          <p:nvPr/>
        </p:nvSpPr>
        <p:spPr>
          <a:xfrm>
            <a:off x="4931821" y="3324730"/>
            <a:ext cx="23982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Rubik" pitchFamily="34" charset="0"/>
                <a:ea typeface="Rubik" pitchFamily="34" charset="-122"/>
                <a:cs typeface="Rubik" pitchFamily="34" charset="-120"/>
              </a:rPr>
              <a:t>Does the job</a:t>
            </a:r>
            <a:endParaRPr lang="en-US" sz="1500" dirty="0"/>
          </a:p>
        </p:txBody>
      </p:sp>
      <p:sp>
        <p:nvSpPr>
          <p:cNvPr id="12" name="Text 9"/>
          <p:cNvSpPr/>
          <p:nvPr/>
        </p:nvSpPr>
        <p:spPr>
          <a:xfrm>
            <a:off x="4931821" y="3654930"/>
            <a:ext cx="2398208" cy="416538"/>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square</a:t>
            </a:r>
            <a:endParaRPr lang="en-US" sz="2200" dirty="0"/>
          </a:p>
        </p:txBody>
      </p:sp>
      <p:pic>
        <p:nvPicPr>
          <p:cNvPr id="13" name="Image 1" descr="arrow-right"/>
          <p:cNvPicPr>
            <a:picLocks noChangeAspect="1"/>
          </p:cNvPicPr>
          <p:nvPr/>
        </p:nvPicPr>
        <p:blipFill>
          <a:blip r:embed="rId3"/>
          <a:srcRect/>
          <a:stretch/>
        </p:blipFill>
        <p:spPr>
          <a:xfrm>
            <a:off x="7691979" y="3369180"/>
            <a:ext cx="698500" cy="355600"/>
          </a:xfrm>
          <a:prstGeom prst="rect">
            <a:avLst/>
          </a:prstGeom>
        </p:spPr>
      </p:pic>
      <p:sp>
        <p:nvSpPr>
          <p:cNvPr id="14" name="Shape 10"/>
          <p:cNvSpPr/>
          <p:nvPr/>
        </p:nvSpPr>
        <p:spPr>
          <a:xfrm>
            <a:off x="8593679" y="2819291"/>
            <a:ext cx="2785521" cy="1455377"/>
          </a:xfrm>
          <a:prstGeom prst="roundRect">
            <a:avLst>
              <a:gd name="adj" fmla="val 8726"/>
            </a:avLst>
          </a:prstGeom>
          <a:solidFill>
            <a:srgbClr val="FFFFFF"/>
          </a:solidFill>
          <a:ln/>
        </p:spPr>
        <p:txBody>
          <a:bodyPr/>
          <a:lstStyle/>
          <a:p>
            <a:endParaRPr lang="en-US"/>
          </a:p>
        </p:txBody>
      </p:sp>
      <p:sp>
        <p:nvSpPr>
          <p:cNvPr id="15" name="Text 11"/>
          <p:cNvSpPr/>
          <p:nvPr/>
        </p:nvSpPr>
        <p:spPr>
          <a:xfrm>
            <a:off x="8822279" y="3047891"/>
            <a:ext cx="2398171" cy="23873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Rubik" pitchFamily="34" charset="0"/>
                <a:ea typeface="Rubik" pitchFamily="34" charset="-122"/>
                <a:cs typeface="Rubik" pitchFamily="34" charset="-120"/>
              </a:rPr>
              <a:t>OUTPUT</a:t>
            </a:r>
            <a:endParaRPr lang="en-US" sz="1200" dirty="0"/>
          </a:p>
        </p:txBody>
      </p:sp>
      <p:sp>
        <p:nvSpPr>
          <p:cNvPr id="16" name="Text 12"/>
          <p:cNvSpPr/>
          <p:nvPr/>
        </p:nvSpPr>
        <p:spPr>
          <a:xfrm>
            <a:off x="8822279" y="3324730"/>
            <a:ext cx="239817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Rubik" pitchFamily="34" charset="0"/>
                <a:ea typeface="Rubik" pitchFamily="34" charset="-122"/>
                <a:cs typeface="Rubik" pitchFamily="34" charset="-120"/>
              </a:rPr>
              <a:t>Result it gives back</a:t>
            </a:r>
            <a:endParaRPr lang="en-US" sz="1500" dirty="0"/>
          </a:p>
        </p:txBody>
      </p:sp>
      <p:sp>
        <p:nvSpPr>
          <p:cNvPr id="17" name="Text 13"/>
          <p:cNvSpPr/>
          <p:nvPr/>
        </p:nvSpPr>
        <p:spPr>
          <a:xfrm>
            <a:off x="8822279" y="3654930"/>
            <a:ext cx="2398171" cy="416538"/>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25</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NEED AND IMPORTANCE</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Why do we need functions?</a:t>
            </a:r>
            <a:endParaRPr lang="en-US" sz="3600" dirty="0"/>
          </a:p>
        </p:txBody>
      </p:sp>
      <p:sp>
        <p:nvSpPr>
          <p:cNvPr id="4" name="Shape 2"/>
          <p:cNvSpPr/>
          <p:nvPr/>
        </p:nvSpPr>
        <p:spPr>
          <a:xfrm>
            <a:off x="812800" y="1757654"/>
            <a:ext cx="3403600" cy="1305538"/>
          </a:xfrm>
          <a:prstGeom prst="roundRect">
            <a:avLst>
              <a:gd name="adj" fmla="val 7782"/>
            </a:avLst>
          </a:prstGeom>
          <a:solidFill>
            <a:srgbClr val="FFFFFF"/>
          </a:solidFill>
          <a:ln/>
        </p:spPr>
        <p:txBody>
          <a:bodyPr/>
          <a:lstStyle/>
          <a:p>
            <a:endParaRPr lang="en-US"/>
          </a:p>
        </p:txBody>
      </p:sp>
      <p:sp>
        <p:nvSpPr>
          <p:cNvPr id="5" name="Shape 3"/>
          <p:cNvSpPr/>
          <p:nvPr/>
        </p:nvSpPr>
        <p:spPr>
          <a:xfrm>
            <a:off x="812800" y="1757654"/>
            <a:ext cx="3403600" cy="1305538"/>
          </a:xfrm>
          <a:custGeom>
            <a:avLst/>
            <a:gdLst/>
            <a:ahLst/>
            <a:cxnLst/>
            <a:rect l="l" t="t" r="r" b="b"/>
            <a:pathLst>
              <a:path w="3403600" h="1305538">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E07A2E"/>
          </a:solidFill>
          <a:ln/>
        </p:spPr>
        <p:txBody>
          <a:bodyPr/>
          <a:lstStyle/>
          <a:p>
            <a:endParaRPr lang="en-US"/>
          </a:p>
        </p:txBody>
      </p:sp>
      <p:sp>
        <p:nvSpPr>
          <p:cNvPr id="6" name="Text 4"/>
          <p:cNvSpPr/>
          <p:nvPr/>
        </p:nvSpPr>
        <p:spPr>
          <a:xfrm>
            <a:off x="1016000" y="2011654"/>
            <a:ext cx="3087116"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Less repetition</a:t>
            </a:r>
            <a:endParaRPr lang="en-US" sz="1800" dirty="0"/>
          </a:p>
        </p:txBody>
      </p:sp>
      <p:sp>
        <p:nvSpPr>
          <p:cNvPr id="7" name="Text 5"/>
          <p:cNvSpPr/>
          <p:nvPr/>
        </p:nvSpPr>
        <p:spPr>
          <a:xfrm>
            <a:off x="1016000" y="2362166"/>
            <a:ext cx="3087116" cy="52322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Write the code once, use it many times.</a:t>
            </a:r>
            <a:endParaRPr lang="en-US" sz="1400" dirty="0"/>
          </a:p>
        </p:txBody>
      </p:sp>
      <p:sp>
        <p:nvSpPr>
          <p:cNvPr id="8" name="Shape 6"/>
          <p:cNvSpPr/>
          <p:nvPr/>
        </p:nvSpPr>
        <p:spPr>
          <a:xfrm>
            <a:off x="4394200" y="1757654"/>
            <a:ext cx="3403600" cy="1305538"/>
          </a:xfrm>
          <a:prstGeom prst="roundRect">
            <a:avLst>
              <a:gd name="adj" fmla="val 7782"/>
            </a:avLst>
          </a:prstGeom>
          <a:solidFill>
            <a:srgbClr val="FFFFFF"/>
          </a:solidFill>
          <a:ln/>
        </p:spPr>
        <p:txBody>
          <a:bodyPr/>
          <a:lstStyle/>
          <a:p>
            <a:endParaRPr lang="en-US"/>
          </a:p>
        </p:txBody>
      </p:sp>
      <p:sp>
        <p:nvSpPr>
          <p:cNvPr id="9" name="Shape 7"/>
          <p:cNvSpPr/>
          <p:nvPr/>
        </p:nvSpPr>
        <p:spPr>
          <a:xfrm>
            <a:off x="4394200" y="1757654"/>
            <a:ext cx="3403600" cy="1305538"/>
          </a:xfrm>
          <a:custGeom>
            <a:avLst/>
            <a:gdLst/>
            <a:ahLst/>
            <a:cxnLst/>
            <a:rect l="l" t="t" r="r" b="b"/>
            <a:pathLst>
              <a:path w="3403600" h="1305538">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E07A2E"/>
          </a:solidFill>
          <a:ln/>
        </p:spPr>
        <p:txBody>
          <a:bodyPr/>
          <a:lstStyle/>
          <a:p>
            <a:endParaRPr lang="en-US"/>
          </a:p>
        </p:txBody>
      </p:sp>
      <p:sp>
        <p:nvSpPr>
          <p:cNvPr id="10" name="Text 8"/>
          <p:cNvSpPr/>
          <p:nvPr/>
        </p:nvSpPr>
        <p:spPr>
          <a:xfrm>
            <a:off x="4597400" y="2011654"/>
            <a:ext cx="3087116"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Easier to read</a:t>
            </a:r>
            <a:endParaRPr lang="en-US" sz="1800" dirty="0"/>
          </a:p>
        </p:txBody>
      </p:sp>
      <p:sp>
        <p:nvSpPr>
          <p:cNvPr id="11" name="Text 9"/>
          <p:cNvSpPr/>
          <p:nvPr/>
        </p:nvSpPr>
        <p:spPr>
          <a:xfrm>
            <a:off x="4597400" y="2362166"/>
            <a:ext cx="3087116" cy="27431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main() reads like a short to-do list.</a:t>
            </a:r>
            <a:endParaRPr lang="en-US" sz="1400" dirty="0"/>
          </a:p>
        </p:txBody>
      </p:sp>
      <p:sp>
        <p:nvSpPr>
          <p:cNvPr id="12" name="Shape 10"/>
          <p:cNvSpPr/>
          <p:nvPr/>
        </p:nvSpPr>
        <p:spPr>
          <a:xfrm>
            <a:off x="7975600" y="1757654"/>
            <a:ext cx="3403600" cy="1305538"/>
          </a:xfrm>
          <a:prstGeom prst="roundRect">
            <a:avLst>
              <a:gd name="adj" fmla="val 7782"/>
            </a:avLst>
          </a:prstGeom>
          <a:solidFill>
            <a:srgbClr val="FFFFFF"/>
          </a:solidFill>
          <a:ln/>
        </p:spPr>
        <p:txBody>
          <a:bodyPr/>
          <a:lstStyle/>
          <a:p>
            <a:endParaRPr lang="en-US"/>
          </a:p>
        </p:txBody>
      </p:sp>
      <p:sp>
        <p:nvSpPr>
          <p:cNvPr id="13" name="Shape 11"/>
          <p:cNvSpPr/>
          <p:nvPr/>
        </p:nvSpPr>
        <p:spPr>
          <a:xfrm>
            <a:off x="7975600" y="1757654"/>
            <a:ext cx="3403600" cy="1305538"/>
          </a:xfrm>
          <a:custGeom>
            <a:avLst/>
            <a:gdLst/>
            <a:ahLst/>
            <a:cxnLst/>
            <a:rect l="l" t="t" r="r" b="b"/>
            <a:pathLst>
              <a:path w="3403600" h="1305538">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E07A2E"/>
          </a:solidFill>
          <a:ln/>
        </p:spPr>
        <p:txBody>
          <a:bodyPr/>
          <a:lstStyle/>
          <a:p>
            <a:endParaRPr lang="en-US"/>
          </a:p>
        </p:txBody>
      </p:sp>
      <p:sp>
        <p:nvSpPr>
          <p:cNvPr id="14" name="Text 12"/>
          <p:cNvSpPr/>
          <p:nvPr/>
        </p:nvSpPr>
        <p:spPr>
          <a:xfrm>
            <a:off x="8178800" y="2011654"/>
            <a:ext cx="3087116"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Easier to fix</a:t>
            </a:r>
            <a:endParaRPr lang="en-US" sz="1800" dirty="0"/>
          </a:p>
        </p:txBody>
      </p:sp>
      <p:sp>
        <p:nvSpPr>
          <p:cNvPr id="15" name="Text 13"/>
          <p:cNvSpPr/>
          <p:nvPr/>
        </p:nvSpPr>
        <p:spPr>
          <a:xfrm>
            <a:off x="8178800" y="2362166"/>
            <a:ext cx="3087116" cy="52322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A bug lives in one small place, fixed once.</a:t>
            </a:r>
            <a:endParaRPr lang="en-US" sz="1400" dirty="0"/>
          </a:p>
        </p:txBody>
      </p:sp>
      <p:sp>
        <p:nvSpPr>
          <p:cNvPr id="16" name="Shape 14"/>
          <p:cNvSpPr/>
          <p:nvPr/>
        </p:nvSpPr>
        <p:spPr>
          <a:xfrm>
            <a:off x="812800" y="3240990"/>
            <a:ext cx="3403600" cy="1305538"/>
          </a:xfrm>
          <a:prstGeom prst="roundRect">
            <a:avLst>
              <a:gd name="adj" fmla="val 7782"/>
            </a:avLst>
          </a:prstGeom>
          <a:solidFill>
            <a:srgbClr val="FFFFFF"/>
          </a:solidFill>
          <a:ln/>
        </p:spPr>
        <p:txBody>
          <a:bodyPr/>
          <a:lstStyle/>
          <a:p>
            <a:endParaRPr lang="en-US"/>
          </a:p>
        </p:txBody>
      </p:sp>
      <p:sp>
        <p:nvSpPr>
          <p:cNvPr id="17" name="Shape 15"/>
          <p:cNvSpPr/>
          <p:nvPr/>
        </p:nvSpPr>
        <p:spPr>
          <a:xfrm>
            <a:off x="812800" y="3240990"/>
            <a:ext cx="3403600" cy="1305538"/>
          </a:xfrm>
          <a:custGeom>
            <a:avLst/>
            <a:gdLst/>
            <a:ahLst/>
            <a:cxnLst/>
            <a:rect l="l" t="t" r="r" b="b"/>
            <a:pathLst>
              <a:path w="3403600" h="1305538">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2A6FB0"/>
          </a:solidFill>
          <a:ln/>
        </p:spPr>
        <p:txBody>
          <a:bodyPr/>
          <a:lstStyle/>
          <a:p>
            <a:endParaRPr lang="en-US"/>
          </a:p>
        </p:txBody>
      </p:sp>
      <p:sp>
        <p:nvSpPr>
          <p:cNvPr id="18" name="Text 16"/>
          <p:cNvSpPr/>
          <p:nvPr/>
        </p:nvSpPr>
        <p:spPr>
          <a:xfrm>
            <a:off x="1016000" y="3494990"/>
            <a:ext cx="3087116"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Easier to test</a:t>
            </a:r>
            <a:endParaRPr lang="en-US" sz="1800" dirty="0"/>
          </a:p>
        </p:txBody>
      </p:sp>
      <p:sp>
        <p:nvSpPr>
          <p:cNvPr id="19" name="Text 17"/>
          <p:cNvSpPr/>
          <p:nvPr/>
        </p:nvSpPr>
        <p:spPr>
          <a:xfrm>
            <a:off x="1016000" y="3845505"/>
            <a:ext cx="3087116" cy="27431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Check each small piece on its own.</a:t>
            </a:r>
            <a:endParaRPr lang="en-US" sz="1400" dirty="0"/>
          </a:p>
        </p:txBody>
      </p:sp>
      <p:sp>
        <p:nvSpPr>
          <p:cNvPr id="20" name="Shape 18"/>
          <p:cNvSpPr/>
          <p:nvPr/>
        </p:nvSpPr>
        <p:spPr>
          <a:xfrm>
            <a:off x="4394200" y="3240990"/>
            <a:ext cx="3403600" cy="1305538"/>
          </a:xfrm>
          <a:prstGeom prst="roundRect">
            <a:avLst>
              <a:gd name="adj" fmla="val 7782"/>
            </a:avLst>
          </a:prstGeom>
          <a:solidFill>
            <a:srgbClr val="FFFFFF"/>
          </a:solidFill>
          <a:ln/>
        </p:spPr>
        <p:txBody>
          <a:bodyPr/>
          <a:lstStyle/>
          <a:p>
            <a:endParaRPr lang="en-US"/>
          </a:p>
        </p:txBody>
      </p:sp>
      <p:sp>
        <p:nvSpPr>
          <p:cNvPr id="21" name="Shape 19"/>
          <p:cNvSpPr/>
          <p:nvPr/>
        </p:nvSpPr>
        <p:spPr>
          <a:xfrm>
            <a:off x="4394200" y="3240990"/>
            <a:ext cx="3403600" cy="1305538"/>
          </a:xfrm>
          <a:custGeom>
            <a:avLst/>
            <a:gdLst/>
            <a:ahLst/>
            <a:cxnLst/>
            <a:rect l="l" t="t" r="r" b="b"/>
            <a:pathLst>
              <a:path w="3403600" h="1305538">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2A6FB0"/>
          </a:solidFill>
          <a:ln/>
        </p:spPr>
        <p:txBody>
          <a:bodyPr/>
          <a:lstStyle/>
          <a:p>
            <a:endParaRPr lang="en-US"/>
          </a:p>
        </p:txBody>
      </p:sp>
      <p:sp>
        <p:nvSpPr>
          <p:cNvPr id="22" name="Text 20"/>
          <p:cNvSpPr/>
          <p:nvPr/>
        </p:nvSpPr>
        <p:spPr>
          <a:xfrm>
            <a:off x="4597400" y="3494990"/>
            <a:ext cx="3087116"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Teamwork</a:t>
            </a:r>
            <a:endParaRPr lang="en-US" sz="1800" dirty="0"/>
          </a:p>
        </p:txBody>
      </p:sp>
      <p:sp>
        <p:nvSpPr>
          <p:cNvPr id="23" name="Text 21"/>
          <p:cNvSpPr/>
          <p:nvPr/>
        </p:nvSpPr>
        <p:spPr>
          <a:xfrm>
            <a:off x="4597400" y="3845505"/>
            <a:ext cx="3087116" cy="52322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Different people write different functions.</a:t>
            </a:r>
            <a:endParaRPr lang="en-US" sz="1400" dirty="0"/>
          </a:p>
        </p:txBody>
      </p:sp>
      <p:sp>
        <p:nvSpPr>
          <p:cNvPr id="24" name="Shape 22"/>
          <p:cNvSpPr/>
          <p:nvPr/>
        </p:nvSpPr>
        <p:spPr>
          <a:xfrm>
            <a:off x="7975600" y="3240990"/>
            <a:ext cx="3403600" cy="1305538"/>
          </a:xfrm>
          <a:prstGeom prst="roundRect">
            <a:avLst>
              <a:gd name="adj" fmla="val 7782"/>
            </a:avLst>
          </a:prstGeom>
          <a:solidFill>
            <a:srgbClr val="FFFFFF"/>
          </a:solidFill>
          <a:ln/>
        </p:spPr>
        <p:txBody>
          <a:bodyPr/>
          <a:lstStyle/>
          <a:p>
            <a:endParaRPr lang="en-US"/>
          </a:p>
        </p:txBody>
      </p:sp>
      <p:sp>
        <p:nvSpPr>
          <p:cNvPr id="25" name="Shape 23"/>
          <p:cNvSpPr/>
          <p:nvPr/>
        </p:nvSpPr>
        <p:spPr>
          <a:xfrm>
            <a:off x="7975600" y="3240990"/>
            <a:ext cx="3403600" cy="1305538"/>
          </a:xfrm>
          <a:custGeom>
            <a:avLst/>
            <a:gdLst/>
            <a:ahLst/>
            <a:cxnLst/>
            <a:rect l="l" t="t" r="r" b="b"/>
            <a:pathLst>
              <a:path w="3403600" h="1305538">
                <a:moveTo>
                  <a:pt x="0" y="101600"/>
                </a:moveTo>
                <a:lnTo>
                  <a:pt x="0" y="101600"/>
                </a:lnTo>
                <a:arcTo wR="101600" hR="101600" stAng="10800000" swAng="5400000"/>
                <a:lnTo>
                  <a:pt x="3302000" y="0"/>
                </a:lnTo>
                <a:arcTo wR="101600" hR="101600" stAng="16200000" swAng="5400000"/>
                <a:lnTo>
                  <a:pt x="3403600" y="101600"/>
                </a:lnTo>
                <a:arcTo wR="101600" hR="50800" stAng="0" swAng="-5400000"/>
                <a:lnTo>
                  <a:pt x="101600" y="50800"/>
                </a:lnTo>
                <a:arcTo wR="101600" hR="50800" stAng="16200000" swAng="-5400000"/>
                <a:close/>
              </a:path>
            </a:pathLst>
          </a:custGeom>
          <a:solidFill>
            <a:srgbClr val="2A6FB0"/>
          </a:solidFill>
          <a:ln/>
        </p:spPr>
        <p:txBody>
          <a:bodyPr/>
          <a:lstStyle/>
          <a:p>
            <a:endParaRPr lang="en-US"/>
          </a:p>
        </p:txBody>
      </p:sp>
      <p:sp>
        <p:nvSpPr>
          <p:cNvPr id="26" name="Text 24"/>
          <p:cNvSpPr/>
          <p:nvPr/>
        </p:nvSpPr>
        <p:spPr>
          <a:xfrm>
            <a:off x="8178800" y="3494990"/>
            <a:ext cx="3087116"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Reusable</a:t>
            </a:r>
            <a:endParaRPr lang="en-US" sz="1800" dirty="0"/>
          </a:p>
        </p:txBody>
      </p:sp>
      <p:sp>
        <p:nvSpPr>
          <p:cNvPr id="27" name="Text 25"/>
          <p:cNvSpPr/>
          <p:nvPr/>
        </p:nvSpPr>
        <p:spPr>
          <a:xfrm>
            <a:off x="8178800" y="3845505"/>
            <a:ext cx="3087116" cy="52322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Copy a good function into your next program.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DIVIDE AND CONQUER</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Split one big problem into small ones</a:t>
            </a:r>
            <a:endParaRPr lang="en-US" sz="3600" dirty="0"/>
          </a:p>
        </p:txBody>
      </p:sp>
      <p:pic>
        <p:nvPicPr>
          <p:cNvPr id="4" name="Image 0" descr="connector"/>
          <p:cNvPicPr>
            <a:picLocks noChangeAspect="1"/>
          </p:cNvPicPr>
          <p:nvPr/>
        </p:nvPicPr>
        <p:blipFill>
          <a:blip r:embed="rId3"/>
          <a:srcRect/>
          <a:stretch/>
        </p:blipFill>
        <p:spPr>
          <a:xfrm>
            <a:off x="1968500" y="2443454"/>
            <a:ext cx="4178300" cy="1181100"/>
          </a:xfrm>
          <a:prstGeom prst="rect">
            <a:avLst/>
          </a:prstGeom>
        </p:spPr>
      </p:pic>
      <p:pic>
        <p:nvPicPr>
          <p:cNvPr id="5" name="Image 1" descr="connector"/>
          <p:cNvPicPr>
            <a:picLocks noChangeAspect="1"/>
          </p:cNvPicPr>
          <p:nvPr/>
        </p:nvPicPr>
        <p:blipFill>
          <a:blip r:embed="rId4"/>
          <a:srcRect/>
          <a:stretch/>
        </p:blipFill>
        <p:spPr>
          <a:xfrm>
            <a:off x="4686300" y="2443454"/>
            <a:ext cx="1460500" cy="1181100"/>
          </a:xfrm>
          <a:prstGeom prst="rect">
            <a:avLst/>
          </a:prstGeom>
        </p:spPr>
      </p:pic>
      <p:pic>
        <p:nvPicPr>
          <p:cNvPr id="6" name="Image 2" descr="connector"/>
          <p:cNvPicPr>
            <a:picLocks noChangeAspect="1"/>
          </p:cNvPicPr>
          <p:nvPr/>
        </p:nvPicPr>
        <p:blipFill>
          <a:blip r:embed="rId5"/>
          <a:srcRect/>
          <a:stretch/>
        </p:blipFill>
        <p:spPr>
          <a:xfrm>
            <a:off x="6045200" y="2443454"/>
            <a:ext cx="1460500" cy="1181100"/>
          </a:xfrm>
          <a:prstGeom prst="rect">
            <a:avLst/>
          </a:prstGeom>
        </p:spPr>
      </p:pic>
      <p:pic>
        <p:nvPicPr>
          <p:cNvPr id="7" name="Image 3" descr="connector"/>
          <p:cNvPicPr>
            <a:picLocks noChangeAspect="1"/>
          </p:cNvPicPr>
          <p:nvPr/>
        </p:nvPicPr>
        <p:blipFill>
          <a:blip r:embed="rId6"/>
          <a:srcRect/>
          <a:stretch/>
        </p:blipFill>
        <p:spPr>
          <a:xfrm>
            <a:off x="6045200" y="2443454"/>
            <a:ext cx="4178300" cy="1181100"/>
          </a:xfrm>
          <a:prstGeom prst="rect">
            <a:avLst/>
          </a:prstGeom>
        </p:spPr>
      </p:pic>
      <p:sp>
        <p:nvSpPr>
          <p:cNvPr id="8" name="Text 2"/>
          <p:cNvSpPr/>
          <p:nvPr/>
        </p:nvSpPr>
        <p:spPr>
          <a:xfrm>
            <a:off x="3873500" y="1732254"/>
            <a:ext cx="4445000" cy="762000"/>
          </a:xfrm>
          <a:prstGeom prst="roundRect">
            <a:avLst>
              <a:gd name="adj" fmla="val 16667"/>
            </a:avLst>
          </a:prstGeom>
          <a:solidFill>
            <a:srgbClr val="E8EEF7"/>
          </a:solidFill>
          <a:ln/>
        </p:spPr>
        <p:txBody>
          <a:bodyPr wrap="square" lIns="0" tIns="0" rIns="0" bIns="0" rtlCol="0" anchor="ctr">
            <a:normAutofit/>
          </a:bodyPr>
          <a:lstStyle/>
          <a:p>
            <a:pPr marL="0" indent="0" algn="ctr">
              <a:lnSpc>
                <a:spcPts val="2800"/>
              </a:lnSpc>
              <a:buNone/>
            </a:pPr>
            <a:r>
              <a:rPr lang="en-US" sz="2000" b="1" dirty="0">
                <a:solidFill>
                  <a:srgbClr val="14213D"/>
                </a:solidFill>
                <a:latin typeface="Rubik" pitchFamily="34" charset="0"/>
                <a:ea typeface="Rubik" pitchFamily="34" charset="-122"/>
                <a:cs typeface="Rubik" pitchFamily="34" charset="-120"/>
              </a:rPr>
              <a:t>Student Result System</a:t>
            </a:r>
            <a:endParaRPr lang="en-US" sz="2000" dirty="0"/>
          </a:p>
        </p:txBody>
      </p:sp>
      <p:sp>
        <p:nvSpPr>
          <p:cNvPr id="9" name="Shape 3"/>
          <p:cNvSpPr/>
          <p:nvPr/>
        </p:nvSpPr>
        <p:spPr>
          <a:xfrm>
            <a:off x="822325" y="3583279"/>
            <a:ext cx="2393950" cy="1123950"/>
          </a:xfrm>
          <a:prstGeom prst="roundRect">
            <a:avLst>
              <a:gd name="adj" fmla="val 10452"/>
            </a:avLst>
          </a:prstGeom>
          <a:solidFill>
            <a:srgbClr val="FFFFFF"/>
          </a:solidFill>
          <a:ln w="19050">
            <a:solidFill>
              <a:srgbClr val="E07A2E"/>
            </a:solidFill>
            <a:prstDash val="solid"/>
          </a:ln>
        </p:spPr>
        <p:txBody>
          <a:bodyPr/>
          <a:lstStyle/>
          <a:p>
            <a:endParaRPr lang="en-US"/>
          </a:p>
        </p:txBody>
      </p:sp>
      <p:sp>
        <p:nvSpPr>
          <p:cNvPr id="10" name="Text 4"/>
          <p:cNvSpPr/>
          <p:nvPr/>
        </p:nvSpPr>
        <p:spPr>
          <a:xfrm>
            <a:off x="983673" y="3862028"/>
            <a:ext cx="213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getMarks()</a:t>
            </a:r>
            <a:endParaRPr lang="en-US" sz="1500" dirty="0"/>
          </a:p>
        </p:txBody>
      </p:sp>
      <p:sp>
        <p:nvSpPr>
          <p:cNvPr id="11" name="Text 5"/>
          <p:cNvSpPr/>
          <p:nvPr/>
        </p:nvSpPr>
        <p:spPr>
          <a:xfrm>
            <a:off x="983673" y="4179528"/>
            <a:ext cx="2133392" cy="27431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Read the marks</a:t>
            </a:r>
            <a:endParaRPr lang="en-US" sz="1400" dirty="0"/>
          </a:p>
        </p:txBody>
      </p:sp>
      <p:sp>
        <p:nvSpPr>
          <p:cNvPr id="12" name="Shape 6"/>
          <p:cNvSpPr/>
          <p:nvPr/>
        </p:nvSpPr>
        <p:spPr>
          <a:xfrm>
            <a:off x="3540125" y="3583279"/>
            <a:ext cx="2393950" cy="1123950"/>
          </a:xfrm>
          <a:prstGeom prst="roundRect">
            <a:avLst>
              <a:gd name="adj" fmla="val 10452"/>
            </a:avLst>
          </a:prstGeom>
          <a:solidFill>
            <a:srgbClr val="FFFFFF"/>
          </a:solidFill>
          <a:ln w="19050">
            <a:solidFill>
              <a:srgbClr val="E07A2E"/>
            </a:solidFill>
            <a:prstDash val="solid"/>
          </a:ln>
        </p:spPr>
        <p:txBody>
          <a:bodyPr/>
          <a:lstStyle/>
          <a:p>
            <a:endParaRPr lang="en-US"/>
          </a:p>
        </p:txBody>
      </p:sp>
      <p:sp>
        <p:nvSpPr>
          <p:cNvPr id="13" name="Text 7"/>
          <p:cNvSpPr/>
          <p:nvPr/>
        </p:nvSpPr>
        <p:spPr>
          <a:xfrm>
            <a:off x="3701473" y="3862028"/>
            <a:ext cx="213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calcTotal()</a:t>
            </a:r>
            <a:endParaRPr lang="en-US" sz="1500" dirty="0"/>
          </a:p>
        </p:txBody>
      </p:sp>
      <p:sp>
        <p:nvSpPr>
          <p:cNvPr id="14" name="Text 8"/>
          <p:cNvSpPr/>
          <p:nvPr/>
        </p:nvSpPr>
        <p:spPr>
          <a:xfrm>
            <a:off x="3701473" y="4179528"/>
            <a:ext cx="2133392" cy="27431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Add them up</a:t>
            </a:r>
            <a:endParaRPr lang="en-US" sz="1400" dirty="0"/>
          </a:p>
        </p:txBody>
      </p:sp>
      <p:sp>
        <p:nvSpPr>
          <p:cNvPr id="15" name="Shape 9"/>
          <p:cNvSpPr/>
          <p:nvPr/>
        </p:nvSpPr>
        <p:spPr>
          <a:xfrm>
            <a:off x="6257925" y="3583279"/>
            <a:ext cx="2393950" cy="1123950"/>
          </a:xfrm>
          <a:prstGeom prst="roundRect">
            <a:avLst>
              <a:gd name="adj" fmla="val 10452"/>
            </a:avLst>
          </a:prstGeom>
          <a:solidFill>
            <a:srgbClr val="FFFFFF"/>
          </a:solidFill>
          <a:ln w="19050">
            <a:solidFill>
              <a:srgbClr val="E07A2E"/>
            </a:solidFill>
            <a:prstDash val="solid"/>
          </a:ln>
        </p:spPr>
        <p:txBody>
          <a:bodyPr/>
          <a:lstStyle/>
          <a:p>
            <a:endParaRPr lang="en-US"/>
          </a:p>
        </p:txBody>
      </p:sp>
      <p:sp>
        <p:nvSpPr>
          <p:cNvPr id="16" name="Text 10"/>
          <p:cNvSpPr/>
          <p:nvPr/>
        </p:nvSpPr>
        <p:spPr>
          <a:xfrm>
            <a:off x="6419273" y="3862028"/>
            <a:ext cx="213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calcGrade()</a:t>
            </a:r>
            <a:endParaRPr lang="en-US" sz="1500" dirty="0"/>
          </a:p>
        </p:txBody>
      </p:sp>
      <p:sp>
        <p:nvSpPr>
          <p:cNvPr id="17" name="Text 11"/>
          <p:cNvSpPr/>
          <p:nvPr/>
        </p:nvSpPr>
        <p:spPr>
          <a:xfrm>
            <a:off x="6419273" y="4179528"/>
            <a:ext cx="2133392" cy="27431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Decide A, B, C or F</a:t>
            </a:r>
            <a:endParaRPr lang="en-US" sz="1400" dirty="0"/>
          </a:p>
        </p:txBody>
      </p:sp>
      <p:sp>
        <p:nvSpPr>
          <p:cNvPr id="18" name="Shape 12"/>
          <p:cNvSpPr/>
          <p:nvPr/>
        </p:nvSpPr>
        <p:spPr>
          <a:xfrm>
            <a:off x="8975725" y="3583279"/>
            <a:ext cx="2393950" cy="1123950"/>
          </a:xfrm>
          <a:prstGeom prst="roundRect">
            <a:avLst>
              <a:gd name="adj" fmla="val 10452"/>
            </a:avLst>
          </a:prstGeom>
          <a:solidFill>
            <a:srgbClr val="FFFFFF"/>
          </a:solidFill>
          <a:ln w="19050">
            <a:solidFill>
              <a:srgbClr val="E07A2E"/>
            </a:solidFill>
            <a:prstDash val="solid"/>
          </a:ln>
        </p:spPr>
        <p:txBody>
          <a:bodyPr/>
          <a:lstStyle/>
          <a:p>
            <a:endParaRPr lang="en-US"/>
          </a:p>
        </p:txBody>
      </p:sp>
      <p:sp>
        <p:nvSpPr>
          <p:cNvPr id="19" name="Text 13"/>
          <p:cNvSpPr/>
          <p:nvPr/>
        </p:nvSpPr>
        <p:spPr>
          <a:xfrm>
            <a:off x="9137073" y="3862028"/>
            <a:ext cx="213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printResult()</a:t>
            </a:r>
            <a:endParaRPr lang="en-US" sz="1500" dirty="0"/>
          </a:p>
        </p:txBody>
      </p:sp>
      <p:sp>
        <p:nvSpPr>
          <p:cNvPr id="20" name="Text 14"/>
          <p:cNvSpPr/>
          <p:nvPr/>
        </p:nvSpPr>
        <p:spPr>
          <a:xfrm>
            <a:off x="9137073" y="4179528"/>
            <a:ext cx="2133392" cy="27431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657"/>
                </a:solidFill>
                <a:latin typeface="Rubik" pitchFamily="34" charset="0"/>
                <a:ea typeface="Rubik" pitchFamily="34" charset="-122"/>
                <a:cs typeface="Rubik" pitchFamily="34" charset="-120"/>
              </a:rPr>
              <a:t>Show the report card</a:t>
            </a:r>
            <a:endParaRPr lang="en-US" sz="1400" dirty="0"/>
          </a:p>
        </p:txBody>
      </p:sp>
      <p:sp>
        <p:nvSpPr>
          <p:cNvPr id="21" name="Text 15"/>
          <p:cNvSpPr/>
          <p:nvPr/>
        </p:nvSpPr>
        <p:spPr>
          <a:xfrm>
            <a:off x="812800" y="4945354"/>
            <a:ext cx="10883392" cy="30985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Big problem → small problems → each one solved by a function → main() just calls them in order.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REUSABILITY</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Write once, call many times</a:t>
            </a:r>
            <a:endParaRPr lang="en-US" sz="3600" dirty="0"/>
          </a:p>
        </p:txBody>
      </p:sp>
      <p:sp>
        <p:nvSpPr>
          <p:cNvPr id="4" name="Text 2"/>
          <p:cNvSpPr/>
          <p:nvPr/>
        </p:nvSpPr>
        <p:spPr>
          <a:xfrm>
            <a:off x="812800" y="1757654"/>
            <a:ext cx="6096000" cy="4171950"/>
          </a:xfrm>
          <a:prstGeom prst="roundRect">
            <a:avLst>
              <a:gd name="adj" fmla="val 3044"/>
            </a:avLst>
          </a:prstGeom>
          <a:solidFill>
            <a:srgbClr val="EDE7DA"/>
          </a:solidFill>
          <a:ln/>
        </p:spPr>
        <p:txBody>
          <a:bodyPr wrap="none" lIns="216803" tIns="191403" rIns="49163" bIns="166003" rtlCol="0" anchor="t">
            <a:normAutofit/>
          </a:bodyPr>
          <a:lstStyle/>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void</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printLine</a:t>
            </a:r>
            <a:r>
              <a:rPr lang="en-US" sz="1300" dirty="0">
                <a:solidFill>
                  <a:srgbClr val="14213D"/>
                </a:solidFill>
                <a:latin typeface="JetBrains Mono" pitchFamily="49" charset="0"/>
                <a:ea typeface="JetBrains Mono" pitchFamily="49" charset="-122"/>
                <a:cs typeface="JetBrains Mono" pitchFamily="49" charset="-120"/>
              </a:rPr>
              <a:t>()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for</a:t>
            </a:r>
            <a:r>
              <a:rPr lang="en-US" sz="1300" dirty="0">
                <a:solidFill>
                  <a:srgbClr val="14213D"/>
                </a:solidFill>
                <a:latin typeface="JetBrains Mono" pitchFamily="49" charset="0"/>
                <a:ea typeface="JetBrains Mono" pitchFamily="49" charset="-122"/>
                <a:cs typeface="JetBrains Mono" pitchFamily="49" charset="-120"/>
              </a:rPr>
              <a:t> (int i = 0; i &lt; 10; i++)</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endParaRPr lang="en-US" sz="1300" dirty="0"/>
          </a:p>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main()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printLine</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"Welcome to the Result System\n"</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printLine</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"Enter your marks below\n"</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printLine</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"Thank you!\n"</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printLine</a:t>
            </a: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64400" y="1757654"/>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The star line is written </a:t>
            </a:r>
            <a:r>
              <a:rPr lang="en-US" sz="1500" b="1" dirty="0">
                <a:solidFill>
                  <a:srgbClr val="14213D"/>
                </a:solidFill>
                <a:latin typeface="Rubik" pitchFamily="34" charset="0"/>
                <a:ea typeface="Rubik" pitchFamily="34" charset="-122"/>
                <a:cs typeface="Rubik" pitchFamily="34" charset="-120"/>
              </a:rPr>
              <a:t>once</a:t>
            </a:r>
            <a:endParaRPr lang="en-US" sz="1500" dirty="0"/>
          </a:p>
        </p:txBody>
      </p:sp>
      <p:sp>
        <p:nvSpPr>
          <p:cNvPr id="6" name="Shape 4"/>
          <p:cNvSpPr/>
          <p:nvPr/>
        </p:nvSpPr>
        <p:spPr>
          <a:xfrm>
            <a:off x="7264400" y="1757654"/>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2A6FB0"/>
          </a:solidFill>
          <a:ln/>
        </p:spPr>
        <p:txBody>
          <a:bodyPr/>
          <a:lstStyle/>
          <a:p>
            <a:endParaRPr lang="en-US"/>
          </a:p>
        </p:txBody>
      </p:sp>
      <p:sp>
        <p:nvSpPr>
          <p:cNvPr id="7" name="Text 5"/>
          <p:cNvSpPr/>
          <p:nvPr/>
        </p:nvSpPr>
        <p:spPr>
          <a:xfrm>
            <a:off x="7264400" y="2472029"/>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It is used </a:t>
            </a:r>
            <a:r>
              <a:rPr lang="en-US" sz="1500" b="1" dirty="0">
                <a:solidFill>
                  <a:srgbClr val="14213D"/>
                </a:solidFill>
                <a:latin typeface="Rubik" pitchFamily="34" charset="0"/>
                <a:ea typeface="Rubik" pitchFamily="34" charset="-122"/>
                <a:cs typeface="Rubik" pitchFamily="34" charset="-120"/>
              </a:rPr>
              <a:t>4 times</a:t>
            </a:r>
            <a:r>
              <a:rPr lang="en-US" sz="1500" dirty="0">
                <a:solidFill>
                  <a:srgbClr val="14213D"/>
                </a:solidFill>
                <a:latin typeface="Rubik" pitchFamily="34" charset="0"/>
                <a:ea typeface="Rubik" pitchFamily="34" charset="-122"/>
                <a:cs typeface="Rubik" pitchFamily="34" charset="-120"/>
              </a:rPr>
              <a:t> by name</a:t>
            </a:r>
            <a:endParaRPr lang="en-US" sz="1500" dirty="0"/>
          </a:p>
        </p:txBody>
      </p:sp>
      <p:sp>
        <p:nvSpPr>
          <p:cNvPr id="8" name="Shape 6"/>
          <p:cNvSpPr/>
          <p:nvPr/>
        </p:nvSpPr>
        <p:spPr>
          <a:xfrm>
            <a:off x="7264400" y="2472029"/>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2A6FB0"/>
          </a:solidFill>
          <a:ln/>
        </p:spPr>
        <p:txBody>
          <a:bodyPr/>
          <a:lstStyle/>
          <a:p>
            <a:endParaRPr lang="en-US"/>
          </a:p>
        </p:txBody>
      </p:sp>
      <p:sp>
        <p:nvSpPr>
          <p:cNvPr id="9" name="Text 7"/>
          <p:cNvSpPr/>
          <p:nvPr/>
        </p:nvSpPr>
        <p:spPr>
          <a:xfrm>
            <a:off x="7264400" y="3186404"/>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20 stars? Change </a:t>
            </a:r>
            <a:r>
              <a:rPr lang="en-US" sz="1500" b="1" dirty="0">
                <a:solidFill>
                  <a:srgbClr val="14213D"/>
                </a:solidFill>
                <a:latin typeface="Rubik" pitchFamily="34" charset="0"/>
                <a:ea typeface="Rubik" pitchFamily="34" charset="-122"/>
                <a:cs typeface="Rubik" pitchFamily="34" charset="-120"/>
              </a:rPr>
              <a:t>one number</a:t>
            </a:r>
            <a:endParaRPr lang="en-US" sz="1500" dirty="0"/>
          </a:p>
        </p:txBody>
      </p:sp>
      <p:sp>
        <p:nvSpPr>
          <p:cNvPr id="10" name="Shape 8"/>
          <p:cNvSpPr/>
          <p:nvPr/>
        </p:nvSpPr>
        <p:spPr>
          <a:xfrm>
            <a:off x="7264400" y="3186404"/>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2A6FB0"/>
          </a:solidFill>
          <a:ln/>
        </p:spPr>
        <p:txBody>
          <a:bodyPr/>
          <a:lstStyle/>
          <a:p>
            <a:endParaRPr lang="en-US"/>
          </a:p>
        </p:txBody>
      </p:sp>
      <p:sp>
        <p:nvSpPr>
          <p:cNvPr id="11" name="Text 9"/>
          <p:cNvSpPr/>
          <p:nvPr/>
        </p:nvSpPr>
        <p:spPr>
          <a:xfrm>
            <a:off x="7264400" y="3900779"/>
            <a:ext cx="4114800" cy="561975"/>
          </a:xfrm>
          <a:prstGeom prst="roundRect">
            <a:avLst>
              <a:gd name="adj" fmla="val 13559"/>
            </a:avLst>
          </a:prstGeom>
          <a:solidFill>
            <a:srgbClr val="FFFFFF"/>
          </a:solidFill>
          <a:ln/>
        </p:spPr>
        <p:txBody>
          <a:bodyPr wrap="square" lIns="206282" tIns="130082" rIns="44230" bIns="104682" rtlCol="0" anchor="t">
            <a:normAutofit/>
          </a:bodyPr>
          <a:lstStyle/>
          <a:p>
            <a:pPr marL="0" indent="0" algn="l">
              <a:lnSpc>
                <a:spcPts val="2025"/>
              </a:lnSpc>
              <a:buNone/>
            </a:pPr>
            <a:r>
              <a:rPr lang="en-US" sz="1500" dirty="0">
                <a:solidFill>
                  <a:srgbClr val="14213D"/>
                </a:solidFill>
                <a:latin typeface="Rubik" pitchFamily="34" charset="0"/>
                <a:ea typeface="Rubik" pitchFamily="34" charset="-122"/>
                <a:cs typeface="Rubik" pitchFamily="34" charset="-120"/>
              </a:rPr>
              <a:t>main() now reads like plain English</a:t>
            </a:r>
            <a:endParaRPr lang="en-US" sz="1500" dirty="0"/>
          </a:p>
        </p:txBody>
      </p:sp>
      <p:sp>
        <p:nvSpPr>
          <p:cNvPr id="12" name="Shape 10"/>
          <p:cNvSpPr/>
          <p:nvPr/>
        </p:nvSpPr>
        <p:spPr>
          <a:xfrm>
            <a:off x="7264400" y="3900779"/>
            <a:ext cx="4114800" cy="561975"/>
          </a:xfrm>
          <a:custGeom>
            <a:avLst/>
            <a:gdLst/>
            <a:ahLst/>
            <a:cxnLst/>
            <a:rect l="l" t="t" r="r" b="b"/>
            <a:pathLst>
              <a:path w="4114800" h="561975">
                <a:moveTo>
                  <a:pt x="76200" y="561975"/>
                </a:moveTo>
                <a:lnTo>
                  <a:pt x="76200" y="561975"/>
                </a:lnTo>
                <a:arcTo wR="76200" hR="76200" stAng="5400000" swAng="5400000"/>
                <a:lnTo>
                  <a:pt x="0" y="76200"/>
                </a:lnTo>
                <a:arcTo wR="76200" hR="76200" stAng="10800000" swAng="5400000"/>
                <a:lnTo>
                  <a:pt x="76200" y="0"/>
                </a:lnTo>
                <a:arcTo wR="25400" hR="76200" stAng="16200000" swAng="-5400000"/>
                <a:lnTo>
                  <a:pt x="50800" y="485775"/>
                </a:lnTo>
                <a:arcTo wR="25400" hR="76200" stAng="10800000" swAng="-5400000"/>
                <a:close/>
              </a:path>
            </a:pathLst>
          </a:custGeom>
          <a:solidFill>
            <a:srgbClr val="2A6FB0"/>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CE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TWO FAMILIES</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Predefined vs user-defined functions</a:t>
            </a:r>
            <a:endParaRPr lang="en-US" sz="3600" dirty="0"/>
          </a:p>
        </p:txBody>
      </p:sp>
      <p:sp>
        <p:nvSpPr>
          <p:cNvPr id="4" name="Shape 2"/>
          <p:cNvSpPr/>
          <p:nvPr/>
        </p:nvSpPr>
        <p:spPr>
          <a:xfrm>
            <a:off x="812800" y="1757654"/>
            <a:ext cx="5137727" cy="2359747"/>
          </a:xfrm>
          <a:prstGeom prst="roundRect">
            <a:avLst>
              <a:gd name="adj" fmla="val 6458"/>
            </a:avLst>
          </a:prstGeom>
          <a:solidFill>
            <a:srgbClr val="E8EEF7"/>
          </a:solidFill>
          <a:ln/>
        </p:spPr>
        <p:txBody>
          <a:bodyPr/>
          <a:lstStyle/>
          <a:p>
            <a:endParaRPr lang="en-US"/>
          </a:p>
        </p:txBody>
      </p:sp>
      <p:sp>
        <p:nvSpPr>
          <p:cNvPr id="5" name="Text 3"/>
          <p:cNvSpPr/>
          <p:nvPr/>
        </p:nvSpPr>
        <p:spPr>
          <a:xfrm>
            <a:off x="1117600" y="2062454"/>
            <a:ext cx="4663971" cy="360651"/>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B4531A"/>
                </a:solidFill>
                <a:latin typeface="Rubik" pitchFamily="34" charset="0"/>
                <a:ea typeface="Rubik" pitchFamily="34" charset="-122"/>
                <a:cs typeface="Rubik" pitchFamily="34" charset="-120"/>
              </a:rPr>
              <a:t>Predefined (built-in)</a:t>
            </a:r>
            <a:endParaRPr lang="en-US" sz="2200" dirty="0"/>
          </a:p>
        </p:txBody>
      </p:sp>
      <p:sp>
        <p:nvSpPr>
          <p:cNvPr id="6" name="Text 4"/>
          <p:cNvSpPr/>
          <p:nvPr/>
        </p:nvSpPr>
        <p:spPr>
          <a:xfrm>
            <a:off x="1117600" y="2524702"/>
            <a:ext cx="4663971"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213D"/>
                </a:solidFill>
                <a:latin typeface="Rubik" pitchFamily="34" charset="0"/>
                <a:ea typeface="Rubik" pitchFamily="34" charset="-122"/>
                <a:cs typeface="Rubik" pitchFamily="34" charset="-120"/>
              </a:rPr>
              <a:t>Already written for us by C++ and kept in libraries. We include the header file and call them.</a:t>
            </a:r>
            <a:endParaRPr lang="en-US" sz="1500" dirty="0"/>
          </a:p>
        </p:txBody>
      </p:sp>
      <p:sp>
        <p:nvSpPr>
          <p:cNvPr id="7" name="Text 5"/>
          <p:cNvSpPr/>
          <p:nvPr/>
        </p:nvSpPr>
        <p:spPr>
          <a:xfrm>
            <a:off x="1117600" y="3204152"/>
            <a:ext cx="4663971"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4213D"/>
                </a:solidFill>
                <a:latin typeface="JetBrains Mono" pitchFamily="49" charset="0"/>
                <a:ea typeface="JetBrains Mono" pitchFamily="49" charset="-122"/>
                <a:cs typeface="JetBrains Mono" pitchFamily="49" charset="-120"/>
              </a:rPr>
              <a:t>sqrt()  pow()  abs()</a:t>
            </a:r>
            <a:endParaRPr lang="en-US" sz="1500" dirty="0"/>
          </a:p>
          <a:p>
            <a:pPr marL="0" indent="0" algn="l">
              <a:lnSpc>
                <a:spcPts val="2250"/>
              </a:lnSpc>
              <a:buNone/>
            </a:pPr>
            <a:r>
              <a:rPr lang="en-US" sz="1500" dirty="0">
                <a:solidFill>
                  <a:srgbClr val="14213D"/>
                </a:solidFill>
                <a:latin typeface="JetBrains Mono" pitchFamily="49" charset="0"/>
                <a:ea typeface="JetBrains Mono" pitchFamily="49" charset="-122"/>
                <a:cs typeface="JetBrains Mono" pitchFamily="49" charset="-120"/>
              </a:rPr>
              <a:t>toupper()  rand()</a:t>
            </a:r>
            <a:endParaRPr lang="en-US" sz="1500" dirty="0"/>
          </a:p>
        </p:txBody>
      </p:sp>
      <p:sp>
        <p:nvSpPr>
          <p:cNvPr id="8" name="Shape 6"/>
          <p:cNvSpPr/>
          <p:nvPr/>
        </p:nvSpPr>
        <p:spPr>
          <a:xfrm>
            <a:off x="6214052" y="1767179"/>
            <a:ext cx="5155623" cy="2340697"/>
          </a:xfrm>
          <a:prstGeom prst="roundRect">
            <a:avLst>
              <a:gd name="adj" fmla="val 6104"/>
            </a:avLst>
          </a:prstGeom>
          <a:solidFill>
            <a:srgbClr val="FFFFFF"/>
          </a:solidFill>
          <a:ln w="19050">
            <a:solidFill>
              <a:srgbClr val="E07A2E"/>
            </a:solidFill>
            <a:prstDash val="solid"/>
          </a:ln>
        </p:spPr>
        <p:txBody>
          <a:bodyPr/>
          <a:lstStyle/>
          <a:p>
            <a:endParaRPr lang="en-US"/>
          </a:p>
        </p:txBody>
      </p:sp>
      <p:sp>
        <p:nvSpPr>
          <p:cNvPr id="9" name="Text 7"/>
          <p:cNvSpPr/>
          <p:nvPr/>
        </p:nvSpPr>
        <p:spPr>
          <a:xfrm>
            <a:off x="6527800" y="2080927"/>
            <a:ext cx="4663971" cy="360651"/>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B4531A"/>
                </a:solidFill>
                <a:latin typeface="Rubik" pitchFamily="34" charset="0"/>
                <a:ea typeface="Rubik" pitchFamily="34" charset="-122"/>
                <a:cs typeface="Rubik" pitchFamily="34" charset="-120"/>
              </a:rPr>
              <a:t>User-defined</a:t>
            </a:r>
            <a:endParaRPr lang="en-US" sz="2200" dirty="0"/>
          </a:p>
        </p:txBody>
      </p:sp>
      <p:sp>
        <p:nvSpPr>
          <p:cNvPr id="10" name="Text 8"/>
          <p:cNvSpPr/>
          <p:nvPr/>
        </p:nvSpPr>
        <p:spPr>
          <a:xfrm>
            <a:off x="6527800" y="2543175"/>
            <a:ext cx="4663971"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213D"/>
                </a:solidFill>
                <a:latin typeface="Rubik" pitchFamily="34" charset="0"/>
                <a:ea typeface="Rubik" pitchFamily="34" charset="-122"/>
                <a:cs typeface="Rubik" pitchFamily="34" charset="-120"/>
              </a:rPr>
              <a:t>Written by us, the programmers, to do a job that our own program needs.</a:t>
            </a:r>
            <a:endParaRPr lang="en-US" sz="1500" dirty="0"/>
          </a:p>
        </p:txBody>
      </p:sp>
      <p:sp>
        <p:nvSpPr>
          <p:cNvPr id="11" name="Text 9"/>
          <p:cNvSpPr/>
          <p:nvPr/>
        </p:nvSpPr>
        <p:spPr>
          <a:xfrm>
            <a:off x="6527800" y="3222625"/>
            <a:ext cx="4663971"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4213D"/>
                </a:solidFill>
                <a:latin typeface="JetBrains Mono" pitchFamily="49" charset="0"/>
                <a:ea typeface="JetBrains Mono" pitchFamily="49" charset="-122"/>
                <a:cs typeface="JetBrains Mono" pitchFamily="49" charset="-120"/>
              </a:rPr>
              <a:t>printLine()  calcGrade()</a:t>
            </a:r>
            <a:endParaRPr lang="en-US" sz="1500" dirty="0"/>
          </a:p>
          <a:p>
            <a:pPr marL="0" indent="0" algn="l">
              <a:lnSpc>
                <a:spcPts val="2250"/>
              </a:lnSpc>
              <a:buNone/>
            </a:pPr>
            <a:r>
              <a:rPr lang="en-US" sz="1500" dirty="0">
                <a:solidFill>
                  <a:srgbClr val="14213D"/>
                </a:solidFill>
                <a:latin typeface="JetBrains Mono" pitchFamily="49" charset="0"/>
                <a:ea typeface="JetBrains Mono" pitchFamily="49" charset="-122"/>
                <a:cs typeface="JetBrains Mono" pitchFamily="49" charset="-120"/>
              </a:rPr>
              <a:t>findMax()  isEven()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PREDEFINED FUNCTIONS</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Some you will use all the time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43799"/>
          <a:ext cx="10554854" cy="2694027"/>
        </p:xfrm>
        <a:graphic>
          <a:graphicData uri="http://schemas.openxmlformats.org/drawingml/2006/table">
            <a:tbl>
              <a:tblPr/>
              <a:tblGrid>
                <a:gridCol w="2110971">
                  <a:extLst>
                    <a:ext uri="{9D8B030D-6E8A-4147-A177-3AD203B41FA5}">
                      <a16:colId xmlns:a16="http://schemas.microsoft.com/office/drawing/2014/main" val="20000"/>
                    </a:ext>
                  </a:extLst>
                </a:gridCol>
                <a:gridCol w="1794325">
                  <a:extLst>
                    <a:ext uri="{9D8B030D-6E8A-4147-A177-3AD203B41FA5}">
                      <a16:colId xmlns:a16="http://schemas.microsoft.com/office/drawing/2014/main" val="20001"/>
                    </a:ext>
                  </a:extLst>
                </a:gridCol>
                <a:gridCol w="3166456">
                  <a:extLst>
                    <a:ext uri="{9D8B030D-6E8A-4147-A177-3AD203B41FA5}">
                      <a16:colId xmlns:a16="http://schemas.microsoft.com/office/drawing/2014/main" val="20002"/>
                    </a:ext>
                  </a:extLst>
                </a:gridCol>
                <a:gridCol w="3483102">
                  <a:extLst>
                    <a:ext uri="{9D8B030D-6E8A-4147-A177-3AD203B41FA5}">
                      <a16:colId xmlns:a16="http://schemas.microsoft.com/office/drawing/2014/main" val="20003"/>
                    </a:ext>
                  </a:extLst>
                </a:gridCol>
              </a:tblGrid>
              <a:tr h="384861">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Function</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Header</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What it does</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Example → result</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sqrt(x)</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&lt;cmath&gt;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Square root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sqrt(25) → 5</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pow(x, y)</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&lt;cmath&gt;</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x to the power y</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pow(2, 3) → 8</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2"/>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abs(x)</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&lt;cstdlib&gt;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Absolute value</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abs(-7) → 7</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toupper(c)</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&lt;cctype&gt;</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Small letter to capital</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toupper('a') → 'A'</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4"/>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isdigit(c)</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&lt;cctype&gt;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Is it a digit?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isdigit('7') → true</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5"/>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rand()</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&lt;cstdlib&gt;</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 random number</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rand() → e.g. 41</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666425"/>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Rubik" pitchFamily="34" charset="0"/>
                <a:ea typeface="Rubik" pitchFamily="34" charset="-122"/>
                <a:cs typeface="Rubik" pitchFamily="34" charset="-120"/>
              </a:rPr>
              <a:t>We call them and use the answer. We never see their code. </a:t>
            </a:r>
            <a:r>
              <a:rPr lang="en-US" sz="1500" b="1" dirty="0">
                <a:solidFill>
                  <a:srgbClr val="14213D"/>
                </a:solidFill>
                <a:latin typeface="Rubik" pitchFamily="34" charset="0"/>
                <a:ea typeface="Rubik" pitchFamily="34" charset="-122"/>
                <a:cs typeface="Rubik" pitchFamily="34" charset="-120"/>
              </a:rPr>
              <a:t>That is the power of a function.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LIVE DEMO</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Using predefined functions</a:t>
            </a:r>
            <a:endParaRPr lang="en-US" sz="3600" dirty="0"/>
          </a:p>
        </p:txBody>
      </p:sp>
      <p:sp>
        <p:nvSpPr>
          <p:cNvPr id="4" name="Text 2"/>
          <p:cNvSpPr/>
          <p:nvPr/>
        </p:nvSpPr>
        <p:spPr>
          <a:xfrm>
            <a:off x="812800" y="1757654"/>
            <a:ext cx="5969000" cy="3390900"/>
          </a:xfrm>
          <a:prstGeom prst="roundRect">
            <a:avLst>
              <a:gd name="adj" fmla="val 3745"/>
            </a:avLst>
          </a:prstGeom>
          <a:solidFill>
            <a:srgbClr val="EDE7DA"/>
          </a:solidFill>
          <a:ln/>
        </p:spPr>
        <p:txBody>
          <a:bodyPr wrap="none" lIns="216803" tIns="191403" rIns="52973" bIns="166003" rtlCol="0" anchor="t">
            <a:normAutofit/>
          </a:bodyPr>
          <a:lstStyle/>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#include</a:t>
            </a:r>
            <a:r>
              <a:rPr lang="en-US" sz="1400" dirty="0">
                <a:solidFill>
                  <a:srgbClr val="14213D"/>
                </a:solidFill>
                <a:latin typeface="JetBrains Mono" pitchFamily="49" charset="0"/>
                <a:ea typeface="JetBrains Mono" pitchFamily="49" charset="-122"/>
                <a:cs typeface="JetBrains Mono" pitchFamily="49" charset="-120"/>
              </a:rPr>
              <a:t> &lt;iostream&gt;</a:t>
            </a:r>
            <a:endParaRPr lang="en-US" sz="1400" dirty="0"/>
          </a:p>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#include</a:t>
            </a:r>
            <a:r>
              <a:rPr lang="en-US" sz="1400" dirty="0">
                <a:solidFill>
                  <a:srgbClr val="14213D"/>
                </a:solidFill>
                <a:latin typeface="JetBrains Mono" pitchFamily="49" charset="0"/>
                <a:ea typeface="JetBrains Mono" pitchFamily="49" charset="-122"/>
                <a:cs typeface="JetBrains Mono" pitchFamily="49" charset="-120"/>
              </a:rPr>
              <a:t> &lt;cmath&gt;</a:t>
            </a:r>
            <a:endParaRPr lang="en-US" sz="1400" dirty="0"/>
          </a:p>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using namespace</a:t>
            </a:r>
            <a:r>
              <a:rPr lang="en-US" sz="1400" dirty="0">
                <a:solidFill>
                  <a:srgbClr val="14213D"/>
                </a:solidFill>
                <a:latin typeface="JetBrains Mono" pitchFamily="49" charset="0"/>
                <a:ea typeface="JetBrains Mono" pitchFamily="49" charset="-122"/>
                <a:cs typeface="JetBrains Mono" pitchFamily="49" charset="-120"/>
              </a:rPr>
              <a:t> std;</a:t>
            </a:r>
            <a:endParaRPr lang="en-US" sz="1400" dirty="0"/>
          </a:p>
          <a:p>
            <a:pPr marL="0" indent="0" algn="l">
              <a:lnSpc>
                <a:spcPts val="2100"/>
              </a:lnSpc>
              <a:buNone/>
            </a:pPr>
            <a:endParaRPr lang="en-US" sz="1400" dirty="0"/>
          </a:p>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main()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double</a:t>
            </a:r>
            <a:r>
              <a:rPr lang="en-US" sz="1400" dirty="0">
                <a:solidFill>
                  <a:srgbClr val="14213D"/>
                </a:solidFill>
                <a:latin typeface="JetBrains Mono" pitchFamily="49" charset="0"/>
                <a:ea typeface="JetBrains Mono" pitchFamily="49" charset="-122"/>
                <a:cs typeface="JetBrains Mono" pitchFamily="49" charset="-120"/>
              </a:rPr>
              <a:t> side = 9;</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a:t>
            </a:r>
            <a:r>
              <a:rPr lang="en-US" sz="1400" dirty="0">
                <a:solidFill>
                  <a:srgbClr val="1F5F99"/>
                </a:solidFill>
                <a:latin typeface="JetBrains Mono" pitchFamily="49" charset="0"/>
                <a:ea typeface="JetBrains Mono" pitchFamily="49" charset="-122"/>
                <a:cs typeface="JetBrains Mono" pitchFamily="49" charset="-120"/>
              </a:rPr>
              <a:t>sqrt</a:t>
            </a:r>
            <a:r>
              <a:rPr lang="en-US" sz="1400" dirty="0">
                <a:solidFill>
                  <a:srgbClr val="14213D"/>
                </a:solidFill>
                <a:latin typeface="JetBrains Mono" pitchFamily="49" charset="0"/>
                <a:ea typeface="JetBrains Mono" pitchFamily="49" charset="-122"/>
                <a:cs typeface="JetBrains Mono" pitchFamily="49" charset="-120"/>
              </a:rPr>
              <a:t>(side) &lt;&lt; endl;  </a:t>
            </a:r>
            <a:r>
              <a:rPr lang="en-US" sz="1400" dirty="0">
                <a:solidFill>
                  <a:srgbClr val="6B7588"/>
                </a:solidFill>
                <a:latin typeface="JetBrains Mono" pitchFamily="49" charset="0"/>
                <a:ea typeface="JetBrains Mono" pitchFamily="49" charset="-122"/>
                <a:cs typeface="JetBrains Mono" pitchFamily="49" charset="-120"/>
              </a:rPr>
              <a:t>// 3</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a:t>
            </a:r>
            <a:r>
              <a:rPr lang="en-US" sz="1400" dirty="0">
                <a:solidFill>
                  <a:srgbClr val="1F5F99"/>
                </a:solidFill>
                <a:latin typeface="JetBrains Mono" pitchFamily="49" charset="0"/>
                <a:ea typeface="JetBrains Mono" pitchFamily="49" charset="-122"/>
                <a:cs typeface="JetBrains Mono" pitchFamily="49" charset="-120"/>
              </a:rPr>
              <a:t>pow</a:t>
            </a:r>
            <a:r>
              <a:rPr lang="en-US" sz="1400" dirty="0">
                <a:solidFill>
                  <a:srgbClr val="14213D"/>
                </a:solidFill>
                <a:latin typeface="JetBrains Mono" pitchFamily="49" charset="0"/>
                <a:ea typeface="JetBrains Mono" pitchFamily="49" charset="-122"/>
                <a:cs typeface="JetBrains Mono" pitchFamily="49" charset="-120"/>
              </a:rPr>
              <a:t>(2, 10) &lt;&lt; endl;  </a:t>
            </a:r>
            <a:r>
              <a:rPr lang="en-US" sz="1400" dirty="0">
                <a:solidFill>
                  <a:srgbClr val="6B7588"/>
                </a:solidFill>
                <a:latin typeface="JetBrains Mono" pitchFamily="49" charset="0"/>
                <a:ea typeface="JetBrains Mono" pitchFamily="49" charset="-122"/>
                <a:cs typeface="JetBrains Mono" pitchFamily="49" charset="-120"/>
              </a:rPr>
              <a:t>// 1024</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a:t>
            </a:r>
            <a:r>
              <a:rPr lang="en-US" sz="1400" dirty="0">
                <a:solidFill>
                  <a:srgbClr val="1F5F99"/>
                </a:solidFill>
                <a:latin typeface="JetBrains Mono" pitchFamily="49" charset="0"/>
                <a:ea typeface="JetBrains Mono" pitchFamily="49" charset="-122"/>
                <a:cs typeface="JetBrains Mono" pitchFamily="49" charset="-120"/>
              </a:rPr>
              <a:t>abs</a:t>
            </a:r>
            <a:r>
              <a:rPr lang="en-US" sz="1400" dirty="0">
                <a:solidFill>
                  <a:srgbClr val="14213D"/>
                </a:solidFill>
                <a:latin typeface="JetBrains Mono" pitchFamily="49" charset="0"/>
                <a:ea typeface="JetBrains Mono" pitchFamily="49" charset="-122"/>
                <a:cs typeface="JetBrains Mono" pitchFamily="49" charset="-120"/>
              </a:rPr>
              <a:t>(-15) &lt;&lt; endl;   </a:t>
            </a:r>
            <a:r>
              <a:rPr lang="en-US" sz="1400" dirty="0">
                <a:solidFill>
                  <a:srgbClr val="6B7588"/>
                </a:solidFill>
                <a:latin typeface="JetBrains Mono" pitchFamily="49" charset="0"/>
                <a:ea typeface="JetBrains Mono" pitchFamily="49" charset="-122"/>
                <a:cs typeface="JetBrains Mono" pitchFamily="49" charset="-120"/>
              </a:rPr>
              <a:t>// 15</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return</a:t>
            </a:r>
            <a:r>
              <a:rPr lang="en-US" sz="1400" dirty="0">
                <a:solidFill>
                  <a:srgbClr val="14213D"/>
                </a:solidFill>
                <a:latin typeface="JetBrains Mono" pitchFamily="49" charset="0"/>
                <a:ea typeface="JetBrains Mono" pitchFamily="49" charset="-122"/>
                <a:cs typeface="JetBrains Mono" pitchFamily="49" charset="-120"/>
              </a:rPr>
              <a:t> 0;</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7137400" y="1757654"/>
            <a:ext cx="4369054" cy="619702"/>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4213D"/>
                </a:solidFill>
                <a:latin typeface="Rubik" pitchFamily="34" charset="0"/>
                <a:ea typeface="Rubik" pitchFamily="34" charset="-122"/>
                <a:cs typeface="Rubik" pitchFamily="34" charset="-120"/>
              </a:rPr>
              <a:t>To use sqrt we only needed to know three things:</a:t>
            </a:r>
            <a:endParaRPr lang="en-US" sz="1800" dirty="0"/>
          </a:p>
        </p:txBody>
      </p:sp>
      <p:sp>
        <p:nvSpPr>
          <p:cNvPr id="6" name="Text 4"/>
          <p:cNvSpPr/>
          <p:nvPr/>
        </p:nvSpPr>
        <p:spPr>
          <a:xfrm>
            <a:off x="7137400" y="2504356"/>
            <a:ext cx="436905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657"/>
                </a:solidFill>
                <a:latin typeface="Rubik" pitchFamily="34" charset="0"/>
                <a:ea typeface="Rubik" pitchFamily="34" charset="-122"/>
                <a:cs typeface="Rubik" pitchFamily="34" charset="-120"/>
              </a:rPr>
              <a:t>1.</a:t>
            </a:r>
            <a:r>
              <a:rPr lang="en-US" sz="1500" dirty="0">
                <a:solidFill>
                  <a:srgbClr val="3D4657"/>
                </a:solidFill>
                <a:latin typeface="Rubik" pitchFamily="34" charset="0"/>
                <a:ea typeface="Rubik" pitchFamily="34" charset="-122"/>
                <a:cs typeface="Rubik" pitchFamily="34" charset="-120"/>
              </a:rPr>
              <a:t> Its name</a:t>
            </a:r>
            <a:endParaRPr lang="en-US" sz="1500" dirty="0"/>
          </a:p>
        </p:txBody>
      </p:sp>
      <p:sp>
        <p:nvSpPr>
          <p:cNvPr id="7" name="Text 5"/>
          <p:cNvSpPr/>
          <p:nvPr/>
        </p:nvSpPr>
        <p:spPr>
          <a:xfrm>
            <a:off x="7137400" y="2923456"/>
            <a:ext cx="436905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657"/>
                </a:solidFill>
                <a:latin typeface="Rubik" pitchFamily="34" charset="0"/>
                <a:ea typeface="Rubik" pitchFamily="34" charset="-122"/>
                <a:cs typeface="Rubik" pitchFamily="34" charset="-120"/>
              </a:rPr>
              <a:t>2.</a:t>
            </a:r>
            <a:r>
              <a:rPr lang="en-US" sz="1500" dirty="0">
                <a:solidFill>
                  <a:srgbClr val="3D4657"/>
                </a:solidFill>
                <a:latin typeface="Rubik" pitchFamily="34" charset="0"/>
                <a:ea typeface="Rubik" pitchFamily="34" charset="-122"/>
                <a:cs typeface="Rubik" pitchFamily="34" charset="-120"/>
              </a:rPr>
              <a:t> What to give it</a:t>
            </a:r>
            <a:endParaRPr lang="en-US" sz="1500" dirty="0"/>
          </a:p>
        </p:txBody>
      </p:sp>
      <p:sp>
        <p:nvSpPr>
          <p:cNvPr id="8" name="Text 6"/>
          <p:cNvSpPr/>
          <p:nvPr/>
        </p:nvSpPr>
        <p:spPr>
          <a:xfrm>
            <a:off x="7137400" y="3342556"/>
            <a:ext cx="436905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657"/>
                </a:solidFill>
                <a:latin typeface="Rubik" pitchFamily="34" charset="0"/>
                <a:ea typeface="Rubik" pitchFamily="34" charset="-122"/>
                <a:cs typeface="Rubik" pitchFamily="34" charset="-120"/>
              </a:rPr>
              <a:t>3.</a:t>
            </a:r>
            <a:r>
              <a:rPr lang="en-US" sz="1500" dirty="0">
                <a:solidFill>
                  <a:srgbClr val="3D4657"/>
                </a:solidFill>
                <a:latin typeface="Rubik" pitchFamily="34" charset="0"/>
                <a:ea typeface="Rubik" pitchFamily="34" charset="-122"/>
                <a:cs typeface="Rubik" pitchFamily="34" charset="-120"/>
              </a:rPr>
              <a:t> What it gives back</a:t>
            </a:r>
            <a:endParaRPr lang="en-US" sz="1500" dirty="0"/>
          </a:p>
        </p:txBody>
      </p:sp>
      <p:sp>
        <p:nvSpPr>
          <p:cNvPr id="9" name="Text 7"/>
          <p:cNvSpPr/>
          <p:nvPr/>
        </p:nvSpPr>
        <p:spPr>
          <a:xfrm>
            <a:off x="7137400" y="3761656"/>
            <a:ext cx="436905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Our own functions will be designed the same way.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USER-DEFINED FUNCTION</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Our very first function</a:t>
            </a:r>
            <a:endParaRPr lang="en-US" sz="3600" dirty="0"/>
          </a:p>
        </p:txBody>
      </p:sp>
      <p:sp>
        <p:nvSpPr>
          <p:cNvPr id="4" name="Text 2"/>
          <p:cNvSpPr/>
          <p:nvPr/>
        </p:nvSpPr>
        <p:spPr>
          <a:xfrm>
            <a:off x="812800" y="1757654"/>
            <a:ext cx="6477000" cy="3924300"/>
          </a:xfrm>
          <a:prstGeom prst="roundRect">
            <a:avLst>
              <a:gd name="adj" fmla="val 3236"/>
            </a:avLst>
          </a:prstGeom>
          <a:solidFill>
            <a:srgbClr val="EDE7DA"/>
          </a:solidFill>
          <a:ln/>
        </p:spPr>
        <p:txBody>
          <a:bodyPr wrap="none" lIns="216803" tIns="191403" rIns="37733" bIns="166003" rtlCol="0" anchor="t">
            <a:normAutofit/>
          </a:bodyPr>
          <a:lstStyle/>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#include</a:t>
            </a:r>
            <a:r>
              <a:rPr lang="en-US" sz="1300" dirty="0">
                <a:solidFill>
                  <a:srgbClr val="14213D"/>
                </a:solidFill>
                <a:latin typeface="JetBrains Mono" pitchFamily="49" charset="0"/>
                <a:ea typeface="JetBrains Mono" pitchFamily="49" charset="-122"/>
                <a:cs typeface="JetBrains Mono" pitchFamily="49" charset="-120"/>
              </a:rPr>
              <a:t> &lt;iostream&gt;</a:t>
            </a:r>
            <a:endParaRPr lang="en-US" sz="1300" dirty="0"/>
          </a:p>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using namespace</a:t>
            </a:r>
            <a:r>
              <a:rPr lang="en-US" sz="1300" dirty="0">
                <a:solidFill>
                  <a:srgbClr val="14213D"/>
                </a:solidFill>
                <a:latin typeface="JetBrains Mono" pitchFamily="49" charset="0"/>
                <a:ea typeface="JetBrains Mono" pitchFamily="49" charset="-122"/>
                <a:cs typeface="JetBrains Mono" pitchFamily="49" charset="-120"/>
              </a:rPr>
              <a:t> std;</a:t>
            </a:r>
            <a:endParaRPr lang="en-US" sz="1300" dirty="0"/>
          </a:p>
          <a:p>
            <a:pPr marL="0" indent="0" algn="l">
              <a:lnSpc>
                <a:spcPts val="1950"/>
              </a:lnSpc>
              <a:buNone/>
            </a:pPr>
            <a:endParaRPr lang="en-US" sz="1300" dirty="0"/>
          </a:p>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void</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sayHello</a:t>
            </a:r>
            <a:r>
              <a:rPr lang="en-US" sz="1300" dirty="0">
                <a:solidFill>
                  <a:srgbClr val="14213D"/>
                </a:solidFill>
                <a:latin typeface="JetBrains Mono" pitchFamily="49" charset="0"/>
                <a:ea typeface="JetBrains Mono" pitchFamily="49" charset="-122"/>
                <a:cs typeface="JetBrains Mono" pitchFamily="49" charset="-120"/>
              </a:rPr>
              <a:t>() {           </a:t>
            </a:r>
            <a:r>
              <a:rPr lang="en-US" sz="1300" dirty="0">
                <a:solidFill>
                  <a:srgbClr val="6B7588"/>
                </a:solidFill>
                <a:latin typeface="JetBrains Mono" pitchFamily="49" charset="0"/>
                <a:ea typeface="JetBrains Mono" pitchFamily="49" charset="-122"/>
                <a:cs typeface="JetBrains Mono" pitchFamily="49" charset="-120"/>
              </a:rPr>
              <a:t>// the function</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"Hello, students!"</a:t>
            </a:r>
            <a:r>
              <a:rPr lang="en-US" sz="1300" dirty="0">
                <a:solidFill>
                  <a:srgbClr val="14213D"/>
                </a:solidFill>
                <a:latin typeface="JetBrains Mono" pitchFamily="49" charset="0"/>
                <a:ea typeface="JetBrains Mono" pitchFamily="49" charset="-122"/>
                <a:cs typeface="JetBrains Mono" pitchFamily="49" charset="-120"/>
              </a:rPr>
              <a: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endParaRPr lang="en-US" sz="1300" dirty="0"/>
          </a:p>
          <a:p>
            <a:pPr marL="0" indent="0" algn="l">
              <a:lnSpc>
                <a:spcPts val="1950"/>
              </a:lnSpc>
              <a:buNone/>
            </a:pP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main() {</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"Program starts"</a:t>
            </a:r>
            <a:r>
              <a:rPr lang="en-US" sz="1300" dirty="0">
                <a:solidFill>
                  <a:srgbClr val="14213D"/>
                </a:solidFill>
                <a:latin typeface="JetBrains Mono" pitchFamily="49" charset="0"/>
                <a:ea typeface="JetBrains Mono" pitchFamily="49" charset="-122"/>
                <a:cs typeface="JetBrains Mono" pitchFamily="49" charset="-120"/>
              </a:rPr>
              <a: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sayHello</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6B7588"/>
                </a:solidFill>
                <a:latin typeface="JetBrains Mono" pitchFamily="49" charset="0"/>
                <a:ea typeface="JetBrains Mono" pitchFamily="49" charset="-122"/>
                <a:cs typeface="JetBrains Mono" pitchFamily="49" charset="-120"/>
              </a:rPr>
              <a:t>// call it</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sayHello</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6B7588"/>
                </a:solidFill>
                <a:latin typeface="JetBrains Mono" pitchFamily="49" charset="0"/>
                <a:ea typeface="JetBrains Mono" pitchFamily="49" charset="-122"/>
                <a:cs typeface="JetBrains Mono" pitchFamily="49" charset="-120"/>
              </a:rPr>
              <a:t>// call it again</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cout &lt;&lt; </a:t>
            </a:r>
            <a:r>
              <a:rPr lang="en-US" sz="1300" dirty="0">
                <a:solidFill>
                  <a:srgbClr val="2F7A3A"/>
                </a:solidFill>
                <a:latin typeface="JetBrains Mono" pitchFamily="49" charset="0"/>
                <a:ea typeface="JetBrains Mono" pitchFamily="49" charset="-122"/>
                <a:cs typeface="JetBrains Mono" pitchFamily="49" charset="-120"/>
              </a:rPr>
              <a:t>"Program ends"</a:t>
            </a:r>
            <a:r>
              <a:rPr lang="en-US" sz="1300" dirty="0">
                <a:solidFill>
                  <a:srgbClr val="14213D"/>
                </a:solidFill>
                <a:latin typeface="JetBrains Mono" pitchFamily="49" charset="0"/>
                <a:ea typeface="JetBrains Mono" pitchFamily="49" charset="-122"/>
                <a:cs typeface="JetBrains Mono" pitchFamily="49" charset="-120"/>
              </a:rPr>
              <a:t> &lt;&lt; endl;</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return</a:t>
            </a:r>
            <a:r>
              <a:rPr lang="en-US" sz="1300" dirty="0">
                <a:solidFill>
                  <a:srgbClr val="14213D"/>
                </a:solidFill>
                <a:latin typeface="JetBrains Mono" pitchFamily="49" charset="0"/>
                <a:ea typeface="JetBrains Mono" pitchFamily="49" charset="-122"/>
                <a:cs typeface="JetBrains Mono" pitchFamily="49" charset="-120"/>
              </a:rPr>
              <a:t> 0;</a:t>
            </a:r>
            <a:endParaRPr lang="en-US" sz="1300" dirty="0"/>
          </a:p>
          <a:p>
            <a:pPr marL="0" indent="0" algn="l">
              <a:lnSpc>
                <a:spcPts val="1950"/>
              </a:lnSpc>
              <a:buNone/>
            </a:pPr>
            <a:r>
              <a:rPr lang="en-US" sz="1300" dirty="0">
                <a:solidFill>
                  <a:srgbClr val="14213D"/>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645400" y="1757654"/>
            <a:ext cx="3845814" cy="23873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Rubik" pitchFamily="34" charset="0"/>
                <a:ea typeface="Rubik" pitchFamily="34" charset="-122"/>
                <a:cs typeface="Rubik" pitchFamily="34" charset="-120"/>
              </a:rPr>
              <a:t>OUTPUT</a:t>
            </a:r>
            <a:endParaRPr lang="en-US" sz="1200" dirty="0"/>
          </a:p>
        </p:txBody>
      </p:sp>
      <p:sp>
        <p:nvSpPr>
          <p:cNvPr id="6" name="Text 4"/>
          <p:cNvSpPr/>
          <p:nvPr/>
        </p:nvSpPr>
        <p:spPr>
          <a:xfrm>
            <a:off x="7651750" y="2104343"/>
            <a:ext cx="3721100" cy="1422544"/>
          </a:xfrm>
          <a:prstGeom prst="roundRect">
            <a:avLst>
              <a:gd name="adj" fmla="val 6696"/>
            </a:avLst>
          </a:prstGeom>
          <a:solidFill>
            <a:srgbClr val="FFFFFF"/>
          </a:solidFill>
          <a:ln w="12700">
            <a:solidFill>
              <a:srgbClr val="E3DCCB"/>
            </a:solidFill>
            <a:prstDash val="solid"/>
          </a:ln>
        </p:spPr>
        <p:txBody>
          <a:bodyPr wrap="none" lIns="180498" tIns="155098" rIns="81368" bIns="129698" rtlCol="0" anchor="t">
            <a:normAutofit/>
          </a:bodyPr>
          <a:lstStyle/>
          <a:p>
            <a:pPr marL="0" indent="0" algn="l">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Program starts</a:t>
            </a:r>
            <a:endParaRPr lang="en-US" sz="1300" dirty="0"/>
          </a:p>
          <a:p>
            <a:pPr marL="0" indent="0" algn="l">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Hello, students!</a:t>
            </a:r>
            <a:endParaRPr lang="en-US" sz="1300" dirty="0"/>
          </a:p>
          <a:p>
            <a:pPr marL="0" indent="0" algn="l">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Hello, students!</a:t>
            </a:r>
            <a:endParaRPr lang="en-US" sz="1300" dirty="0"/>
          </a:p>
          <a:p>
            <a:pPr marL="0" indent="0" algn="l">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Program ends</a:t>
            </a:r>
            <a:endParaRPr lang="en-US" sz="1300" dirty="0"/>
          </a:p>
        </p:txBody>
      </p:sp>
      <p:sp>
        <p:nvSpPr>
          <p:cNvPr id="7" name="Text 5"/>
          <p:cNvSpPr/>
          <p:nvPr/>
        </p:nvSpPr>
        <p:spPr>
          <a:xfrm>
            <a:off x="7645400" y="3660235"/>
            <a:ext cx="384581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Rubik" pitchFamily="34" charset="0"/>
                <a:ea typeface="Rubik" pitchFamily="34" charset="-122"/>
                <a:cs typeface="Rubik" pitchFamily="34" charset="-120"/>
              </a:rPr>
              <a:t>Written </a:t>
            </a:r>
            <a:r>
              <a:rPr lang="en-US" sz="1500" b="1" dirty="0">
                <a:solidFill>
                  <a:srgbClr val="14213D"/>
                </a:solidFill>
                <a:latin typeface="Rubik" pitchFamily="34" charset="0"/>
                <a:ea typeface="Rubik" pitchFamily="34" charset="-122"/>
                <a:cs typeface="Rubik" pitchFamily="34" charset="-120"/>
              </a:rPr>
              <a:t>once</a:t>
            </a:r>
            <a:r>
              <a:rPr lang="en-US" sz="1500" dirty="0">
                <a:solidFill>
                  <a:srgbClr val="14213D"/>
                </a:solidFill>
                <a:latin typeface="Rubik" pitchFamily="34" charset="0"/>
                <a:ea typeface="Rubik" pitchFamily="34" charset="-122"/>
                <a:cs typeface="Rubik" pitchFamily="34" charset="-120"/>
              </a:rPr>
              <a:t>, ran </a:t>
            </a:r>
            <a:r>
              <a:rPr lang="en-US" sz="1500" b="1" dirty="0">
                <a:solidFill>
                  <a:srgbClr val="14213D"/>
                </a:solidFill>
                <a:latin typeface="Rubik" pitchFamily="34" charset="0"/>
                <a:ea typeface="Rubik" pitchFamily="34" charset="-122"/>
                <a:cs typeface="Rubik" pitchFamily="34" charset="-120"/>
              </a:rPr>
              <a:t>twice</a:t>
            </a:r>
            <a:r>
              <a:rPr lang="en-US" sz="1500" dirty="0">
                <a:solidFill>
                  <a:srgbClr val="14213D"/>
                </a:solidFill>
                <a:latin typeface="Rubik" pitchFamily="34" charset="0"/>
                <a:ea typeface="Rubik" pitchFamily="34" charset="-122"/>
                <a:cs typeface="Rubik" pitchFamily="34" charset="-120"/>
              </a:rPr>
              <a: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ANATOMY</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The four parts of every function</a:t>
            </a:r>
            <a:endParaRPr lang="en-US" sz="3600" dirty="0"/>
          </a:p>
        </p:txBody>
      </p:sp>
      <p:sp>
        <p:nvSpPr>
          <p:cNvPr id="4" name="Text 2"/>
          <p:cNvSpPr/>
          <p:nvPr/>
        </p:nvSpPr>
        <p:spPr>
          <a:xfrm>
            <a:off x="812800" y="1757654"/>
            <a:ext cx="10566400" cy="2184400"/>
          </a:xfrm>
          <a:prstGeom prst="roundRect">
            <a:avLst>
              <a:gd name="adj" fmla="val 5814"/>
            </a:avLst>
          </a:prstGeom>
          <a:solidFill>
            <a:srgbClr val="EDE7DA"/>
          </a:solidFill>
          <a:ln/>
        </p:spPr>
        <p:txBody>
          <a:bodyPr wrap="none" lIns="318403" tIns="216803" rIns="22747" bIns="191403" rtlCol="0" anchor="t">
            <a:normAutofit/>
          </a:bodyPr>
          <a:lstStyle/>
          <a:p>
            <a:pPr marL="0" indent="0" algn="l">
              <a:lnSpc>
                <a:spcPts val="3300"/>
              </a:lnSpc>
              <a:buNone/>
            </a:pPr>
            <a:r>
              <a:rPr lang="en-US" sz="2200" dirty="0">
                <a:solidFill>
                  <a:srgbClr val="B4531A"/>
                </a:solidFill>
                <a:latin typeface="JetBrains Mono" pitchFamily="49" charset="0"/>
                <a:ea typeface="JetBrains Mono" pitchFamily="49" charset="-122"/>
                <a:cs typeface="JetBrains Mono" pitchFamily="49" charset="-120"/>
              </a:rPr>
              <a:t>int</a:t>
            </a:r>
            <a:r>
              <a:rPr lang="en-US" sz="2200" dirty="0">
                <a:solidFill>
                  <a:srgbClr val="14213D"/>
                </a:solidFill>
                <a:latin typeface="JetBrains Mono" pitchFamily="49" charset="0"/>
                <a:ea typeface="JetBrains Mono" pitchFamily="49" charset="-122"/>
                <a:cs typeface="JetBrains Mono" pitchFamily="49" charset="-120"/>
              </a:rPr>
              <a:t>  </a:t>
            </a:r>
            <a:r>
              <a:rPr lang="en-US" sz="2200" dirty="0">
                <a:solidFill>
                  <a:srgbClr val="1F5F99"/>
                </a:solidFill>
                <a:latin typeface="JetBrains Mono" pitchFamily="49" charset="0"/>
                <a:ea typeface="JetBrains Mono" pitchFamily="49" charset="-122"/>
                <a:cs typeface="JetBrains Mono" pitchFamily="49" charset="-120"/>
              </a:rPr>
              <a:t>square</a:t>
            </a:r>
            <a:r>
              <a:rPr lang="en-US" sz="2200" dirty="0">
                <a:solidFill>
                  <a:srgbClr val="14213D"/>
                </a:solidFill>
                <a:latin typeface="JetBrains Mono" pitchFamily="49" charset="0"/>
                <a:ea typeface="JetBrains Mono" pitchFamily="49" charset="-122"/>
                <a:cs typeface="JetBrains Mono" pitchFamily="49" charset="-120"/>
              </a:rPr>
              <a:t>  </a:t>
            </a:r>
            <a:r>
              <a:rPr lang="en-US" sz="2200" dirty="0">
                <a:solidFill>
                  <a:srgbClr val="2F7A3A"/>
                </a:solidFill>
                <a:latin typeface="JetBrains Mono" pitchFamily="49" charset="0"/>
                <a:ea typeface="JetBrains Mono" pitchFamily="49" charset="-122"/>
                <a:cs typeface="JetBrains Mono" pitchFamily="49" charset="-120"/>
              </a:rPr>
              <a:t>(int n)</a:t>
            </a:r>
            <a:endParaRPr lang="en-US" sz="2200" dirty="0"/>
          </a:p>
          <a:p>
            <a:pPr marL="0" indent="0" algn="l">
              <a:lnSpc>
                <a:spcPts val="3300"/>
              </a:lnSpc>
              <a:buNone/>
            </a:pPr>
            <a:r>
              <a:rPr lang="en-US" sz="2200" dirty="0">
                <a:solidFill>
                  <a:srgbClr val="A33A7A"/>
                </a:solidFill>
                <a:latin typeface="JetBrains Mono" pitchFamily="49" charset="0"/>
                <a:ea typeface="JetBrains Mono" pitchFamily="49" charset="-122"/>
                <a:cs typeface="JetBrains Mono" pitchFamily="49" charset="-120"/>
              </a:rPr>
              <a:t>{</a:t>
            </a:r>
            <a:endParaRPr lang="en-US" sz="2200" dirty="0"/>
          </a:p>
          <a:p>
            <a:pPr marL="0" indent="0" algn="l">
              <a:lnSpc>
                <a:spcPts val="3300"/>
              </a:lnSpc>
              <a:buNone/>
            </a:pPr>
            <a:r>
              <a:rPr lang="en-US" sz="2200" dirty="0">
                <a:solidFill>
                  <a:srgbClr val="A33A7A"/>
                </a:solidFill>
                <a:latin typeface="JetBrains Mono" pitchFamily="49" charset="0"/>
                <a:ea typeface="JetBrains Mono" pitchFamily="49" charset="-122"/>
                <a:cs typeface="JetBrains Mono" pitchFamily="49" charset="-120"/>
              </a:rPr>
              <a:t>    return n * n;</a:t>
            </a:r>
            <a:endParaRPr lang="en-US" sz="2200" dirty="0"/>
          </a:p>
          <a:p>
            <a:pPr marL="0" indent="0" algn="l">
              <a:lnSpc>
                <a:spcPts val="3300"/>
              </a:lnSpc>
              <a:buNone/>
            </a:pPr>
            <a:r>
              <a:rPr lang="en-US" sz="2200" dirty="0">
                <a:solidFill>
                  <a:srgbClr val="A33A7A"/>
                </a:solidFill>
                <a:latin typeface="JetBrains Mono" pitchFamily="49" charset="0"/>
                <a:ea typeface="JetBrains Mono" pitchFamily="49" charset="-122"/>
                <a:cs typeface="JetBrains Mono" pitchFamily="49" charset="-120"/>
              </a:rPr>
              <a:t>}</a:t>
            </a:r>
            <a:endParaRPr lang="en-US" sz="2200" dirty="0"/>
          </a:p>
        </p:txBody>
      </p:sp>
      <p:sp>
        <p:nvSpPr>
          <p:cNvPr id="5" name="Shape 3"/>
          <p:cNvSpPr/>
          <p:nvPr/>
        </p:nvSpPr>
        <p:spPr>
          <a:xfrm>
            <a:off x="812800" y="4196054"/>
            <a:ext cx="2527300" cy="956397"/>
          </a:xfrm>
          <a:prstGeom prst="roundRect">
            <a:avLst>
              <a:gd name="adj" fmla="val 10623"/>
            </a:avLst>
          </a:prstGeom>
          <a:solidFill>
            <a:srgbClr val="FFFFFF"/>
          </a:solidFill>
          <a:ln/>
        </p:spPr>
        <p:txBody>
          <a:bodyPr/>
          <a:lstStyle/>
          <a:p>
            <a:endParaRPr lang="en-US"/>
          </a:p>
        </p:txBody>
      </p:sp>
      <p:sp>
        <p:nvSpPr>
          <p:cNvPr id="6" name="Shape 4"/>
          <p:cNvSpPr/>
          <p:nvPr/>
        </p:nvSpPr>
        <p:spPr>
          <a:xfrm>
            <a:off x="812800" y="4196054"/>
            <a:ext cx="2527300" cy="956397"/>
          </a:xfrm>
          <a:custGeom>
            <a:avLst/>
            <a:gdLst/>
            <a:ahLst/>
            <a:cxnLst/>
            <a:rect l="l" t="t" r="r" b="b"/>
            <a:pathLst>
              <a:path w="2527300" h="956397">
                <a:moveTo>
                  <a:pt x="0" y="101600"/>
                </a:moveTo>
                <a:lnTo>
                  <a:pt x="0" y="101600"/>
                </a:lnTo>
                <a:arcTo wR="101600" hR="101600" stAng="10800000" swAng="5400000"/>
                <a:lnTo>
                  <a:pt x="2425700" y="0"/>
                </a:lnTo>
                <a:arcTo wR="101600" hR="101600" stAng="16200000" swAng="5400000"/>
                <a:lnTo>
                  <a:pt x="2527300" y="101600"/>
                </a:lnTo>
                <a:arcTo wR="101600" hR="38100" stAng="0" swAng="-5400000"/>
                <a:lnTo>
                  <a:pt x="101600" y="63500"/>
                </a:lnTo>
                <a:arcTo wR="101600" hR="38100" stAng="16200000" swAng="-5400000"/>
                <a:close/>
              </a:path>
            </a:pathLst>
          </a:custGeom>
          <a:solidFill>
            <a:srgbClr val="B4531A"/>
          </a:solidFill>
          <a:ln/>
        </p:spPr>
        <p:txBody>
          <a:bodyPr/>
          <a:lstStyle/>
          <a:p>
            <a:endParaRPr lang="en-US"/>
          </a:p>
        </p:txBody>
      </p:sp>
      <p:sp>
        <p:nvSpPr>
          <p:cNvPr id="7" name="Text 5"/>
          <p:cNvSpPr/>
          <p:nvPr/>
        </p:nvSpPr>
        <p:spPr>
          <a:xfrm>
            <a:off x="990600" y="4436201"/>
            <a:ext cx="2236851"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Rubik" pitchFamily="34" charset="0"/>
                <a:ea typeface="Rubik" pitchFamily="34" charset="-122"/>
                <a:cs typeface="Rubik" pitchFamily="34" charset="-120"/>
              </a:rPr>
              <a:t>1. Return type</a:t>
            </a:r>
            <a:endParaRPr lang="en-US" sz="1600" dirty="0"/>
          </a:p>
        </p:txBody>
      </p:sp>
      <p:sp>
        <p:nvSpPr>
          <p:cNvPr id="8" name="Text 6"/>
          <p:cNvSpPr/>
          <p:nvPr/>
        </p:nvSpPr>
        <p:spPr>
          <a:xfrm>
            <a:off x="990600" y="4743524"/>
            <a:ext cx="2236851"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What comes back: int</a:t>
            </a:r>
            <a:endParaRPr lang="en-US" sz="1300" dirty="0"/>
          </a:p>
        </p:txBody>
      </p:sp>
      <p:sp>
        <p:nvSpPr>
          <p:cNvPr id="9" name="Shape 7"/>
          <p:cNvSpPr/>
          <p:nvPr/>
        </p:nvSpPr>
        <p:spPr>
          <a:xfrm>
            <a:off x="3492500" y="4196054"/>
            <a:ext cx="2527300" cy="956397"/>
          </a:xfrm>
          <a:prstGeom prst="roundRect">
            <a:avLst>
              <a:gd name="adj" fmla="val 10623"/>
            </a:avLst>
          </a:prstGeom>
          <a:solidFill>
            <a:srgbClr val="FFFFFF"/>
          </a:solidFill>
          <a:ln/>
        </p:spPr>
        <p:txBody>
          <a:bodyPr/>
          <a:lstStyle/>
          <a:p>
            <a:endParaRPr lang="en-US"/>
          </a:p>
        </p:txBody>
      </p:sp>
      <p:sp>
        <p:nvSpPr>
          <p:cNvPr id="10" name="Shape 8"/>
          <p:cNvSpPr/>
          <p:nvPr/>
        </p:nvSpPr>
        <p:spPr>
          <a:xfrm>
            <a:off x="3492500" y="4196054"/>
            <a:ext cx="2527300" cy="956397"/>
          </a:xfrm>
          <a:custGeom>
            <a:avLst/>
            <a:gdLst/>
            <a:ahLst/>
            <a:cxnLst/>
            <a:rect l="l" t="t" r="r" b="b"/>
            <a:pathLst>
              <a:path w="2527300" h="956397">
                <a:moveTo>
                  <a:pt x="0" y="101600"/>
                </a:moveTo>
                <a:lnTo>
                  <a:pt x="0" y="101600"/>
                </a:lnTo>
                <a:arcTo wR="101600" hR="101600" stAng="10800000" swAng="5400000"/>
                <a:lnTo>
                  <a:pt x="2425700" y="0"/>
                </a:lnTo>
                <a:arcTo wR="101600" hR="101600" stAng="16200000" swAng="5400000"/>
                <a:lnTo>
                  <a:pt x="2527300" y="101600"/>
                </a:lnTo>
                <a:arcTo wR="101600" hR="38100" stAng="0" swAng="-5400000"/>
                <a:lnTo>
                  <a:pt x="101600" y="63500"/>
                </a:lnTo>
                <a:arcTo wR="101600" hR="38100" stAng="16200000" swAng="-5400000"/>
                <a:close/>
              </a:path>
            </a:pathLst>
          </a:custGeom>
          <a:solidFill>
            <a:srgbClr val="1F5F99"/>
          </a:solidFill>
          <a:ln/>
        </p:spPr>
        <p:txBody>
          <a:bodyPr/>
          <a:lstStyle/>
          <a:p>
            <a:endParaRPr lang="en-US"/>
          </a:p>
        </p:txBody>
      </p:sp>
      <p:sp>
        <p:nvSpPr>
          <p:cNvPr id="11" name="Text 9"/>
          <p:cNvSpPr/>
          <p:nvPr/>
        </p:nvSpPr>
        <p:spPr>
          <a:xfrm>
            <a:off x="3670300" y="4436201"/>
            <a:ext cx="2236851"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Rubik" pitchFamily="34" charset="0"/>
                <a:ea typeface="Rubik" pitchFamily="34" charset="-122"/>
                <a:cs typeface="Rubik" pitchFamily="34" charset="-120"/>
              </a:rPr>
              <a:t>2. Name</a:t>
            </a:r>
            <a:endParaRPr lang="en-US" sz="1600" dirty="0"/>
          </a:p>
        </p:txBody>
      </p:sp>
      <p:sp>
        <p:nvSpPr>
          <p:cNvPr id="12" name="Text 10"/>
          <p:cNvSpPr/>
          <p:nvPr/>
        </p:nvSpPr>
        <p:spPr>
          <a:xfrm>
            <a:off x="3670300" y="4743524"/>
            <a:ext cx="2236851"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How we call it: square</a:t>
            </a:r>
            <a:endParaRPr lang="en-US" sz="1300" dirty="0"/>
          </a:p>
        </p:txBody>
      </p:sp>
      <p:sp>
        <p:nvSpPr>
          <p:cNvPr id="13" name="Shape 11"/>
          <p:cNvSpPr/>
          <p:nvPr/>
        </p:nvSpPr>
        <p:spPr>
          <a:xfrm>
            <a:off x="6172200" y="4196054"/>
            <a:ext cx="2527300" cy="956397"/>
          </a:xfrm>
          <a:prstGeom prst="roundRect">
            <a:avLst>
              <a:gd name="adj" fmla="val 10623"/>
            </a:avLst>
          </a:prstGeom>
          <a:solidFill>
            <a:srgbClr val="FFFFFF"/>
          </a:solidFill>
          <a:ln/>
        </p:spPr>
        <p:txBody>
          <a:bodyPr/>
          <a:lstStyle/>
          <a:p>
            <a:endParaRPr lang="en-US"/>
          </a:p>
        </p:txBody>
      </p:sp>
      <p:sp>
        <p:nvSpPr>
          <p:cNvPr id="14" name="Shape 12"/>
          <p:cNvSpPr/>
          <p:nvPr/>
        </p:nvSpPr>
        <p:spPr>
          <a:xfrm>
            <a:off x="6172200" y="4196054"/>
            <a:ext cx="2527300" cy="956397"/>
          </a:xfrm>
          <a:custGeom>
            <a:avLst/>
            <a:gdLst/>
            <a:ahLst/>
            <a:cxnLst/>
            <a:rect l="l" t="t" r="r" b="b"/>
            <a:pathLst>
              <a:path w="2527300" h="956397">
                <a:moveTo>
                  <a:pt x="0" y="101600"/>
                </a:moveTo>
                <a:lnTo>
                  <a:pt x="0" y="101600"/>
                </a:lnTo>
                <a:arcTo wR="101600" hR="101600" stAng="10800000" swAng="5400000"/>
                <a:lnTo>
                  <a:pt x="2425700" y="0"/>
                </a:lnTo>
                <a:arcTo wR="101600" hR="101600" stAng="16200000" swAng="5400000"/>
                <a:lnTo>
                  <a:pt x="2527300" y="101600"/>
                </a:lnTo>
                <a:arcTo wR="101600" hR="38100" stAng="0" swAng="-5400000"/>
                <a:lnTo>
                  <a:pt x="101600" y="63500"/>
                </a:lnTo>
                <a:arcTo wR="101600" hR="38100" stAng="16200000" swAng="-5400000"/>
                <a:close/>
              </a:path>
            </a:pathLst>
          </a:custGeom>
          <a:solidFill>
            <a:srgbClr val="2F7A3A"/>
          </a:solidFill>
          <a:ln/>
        </p:spPr>
        <p:txBody>
          <a:bodyPr/>
          <a:lstStyle/>
          <a:p>
            <a:endParaRPr lang="en-US"/>
          </a:p>
        </p:txBody>
      </p:sp>
      <p:sp>
        <p:nvSpPr>
          <p:cNvPr id="15" name="Text 13"/>
          <p:cNvSpPr/>
          <p:nvPr/>
        </p:nvSpPr>
        <p:spPr>
          <a:xfrm>
            <a:off x="6350000" y="4436201"/>
            <a:ext cx="2236851"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Rubik" pitchFamily="34" charset="0"/>
                <a:ea typeface="Rubik" pitchFamily="34" charset="-122"/>
                <a:cs typeface="Rubik" pitchFamily="34" charset="-120"/>
              </a:rPr>
              <a:t>3. Parameters</a:t>
            </a:r>
            <a:endParaRPr lang="en-US" sz="1600" dirty="0"/>
          </a:p>
        </p:txBody>
      </p:sp>
      <p:sp>
        <p:nvSpPr>
          <p:cNvPr id="16" name="Text 14"/>
          <p:cNvSpPr/>
          <p:nvPr/>
        </p:nvSpPr>
        <p:spPr>
          <a:xfrm>
            <a:off x="6350000" y="4743524"/>
            <a:ext cx="2236851"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What goes in, inside ( )</a:t>
            </a:r>
            <a:endParaRPr lang="en-US" sz="1300" dirty="0"/>
          </a:p>
        </p:txBody>
      </p:sp>
      <p:sp>
        <p:nvSpPr>
          <p:cNvPr id="17" name="Shape 15"/>
          <p:cNvSpPr/>
          <p:nvPr/>
        </p:nvSpPr>
        <p:spPr>
          <a:xfrm>
            <a:off x="8851900" y="4196054"/>
            <a:ext cx="2527300" cy="956397"/>
          </a:xfrm>
          <a:prstGeom prst="roundRect">
            <a:avLst>
              <a:gd name="adj" fmla="val 10623"/>
            </a:avLst>
          </a:prstGeom>
          <a:solidFill>
            <a:srgbClr val="FFFFFF"/>
          </a:solidFill>
          <a:ln/>
        </p:spPr>
        <p:txBody>
          <a:bodyPr/>
          <a:lstStyle/>
          <a:p>
            <a:endParaRPr lang="en-US"/>
          </a:p>
        </p:txBody>
      </p:sp>
      <p:sp>
        <p:nvSpPr>
          <p:cNvPr id="18" name="Shape 16"/>
          <p:cNvSpPr/>
          <p:nvPr/>
        </p:nvSpPr>
        <p:spPr>
          <a:xfrm>
            <a:off x="8851900" y="4196054"/>
            <a:ext cx="2527300" cy="956397"/>
          </a:xfrm>
          <a:custGeom>
            <a:avLst/>
            <a:gdLst/>
            <a:ahLst/>
            <a:cxnLst/>
            <a:rect l="l" t="t" r="r" b="b"/>
            <a:pathLst>
              <a:path w="2527300" h="956397">
                <a:moveTo>
                  <a:pt x="0" y="101600"/>
                </a:moveTo>
                <a:lnTo>
                  <a:pt x="0" y="101600"/>
                </a:lnTo>
                <a:arcTo wR="101600" hR="101600" stAng="10800000" swAng="5400000"/>
                <a:lnTo>
                  <a:pt x="2425700" y="0"/>
                </a:lnTo>
                <a:arcTo wR="101600" hR="101600" stAng="16200000" swAng="5400000"/>
                <a:lnTo>
                  <a:pt x="2527300" y="101600"/>
                </a:lnTo>
                <a:arcTo wR="101600" hR="38100" stAng="0" swAng="-5400000"/>
                <a:lnTo>
                  <a:pt x="101600" y="63500"/>
                </a:lnTo>
                <a:arcTo wR="101600" hR="38100" stAng="16200000" swAng="-5400000"/>
                <a:close/>
              </a:path>
            </a:pathLst>
          </a:custGeom>
          <a:solidFill>
            <a:srgbClr val="A33A7A"/>
          </a:solidFill>
          <a:ln/>
        </p:spPr>
        <p:txBody>
          <a:bodyPr/>
          <a:lstStyle/>
          <a:p>
            <a:endParaRPr lang="en-US"/>
          </a:p>
        </p:txBody>
      </p:sp>
      <p:sp>
        <p:nvSpPr>
          <p:cNvPr id="19" name="Text 17"/>
          <p:cNvSpPr/>
          <p:nvPr/>
        </p:nvSpPr>
        <p:spPr>
          <a:xfrm>
            <a:off x="9029700" y="4436201"/>
            <a:ext cx="2236851"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Rubik" pitchFamily="34" charset="0"/>
                <a:ea typeface="Rubik" pitchFamily="34" charset="-122"/>
                <a:cs typeface="Rubik" pitchFamily="34" charset="-120"/>
              </a:rPr>
              <a:t>4. Body</a:t>
            </a:r>
            <a:endParaRPr lang="en-US" sz="1600" dirty="0"/>
          </a:p>
        </p:txBody>
      </p:sp>
      <p:sp>
        <p:nvSpPr>
          <p:cNvPr id="20" name="Text 18"/>
          <p:cNvSpPr/>
          <p:nvPr/>
        </p:nvSpPr>
        <p:spPr>
          <a:xfrm>
            <a:off x="9029700" y="4743524"/>
            <a:ext cx="2236851"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The job, inside { }</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PART 1 · RETURN TYPE</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What does the function hand back?</a:t>
            </a:r>
            <a:endParaRPr lang="en-US" sz="3600" dirty="0"/>
          </a:p>
        </p:txBody>
      </p:sp>
      <p:sp>
        <p:nvSpPr>
          <p:cNvPr id="4" name="Shape 2"/>
          <p:cNvSpPr/>
          <p:nvPr/>
        </p:nvSpPr>
        <p:spPr>
          <a:xfrm>
            <a:off x="812800" y="1706854"/>
            <a:ext cx="3302000" cy="2795119"/>
          </a:xfrm>
          <a:prstGeom prst="roundRect">
            <a:avLst>
              <a:gd name="adj" fmla="val 4544"/>
            </a:avLst>
          </a:prstGeom>
          <a:solidFill>
            <a:srgbClr val="F1ECE0"/>
          </a:solidFill>
          <a:ln/>
        </p:spPr>
        <p:txBody>
          <a:bodyPr/>
          <a:lstStyle/>
          <a:p>
            <a:endParaRPr lang="en-US"/>
          </a:p>
        </p:txBody>
      </p:sp>
      <p:pic>
        <p:nvPicPr>
          <p:cNvPr id="5" name="Image 0" descr="Lightbulb"/>
          <p:cNvPicPr>
            <a:picLocks noChangeAspect="1"/>
          </p:cNvPicPr>
          <p:nvPr/>
        </p:nvPicPr>
        <p:blipFill>
          <a:blip r:embed="rId3"/>
          <a:srcRect/>
          <a:stretch/>
        </p:blipFill>
        <p:spPr>
          <a:xfrm>
            <a:off x="1028700" y="1922754"/>
            <a:ext cx="355600" cy="355600"/>
          </a:xfrm>
          <a:prstGeom prst="rect">
            <a:avLst/>
          </a:prstGeom>
        </p:spPr>
      </p:pic>
      <p:sp>
        <p:nvSpPr>
          <p:cNvPr id="6" name="Text 3"/>
          <p:cNvSpPr/>
          <p:nvPr/>
        </p:nvSpPr>
        <p:spPr>
          <a:xfrm>
            <a:off x="1028700" y="2379954"/>
            <a:ext cx="2956306" cy="1056553"/>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4213D"/>
                </a:solidFill>
                <a:latin typeface="Rubik" pitchFamily="34" charset="0"/>
                <a:ea typeface="Rubik" pitchFamily="34" charset="-122"/>
                <a:cs typeface="Rubik" pitchFamily="34" charset="-120"/>
              </a:rPr>
              <a:t>You give a shopkeeper money and get </a:t>
            </a:r>
            <a:r>
              <a:rPr lang="en-US" sz="1400" b="1" dirty="0">
                <a:solidFill>
                  <a:srgbClr val="14213D"/>
                </a:solidFill>
                <a:latin typeface="Rubik" pitchFamily="34" charset="0"/>
                <a:ea typeface="Rubik" pitchFamily="34" charset="-122"/>
                <a:cs typeface="Rubik" pitchFamily="34" charset="-120"/>
              </a:rPr>
              <a:t>change back</a:t>
            </a:r>
            <a:r>
              <a:rPr lang="en-US" sz="1400" dirty="0">
                <a:solidFill>
                  <a:srgbClr val="14213D"/>
                </a:solidFill>
                <a:latin typeface="Rubik" pitchFamily="34" charset="0"/>
                <a:ea typeface="Rubik" pitchFamily="34" charset="-122"/>
                <a:cs typeface="Rubik" pitchFamily="34" charset="-120"/>
              </a:rPr>
              <a:t>. You put a coin in a juice machine and get </a:t>
            </a:r>
            <a:r>
              <a:rPr lang="en-US" sz="1400" b="1" dirty="0">
                <a:solidFill>
                  <a:srgbClr val="14213D"/>
                </a:solidFill>
                <a:latin typeface="Rubik" pitchFamily="34" charset="0"/>
                <a:ea typeface="Rubik" pitchFamily="34" charset="-122"/>
                <a:cs typeface="Rubik" pitchFamily="34" charset="-120"/>
              </a:rPr>
              <a:t>juice back</a:t>
            </a:r>
            <a:r>
              <a:rPr lang="en-US" sz="1400" dirty="0">
                <a:solidFill>
                  <a:srgbClr val="14213D"/>
                </a:solidFill>
                <a:latin typeface="Rubik" pitchFamily="34" charset="0"/>
                <a:ea typeface="Rubik" pitchFamily="34" charset="-122"/>
                <a:cs typeface="Rubik" pitchFamily="34" charset="-120"/>
              </a:rPr>
              <a:t>.</a:t>
            </a:r>
            <a:endParaRPr lang="en-US" sz="1400" dirty="0"/>
          </a:p>
        </p:txBody>
      </p:sp>
      <p:sp>
        <p:nvSpPr>
          <p:cNvPr id="7" name="Text 4"/>
          <p:cNvSpPr/>
          <p:nvPr/>
        </p:nvSpPr>
        <p:spPr>
          <a:xfrm>
            <a:off x="1028700" y="3512710"/>
            <a:ext cx="2956306" cy="798765"/>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4213D"/>
                </a:solidFill>
                <a:latin typeface="Rubik" pitchFamily="34" charset="0"/>
                <a:ea typeface="Rubik" pitchFamily="34" charset="-122"/>
                <a:cs typeface="Rubik" pitchFamily="34" charset="-120"/>
              </a:rPr>
              <a:t>The </a:t>
            </a:r>
            <a:r>
              <a:rPr lang="en-US" sz="1400" b="1" dirty="0">
                <a:solidFill>
                  <a:srgbClr val="14213D"/>
                </a:solidFill>
                <a:latin typeface="Rubik" pitchFamily="34" charset="0"/>
                <a:ea typeface="Rubik" pitchFamily="34" charset="-122"/>
                <a:cs typeface="Rubik" pitchFamily="34" charset="-120"/>
              </a:rPr>
              <a:t>return type</a:t>
            </a:r>
            <a:r>
              <a:rPr lang="en-US" sz="1400" dirty="0">
                <a:solidFill>
                  <a:srgbClr val="14213D"/>
                </a:solidFill>
                <a:latin typeface="Rubik" pitchFamily="34" charset="0"/>
                <a:ea typeface="Rubik" pitchFamily="34" charset="-122"/>
                <a:cs typeface="Rubik" pitchFamily="34" charset="-120"/>
              </a:rPr>
              <a:t> tells us what </a:t>
            </a:r>
            <a:r>
              <a:rPr lang="en-US" sz="1400" b="1" dirty="0">
                <a:solidFill>
                  <a:srgbClr val="14213D"/>
                </a:solidFill>
                <a:latin typeface="Rubik" pitchFamily="34" charset="0"/>
                <a:ea typeface="Rubik" pitchFamily="34" charset="-122"/>
                <a:cs typeface="Rubik" pitchFamily="34" charset="-120"/>
              </a:rPr>
              <a:t>kind</a:t>
            </a:r>
            <a:r>
              <a:rPr lang="en-US" sz="1400" dirty="0">
                <a:solidFill>
                  <a:srgbClr val="14213D"/>
                </a:solidFill>
                <a:latin typeface="Rubik" pitchFamily="34" charset="0"/>
                <a:ea typeface="Rubik" pitchFamily="34" charset="-122"/>
                <a:cs typeface="Rubik" pitchFamily="34" charset="-120"/>
              </a:rPr>
              <a:t> of thing comes back from a function.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380345" y="1718399"/>
          <a:ext cx="6998855" cy="2229282"/>
        </p:xfrm>
        <a:graphic>
          <a:graphicData uri="http://schemas.openxmlformats.org/drawingml/2006/table">
            <a:tbl>
              <a:tblPr/>
              <a:tblGrid>
                <a:gridCol w="1399771">
                  <a:extLst>
                    <a:ext uri="{9D8B030D-6E8A-4147-A177-3AD203B41FA5}">
                      <a16:colId xmlns:a16="http://schemas.microsoft.com/office/drawing/2014/main" val="20000"/>
                    </a:ext>
                  </a:extLst>
                </a:gridCol>
                <a:gridCol w="2379611">
                  <a:extLst>
                    <a:ext uri="{9D8B030D-6E8A-4147-A177-3AD203B41FA5}">
                      <a16:colId xmlns:a16="http://schemas.microsoft.com/office/drawing/2014/main" val="20001"/>
                    </a:ext>
                  </a:extLst>
                </a:gridCol>
                <a:gridCol w="3219473">
                  <a:extLst>
                    <a:ext uri="{9D8B030D-6E8A-4147-A177-3AD203B41FA5}">
                      <a16:colId xmlns:a16="http://schemas.microsoft.com/office/drawing/2014/main" val="20002"/>
                    </a:ext>
                  </a:extLst>
                </a:gridCol>
              </a:tblGrid>
              <a:tr h="371547">
                <a:tc>
                  <a:txBody>
                    <a:bodyPr/>
                    <a:lstStyle/>
                    <a:p>
                      <a:pPr marL="0" indent="0">
                        <a:lnSpc>
                          <a:spcPts val="1890"/>
                        </a:lnSpc>
                        <a:buNone/>
                      </a:pPr>
                      <a:r>
                        <a:rPr lang="en-US" sz="1350" b="1" dirty="0">
                          <a:solidFill>
                            <a:srgbClr val="14213D"/>
                          </a:solidFill>
                          <a:latin typeface="Rubik" pitchFamily="34" charset="0"/>
                          <a:ea typeface="Rubik" pitchFamily="34" charset="-122"/>
                          <a:cs typeface="Rubik" pitchFamily="34" charset="-120"/>
                        </a:rPr>
                        <a:t>Return type</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890"/>
                        </a:lnSpc>
                        <a:buNone/>
                      </a:pPr>
                      <a:r>
                        <a:rPr lang="en-US" sz="1350" b="1" dirty="0">
                          <a:solidFill>
                            <a:srgbClr val="14213D"/>
                          </a:solidFill>
                          <a:latin typeface="Rubik" pitchFamily="34" charset="0"/>
                          <a:ea typeface="Rubik" pitchFamily="34" charset="-122"/>
                          <a:cs typeface="Rubik" pitchFamily="34" charset="-120"/>
                        </a:rPr>
                        <a:t>What comes back</a:t>
                      </a:r>
                      <a:endParaRPr lang="en-US" sz="1350" dirty="0">
                        <a:latin typeface="Rubik" charset="0"/>
                        <a:ea typeface="Rubik" charset="0"/>
                        <a:cs typeface="Rubik" charset="0"/>
                      </a:endParaRPr>
                    </a:p>
                  </a:txBody>
                  <a:tcPr marL="60007" marR="60007" marT="60007" marB="60007">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890"/>
                        </a:lnSpc>
                        <a:buNone/>
                      </a:pPr>
                      <a:r>
                        <a:rPr lang="en-US" sz="1350" b="1" dirty="0">
                          <a:solidFill>
                            <a:srgbClr val="14213D"/>
                          </a:solidFill>
                          <a:latin typeface="Rubik" pitchFamily="34" charset="0"/>
                          <a:ea typeface="Rubik" pitchFamily="34" charset="-122"/>
                          <a:cs typeface="Rubik" pitchFamily="34" charset="-120"/>
                        </a:rPr>
                        <a:t>Example header</a:t>
                      </a:r>
                      <a:endParaRPr lang="en-US" sz="1350" dirty="0">
                        <a:latin typeface="Rubik" charset="0"/>
                        <a:ea typeface="Rubik" charset="0"/>
                        <a:cs typeface="Rubik" charset="0"/>
                      </a:endParaRPr>
                    </a:p>
                  </a:txBody>
                  <a:tcPr marL="60007" marR="60007" marT="60007" marB="60007">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71547">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int</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A whole number</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int square(int n)</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371547">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double</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A decimal number</a:t>
                      </a:r>
                      <a:endParaRPr lang="en-US" sz="1350" dirty="0">
                        <a:latin typeface="Rubik" charset="0"/>
                        <a:ea typeface="Rubik" charset="0"/>
                        <a:cs typeface="Rubik" charset="0"/>
                      </a:endParaRPr>
                    </a:p>
                  </a:txBody>
                  <a:tcPr marL="60007" marR="60007" marT="60007" marB="60007">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double average(…)</a:t>
                      </a:r>
                      <a:endParaRPr lang="en-US" sz="1350" dirty="0">
                        <a:latin typeface="Rubik" charset="0"/>
                        <a:ea typeface="Rubik" charset="0"/>
                        <a:cs typeface="Rubik" charset="0"/>
                      </a:endParaRPr>
                    </a:p>
                  </a:txBody>
                  <a:tcPr marL="60007" marR="60007" marT="60007" marB="60007">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2"/>
                  </a:ext>
                </a:extLst>
              </a:tr>
              <a:tr h="371547">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char</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One character</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char grade(…)</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r h="371547">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bool</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true or false</a:t>
                      </a:r>
                      <a:endParaRPr lang="en-US" sz="1350" dirty="0">
                        <a:latin typeface="Rubik" charset="0"/>
                        <a:ea typeface="Rubik" charset="0"/>
                        <a:cs typeface="Rubik" charset="0"/>
                      </a:endParaRPr>
                    </a:p>
                  </a:txBody>
                  <a:tcPr marL="60007" marR="60007" marT="60007" marB="60007">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bool isEven(int n)</a:t>
                      </a:r>
                      <a:endParaRPr lang="en-US" sz="1350" dirty="0">
                        <a:latin typeface="Rubik" charset="0"/>
                        <a:ea typeface="Rubik" charset="0"/>
                        <a:cs typeface="Rubik" charset="0"/>
                      </a:endParaRPr>
                    </a:p>
                  </a:txBody>
                  <a:tcPr marL="60007" marR="60007" marT="60007" marB="60007">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4"/>
                  </a:ext>
                </a:extLst>
              </a:tr>
              <a:tr h="371547">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void</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Nothing at all</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890"/>
                        </a:lnSpc>
                        <a:buNone/>
                      </a:pPr>
                      <a:r>
                        <a:rPr lang="en-US" sz="1350" dirty="0">
                          <a:solidFill>
                            <a:srgbClr val="3D4657"/>
                          </a:solidFill>
                          <a:latin typeface="Rubik" pitchFamily="34" charset="0"/>
                          <a:ea typeface="Rubik" pitchFamily="34" charset="-122"/>
                          <a:cs typeface="Rubik" pitchFamily="34" charset="-120"/>
                        </a:rPr>
                        <a:t>void printLine()</a:t>
                      </a:r>
                      <a:endParaRPr lang="en-US" sz="1350" dirty="0">
                        <a:latin typeface="Rubik" charset="0"/>
                        <a:ea typeface="Rubik" charset="0"/>
                        <a:cs typeface="Rubik" charset="0"/>
                      </a:endParaRPr>
                    </a:p>
                  </a:txBody>
                  <a:tcPr marL="60007" marR="60007" marT="60007" marB="60007">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5"/>
          <p:cNvSpPr/>
          <p:nvPr/>
        </p:nvSpPr>
        <p:spPr>
          <a:xfrm>
            <a:off x="812800" y="4705170"/>
            <a:ext cx="10566400" cy="794977"/>
          </a:xfrm>
          <a:prstGeom prst="roundRect">
            <a:avLst>
              <a:gd name="adj" fmla="val 9585"/>
            </a:avLst>
          </a:prstGeom>
          <a:solidFill>
            <a:srgbClr val="FFFFFF"/>
          </a:solidFill>
          <a:ln/>
        </p:spPr>
        <p:txBody>
          <a:bodyPr wrap="square" lIns="206282" tIns="117382" rIns="0" bIns="91982" rtlCol="0" anchor="t">
            <a:normAutofit/>
          </a:bodyPr>
          <a:lstStyle/>
          <a:p>
            <a:pPr marL="0" indent="0" algn="l">
              <a:lnSpc>
                <a:spcPts val="2030"/>
              </a:lnSpc>
              <a:buNone/>
            </a:pPr>
            <a:r>
              <a:rPr lang="en-US" sz="1400" dirty="0">
                <a:solidFill>
                  <a:srgbClr val="14213D"/>
                </a:solidFill>
                <a:latin typeface="Rubik" pitchFamily="34" charset="0"/>
                <a:ea typeface="Rubik" pitchFamily="34" charset="-122"/>
                <a:cs typeface="Rubik" pitchFamily="34" charset="-120"/>
              </a:rPr>
              <a:t>The </a:t>
            </a:r>
            <a:r>
              <a:rPr lang="en-US" sz="1400" b="1" dirty="0">
                <a:solidFill>
                  <a:srgbClr val="B4531A"/>
                </a:solidFill>
                <a:latin typeface="Rubik" pitchFamily="34" charset="0"/>
                <a:ea typeface="Rubik" pitchFamily="34" charset="-122"/>
                <a:cs typeface="Rubik" pitchFamily="34" charset="-120"/>
              </a:rPr>
              <a:t>return</a:t>
            </a:r>
            <a:r>
              <a:rPr lang="en-US" sz="1400" dirty="0">
                <a:solidFill>
                  <a:srgbClr val="14213D"/>
                </a:solidFill>
                <a:latin typeface="Rubik" pitchFamily="34" charset="0"/>
                <a:ea typeface="Rubik" pitchFamily="34" charset="-122"/>
                <a:cs typeface="Rubik" pitchFamily="34" charset="-120"/>
              </a:rPr>
              <a:t> statement does the handing back: </a:t>
            </a:r>
            <a:r>
              <a:rPr lang="en-US" sz="1400" dirty="0">
                <a:solidFill>
                  <a:srgbClr val="1F5F99"/>
                </a:solidFill>
                <a:latin typeface="Rubik" pitchFamily="34" charset="0"/>
                <a:ea typeface="Rubik" pitchFamily="34" charset="-122"/>
                <a:cs typeface="Rubik" pitchFamily="34" charset="-120"/>
              </a:rPr>
              <a:t>return n * n;</a:t>
            </a:r>
            <a:r>
              <a:rPr lang="en-US" sz="1400" dirty="0">
                <a:solidFill>
                  <a:srgbClr val="14213D"/>
                </a:solidFill>
                <a:latin typeface="Rubik" pitchFamily="34" charset="0"/>
                <a:ea typeface="Rubik" pitchFamily="34" charset="-122"/>
                <a:cs typeface="Rubik" pitchFamily="34" charset="-120"/>
              </a:rPr>
              <a:t> sends the answer to the caller and ends the function. The answer must match the return type.</a:t>
            </a:r>
            <a:endParaRPr lang="en-US" sz="1400" dirty="0"/>
          </a:p>
        </p:txBody>
      </p:sp>
      <p:sp>
        <p:nvSpPr>
          <p:cNvPr id="10" name="Shape 6"/>
          <p:cNvSpPr/>
          <p:nvPr/>
        </p:nvSpPr>
        <p:spPr>
          <a:xfrm>
            <a:off x="812800" y="4705170"/>
            <a:ext cx="10566400" cy="794977"/>
          </a:xfrm>
          <a:custGeom>
            <a:avLst/>
            <a:gdLst/>
            <a:ahLst/>
            <a:cxnLst/>
            <a:rect l="l" t="t" r="r" b="b"/>
            <a:pathLst>
              <a:path w="10566400" h="794977">
                <a:moveTo>
                  <a:pt x="76200" y="794977"/>
                </a:moveTo>
                <a:lnTo>
                  <a:pt x="76200" y="794977"/>
                </a:lnTo>
                <a:arcTo wR="76200" hR="76200" stAng="5400000" swAng="5400000"/>
                <a:lnTo>
                  <a:pt x="0" y="76200"/>
                </a:lnTo>
                <a:arcTo wR="76200" hR="76200" stAng="10800000" swAng="5400000"/>
                <a:lnTo>
                  <a:pt x="76200" y="0"/>
                </a:lnTo>
                <a:arcTo wR="25400" hR="76200" stAng="16200000" swAng="-5400000"/>
                <a:lnTo>
                  <a:pt x="50800" y="718777"/>
                </a:lnTo>
                <a:arcTo wR="25400" hR="76200" stAng="10800000" swAng="-5400000"/>
                <a:close/>
              </a:path>
            </a:pathLst>
          </a:custGeom>
          <a:solidFill>
            <a:srgbClr val="E07A2E"/>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PART 2 · PARAMETERS</a:t>
            </a:r>
            <a:endParaRPr lang="en-US" sz="1200" dirty="0"/>
          </a:p>
        </p:txBody>
      </p:sp>
      <p:sp>
        <p:nvSpPr>
          <p:cNvPr id="3" name="Text 1"/>
          <p:cNvSpPr>
            <a:spLocks noGrp="1"/>
          </p:cNvSpPr>
          <p:nvPr>
            <p:ph type="title"/>
          </p:nvPr>
        </p:nvSpPr>
        <p:spPr>
          <a:xfrm>
            <a:off x="812800" y="1000739"/>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What does the function need?</a:t>
            </a:r>
            <a:endParaRPr lang="en-US" sz="3600" dirty="0"/>
          </a:p>
        </p:txBody>
      </p:sp>
      <p:sp>
        <p:nvSpPr>
          <p:cNvPr id="4" name="Text 2"/>
          <p:cNvSpPr/>
          <p:nvPr/>
        </p:nvSpPr>
        <p:spPr>
          <a:xfrm>
            <a:off x="812800" y="1706860"/>
            <a:ext cx="1046480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213D"/>
                </a:solidFill>
                <a:latin typeface="Rubik" pitchFamily="34" charset="0"/>
                <a:ea typeface="Rubik" pitchFamily="34" charset="-122"/>
                <a:cs typeface="Rubik" pitchFamily="34" charset="-120"/>
              </a:rPr>
              <a:t>A juice machine needs fruit. An ATM needs your card and the amount. A function may also need values to do its job. These inputs, written inside the ( ), are called </a:t>
            </a:r>
            <a:r>
              <a:rPr lang="en-US" sz="1500" b="1" dirty="0">
                <a:solidFill>
                  <a:srgbClr val="14213D"/>
                </a:solidFill>
                <a:latin typeface="Rubik" pitchFamily="34" charset="0"/>
                <a:ea typeface="Rubik" pitchFamily="34" charset="-122"/>
                <a:cs typeface="Rubik" pitchFamily="34" charset="-120"/>
              </a:rPr>
              <a:t>parameters</a:t>
            </a:r>
            <a:r>
              <a:rPr lang="en-US" sz="1500" dirty="0">
                <a:solidFill>
                  <a:srgbClr val="14213D"/>
                </a:solidFill>
                <a:latin typeface="Rubik" pitchFamily="34" charset="0"/>
                <a:ea typeface="Rubik" pitchFamily="34" charset="-122"/>
                <a:cs typeface="Rubik" pitchFamily="34" charset="-120"/>
              </a:rPr>
              <a:t>.</a:t>
            </a:r>
            <a:endParaRPr lang="en-US" sz="1500" dirty="0"/>
          </a:p>
        </p:txBody>
      </p:sp>
      <p:sp>
        <p:nvSpPr>
          <p:cNvPr id="5" name="Shape 3"/>
          <p:cNvSpPr/>
          <p:nvPr/>
        </p:nvSpPr>
        <p:spPr>
          <a:xfrm>
            <a:off x="819150" y="2468860"/>
            <a:ext cx="5194300" cy="889216"/>
          </a:xfrm>
          <a:prstGeom prst="roundRect">
            <a:avLst>
              <a:gd name="adj" fmla="val 10712"/>
            </a:avLst>
          </a:prstGeom>
          <a:solidFill>
            <a:srgbClr val="FFFFFF"/>
          </a:solidFill>
          <a:ln w="12700">
            <a:solidFill>
              <a:srgbClr val="E3DCCB"/>
            </a:solidFill>
            <a:prstDash val="solid"/>
          </a:ln>
        </p:spPr>
        <p:txBody>
          <a:bodyPr/>
          <a:lstStyle/>
          <a:p>
            <a:endParaRPr lang="en-US"/>
          </a:p>
        </p:txBody>
      </p:sp>
      <p:sp>
        <p:nvSpPr>
          <p:cNvPr id="6" name="Text 4"/>
          <p:cNvSpPr/>
          <p:nvPr/>
        </p:nvSpPr>
        <p:spPr>
          <a:xfrm>
            <a:off x="1014846" y="2639144"/>
            <a:ext cx="49469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1A"/>
                </a:solidFill>
                <a:latin typeface="JetBrains Mono" pitchFamily="49" charset="0"/>
                <a:ea typeface="JetBrains Mono" pitchFamily="49" charset="-122"/>
                <a:cs typeface="JetBrains Mono" pitchFamily="49" charset="-120"/>
              </a:rPr>
              <a:t>void</a:t>
            </a:r>
            <a:r>
              <a:rPr lang="en-US" sz="1500" dirty="0">
                <a:solidFill>
                  <a:srgbClr val="14213D"/>
                </a:solidFill>
                <a:latin typeface="JetBrains Mono" pitchFamily="49" charset="0"/>
                <a:ea typeface="JetBrains Mono" pitchFamily="49" charset="-122"/>
                <a:cs typeface="JetBrains Mono" pitchFamily="49" charset="-120"/>
              </a:rPr>
              <a:t> printLine()</a:t>
            </a:r>
            <a:endParaRPr lang="en-US" sz="1500" dirty="0"/>
          </a:p>
        </p:txBody>
      </p:sp>
      <p:sp>
        <p:nvSpPr>
          <p:cNvPr id="7" name="Text 5"/>
          <p:cNvSpPr/>
          <p:nvPr/>
        </p:nvSpPr>
        <p:spPr>
          <a:xfrm>
            <a:off x="1014846" y="2956644"/>
            <a:ext cx="4946996"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Needs nothing: the brackets stay empty</a:t>
            </a:r>
            <a:endParaRPr lang="en-US" sz="1300" dirty="0"/>
          </a:p>
        </p:txBody>
      </p:sp>
      <p:sp>
        <p:nvSpPr>
          <p:cNvPr id="8" name="Shape 6"/>
          <p:cNvSpPr/>
          <p:nvPr/>
        </p:nvSpPr>
        <p:spPr>
          <a:xfrm>
            <a:off x="6178550" y="2468860"/>
            <a:ext cx="5194300" cy="889216"/>
          </a:xfrm>
          <a:prstGeom prst="roundRect">
            <a:avLst>
              <a:gd name="adj" fmla="val 10712"/>
            </a:avLst>
          </a:prstGeom>
          <a:solidFill>
            <a:srgbClr val="FFFFFF"/>
          </a:solidFill>
          <a:ln w="12700">
            <a:solidFill>
              <a:srgbClr val="E3DCCB"/>
            </a:solidFill>
            <a:prstDash val="solid"/>
          </a:ln>
        </p:spPr>
        <p:txBody>
          <a:bodyPr/>
          <a:lstStyle/>
          <a:p>
            <a:endParaRPr lang="en-US"/>
          </a:p>
        </p:txBody>
      </p:sp>
      <p:sp>
        <p:nvSpPr>
          <p:cNvPr id="9" name="Text 7"/>
          <p:cNvSpPr/>
          <p:nvPr/>
        </p:nvSpPr>
        <p:spPr>
          <a:xfrm>
            <a:off x="6374246" y="2639144"/>
            <a:ext cx="49469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1A"/>
                </a:solidFill>
                <a:latin typeface="JetBrains Mono" pitchFamily="49" charset="0"/>
                <a:ea typeface="JetBrains Mono" pitchFamily="49" charset="-122"/>
                <a:cs typeface="JetBrains Mono" pitchFamily="49" charset="-120"/>
              </a:rPr>
              <a:t>int</a:t>
            </a:r>
            <a:r>
              <a:rPr lang="en-US" sz="1500" dirty="0">
                <a:solidFill>
                  <a:srgbClr val="14213D"/>
                </a:solidFill>
                <a:latin typeface="JetBrains Mono" pitchFamily="49" charset="0"/>
                <a:ea typeface="JetBrains Mono" pitchFamily="49" charset="-122"/>
                <a:cs typeface="JetBrains Mono" pitchFamily="49" charset="-120"/>
              </a:rPr>
              <a:t> square(</a:t>
            </a:r>
            <a:r>
              <a:rPr lang="en-US" sz="1500" dirty="0">
                <a:solidFill>
                  <a:srgbClr val="1F5F99"/>
                </a:solidFill>
                <a:latin typeface="JetBrains Mono" pitchFamily="49" charset="0"/>
                <a:ea typeface="JetBrains Mono" pitchFamily="49" charset="-122"/>
                <a:cs typeface="JetBrains Mono" pitchFamily="49" charset="-120"/>
              </a:rPr>
              <a:t>int n</a:t>
            </a: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p:txBody>
      </p:sp>
      <p:sp>
        <p:nvSpPr>
          <p:cNvPr id="10" name="Text 8"/>
          <p:cNvSpPr/>
          <p:nvPr/>
        </p:nvSpPr>
        <p:spPr>
          <a:xfrm>
            <a:off x="6374246" y="2956644"/>
            <a:ext cx="4946996"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Needs one whole number, called n</a:t>
            </a:r>
            <a:endParaRPr lang="en-US" sz="1300" dirty="0"/>
          </a:p>
        </p:txBody>
      </p:sp>
      <p:sp>
        <p:nvSpPr>
          <p:cNvPr id="11" name="Shape 9"/>
          <p:cNvSpPr/>
          <p:nvPr/>
        </p:nvSpPr>
        <p:spPr>
          <a:xfrm>
            <a:off x="819150" y="3523171"/>
            <a:ext cx="5194300" cy="889216"/>
          </a:xfrm>
          <a:prstGeom prst="roundRect">
            <a:avLst>
              <a:gd name="adj" fmla="val 10712"/>
            </a:avLst>
          </a:prstGeom>
          <a:solidFill>
            <a:srgbClr val="FFFFFF"/>
          </a:solidFill>
          <a:ln w="12700">
            <a:solidFill>
              <a:srgbClr val="E3DCCB"/>
            </a:solidFill>
            <a:prstDash val="solid"/>
          </a:ln>
        </p:spPr>
        <p:txBody>
          <a:bodyPr/>
          <a:lstStyle/>
          <a:p>
            <a:endParaRPr lang="en-US"/>
          </a:p>
        </p:txBody>
      </p:sp>
      <p:sp>
        <p:nvSpPr>
          <p:cNvPr id="12" name="Text 10"/>
          <p:cNvSpPr/>
          <p:nvPr/>
        </p:nvSpPr>
        <p:spPr>
          <a:xfrm>
            <a:off x="1014846" y="3693468"/>
            <a:ext cx="49469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1A"/>
                </a:solidFill>
                <a:latin typeface="JetBrains Mono" pitchFamily="49" charset="0"/>
                <a:ea typeface="JetBrains Mono" pitchFamily="49" charset="-122"/>
                <a:cs typeface="JetBrains Mono" pitchFamily="49" charset="-120"/>
              </a:rPr>
              <a:t>int</a:t>
            </a:r>
            <a:r>
              <a:rPr lang="en-US" sz="1500" dirty="0">
                <a:solidFill>
                  <a:srgbClr val="14213D"/>
                </a:solidFill>
                <a:latin typeface="JetBrains Mono" pitchFamily="49" charset="0"/>
                <a:ea typeface="JetBrains Mono" pitchFamily="49" charset="-122"/>
                <a:cs typeface="JetBrains Mono" pitchFamily="49" charset="-120"/>
              </a:rPr>
              <a:t> add(</a:t>
            </a:r>
            <a:r>
              <a:rPr lang="en-US" sz="1500" dirty="0">
                <a:solidFill>
                  <a:srgbClr val="1F5F99"/>
                </a:solidFill>
                <a:latin typeface="JetBrains Mono" pitchFamily="49" charset="0"/>
                <a:ea typeface="JetBrains Mono" pitchFamily="49" charset="-122"/>
                <a:cs typeface="JetBrains Mono" pitchFamily="49" charset="-120"/>
              </a:rPr>
              <a:t>int a, int b</a:t>
            </a: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p:txBody>
      </p:sp>
      <p:sp>
        <p:nvSpPr>
          <p:cNvPr id="13" name="Text 11"/>
          <p:cNvSpPr/>
          <p:nvPr/>
        </p:nvSpPr>
        <p:spPr>
          <a:xfrm>
            <a:off x="1014846" y="4010968"/>
            <a:ext cx="4946996"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Needs two whole numbers, a and b</a:t>
            </a:r>
            <a:endParaRPr lang="en-US" sz="1300" dirty="0"/>
          </a:p>
        </p:txBody>
      </p:sp>
      <p:sp>
        <p:nvSpPr>
          <p:cNvPr id="14" name="Shape 12"/>
          <p:cNvSpPr/>
          <p:nvPr/>
        </p:nvSpPr>
        <p:spPr>
          <a:xfrm>
            <a:off x="6178550" y="3523171"/>
            <a:ext cx="5194300" cy="889216"/>
          </a:xfrm>
          <a:prstGeom prst="roundRect">
            <a:avLst>
              <a:gd name="adj" fmla="val 10712"/>
            </a:avLst>
          </a:prstGeom>
          <a:solidFill>
            <a:srgbClr val="FFFFFF"/>
          </a:solidFill>
          <a:ln w="12700">
            <a:solidFill>
              <a:srgbClr val="E3DCCB"/>
            </a:solidFill>
            <a:prstDash val="solid"/>
          </a:ln>
        </p:spPr>
        <p:txBody>
          <a:bodyPr/>
          <a:lstStyle/>
          <a:p>
            <a:endParaRPr lang="en-US"/>
          </a:p>
        </p:txBody>
      </p:sp>
      <p:sp>
        <p:nvSpPr>
          <p:cNvPr id="15" name="Text 13"/>
          <p:cNvSpPr/>
          <p:nvPr/>
        </p:nvSpPr>
        <p:spPr>
          <a:xfrm>
            <a:off x="6374246" y="3693468"/>
            <a:ext cx="49469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1A"/>
                </a:solidFill>
                <a:latin typeface="JetBrains Mono" pitchFamily="49" charset="0"/>
                <a:ea typeface="JetBrains Mono" pitchFamily="49" charset="-122"/>
                <a:cs typeface="JetBrains Mono" pitchFamily="49" charset="-120"/>
              </a:rPr>
              <a:t>double</a:t>
            </a:r>
            <a:r>
              <a:rPr lang="en-US" sz="1500" dirty="0">
                <a:solidFill>
                  <a:srgbClr val="14213D"/>
                </a:solidFill>
                <a:latin typeface="JetBrains Mono" pitchFamily="49" charset="0"/>
                <a:ea typeface="JetBrains Mono" pitchFamily="49" charset="-122"/>
                <a:cs typeface="JetBrains Mono" pitchFamily="49" charset="-120"/>
              </a:rPr>
              <a:t> area(</a:t>
            </a:r>
            <a:r>
              <a:rPr lang="en-US" sz="1500" dirty="0">
                <a:solidFill>
                  <a:srgbClr val="1F5F99"/>
                </a:solidFill>
                <a:latin typeface="JetBrains Mono" pitchFamily="49" charset="0"/>
                <a:ea typeface="JetBrains Mono" pitchFamily="49" charset="-122"/>
                <a:cs typeface="JetBrains Mono" pitchFamily="49" charset="-120"/>
              </a:rPr>
              <a:t>double l, double w</a:t>
            </a:r>
            <a:r>
              <a:rPr lang="en-US" sz="1500" dirty="0">
                <a:solidFill>
                  <a:srgbClr val="14213D"/>
                </a:solidFill>
                <a:latin typeface="JetBrains Mono" pitchFamily="49" charset="0"/>
                <a:ea typeface="JetBrains Mono" pitchFamily="49" charset="-122"/>
                <a:cs typeface="JetBrains Mono" pitchFamily="49" charset="-120"/>
              </a:rPr>
              <a:t>)</a:t>
            </a:r>
            <a:endParaRPr lang="en-US" sz="1500" dirty="0"/>
          </a:p>
        </p:txBody>
      </p:sp>
      <p:sp>
        <p:nvSpPr>
          <p:cNvPr id="16" name="Text 14"/>
          <p:cNvSpPr/>
          <p:nvPr/>
        </p:nvSpPr>
        <p:spPr>
          <a:xfrm>
            <a:off x="6374246" y="4010968"/>
            <a:ext cx="4946996"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Needs two decimal numbers: length and width</a:t>
            </a:r>
            <a:endParaRPr lang="en-US" sz="1300" dirty="0"/>
          </a:p>
        </p:txBody>
      </p:sp>
      <p:sp>
        <p:nvSpPr>
          <p:cNvPr id="17" name="Text 15"/>
          <p:cNvSpPr/>
          <p:nvPr/>
        </p:nvSpPr>
        <p:spPr>
          <a:xfrm>
            <a:off x="812800" y="4621932"/>
            <a:ext cx="10566400" cy="769577"/>
          </a:xfrm>
          <a:prstGeom prst="roundRect">
            <a:avLst>
              <a:gd name="adj" fmla="val 11552"/>
            </a:avLst>
          </a:prstGeom>
          <a:solidFill>
            <a:srgbClr val="E8EEF7"/>
          </a:solidFill>
          <a:ln/>
        </p:spPr>
        <p:txBody>
          <a:bodyPr wrap="square" lIns="151762" tIns="100962" rIns="0" bIns="75562" rtlCol="0" anchor="t">
            <a:normAutofit/>
          </a:bodyPr>
          <a:lstStyle/>
          <a:p>
            <a:pPr marL="0" indent="0" algn="l">
              <a:lnSpc>
                <a:spcPts val="2030"/>
              </a:lnSpc>
              <a:buNone/>
            </a:pPr>
            <a:r>
              <a:rPr lang="en-US" sz="1400" b="1" dirty="0">
                <a:solidFill>
                  <a:srgbClr val="14213D"/>
                </a:solidFill>
                <a:latin typeface="Rubik" pitchFamily="34" charset="0"/>
                <a:ea typeface="Rubik" pitchFamily="34" charset="-122"/>
                <a:cs typeface="Rubik" pitchFamily="34" charset="-120"/>
              </a:rPr>
              <a:t>Rule:</a:t>
            </a:r>
            <a:r>
              <a:rPr lang="en-US" sz="1400" dirty="0">
                <a:solidFill>
                  <a:srgbClr val="14213D"/>
                </a:solidFill>
                <a:latin typeface="Rubik" pitchFamily="34" charset="0"/>
                <a:ea typeface="Rubik" pitchFamily="34" charset="-122"/>
                <a:cs typeface="Rubik" pitchFamily="34" charset="-120"/>
              </a:rPr>
              <a:t> each parameter is a type plus a name, separated by commas. Every parameter needs its own type: </a:t>
            </a:r>
            <a:r>
              <a:rPr lang="en-US" sz="1400" b="1" dirty="0">
                <a:solidFill>
                  <a:srgbClr val="1F6B3A"/>
                </a:solidFill>
                <a:latin typeface="Rubik" pitchFamily="34" charset="0"/>
                <a:ea typeface="Rubik" pitchFamily="34" charset="-122"/>
                <a:cs typeface="Rubik" pitchFamily="34" charset="-120"/>
              </a:rPr>
              <a:t>(int a, int b)</a:t>
            </a:r>
            <a:r>
              <a:rPr lang="en-US" sz="1400" dirty="0">
                <a:solidFill>
                  <a:srgbClr val="1F6B3A"/>
                </a:solidFill>
                <a:latin typeface="Rubik" pitchFamily="34" charset="0"/>
                <a:ea typeface="Rubik" pitchFamily="34" charset="-122"/>
                <a:cs typeface="Rubik" pitchFamily="34" charset="-120"/>
              </a:rPr>
              <a:t> correct</a:t>
            </a:r>
            <a:r>
              <a:rPr lang="en-US" sz="1400" dirty="0">
                <a:solidFill>
                  <a:srgbClr val="14213D"/>
                </a:solidFill>
                <a:latin typeface="Rubik" pitchFamily="34" charset="0"/>
                <a:ea typeface="Rubik" pitchFamily="34" charset="-122"/>
                <a:cs typeface="Rubik" pitchFamily="34" charset="-120"/>
              </a:rPr>
              <a:t>, </a:t>
            </a:r>
            <a:r>
              <a:rPr lang="en-US" sz="1400" b="1" dirty="0">
                <a:solidFill>
                  <a:srgbClr val="A33A1A"/>
                </a:solidFill>
                <a:latin typeface="Rubik" pitchFamily="34" charset="0"/>
                <a:ea typeface="Rubik" pitchFamily="34" charset="-122"/>
                <a:cs typeface="Rubik" pitchFamily="34" charset="-120"/>
              </a:rPr>
              <a:t>(int a, b)</a:t>
            </a:r>
            <a:r>
              <a:rPr lang="en-US" sz="1400" dirty="0">
                <a:solidFill>
                  <a:srgbClr val="A33A1A"/>
                </a:solidFill>
                <a:latin typeface="Rubik" pitchFamily="34" charset="0"/>
                <a:ea typeface="Rubik" pitchFamily="34" charset="-122"/>
                <a:cs typeface="Rubik" pitchFamily="34" charset="-120"/>
              </a:rPr>
              <a:t> wrong</a:t>
            </a:r>
            <a:r>
              <a:rPr lang="en-US" sz="1400" dirty="0">
                <a:solidFill>
                  <a:srgbClr val="14213D"/>
                </a:solidFill>
                <a:latin typeface="Rubik" pitchFamily="34" charset="0"/>
                <a:ea typeface="Rubik" pitchFamily="34" charset="-122"/>
                <a:cs typeface="Rubik" pitchFamily="34" charset="-120"/>
              </a:rPr>
              <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PARAMETERS AND RETURN TOGETHER</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How a value goes in and an answer comes out</a:t>
            </a:r>
            <a:endParaRPr lang="en-US" sz="3600" dirty="0"/>
          </a:p>
        </p:txBody>
      </p:sp>
      <p:sp>
        <p:nvSpPr>
          <p:cNvPr id="4" name="Shape 2"/>
          <p:cNvSpPr/>
          <p:nvPr/>
        </p:nvSpPr>
        <p:spPr>
          <a:xfrm>
            <a:off x="812800" y="1783060"/>
            <a:ext cx="2165350" cy="1487235"/>
          </a:xfrm>
          <a:prstGeom prst="roundRect">
            <a:avLst>
              <a:gd name="adj" fmla="val 6831"/>
            </a:avLst>
          </a:prstGeom>
          <a:solidFill>
            <a:srgbClr val="FFFFFF"/>
          </a:solidFill>
          <a:ln/>
        </p:spPr>
        <p:txBody>
          <a:bodyPr/>
          <a:lstStyle/>
          <a:p>
            <a:endParaRPr lang="en-US"/>
          </a:p>
        </p:txBody>
      </p:sp>
      <p:sp>
        <p:nvSpPr>
          <p:cNvPr id="5" name="Shape 3"/>
          <p:cNvSpPr/>
          <p:nvPr/>
        </p:nvSpPr>
        <p:spPr>
          <a:xfrm>
            <a:off x="812800" y="1783060"/>
            <a:ext cx="2165350" cy="1487235"/>
          </a:xfrm>
          <a:custGeom>
            <a:avLst/>
            <a:gdLst/>
            <a:ahLst/>
            <a:cxnLst/>
            <a:rect l="l" t="t" r="r" b="b"/>
            <a:pathLst>
              <a:path w="2165350" h="1487235">
                <a:moveTo>
                  <a:pt x="0" y="101600"/>
                </a:moveTo>
                <a:lnTo>
                  <a:pt x="0" y="101600"/>
                </a:lnTo>
                <a:arcTo wR="101600" hR="101600" stAng="10800000" swAng="5400000"/>
                <a:lnTo>
                  <a:pt x="2063750" y="0"/>
                </a:lnTo>
                <a:arcTo wR="101600" hR="101600" stAng="16200000" swAng="5400000"/>
                <a:lnTo>
                  <a:pt x="2165350" y="101600"/>
                </a:lnTo>
                <a:arcTo wR="101600" hR="38100" stAng="0" swAng="-5400000"/>
                <a:lnTo>
                  <a:pt x="101600" y="63500"/>
                </a:lnTo>
                <a:arcTo wR="101600" hR="38100" stAng="16200000" swAng="-5400000"/>
                <a:close/>
              </a:path>
            </a:pathLst>
          </a:custGeom>
          <a:solidFill>
            <a:srgbClr val="2A6FB0"/>
          </a:solidFill>
          <a:ln/>
        </p:spPr>
        <p:txBody>
          <a:bodyPr/>
          <a:lstStyle/>
          <a:p>
            <a:endParaRPr lang="en-US"/>
          </a:p>
        </p:txBody>
      </p:sp>
      <p:sp>
        <p:nvSpPr>
          <p:cNvPr id="6" name="Text 4"/>
          <p:cNvSpPr/>
          <p:nvPr/>
        </p:nvSpPr>
        <p:spPr>
          <a:xfrm>
            <a:off x="977900" y="2010494"/>
            <a:ext cx="1890205" cy="2387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FB0"/>
                </a:solidFill>
                <a:latin typeface="Rubik" pitchFamily="34" charset="0"/>
                <a:ea typeface="Rubik" pitchFamily="34" charset="-122"/>
                <a:cs typeface="Rubik" pitchFamily="34" charset="-120"/>
              </a:rPr>
              <a:t>1 · The call</a:t>
            </a:r>
            <a:endParaRPr lang="en-US" sz="1200" dirty="0"/>
          </a:p>
        </p:txBody>
      </p:sp>
      <p:sp>
        <p:nvSpPr>
          <p:cNvPr id="7" name="Text 5"/>
          <p:cNvSpPr/>
          <p:nvPr/>
        </p:nvSpPr>
        <p:spPr>
          <a:xfrm>
            <a:off x="977900" y="2300039"/>
            <a:ext cx="1890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square(5)</a:t>
            </a:r>
            <a:endParaRPr lang="en-US" sz="1500" dirty="0"/>
          </a:p>
        </p:txBody>
      </p:sp>
      <p:sp>
        <p:nvSpPr>
          <p:cNvPr id="8" name="Text 6"/>
          <p:cNvSpPr/>
          <p:nvPr/>
        </p:nvSpPr>
        <p:spPr>
          <a:xfrm>
            <a:off x="977900" y="2642939"/>
            <a:ext cx="1890205" cy="48765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main asks: “the square of 5, please”</a:t>
            </a:r>
            <a:endParaRPr lang="en-US" sz="1300" dirty="0"/>
          </a:p>
        </p:txBody>
      </p:sp>
      <p:pic>
        <p:nvPicPr>
          <p:cNvPr id="9" name="Image 0" descr="arrow-right"/>
          <p:cNvPicPr>
            <a:picLocks noChangeAspect="1"/>
          </p:cNvPicPr>
          <p:nvPr/>
        </p:nvPicPr>
        <p:blipFill>
          <a:blip r:embed="rId3"/>
          <a:srcRect/>
          <a:stretch/>
        </p:blipFill>
        <p:spPr>
          <a:xfrm>
            <a:off x="3105150" y="2418705"/>
            <a:ext cx="381000" cy="215900"/>
          </a:xfrm>
          <a:prstGeom prst="rect">
            <a:avLst/>
          </a:prstGeom>
        </p:spPr>
      </p:pic>
      <p:sp>
        <p:nvSpPr>
          <p:cNvPr id="10" name="Shape 7"/>
          <p:cNvSpPr/>
          <p:nvPr/>
        </p:nvSpPr>
        <p:spPr>
          <a:xfrm>
            <a:off x="3613150" y="1783060"/>
            <a:ext cx="2165350" cy="1487235"/>
          </a:xfrm>
          <a:prstGeom prst="roundRect">
            <a:avLst>
              <a:gd name="adj" fmla="val 6831"/>
            </a:avLst>
          </a:prstGeom>
          <a:solidFill>
            <a:srgbClr val="FFFFFF"/>
          </a:solidFill>
          <a:ln/>
        </p:spPr>
        <p:txBody>
          <a:bodyPr/>
          <a:lstStyle/>
          <a:p>
            <a:endParaRPr lang="en-US"/>
          </a:p>
        </p:txBody>
      </p:sp>
      <p:sp>
        <p:nvSpPr>
          <p:cNvPr id="11" name="Shape 8"/>
          <p:cNvSpPr/>
          <p:nvPr/>
        </p:nvSpPr>
        <p:spPr>
          <a:xfrm>
            <a:off x="3613150" y="1783060"/>
            <a:ext cx="2165350" cy="1487235"/>
          </a:xfrm>
          <a:custGeom>
            <a:avLst/>
            <a:gdLst/>
            <a:ahLst/>
            <a:cxnLst/>
            <a:rect l="l" t="t" r="r" b="b"/>
            <a:pathLst>
              <a:path w="2165350" h="1487235">
                <a:moveTo>
                  <a:pt x="0" y="101600"/>
                </a:moveTo>
                <a:lnTo>
                  <a:pt x="0" y="101600"/>
                </a:lnTo>
                <a:arcTo wR="101600" hR="101600" stAng="10800000" swAng="5400000"/>
                <a:lnTo>
                  <a:pt x="2063750" y="0"/>
                </a:lnTo>
                <a:arcTo wR="101600" hR="101600" stAng="16200000" swAng="5400000"/>
                <a:lnTo>
                  <a:pt x="2165350" y="101600"/>
                </a:lnTo>
                <a:arcTo wR="101600" hR="38100" stAng="0" swAng="-5400000"/>
                <a:lnTo>
                  <a:pt x="101600" y="63500"/>
                </a:lnTo>
                <a:arcTo wR="101600" hR="38100" stAng="16200000" swAng="-5400000"/>
                <a:close/>
              </a:path>
            </a:pathLst>
          </a:custGeom>
          <a:solidFill>
            <a:srgbClr val="E07A2E"/>
          </a:solidFill>
          <a:ln/>
        </p:spPr>
        <p:txBody>
          <a:bodyPr/>
          <a:lstStyle/>
          <a:p>
            <a:endParaRPr lang="en-US"/>
          </a:p>
        </p:txBody>
      </p:sp>
      <p:sp>
        <p:nvSpPr>
          <p:cNvPr id="12" name="Text 9"/>
          <p:cNvSpPr/>
          <p:nvPr/>
        </p:nvSpPr>
        <p:spPr>
          <a:xfrm>
            <a:off x="3778250" y="2010494"/>
            <a:ext cx="1890205" cy="2387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Rubik" pitchFamily="34" charset="0"/>
                <a:ea typeface="Rubik" pitchFamily="34" charset="-122"/>
                <a:cs typeface="Rubik" pitchFamily="34" charset="-120"/>
              </a:rPr>
              <a:t>2 · Value goes in</a:t>
            </a:r>
            <a:endParaRPr lang="en-US" sz="1200" dirty="0"/>
          </a:p>
        </p:txBody>
      </p:sp>
      <p:sp>
        <p:nvSpPr>
          <p:cNvPr id="13" name="Text 10"/>
          <p:cNvSpPr/>
          <p:nvPr/>
        </p:nvSpPr>
        <p:spPr>
          <a:xfrm>
            <a:off x="3778250" y="2300039"/>
            <a:ext cx="1890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n = 5</a:t>
            </a:r>
            <a:endParaRPr lang="en-US" sz="1500" dirty="0"/>
          </a:p>
        </p:txBody>
      </p:sp>
      <p:sp>
        <p:nvSpPr>
          <p:cNvPr id="14" name="Text 11"/>
          <p:cNvSpPr/>
          <p:nvPr/>
        </p:nvSpPr>
        <p:spPr>
          <a:xfrm>
            <a:off x="3778250" y="2642939"/>
            <a:ext cx="1890205" cy="48765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5 is placed into the parameter n</a:t>
            </a:r>
            <a:endParaRPr lang="en-US" sz="1300" dirty="0"/>
          </a:p>
        </p:txBody>
      </p:sp>
      <p:pic>
        <p:nvPicPr>
          <p:cNvPr id="15" name="Image 1" descr="arrow-right"/>
          <p:cNvPicPr>
            <a:picLocks noChangeAspect="1"/>
          </p:cNvPicPr>
          <p:nvPr/>
        </p:nvPicPr>
        <p:blipFill>
          <a:blip r:embed="rId3"/>
          <a:srcRect/>
          <a:stretch/>
        </p:blipFill>
        <p:spPr>
          <a:xfrm>
            <a:off x="5905500" y="2418705"/>
            <a:ext cx="381000" cy="215900"/>
          </a:xfrm>
          <a:prstGeom prst="rect">
            <a:avLst/>
          </a:prstGeom>
        </p:spPr>
      </p:pic>
      <p:sp>
        <p:nvSpPr>
          <p:cNvPr id="16" name="Shape 12"/>
          <p:cNvSpPr/>
          <p:nvPr/>
        </p:nvSpPr>
        <p:spPr>
          <a:xfrm>
            <a:off x="6413500" y="1783060"/>
            <a:ext cx="2165350" cy="1487235"/>
          </a:xfrm>
          <a:prstGeom prst="roundRect">
            <a:avLst>
              <a:gd name="adj" fmla="val 6831"/>
            </a:avLst>
          </a:prstGeom>
          <a:solidFill>
            <a:srgbClr val="FFFFFF"/>
          </a:solidFill>
          <a:ln/>
        </p:spPr>
        <p:txBody>
          <a:bodyPr/>
          <a:lstStyle/>
          <a:p>
            <a:endParaRPr lang="en-US"/>
          </a:p>
        </p:txBody>
      </p:sp>
      <p:sp>
        <p:nvSpPr>
          <p:cNvPr id="17" name="Shape 13"/>
          <p:cNvSpPr/>
          <p:nvPr/>
        </p:nvSpPr>
        <p:spPr>
          <a:xfrm>
            <a:off x="6413500" y="1783060"/>
            <a:ext cx="2165350" cy="1487235"/>
          </a:xfrm>
          <a:custGeom>
            <a:avLst/>
            <a:gdLst/>
            <a:ahLst/>
            <a:cxnLst/>
            <a:rect l="l" t="t" r="r" b="b"/>
            <a:pathLst>
              <a:path w="2165350" h="1487235">
                <a:moveTo>
                  <a:pt x="0" y="101600"/>
                </a:moveTo>
                <a:lnTo>
                  <a:pt x="0" y="101600"/>
                </a:lnTo>
                <a:arcTo wR="101600" hR="101600" stAng="10800000" swAng="5400000"/>
                <a:lnTo>
                  <a:pt x="2063750" y="0"/>
                </a:lnTo>
                <a:arcTo wR="101600" hR="101600" stAng="16200000" swAng="5400000"/>
                <a:lnTo>
                  <a:pt x="2165350" y="101600"/>
                </a:lnTo>
                <a:arcTo wR="101600" hR="38100" stAng="0" swAng="-5400000"/>
                <a:lnTo>
                  <a:pt x="101600" y="63500"/>
                </a:lnTo>
                <a:arcTo wR="101600" hR="38100" stAng="16200000" swAng="-5400000"/>
                <a:close/>
              </a:path>
            </a:pathLst>
          </a:custGeom>
          <a:solidFill>
            <a:srgbClr val="E07A2E"/>
          </a:solidFill>
          <a:ln/>
        </p:spPr>
        <p:txBody>
          <a:bodyPr/>
          <a:lstStyle/>
          <a:p>
            <a:endParaRPr lang="en-US"/>
          </a:p>
        </p:txBody>
      </p:sp>
      <p:sp>
        <p:nvSpPr>
          <p:cNvPr id="18" name="Text 14"/>
          <p:cNvSpPr/>
          <p:nvPr/>
        </p:nvSpPr>
        <p:spPr>
          <a:xfrm>
            <a:off x="6578600" y="2010494"/>
            <a:ext cx="1890205" cy="2387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Rubik" pitchFamily="34" charset="0"/>
                <a:ea typeface="Rubik" pitchFamily="34" charset="-122"/>
                <a:cs typeface="Rubik" pitchFamily="34" charset="-120"/>
              </a:rPr>
              <a:t>3 · Body runs</a:t>
            </a:r>
            <a:endParaRPr lang="en-US" sz="1200" dirty="0"/>
          </a:p>
        </p:txBody>
      </p:sp>
      <p:sp>
        <p:nvSpPr>
          <p:cNvPr id="19" name="Text 15"/>
          <p:cNvSpPr/>
          <p:nvPr/>
        </p:nvSpPr>
        <p:spPr>
          <a:xfrm>
            <a:off x="6578600" y="2300039"/>
            <a:ext cx="1890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return n*n;</a:t>
            </a:r>
            <a:endParaRPr lang="en-US" sz="1500" dirty="0"/>
          </a:p>
        </p:txBody>
      </p:sp>
      <p:sp>
        <p:nvSpPr>
          <p:cNvPr id="20" name="Text 16"/>
          <p:cNvSpPr/>
          <p:nvPr/>
        </p:nvSpPr>
        <p:spPr>
          <a:xfrm>
            <a:off x="6578600" y="2642939"/>
            <a:ext cx="1890205" cy="48765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The job uses n: 5 × 5 = 25</a:t>
            </a:r>
            <a:endParaRPr lang="en-US" sz="1300" dirty="0"/>
          </a:p>
        </p:txBody>
      </p:sp>
      <p:pic>
        <p:nvPicPr>
          <p:cNvPr id="21" name="Image 2" descr="arrow-right"/>
          <p:cNvPicPr>
            <a:picLocks noChangeAspect="1"/>
          </p:cNvPicPr>
          <p:nvPr/>
        </p:nvPicPr>
        <p:blipFill>
          <a:blip r:embed="rId3"/>
          <a:srcRect/>
          <a:stretch/>
        </p:blipFill>
        <p:spPr>
          <a:xfrm>
            <a:off x="8705850" y="2418705"/>
            <a:ext cx="381000" cy="215900"/>
          </a:xfrm>
          <a:prstGeom prst="rect">
            <a:avLst/>
          </a:prstGeom>
        </p:spPr>
      </p:pic>
      <p:sp>
        <p:nvSpPr>
          <p:cNvPr id="22" name="Shape 17"/>
          <p:cNvSpPr/>
          <p:nvPr/>
        </p:nvSpPr>
        <p:spPr>
          <a:xfrm>
            <a:off x="9213850" y="1783060"/>
            <a:ext cx="2165350" cy="1487235"/>
          </a:xfrm>
          <a:prstGeom prst="roundRect">
            <a:avLst>
              <a:gd name="adj" fmla="val 6831"/>
            </a:avLst>
          </a:prstGeom>
          <a:solidFill>
            <a:srgbClr val="FFFFFF"/>
          </a:solidFill>
          <a:ln/>
        </p:spPr>
        <p:txBody>
          <a:bodyPr/>
          <a:lstStyle/>
          <a:p>
            <a:endParaRPr lang="en-US"/>
          </a:p>
        </p:txBody>
      </p:sp>
      <p:sp>
        <p:nvSpPr>
          <p:cNvPr id="23" name="Shape 18"/>
          <p:cNvSpPr/>
          <p:nvPr/>
        </p:nvSpPr>
        <p:spPr>
          <a:xfrm>
            <a:off x="9213850" y="1783060"/>
            <a:ext cx="2165350" cy="1487235"/>
          </a:xfrm>
          <a:custGeom>
            <a:avLst/>
            <a:gdLst/>
            <a:ahLst/>
            <a:cxnLst/>
            <a:rect l="l" t="t" r="r" b="b"/>
            <a:pathLst>
              <a:path w="2165350" h="1487235">
                <a:moveTo>
                  <a:pt x="0" y="101600"/>
                </a:moveTo>
                <a:lnTo>
                  <a:pt x="0" y="101600"/>
                </a:lnTo>
                <a:arcTo wR="101600" hR="101600" stAng="10800000" swAng="5400000"/>
                <a:lnTo>
                  <a:pt x="2063750" y="0"/>
                </a:lnTo>
                <a:arcTo wR="101600" hR="101600" stAng="16200000" swAng="5400000"/>
                <a:lnTo>
                  <a:pt x="2165350" y="101600"/>
                </a:lnTo>
                <a:arcTo wR="101600" hR="38100" stAng="0" swAng="-5400000"/>
                <a:lnTo>
                  <a:pt x="101600" y="63500"/>
                </a:lnTo>
                <a:arcTo wR="101600" hR="38100" stAng="16200000" swAng="-5400000"/>
                <a:close/>
              </a:path>
            </a:pathLst>
          </a:custGeom>
          <a:solidFill>
            <a:srgbClr val="1F6B3A"/>
          </a:solidFill>
          <a:ln/>
        </p:spPr>
        <p:txBody>
          <a:bodyPr/>
          <a:lstStyle/>
          <a:p>
            <a:endParaRPr lang="en-US"/>
          </a:p>
        </p:txBody>
      </p:sp>
      <p:sp>
        <p:nvSpPr>
          <p:cNvPr id="24" name="Text 19"/>
          <p:cNvSpPr/>
          <p:nvPr/>
        </p:nvSpPr>
        <p:spPr>
          <a:xfrm>
            <a:off x="9378950" y="2010494"/>
            <a:ext cx="1890205" cy="2387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6B3A"/>
                </a:solidFill>
                <a:latin typeface="Rubik" pitchFamily="34" charset="0"/>
                <a:ea typeface="Rubik" pitchFamily="34" charset="-122"/>
                <a:cs typeface="Rubik" pitchFamily="34" charset="-120"/>
              </a:rPr>
              <a:t>4 · Answer back</a:t>
            </a:r>
            <a:endParaRPr lang="en-US" sz="1200" dirty="0"/>
          </a:p>
        </p:txBody>
      </p:sp>
      <p:sp>
        <p:nvSpPr>
          <p:cNvPr id="25" name="Text 20"/>
          <p:cNvSpPr/>
          <p:nvPr/>
        </p:nvSpPr>
        <p:spPr>
          <a:xfrm>
            <a:off x="9378950" y="2300039"/>
            <a:ext cx="1890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JetBrains Mono" pitchFamily="49" charset="0"/>
                <a:ea typeface="JetBrains Mono" pitchFamily="49" charset="-122"/>
                <a:cs typeface="JetBrains Mono" pitchFamily="49" charset="-120"/>
              </a:rPr>
              <a:t>→ 25</a:t>
            </a:r>
            <a:endParaRPr lang="en-US" sz="1500" dirty="0"/>
          </a:p>
        </p:txBody>
      </p:sp>
      <p:sp>
        <p:nvSpPr>
          <p:cNvPr id="26" name="Text 21"/>
          <p:cNvSpPr/>
          <p:nvPr/>
        </p:nvSpPr>
        <p:spPr>
          <a:xfrm>
            <a:off x="9378950" y="2642939"/>
            <a:ext cx="1890205" cy="48765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657"/>
                </a:solidFill>
                <a:latin typeface="Rubik" pitchFamily="34" charset="0"/>
                <a:ea typeface="Rubik" pitchFamily="34" charset="-122"/>
                <a:cs typeface="Rubik" pitchFamily="34" charset="-120"/>
              </a:rPr>
              <a:t>The call square(5) is replaced by 25</a:t>
            </a:r>
            <a:endParaRPr lang="en-US" sz="1300" dirty="0"/>
          </a:p>
        </p:txBody>
      </p:sp>
      <p:sp>
        <p:nvSpPr>
          <p:cNvPr id="27" name="Text 22"/>
          <p:cNvSpPr/>
          <p:nvPr/>
        </p:nvSpPr>
        <p:spPr>
          <a:xfrm>
            <a:off x="812800" y="3549687"/>
            <a:ext cx="10566400" cy="831850"/>
          </a:xfrm>
          <a:prstGeom prst="roundRect">
            <a:avLst>
              <a:gd name="adj" fmla="val 10687"/>
            </a:avLst>
          </a:prstGeom>
          <a:solidFill>
            <a:srgbClr val="E8EEF7"/>
          </a:solidFill>
          <a:ln/>
        </p:spPr>
        <p:txBody>
          <a:bodyPr wrap="square" lIns="151762" tIns="113662" rIns="0" bIns="88262" rtlCol="0" anchor="t">
            <a:normAutofit/>
          </a:bodyPr>
          <a:lstStyle/>
          <a:p>
            <a:pPr marL="0" indent="0" algn="l">
              <a:lnSpc>
                <a:spcPts val="2175"/>
              </a:lnSpc>
              <a:buNone/>
            </a:pPr>
            <a:r>
              <a:rPr lang="en-US" sz="1500" dirty="0">
                <a:solidFill>
                  <a:srgbClr val="14213D"/>
                </a:solidFill>
                <a:latin typeface="Rubik" pitchFamily="34" charset="0"/>
                <a:ea typeface="Rubik" pitchFamily="34" charset="-122"/>
                <a:cs typeface="Rubik" pitchFamily="34" charset="-120"/>
              </a:rPr>
              <a:t>Same function, new value: </a:t>
            </a:r>
            <a:r>
              <a:rPr lang="en-US" sz="1500" b="1" dirty="0">
                <a:solidFill>
                  <a:srgbClr val="1F5F99"/>
                </a:solidFill>
                <a:latin typeface="Rubik" pitchFamily="34" charset="0"/>
                <a:ea typeface="Rubik" pitchFamily="34" charset="-122"/>
                <a:cs typeface="Rubik" pitchFamily="34" charset="-120"/>
              </a:rPr>
              <a:t>square(7)</a:t>
            </a:r>
            <a:r>
              <a:rPr lang="en-US" sz="1500" dirty="0">
                <a:solidFill>
                  <a:srgbClr val="14213D"/>
                </a:solidFill>
                <a:latin typeface="Rubik" pitchFamily="34" charset="0"/>
                <a:ea typeface="Rubik" pitchFamily="34" charset="-122"/>
                <a:cs typeface="Rubik" pitchFamily="34" charset="-120"/>
              </a:rPr>
              <a:t> puts 7 into n and gives back 49. The parameter is the </a:t>
            </a:r>
            <a:r>
              <a:rPr lang="en-US" sz="1500" b="1" dirty="0">
                <a:solidFill>
                  <a:srgbClr val="14213D"/>
                </a:solidFill>
                <a:latin typeface="Rubik" pitchFamily="34" charset="0"/>
                <a:ea typeface="Rubik" pitchFamily="34" charset="-122"/>
                <a:cs typeface="Rubik" pitchFamily="34" charset="-120"/>
              </a:rPr>
              <a:t>door in</a:t>
            </a:r>
            <a:r>
              <a:rPr lang="en-US" sz="1500" dirty="0">
                <a:solidFill>
                  <a:srgbClr val="14213D"/>
                </a:solidFill>
                <a:latin typeface="Rubik" pitchFamily="34" charset="0"/>
                <a:ea typeface="Rubik" pitchFamily="34" charset="-122"/>
                <a:cs typeface="Rubik" pitchFamily="34" charset="-120"/>
              </a:rPr>
              <a:t>; return is the </a:t>
            </a:r>
            <a:r>
              <a:rPr lang="en-US" sz="1500" b="1" dirty="0">
                <a:solidFill>
                  <a:srgbClr val="14213D"/>
                </a:solidFill>
                <a:latin typeface="Rubik" pitchFamily="34" charset="0"/>
                <a:ea typeface="Rubik" pitchFamily="34" charset="-122"/>
                <a:cs typeface="Rubik" pitchFamily="34" charset="-120"/>
              </a:rPr>
              <a:t>door out.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ECE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PUTTING IT TOGETHER</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Design any function with 3 questions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43806"/>
          <a:ext cx="10554854" cy="1539444"/>
        </p:xfrm>
        <a:graphic>
          <a:graphicData uri="http://schemas.openxmlformats.org/drawingml/2006/table">
            <a:tbl>
              <a:tblPr/>
              <a:tblGrid>
                <a:gridCol w="3166456">
                  <a:extLst>
                    <a:ext uri="{9D8B030D-6E8A-4147-A177-3AD203B41FA5}">
                      <a16:colId xmlns:a16="http://schemas.microsoft.com/office/drawing/2014/main" val="20000"/>
                    </a:ext>
                  </a:extLst>
                </a:gridCol>
                <a:gridCol w="1899874">
                  <a:extLst>
                    <a:ext uri="{9D8B030D-6E8A-4147-A177-3AD203B41FA5}">
                      <a16:colId xmlns:a16="http://schemas.microsoft.com/office/drawing/2014/main" val="20001"/>
                    </a:ext>
                  </a:extLst>
                </a:gridCol>
                <a:gridCol w="2744262">
                  <a:extLst>
                    <a:ext uri="{9D8B030D-6E8A-4147-A177-3AD203B41FA5}">
                      <a16:colId xmlns:a16="http://schemas.microsoft.com/office/drawing/2014/main" val="20002"/>
                    </a:ext>
                  </a:extLst>
                </a:gridCol>
                <a:gridCol w="2744262">
                  <a:extLst>
                    <a:ext uri="{9D8B030D-6E8A-4147-A177-3AD203B41FA5}">
                      <a16:colId xmlns:a16="http://schemas.microsoft.com/office/drawing/2014/main" val="20003"/>
                    </a:ext>
                  </a:extLst>
                </a:gridCol>
              </a:tblGrid>
              <a:tr h="384861">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Ask yourself</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It gives you</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Bigger of two numbers</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Say hello n times</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1. What job does it do?</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The name</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max</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printHello</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extLst>
                  <a:ext uri="{0D108BD9-81ED-4DB2-BD59-A6C34878D82A}">
                    <a16:rowId xmlns:a16="http://schemas.microsoft.com/office/drawing/2014/main" val="10001"/>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2. What does it need?</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The parameters</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(int a, int b)</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(int times)</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extLst>
                  <a:ext uri="{0D108BD9-81ED-4DB2-BD59-A6C34878D82A}">
                    <a16:rowId xmlns:a16="http://schemas.microsoft.com/office/drawing/2014/main" val="10002"/>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3. What does it give back?</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The return type</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int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void (nothing)</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extLst>
                  <a:ext uri="{0D108BD9-81ED-4DB2-BD59-A6C34878D82A}">
                    <a16:rowId xmlns:a16="http://schemas.microsoft.com/office/drawing/2014/main" val="10003"/>
                  </a:ext>
                </a:extLst>
              </a:tr>
            </a:tbl>
          </a:graphicData>
        </a:graphic>
      </p:graphicFrame>
      <p:sp>
        <p:nvSpPr>
          <p:cNvPr id="5" name="Shape 2"/>
          <p:cNvSpPr/>
          <p:nvPr/>
        </p:nvSpPr>
        <p:spPr>
          <a:xfrm>
            <a:off x="812800" y="3511848"/>
            <a:ext cx="5194300" cy="942289"/>
          </a:xfrm>
          <a:prstGeom prst="roundRect">
            <a:avLst>
              <a:gd name="adj" fmla="val 10782"/>
            </a:avLst>
          </a:prstGeom>
          <a:solidFill>
            <a:srgbClr val="FFFFFF"/>
          </a:solidFill>
          <a:ln/>
        </p:spPr>
        <p:txBody>
          <a:bodyPr/>
          <a:lstStyle/>
          <a:p>
            <a:endParaRPr lang="en-US"/>
          </a:p>
        </p:txBody>
      </p:sp>
      <p:sp>
        <p:nvSpPr>
          <p:cNvPr id="6" name="Shape 3"/>
          <p:cNvSpPr/>
          <p:nvPr/>
        </p:nvSpPr>
        <p:spPr>
          <a:xfrm>
            <a:off x="812800" y="3511848"/>
            <a:ext cx="5194300" cy="942289"/>
          </a:xfrm>
          <a:custGeom>
            <a:avLst/>
            <a:gdLst/>
            <a:ahLst/>
            <a:cxnLst/>
            <a:rect l="l" t="t" r="r" b="b"/>
            <a:pathLst>
              <a:path w="5194300" h="942289">
                <a:moveTo>
                  <a:pt x="0" y="101600"/>
                </a:moveTo>
                <a:lnTo>
                  <a:pt x="0" y="101600"/>
                </a:lnTo>
                <a:arcTo wR="101600" hR="101600" stAng="10800000" swAng="5400000"/>
                <a:lnTo>
                  <a:pt x="5092700" y="0"/>
                </a:lnTo>
                <a:arcTo wR="101600" hR="101600" stAng="16200000" swAng="5400000"/>
                <a:lnTo>
                  <a:pt x="5194300" y="101600"/>
                </a:lnTo>
                <a:arcTo wR="101600" hR="50800" stAng="0" swAng="-5400000"/>
                <a:lnTo>
                  <a:pt x="101600" y="50800"/>
                </a:lnTo>
                <a:arcTo wR="101600" hR="50800" stAng="16200000" swAng="-5400000"/>
                <a:close/>
              </a:path>
            </a:pathLst>
          </a:custGeom>
          <a:solidFill>
            <a:srgbClr val="E07A2E"/>
          </a:solidFill>
          <a:ln/>
        </p:spPr>
        <p:txBody>
          <a:bodyPr/>
          <a:lstStyle/>
          <a:p>
            <a:endParaRPr lang="en-US"/>
          </a:p>
        </p:txBody>
      </p:sp>
      <p:sp>
        <p:nvSpPr>
          <p:cNvPr id="7" name="Text 4"/>
          <p:cNvSpPr/>
          <p:nvPr/>
        </p:nvSpPr>
        <p:spPr>
          <a:xfrm>
            <a:off x="1003300" y="3727748"/>
            <a:ext cx="4957699" cy="2387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Rubik" pitchFamily="34" charset="0"/>
                <a:ea typeface="Rubik" pitchFamily="34" charset="-122"/>
                <a:cs typeface="Rubik" pitchFamily="34" charset="-120"/>
              </a:rPr>
              <a:t>Header for example 1</a:t>
            </a:r>
            <a:endParaRPr lang="en-US" sz="1200" dirty="0"/>
          </a:p>
        </p:txBody>
      </p:sp>
      <p:sp>
        <p:nvSpPr>
          <p:cNvPr id="8" name="Text 5"/>
          <p:cNvSpPr/>
          <p:nvPr/>
        </p:nvSpPr>
        <p:spPr>
          <a:xfrm>
            <a:off x="1003300" y="4004580"/>
            <a:ext cx="4957699" cy="30985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31A"/>
                </a:solidFill>
                <a:latin typeface="JetBrains Mono" pitchFamily="49" charset="0"/>
                <a:ea typeface="JetBrains Mono" pitchFamily="49" charset="-122"/>
                <a:cs typeface="JetBrains Mono" pitchFamily="49" charset="-120"/>
              </a:rPr>
              <a:t>int</a:t>
            </a:r>
            <a:r>
              <a:rPr lang="en-US" sz="1600" b="1" dirty="0">
                <a:solidFill>
                  <a:srgbClr val="14213D"/>
                </a:solidFill>
                <a:latin typeface="JetBrains Mono" pitchFamily="49" charset="0"/>
                <a:ea typeface="JetBrains Mono" pitchFamily="49" charset="-122"/>
                <a:cs typeface="JetBrains Mono" pitchFamily="49" charset="-120"/>
              </a:rPr>
              <a:t> max(</a:t>
            </a:r>
            <a:r>
              <a:rPr lang="en-US" sz="1600" b="1" dirty="0">
                <a:solidFill>
                  <a:srgbClr val="1F5F99"/>
                </a:solidFill>
                <a:latin typeface="JetBrains Mono" pitchFamily="49" charset="0"/>
                <a:ea typeface="JetBrains Mono" pitchFamily="49" charset="-122"/>
                <a:cs typeface="JetBrains Mono" pitchFamily="49" charset="-120"/>
              </a:rPr>
              <a:t>int a, int b</a:t>
            </a:r>
            <a:r>
              <a:rPr lang="en-US" sz="1600" b="1" dirty="0">
                <a:solidFill>
                  <a:srgbClr val="14213D"/>
                </a:solidFill>
                <a:latin typeface="JetBrains Mono" pitchFamily="49" charset="0"/>
                <a:ea typeface="JetBrains Mono" pitchFamily="49" charset="-122"/>
                <a:cs typeface="JetBrains Mono" pitchFamily="49" charset="-120"/>
              </a:rPr>
              <a:t>)</a:t>
            </a:r>
            <a:endParaRPr lang="en-US" sz="1600" dirty="0"/>
          </a:p>
        </p:txBody>
      </p:sp>
      <p:sp>
        <p:nvSpPr>
          <p:cNvPr id="9" name="Shape 6"/>
          <p:cNvSpPr/>
          <p:nvPr/>
        </p:nvSpPr>
        <p:spPr>
          <a:xfrm>
            <a:off x="6184900" y="3511848"/>
            <a:ext cx="5194300" cy="942289"/>
          </a:xfrm>
          <a:prstGeom prst="roundRect">
            <a:avLst>
              <a:gd name="adj" fmla="val 10782"/>
            </a:avLst>
          </a:prstGeom>
          <a:solidFill>
            <a:srgbClr val="FFFFFF"/>
          </a:solidFill>
          <a:ln/>
        </p:spPr>
        <p:txBody>
          <a:bodyPr/>
          <a:lstStyle/>
          <a:p>
            <a:endParaRPr lang="en-US"/>
          </a:p>
        </p:txBody>
      </p:sp>
      <p:sp>
        <p:nvSpPr>
          <p:cNvPr id="10" name="Shape 7"/>
          <p:cNvSpPr/>
          <p:nvPr/>
        </p:nvSpPr>
        <p:spPr>
          <a:xfrm>
            <a:off x="6184900" y="3511848"/>
            <a:ext cx="5194300" cy="942289"/>
          </a:xfrm>
          <a:custGeom>
            <a:avLst/>
            <a:gdLst/>
            <a:ahLst/>
            <a:cxnLst/>
            <a:rect l="l" t="t" r="r" b="b"/>
            <a:pathLst>
              <a:path w="5194300" h="942289">
                <a:moveTo>
                  <a:pt x="0" y="101600"/>
                </a:moveTo>
                <a:lnTo>
                  <a:pt x="0" y="101600"/>
                </a:lnTo>
                <a:arcTo wR="101600" hR="101600" stAng="10800000" swAng="5400000"/>
                <a:lnTo>
                  <a:pt x="5092700" y="0"/>
                </a:lnTo>
                <a:arcTo wR="101600" hR="101600" stAng="16200000" swAng="5400000"/>
                <a:lnTo>
                  <a:pt x="5194300" y="101600"/>
                </a:lnTo>
                <a:arcTo wR="101600" hR="50800" stAng="0" swAng="-5400000"/>
                <a:lnTo>
                  <a:pt x="101600" y="50800"/>
                </a:lnTo>
                <a:arcTo wR="101600" hR="50800" stAng="16200000" swAng="-5400000"/>
                <a:close/>
              </a:path>
            </a:pathLst>
          </a:custGeom>
          <a:solidFill>
            <a:srgbClr val="E07A2E"/>
          </a:solidFill>
          <a:ln/>
        </p:spPr>
        <p:txBody>
          <a:bodyPr/>
          <a:lstStyle/>
          <a:p>
            <a:endParaRPr lang="en-US"/>
          </a:p>
        </p:txBody>
      </p:sp>
      <p:sp>
        <p:nvSpPr>
          <p:cNvPr id="11" name="Text 8"/>
          <p:cNvSpPr/>
          <p:nvPr/>
        </p:nvSpPr>
        <p:spPr>
          <a:xfrm>
            <a:off x="6375400" y="3727748"/>
            <a:ext cx="4957699" cy="2387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Rubik" pitchFamily="34" charset="0"/>
                <a:ea typeface="Rubik" pitchFamily="34" charset="-122"/>
                <a:cs typeface="Rubik" pitchFamily="34" charset="-120"/>
              </a:rPr>
              <a:t>Header for example 2</a:t>
            </a:r>
            <a:endParaRPr lang="en-US" sz="1200" dirty="0"/>
          </a:p>
        </p:txBody>
      </p:sp>
      <p:sp>
        <p:nvSpPr>
          <p:cNvPr id="12" name="Text 9"/>
          <p:cNvSpPr/>
          <p:nvPr/>
        </p:nvSpPr>
        <p:spPr>
          <a:xfrm>
            <a:off x="6375400" y="4004580"/>
            <a:ext cx="4957699" cy="30985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31A"/>
                </a:solidFill>
                <a:latin typeface="JetBrains Mono" pitchFamily="49" charset="0"/>
                <a:ea typeface="JetBrains Mono" pitchFamily="49" charset="-122"/>
                <a:cs typeface="JetBrains Mono" pitchFamily="49" charset="-120"/>
              </a:rPr>
              <a:t>void</a:t>
            </a:r>
            <a:r>
              <a:rPr lang="en-US" sz="1600" b="1" dirty="0">
                <a:solidFill>
                  <a:srgbClr val="14213D"/>
                </a:solidFill>
                <a:latin typeface="JetBrains Mono" pitchFamily="49" charset="0"/>
                <a:ea typeface="JetBrains Mono" pitchFamily="49" charset="-122"/>
                <a:cs typeface="JetBrains Mono" pitchFamily="49" charset="-120"/>
              </a:rPr>
              <a:t> printHello(</a:t>
            </a:r>
            <a:r>
              <a:rPr lang="en-US" sz="1600" b="1" dirty="0">
                <a:solidFill>
                  <a:srgbClr val="1F5F99"/>
                </a:solidFill>
                <a:latin typeface="JetBrains Mono" pitchFamily="49" charset="0"/>
                <a:ea typeface="JetBrains Mono" pitchFamily="49" charset="-122"/>
                <a:cs typeface="JetBrains Mono" pitchFamily="49" charset="-120"/>
              </a:rPr>
              <a:t>int times</a:t>
            </a:r>
            <a:r>
              <a:rPr lang="en-US" sz="1600" b="1" dirty="0">
                <a:solidFill>
                  <a:srgbClr val="14213D"/>
                </a:solidFill>
                <a:latin typeface="JetBrains Mono" pitchFamily="49" charset="0"/>
                <a:ea typeface="JetBrains Mono" pitchFamily="49" charset="-122"/>
                <a:cs typeface="JetBrains Mono" pitchFamily="49" charset="-120"/>
              </a:rPr>
              <a:t>)</a:t>
            </a:r>
            <a:endParaRPr lang="en-US" sz="1600" dirty="0"/>
          </a:p>
        </p:txBody>
      </p:sp>
      <p:sp>
        <p:nvSpPr>
          <p:cNvPr id="13" name="Text 10"/>
          <p:cNvSpPr/>
          <p:nvPr/>
        </p:nvSpPr>
        <p:spPr>
          <a:xfrm>
            <a:off x="812800" y="468272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Rubik" pitchFamily="34" charset="0"/>
                <a:ea typeface="Rubik" pitchFamily="34" charset="-122"/>
                <a:cs typeface="Rubik" pitchFamily="34" charset="-120"/>
              </a:rPr>
              <a:t>Answer the three questions first, and the first line of the function writes itself.</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FLOW OF CONTROL · NARRATED VIDEO · 1½ MINUTES</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Watch what happens in memory</a:t>
            </a:r>
            <a:endParaRPr lang="en-US" sz="3600" dirty="0"/>
          </a:p>
        </p:txBody>
      </p:sp>
      <p:sp>
        <p:nvSpPr>
          <p:cNvPr id="5" name="Shape 2"/>
          <p:cNvSpPr/>
          <p:nvPr/>
        </p:nvSpPr>
        <p:spPr>
          <a:xfrm>
            <a:off x="819150" y="1713210"/>
            <a:ext cx="7607300" cy="4273550"/>
          </a:xfrm>
          <a:prstGeom prst="roundRect">
            <a:avLst>
              <a:gd name="adj" fmla="val 2229"/>
            </a:avLst>
          </a:prstGeom>
          <a:noFill/>
          <a:ln w="12700">
            <a:solidFill>
              <a:srgbClr val="E3DCCB"/>
            </a:solidFill>
            <a:prstDash val="solid"/>
          </a:ln>
        </p:spPr>
        <p:txBody>
          <a:bodyPr/>
          <a:lstStyle/>
          <a:p>
            <a:endParaRPr lang="en-US"/>
          </a:p>
        </p:txBody>
      </p:sp>
      <p:sp>
        <p:nvSpPr>
          <p:cNvPr id="6" name="Text 3"/>
          <p:cNvSpPr/>
          <p:nvPr/>
        </p:nvSpPr>
        <p:spPr>
          <a:xfrm>
            <a:off x="8686800" y="1706860"/>
            <a:ext cx="2773172" cy="23873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3D"/>
                </a:solidFill>
                <a:latin typeface="Rubik" pitchFamily="34" charset="0"/>
                <a:ea typeface="Rubik" pitchFamily="34" charset="-122"/>
                <a:cs typeface="Rubik" pitchFamily="34" charset="-120"/>
              </a:rPr>
              <a:t>WHAT TO LOOK FOR</a:t>
            </a:r>
            <a:endParaRPr lang="en-US" sz="1200" dirty="0"/>
          </a:p>
        </p:txBody>
      </p:sp>
      <p:sp>
        <p:nvSpPr>
          <p:cNvPr id="7" name="Text 4"/>
          <p:cNvSpPr/>
          <p:nvPr/>
        </p:nvSpPr>
        <p:spPr>
          <a:xfrm>
            <a:off x="8686800" y="2059893"/>
            <a:ext cx="2692400" cy="648927"/>
          </a:xfrm>
          <a:prstGeom prst="roundRect">
            <a:avLst>
              <a:gd name="adj" fmla="val 9785"/>
            </a:avLst>
          </a:prstGeom>
          <a:solidFill>
            <a:srgbClr val="FFFFFF"/>
          </a:solidFill>
          <a:ln/>
        </p:spPr>
        <p:txBody>
          <a:bodyPr wrap="square" lIns="159201" tIns="83001" rIns="36773" bIns="57601" rtlCol="0" anchor="t">
            <a:normAutofit/>
          </a:bodyPr>
          <a:lstStyle/>
          <a:p>
            <a:pPr marL="0" indent="0" algn="l">
              <a:lnSpc>
                <a:spcPts val="1755"/>
              </a:lnSpc>
              <a:buNone/>
            </a:pPr>
            <a:r>
              <a:rPr lang="en-US" sz="1300" b="1" dirty="0">
                <a:solidFill>
                  <a:srgbClr val="14213D"/>
                </a:solidFill>
                <a:latin typeface="Rubik" pitchFamily="34" charset="0"/>
                <a:ea typeface="Rubik" pitchFamily="34" charset="-122"/>
                <a:cs typeface="Rubik" pitchFamily="34" charset="-120"/>
              </a:rPr>
              <a:t>Highlighted line:</a:t>
            </a:r>
            <a:r>
              <a:rPr lang="en-US" sz="1300" dirty="0">
                <a:solidFill>
                  <a:srgbClr val="14213D"/>
                </a:solidFill>
                <a:latin typeface="Rubik" pitchFamily="34" charset="0"/>
                <a:ea typeface="Rubik" pitchFamily="34" charset="-122"/>
                <a:cs typeface="Rubik" pitchFamily="34" charset="-120"/>
              </a:rPr>
              <a:t> the line running now</a:t>
            </a:r>
            <a:endParaRPr lang="en-US" sz="1300" dirty="0"/>
          </a:p>
        </p:txBody>
      </p:sp>
      <p:sp>
        <p:nvSpPr>
          <p:cNvPr id="8" name="Shape 5"/>
          <p:cNvSpPr/>
          <p:nvPr/>
        </p:nvSpPr>
        <p:spPr>
          <a:xfrm>
            <a:off x="8686800" y="2059893"/>
            <a:ext cx="2692400" cy="648927"/>
          </a:xfrm>
          <a:custGeom>
            <a:avLst/>
            <a:gdLst/>
            <a:ahLst/>
            <a:cxnLst/>
            <a:rect l="l" t="t" r="r" b="b"/>
            <a:pathLst>
              <a:path w="2692400" h="648927">
                <a:moveTo>
                  <a:pt x="63500" y="648927"/>
                </a:moveTo>
                <a:lnTo>
                  <a:pt x="63500" y="648927"/>
                </a:lnTo>
                <a:arcTo wR="63500" hR="63500" stAng="5400000" swAng="5400000"/>
                <a:lnTo>
                  <a:pt x="0" y="63500"/>
                </a:lnTo>
                <a:arcTo wR="63500" hR="63500" stAng="10800000" swAng="5400000"/>
                <a:lnTo>
                  <a:pt x="63500" y="0"/>
                </a:lnTo>
                <a:arcTo wR="12700" hR="63500" stAng="16200000" swAng="-5400000"/>
                <a:lnTo>
                  <a:pt x="50800" y="585427"/>
                </a:lnTo>
                <a:arcTo wR="12700" hR="63500" stAng="10800000" swAng="-5400000"/>
                <a:close/>
              </a:path>
            </a:pathLst>
          </a:custGeom>
          <a:solidFill>
            <a:srgbClr val="E07A2E"/>
          </a:solidFill>
          <a:ln/>
        </p:spPr>
        <p:txBody>
          <a:bodyPr/>
          <a:lstStyle/>
          <a:p>
            <a:endParaRPr lang="en-US"/>
          </a:p>
        </p:txBody>
      </p:sp>
      <p:sp>
        <p:nvSpPr>
          <p:cNvPr id="9" name="Text 6"/>
          <p:cNvSpPr/>
          <p:nvPr/>
        </p:nvSpPr>
        <p:spPr>
          <a:xfrm>
            <a:off x="8686800" y="2848521"/>
            <a:ext cx="2692400" cy="648927"/>
          </a:xfrm>
          <a:prstGeom prst="roundRect">
            <a:avLst>
              <a:gd name="adj" fmla="val 9785"/>
            </a:avLst>
          </a:prstGeom>
          <a:solidFill>
            <a:srgbClr val="FFFFFF"/>
          </a:solidFill>
          <a:ln/>
        </p:spPr>
        <p:txBody>
          <a:bodyPr wrap="square" lIns="159201" tIns="83001" rIns="36773" bIns="57601" rtlCol="0" anchor="t">
            <a:normAutofit/>
          </a:bodyPr>
          <a:lstStyle/>
          <a:p>
            <a:pPr marL="0" indent="0" algn="l">
              <a:lnSpc>
                <a:spcPts val="1755"/>
              </a:lnSpc>
              <a:buNone/>
            </a:pPr>
            <a:r>
              <a:rPr lang="en-US" sz="1300" b="1" dirty="0">
                <a:solidFill>
                  <a:srgbClr val="14213D"/>
                </a:solidFill>
                <a:latin typeface="Rubik" pitchFamily="34" charset="0"/>
                <a:ea typeface="Rubik" pitchFamily="34" charset="-122"/>
                <a:cs typeface="Rubik" pitchFamily="34" charset="-120"/>
              </a:rPr>
              <a:t>JUMP:</a:t>
            </a:r>
            <a:r>
              <a:rPr lang="en-US" sz="1300" dirty="0">
                <a:solidFill>
                  <a:srgbClr val="14213D"/>
                </a:solidFill>
                <a:latin typeface="Rubik" pitchFamily="34" charset="0"/>
                <a:ea typeface="Rubik" pitchFamily="34" charset="-122"/>
                <a:cs typeface="Rubik" pitchFamily="34" charset="-120"/>
              </a:rPr>
              <a:t> control goes into the function</a:t>
            </a:r>
            <a:endParaRPr lang="en-US" sz="1300" dirty="0"/>
          </a:p>
        </p:txBody>
      </p:sp>
      <p:sp>
        <p:nvSpPr>
          <p:cNvPr id="10" name="Shape 7"/>
          <p:cNvSpPr/>
          <p:nvPr/>
        </p:nvSpPr>
        <p:spPr>
          <a:xfrm>
            <a:off x="8686800" y="2848521"/>
            <a:ext cx="2692400" cy="648927"/>
          </a:xfrm>
          <a:custGeom>
            <a:avLst/>
            <a:gdLst/>
            <a:ahLst/>
            <a:cxnLst/>
            <a:rect l="l" t="t" r="r" b="b"/>
            <a:pathLst>
              <a:path w="2692400" h="648927">
                <a:moveTo>
                  <a:pt x="63500" y="648927"/>
                </a:moveTo>
                <a:lnTo>
                  <a:pt x="63500" y="648927"/>
                </a:lnTo>
                <a:arcTo wR="63500" hR="63500" stAng="5400000" swAng="5400000"/>
                <a:lnTo>
                  <a:pt x="0" y="63500"/>
                </a:lnTo>
                <a:arcTo wR="63500" hR="63500" stAng="10800000" swAng="5400000"/>
                <a:lnTo>
                  <a:pt x="63500" y="0"/>
                </a:lnTo>
                <a:arcTo wR="12700" hR="63500" stAng="16200000" swAng="-5400000"/>
                <a:lnTo>
                  <a:pt x="50800" y="585427"/>
                </a:lnTo>
                <a:arcTo wR="12700" hR="63500" stAng="10800000" swAng="-5400000"/>
                <a:close/>
              </a:path>
            </a:pathLst>
          </a:custGeom>
          <a:solidFill>
            <a:srgbClr val="E07A2E"/>
          </a:solidFill>
          <a:ln/>
        </p:spPr>
        <p:txBody>
          <a:bodyPr/>
          <a:lstStyle/>
          <a:p>
            <a:endParaRPr lang="en-US"/>
          </a:p>
        </p:txBody>
      </p:sp>
      <p:sp>
        <p:nvSpPr>
          <p:cNvPr id="11" name="Text 8"/>
          <p:cNvSpPr/>
          <p:nvPr/>
        </p:nvSpPr>
        <p:spPr>
          <a:xfrm>
            <a:off x="8686800" y="3637149"/>
            <a:ext cx="2692400" cy="648927"/>
          </a:xfrm>
          <a:prstGeom prst="roundRect">
            <a:avLst>
              <a:gd name="adj" fmla="val 9785"/>
            </a:avLst>
          </a:prstGeom>
          <a:solidFill>
            <a:srgbClr val="FFFFFF"/>
          </a:solidFill>
          <a:ln/>
        </p:spPr>
        <p:txBody>
          <a:bodyPr wrap="square" lIns="159201" tIns="83001" rIns="36773" bIns="57601" rtlCol="0" anchor="t">
            <a:normAutofit/>
          </a:bodyPr>
          <a:lstStyle/>
          <a:p>
            <a:pPr marL="0" indent="0" algn="l">
              <a:lnSpc>
                <a:spcPts val="1755"/>
              </a:lnSpc>
              <a:buNone/>
            </a:pPr>
            <a:r>
              <a:rPr lang="en-US" sz="1300" b="1" dirty="0">
                <a:solidFill>
                  <a:srgbClr val="14213D"/>
                </a:solidFill>
                <a:latin typeface="Rubik" pitchFamily="34" charset="0"/>
                <a:ea typeface="Rubik" pitchFamily="34" charset="-122"/>
                <a:cs typeface="Rubik" pitchFamily="34" charset="-120"/>
              </a:rPr>
              <a:t>RETURN:</a:t>
            </a:r>
            <a:r>
              <a:rPr lang="en-US" sz="1300" dirty="0">
                <a:solidFill>
                  <a:srgbClr val="14213D"/>
                </a:solidFill>
                <a:latin typeface="Rubik" pitchFamily="34" charset="0"/>
                <a:ea typeface="Rubik" pitchFamily="34" charset="-122"/>
                <a:cs typeface="Rubik" pitchFamily="34" charset="-120"/>
              </a:rPr>
              <a:t> control and the answer come back</a:t>
            </a:r>
            <a:endParaRPr lang="en-US" sz="1300" dirty="0"/>
          </a:p>
        </p:txBody>
      </p:sp>
      <p:sp>
        <p:nvSpPr>
          <p:cNvPr id="12" name="Shape 9"/>
          <p:cNvSpPr/>
          <p:nvPr/>
        </p:nvSpPr>
        <p:spPr>
          <a:xfrm>
            <a:off x="8686800" y="3637149"/>
            <a:ext cx="2692400" cy="648927"/>
          </a:xfrm>
          <a:custGeom>
            <a:avLst/>
            <a:gdLst/>
            <a:ahLst/>
            <a:cxnLst/>
            <a:rect l="l" t="t" r="r" b="b"/>
            <a:pathLst>
              <a:path w="2692400" h="648927">
                <a:moveTo>
                  <a:pt x="63500" y="648927"/>
                </a:moveTo>
                <a:lnTo>
                  <a:pt x="63500" y="648927"/>
                </a:lnTo>
                <a:arcTo wR="63500" hR="63500" stAng="5400000" swAng="5400000"/>
                <a:lnTo>
                  <a:pt x="0" y="63500"/>
                </a:lnTo>
                <a:arcTo wR="63500" hR="63500" stAng="10800000" swAng="5400000"/>
                <a:lnTo>
                  <a:pt x="63500" y="0"/>
                </a:lnTo>
                <a:arcTo wR="12700" hR="63500" stAng="16200000" swAng="-5400000"/>
                <a:lnTo>
                  <a:pt x="50800" y="585427"/>
                </a:lnTo>
                <a:arcTo wR="12700" hR="63500" stAng="10800000" swAng="-5400000"/>
                <a:close/>
              </a:path>
            </a:pathLst>
          </a:custGeom>
          <a:solidFill>
            <a:srgbClr val="1F6B3A"/>
          </a:solidFill>
          <a:ln/>
        </p:spPr>
        <p:txBody>
          <a:bodyPr/>
          <a:lstStyle/>
          <a:p>
            <a:endParaRPr lang="en-US"/>
          </a:p>
        </p:txBody>
      </p:sp>
      <p:sp>
        <p:nvSpPr>
          <p:cNvPr id="13" name="Text 10"/>
          <p:cNvSpPr/>
          <p:nvPr/>
        </p:nvSpPr>
        <p:spPr>
          <a:xfrm>
            <a:off x="8686800" y="4425776"/>
            <a:ext cx="2692400" cy="426063"/>
          </a:xfrm>
          <a:prstGeom prst="roundRect">
            <a:avLst>
              <a:gd name="adj" fmla="val 14904"/>
            </a:avLst>
          </a:prstGeom>
          <a:solidFill>
            <a:srgbClr val="FFFFFF"/>
          </a:solidFill>
          <a:ln/>
        </p:spPr>
        <p:txBody>
          <a:bodyPr wrap="square" lIns="159201" tIns="83001" rIns="36773" bIns="57602" rtlCol="0" anchor="t">
            <a:normAutofit/>
          </a:bodyPr>
          <a:lstStyle/>
          <a:p>
            <a:pPr marL="0" indent="0" algn="l">
              <a:lnSpc>
                <a:spcPts val="1755"/>
              </a:lnSpc>
              <a:buNone/>
            </a:pPr>
            <a:r>
              <a:rPr lang="en-US" sz="1300" b="1" dirty="0">
                <a:solidFill>
                  <a:srgbClr val="14213D"/>
                </a:solidFill>
                <a:latin typeface="Rubik" pitchFamily="34" charset="0"/>
                <a:ea typeface="Rubik" pitchFamily="34" charset="-122"/>
                <a:cs typeface="Rubik" pitchFamily="34" charset="-120"/>
              </a:rPr>
              <a:t>CREATED:</a:t>
            </a:r>
            <a:r>
              <a:rPr lang="en-US" sz="1300" dirty="0">
                <a:solidFill>
                  <a:srgbClr val="14213D"/>
                </a:solidFill>
                <a:latin typeface="Rubik" pitchFamily="34" charset="0"/>
                <a:ea typeface="Rubik" pitchFamily="34" charset="-122"/>
                <a:cs typeface="Rubik" pitchFamily="34" charset="-120"/>
              </a:rPr>
              <a:t> a variable is born</a:t>
            </a:r>
            <a:endParaRPr lang="en-US" sz="1300" dirty="0"/>
          </a:p>
        </p:txBody>
      </p:sp>
      <p:sp>
        <p:nvSpPr>
          <p:cNvPr id="14" name="Shape 11"/>
          <p:cNvSpPr/>
          <p:nvPr/>
        </p:nvSpPr>
        <p:spPr>
          <a:xfrm>
            <a:off x="8686800" y="4425776"/>
            <a:ext cx="2692400" cy="426063"/>
          </a:xfrm>
          <a:custGeom>
            <a:avLst/>
            <a:gdLst/>
            <a:ahLst/>
            <a:cxnLst/>
            <a:rect l="l" t="t" r="r" b="b"/>
            <a:pathLst>
              <a:path w="2692400" h="426063">
                <a:moveTo>
                  <a:pt x="63500" y="426063"/>
                </a:moveTo>
                <a:lnTo>
                  <a:pt x="63500" y="426063"/>
                </a:lnTo>
                <a:arcTo wR="63500" hR="63500" stAng="5400000" swAng="5400000"/>
                <a:lnTo>
                  <a:pt x="0" y="63500"/>
                </a:lnTo>
                <a:arcTo wR="63500" hR="63500" stAng="10800000" swAng="5400000"/>
                <a:lnTo>
                  <a:pt x="63500" y="0"/>
                </a:lnTo>
                <a:arcTo wR="12700" hR="63500" stAng="16200000" swAng="-5400000"/>
                <a:lnTo>
                  <a:pt x="50800" y="362563"/>
                </a:lnTo>
                <a:arcTo wR="12700" hR="63500" stAng="10800000" swAng="-5400000"/>
                <a:close/>
              </a:path>
            </a:pathLst>
          </a:custGeom>
          <a:solidFill>
            <a:srgbClr val="1F6B3A"/>
          </a:solidFill>
          <a:ln/>
        </p:spPr>
        <p:txBody>
          <a:bodyPr/>
          <a:lstStyle/>
          <a:p>
            <a:endParaRPr lang="en-US"/>
          </a:p>
        </p:txBody>
      </p:sp>
      <p:sp>
        <p:nvSpPr>
          <p:cNvPr id="15" name="Text 12"/>
          <p:cNvSpPr/>
          <p:nvPr/>
        </p:nvSpPr>
        <p:spPr>
          <a:xfrm>
            <a:off x="8686800" y="4991534"/>
            <a:ext cx="2692400" cy="426063"/>
          </a:xfrm>
          <a:prstGeom prst="roundRect">
            <a:avLst>
              <a:gd name="adj" fmla="val 14904"/>
            </a:avLst>
          </a:prstGeom>
          <a:solidFill>
            <a:srgbClr val="FFFFFF"/>
          </a:solidFill>
          <a:ln/>
        </p:spPr>
        <p:txBody>
          <a:bodyPr wrap="square" lIns="159201" tIns="83001" rIns="36773" bIns="57602" rtlCol="0" anchor="t">
            <a:normAutofit/>
          </a:bodyPr>
          <a:lstStyle/>
          <a:p>
            <a:pPr marL="0" indent="0" algn="l">
              <a:lnSpc>
                <a:spcPts val="1755"/>
              </a:lnSpc>
              <a:buNone/>
            </a:pPr>
            <a:r>
              <a:rPr lang="en-US" sz="1300" b="1" dirty="0">
                <a:solidFill>
                  <a:srgbClr val="14213D"/>
                </a:solidFill>
                <a:latin typeface="Rubik" pitchFamily="34" charset="0"/>
                <a:ea typeface="Rubik" pitchFamily="34" charset="-122"/>
                <a:cs typeface="Rubik" pitchFamily="34" charset="-120"/>
              </a:rPr>
              <a:t>DESTROYED:</a:t>
            </a:r>
            <a:r>
              <a:rPr lang="en-US" sz="1300" dirty="0">
                <a:solidFill>
                  <a:srgbClr val="14213D"/>
                </a:solidFill>
                <a:latin typeface="Rubik" pitchFamily="34" charset="0"/>
                <a:ea typeface="Rubik" pitchFamily="34" charset="-122"/>
                <a:cs typeface="Rubik" pitchFamily="34" charset="-120"/>
              </a:rPr>
              <a:t> a variable dies</a:t>
            </a:r>
            <a:endParaRPr lang="en-US" sz="1300" dirty="0"/>
          </a:p>
        </p:txBody>
      </p:sp>
      <p:sp>
        <p:nvSpPr>
          <p:cNvPr id="16" name="Shape 13"/>
          <p:cNvSpPr/>
          <p:nvPr/>
        </p:nvSpPr>
        <p:spPr>
          <a:xfrm>
            <a:off x="8686800" y="4991534"/>
            <a:ext cx="2692400" cy="426063"/>
          </a:xfrm>
          <a:custGeom>
            <a:avLst/>
            <a:gdLst/>
            <a:ahLst/>
            <a:cxnLst/>
            <a:rect l="l" t="t" r="r" b="b"/>
            <a:pathLst>
              <a:path w="2692400" h="426063">
                <a:moveTo>
                  <a:pt x="63500" y="426063"/>
                </a:moveTo>
                <a:lnTo>
                  <a:pt x="63500" y="426063"/>
                </a:lnTo>
                <a:arcTo wR="63500" hR="63500" stAng="5400000" swAng="5400000"/>
                <a:lnTo>
                  <a:pt x="0" y="63500"/>
                </a:lnTo>
                <a:arcTo wR="63500" hR="63500" stAng="10800000" swAng="5400000"/>
                <a:lnTo>
                  <a:pt x="63500" y="0"/>
                </a:lnTo>
                <a:arcTo wR="12700" hR="63500" stAng="16200000" swAng="-5400000"/>
                <a:lnTo>
                  <a:pt x="50800" y="362563"/>
                </a:lnTo>
                <a:arcTo wR="12700" hR="63500" stAng="10800000" swAng="-5400000"/>
                <a:close/>
              </a:path>
            </a:pathLst>
          </a:custGeom>
          <a:solidFill>
            <a:srgbClr val="A33A1A"/>
          </a:solidFill>
          <a:ln/>
        </p:spPr>
        <p:txBody>
          <a:bodyPr/>
          <a:lstStyle/>
          <a:p>
            <a:endParaRPr lang="en-US"/>
          </a:p>
        </p:txBody>
      </p:sp>
      <p:pic>
        <p:nvPicPr>
          <p:cNvPr id="17" name="Flow of control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5500" y="1719560"/>
            <a:ext cx="7594600" cy="42608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7"/>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THE VIDEO, STEP BY STEP</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Variables are born and destroyed</a:t>
            </a:r>
            <a:endParaRPr lang="en-US" sz="3600" dirty="0"/>
          </a:p>
        </p:txBody>
      </p:sp>
      <p:sp>
        <p:nvSpPr>
          <p:cNvPr id="4" name="Text 2"/>
          <p:cNvSpPr/>
          <p:nvPr/>
        </p:nvSpPr>
        <p:spPr>
          <a:xfrm>
            <a:off x="812800" y="1706860"/>
            <a:ext cx="3810000" cy="3170238"/>
          </a:xfrm>
          <a:prstGeom prst="roundRect">
            <a:avLst>
              <a:gd name="adj" fmla="val 4006"/>
            </a:avLst>
          </a:prstGeom>
          <a:solidFill>
            <a:srgbClr val="EDE7DA"/>
          </a:solidFill>
          <a:ln/>
        </p:spPr>
        <p:txBody>
          <a:bodyPr wrap="none" lIns="166003" tIns="140603" rIns="63895" bIns="115203" rtlCol="0" anchor="t">
            <a:normAutofit/>
          </a:bodyPr>
          <a:lstStyle/>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1</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1F5F99"/>
                </a:solidFill>
                <a:latin typeface="JetBrains Mono" pitchFamily="49" charset="0"/>
                <a:ea typeface="JetBrains Mono" pitchFamily="49" charset="-122"/>
                <a:cs typeface="JetBrains Mono" pitchFamily="49" charset="-120"/>
              </a:rPr>
              <a:t>square</a:t>
            </a:r>
            <a:r>
              <a:rPr lang="en-US" sz="1300" dirty="0">
                <a:solidFill>
                  <a:srgbClr val="14213D"/>
                </a:solidFill>
                <a:latin typeface="JetBrains Mono" pitchFamily="49" charset="0"/>
                <a:ea typeface="JetBrains Mono" pitchFamily="49" charset="-122"/>
                <a:cs typeface="JetBrains Mono" pitchFamily="49" charset="-120"/>
              </a:rPr>
              <a:t>(</a:t>
            </a: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n) {</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2</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result = n * n;</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3</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return</a:t>
            </a:r>
            <a:r>
              <a:rPr lang="en-US" sz="1300" dirty="0">
                <a:solidFill>
                  <a:srgbClr val="14213D"/>
                </a:solidFill>
                <a:latin typeface="JetBrains Mono" pitchFamily="49" charset="0"/>
                <a:ea typeface="JetBrains Mono" pitchFamily="49" charset="-122"/>
                <a:cs typeface="JetBrains Mono" pitchFamily="49" charset="-120"/>
              </a:rPr>
              <a:t> result;</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4</a:t>
            </a:r>
            <a:r>
              <a:rPr lang="en-US" sz="1300" dirty="0">
                <a:solidFill>
                  <a:srgbClr val="14213D"/>
                </a:solidFill>
                <a:latin typeface="JetBrains Mono" pitchFamily="49" charset="0"/>
                <a:ea typeface="JetBrains Mono" pitchFamily="49" charset="-122"/>
                <a:cs typeface="JetBrains Mono" pitchFamily="49" charset="-120"/>
              </a:rPr>
              <a:t>  }</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5</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6</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main() {</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7</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a = 4;</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8</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int</a:t>
            </a:r>
            <a:r>
              <a:rPr lang="en-US" sz="1300" dirty="0">
                <a:solidFill>
                  <a:srgbClr val="14213D"/>
                </a:solidFill>
                <a:latin typeface="JetBrains Mono" pitchFamily="49" charset="0"/>
                <a:ea typeface="JetBrains Mono" pitchFamily="49" charset="-122"/>
                <a:cs typeface="JetBrains Mono" pitchFamily="49" charset="-120"/>
              </a:rPr>
              <a:t> b = </a:t>
            </a:r>
            <a:r>
              <a:rPr lang="en-US" sz="1300" dirty="0">
                <a:solidFill>
                  <a:srgbClr val="1F5F99"/>
                </a:solidFill>
                <a:latin typeface="JetBrains Mono" pitchFamily="49" charset="0"/>
                <a:ea typeface="JetBrains Mono" pitchFamily="49" charset="-122"/>
                <a:cs typeface="JetBrains Mono" pitchFamily="49" charset="-120"/>
              </a:rPr>
              <a:t>square</a:t>
            </a:r>
            <a:r>
              <a:rPr lang="en-US" sz="1300" dirty="0">
                <a:solidFill>
                  <a:srgbClr val="14213D"/>
                </a:solidFill>
                <a:latin typeface="JetBrains Mono" pitchFamily="49" charset="0"/>
                <a:ea typeface="JetBrains Mono" pitchFamily="49" charset="-122"/>
                <a:cs typeface="JetBrains Mono" pitchFamily="49" charset="-120"/>
              </a:rPr>
              <a:t>(a);</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9</a:t>
            </a:r>
            <a:r>
              <a:rPr lang="en-US" sz="1300" dirty="0">
                <a:solidFill>
                  <a:srgbClr val="14213D"/>
                </a:solidFill>
                <a:latin typeface="JetBrains Mono" pitchFamily="49" charset="0"/>
                <a:ea typeface="JetBrains Mono" pitchFamily="49" charset="-122"/>
                <a:cs typeface="JetBrains Mono" pitchFamily="49" charset="-120"/>
              </a:rPr>
              <a:t>      cout &lt;&lt; b;</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10</a:t>
            </a:r>
            <a:r>
              <a:rPr lang="en-US" sz="1300" dirty="0">
                <a:solidFill>
                  <a:srgbClr val="14213D"/>
                </a:solidFill>
                <a:latin typeface="JetBrains Mono" pitchFamily="49" charset="0"/>
                <a:ea typeface="JetBrains Mono" pitchFamily="49" charset="-122"/>
                <a:cs typeface="JetBrains Mono" pitchFamily="49" charset="-120"/>
              </a:rPr>
              <a:t>     </a:t>
            </a:r>
            <a:r>
              <a:rPr lang="en-US" sz="1300" dirty="0">
                <a:solidFill>
                  <a:srgbClr val="B4531A"/>
                </a:solidFill>
                <a:latin typeface="JetBrains Mono" pitchFamily="49" charset="0"/>
                <a:ea typeface="JetBrains Mono" pitchFamily="49" charset="-122"/>
                <a:cs typeface="JetBrains Mono" pitchFamily="49" charset="-120"/>
              </a:rPr>
              <a:t>return</a:t>
            </a:r>
            <a:r>
              <a:rPr lang="en-US" sz="1300" dirty="0">
                <a:solidFill>
                  <a:srgbClr val="14213D"/>
                </a:solidFill>
                <a:latin typeface="JetBrains Mono" pitchFamily="49" charset="0"/>
                <a:ea typeface="JetBrains Mono" pitchFamily="49" charset="-122"/>
                <a:cs typeface="JetBrains Mono" pitchFamily="49" charset="-120"/>
              </a:rPr>
              <a:t> 0;</a:t>
            </a:r>
            <a:endParaRPr lang="en-US" sz="1300" dirty="0"/>
          </a:p>
          <a:p>
            <a:pPr marL="0" indent="0" algn="l">
              <a:lnSpc>
                <a:spcPts val="2015"/>
              </a:lnSpc>
              <a:buNone/>
            </a:pPr>
            <a:r>
              <a:rPr lang="en-US" sz="1300" dirty="0">
                <a:solidFill>
                  <a:srgbClr val="6B7588"/>
                </a:solidFill>
                <a:latin typeface="JetBrains Mono" pitchFamily="49" charset="0"/>
                <a:ea typeface="JetBrains Mono" pitchFamily="49" charset="-122"/>
                <a:cs typeface="JetBrains Mono" pitchFamily="49" charset="-120"/>
              </a:rPr>
              <a:t>11</a:t>
            </a:r>
            <a:r>
              <a:rPr lang="en-US" sz="1300" dirty="0">
                <a:solidFill>
                  <a:srgbClr val="14213D"/>
                </a:solidFill>
                <a:latin typeface="JetBrains Mono" pitchFamily="49" charset="0"/>
                <a:ea typeface="JetBrains Mono" pitchFamily="49" charset="-122"/>
                <a:cs typeface="JetBrains Mono" pitchFamily="49" charset="-120"/>
              </a:rPr>
              <a:t> }</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88345" y="1718406"/>
          <a:ext cx="6490855" cy="2983815"/>
        </p:xfrm>
        <a:graphic>
          <a:graphicData uri="http://schemas.openxmlformats.org/drawingml/2006/table">
            <a:tbl>
              <a:tblPr/>
              <a:tblGrid>
                <a:gridCol w="778903">
                  <a:extLst>
                    <a:ext uri="{9D8B030D-6E8A-4147-A177-3AD203B41FA5}">
                      <a16:colId xmlns:a16="http://schemas.microsoft.com/office/drawing/2014/main" val="20000"/>
                    </a:ext>
                  </a:extLst>
                </a:gridCol>
                <a:gridCol w="3245427">
                  <a:extLst>
                    <a:ext uri="{9D8B030D-6E8A-4147-A177-3AD203B41FA5}">
                      <a16:colId xmlns:a16="http://schemas.microsoft.com/office/drawing/2014/main" val="20001"/>
                    </a:ext>
                  </a:extLst>
                </a:gridCol>
                <a:gridCol w="2466525">
                  <a:extLst>
                    <a:ext uri="{9D8B030D-6E8A-4147-A177-3AD203B41FA5}">
                      <a16:colId xmlns:a16="http://schemas.microsoft.com/office/drawing/2014/main" val="20002"/>
                    </a:ext>
                  </a:extLst>
                </a:gridCol>
              </a:tblGrid>
              <a:tr h="331535">
                <a:tc>
                  <a:txBody>
                    <a:bodyPr/>
                    <a:lstStyle/>
                    <a:p>
                      <a:pPr marL="0" indent="0">
                        <a:lnSpc>
                          <a:spcPts val="1680"/>
                        </a:lnSpc>
                        <a:buNone/>
                      </a:pPr>
                      <a:r>
                        <a:rPr lang="en-US" sz="1200" b="1" dirty="0">
                          <a:solidFill>
                            <a:srgbClr val="14213D"/>
                          </a:solidFill>
                          <a:latin typeface="Rubik" pitchFamily="34" charset="0"/>
                          <a:ea typeface="Rubik" pitchFamily="34" charset="-122"/>
                          <a:cs typeface="Rubik" pitchFamily="34" charset="-120"/>
                        </a:rPr>
                        <a:t>Line</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680"/>
                        </a:lnSpc>
                        <a:buNone/>
                      </a:pPr>
                      <a:r>
                        <a:rPr lang="en-US" sz="1200" b="1" dirty="0">
                          <a:solidFill>
                            <a:srgbClr val="14213D"/>
                          </a:solidFill>
                          <a:latin typeface="Rubik" pitchFamily="34" charset="0"/>
                          <a:ea typeface="Rubik" pitchFamily="34" charset="-122"/>
                          <a:cs typeface="Rubik" pitchFamily="34" charset="-120"/>
                        </a:rPr>
                        <a:t>What happens</a:t>
                      </a:r>
                      <a:endParaRPr lang="en-US" sz="1200" dirty="0">
                        <a:latin typeface="Rubik" charset="0"/>
                        <a:ea typeface="Rubik" charset="0"/>
                        <a:cs typeface="Rubik" charset="0"/>
                      </a:endParaRPr>
                    </a:p>
                  </a:txBody>
                  <a:tcPr marL="53340" marR="53340" marT="53340" marB="5334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680"/>
                        </a:lnSpc>
                        <a:buNone/>
                      </a:pPr>
                      <a:r>
                        <a:rPr lang="en-US" sz="1200" b="1" dirty="0">
                          <a:solidFill>
                            <a:srgbClr val="14213D"/>
                          </a:solidFill>
                          <a:latin typeface="Rubik" pitchFamily="34" charset="0"/>
                          <a:ea typeface="Rubik" pitchFamily="34" charset="-122"/>
                          <a:cs typeface="Rubik" pitchFamily="34" charset="-120"/>
                        </a:rPr>
                        <a:t>Memory now</a:t>
                      </a:r>
                      <a:endParaRPr lang="en-US" sz="1200" dirty="0">
                        <a:latin typeface="Rubik" charset="0"/>
                        <a:ea typeface="Rubik" charset="0"/>
                        <a:cs typeface="Rubik" charset="0"/>
                      </a:endParaRPr>
                    </a:p>
                  </a:txBody>
                  <a:tcPr marL="53340" marR="53340" marT="53340" marB="5334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6–7</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main starts; a created = 4</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main: a=4</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8</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b created; main calls square(a) and waits</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main: a=4, b=?</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2"/>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n created; 4 copied into n</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square: n=4</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2</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result created = 16</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square: n=4, result=16</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4"/>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3–4</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16 sent back; n and result destroyed</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square: gone</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5"/>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8</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back in main: b = 16</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main: a=4, b=16</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6"/>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9</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16 printed on screen</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main: a=4, b=16</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7"/>
                  </a:ext>
                </a:extLst>
              </a:tr>
              <a:tr h="331535">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10–11</a:t>
                      </a:r>
                      <a:endParaRPr lang="en-US" sz="1200" dirty="0">
                        <a:latin typeface="Rubik" charset="0"/>
                        <a:ea typeface="Rubik" charset="0"/>
                        <a:cs typeface="Rubik" charset="0"/>
                      </a:endParaRPr>
                    </a:p>
                  </a:txBody>
                  <a:tcPr marL="53340" marR="53340" marT="53340" marB="5334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main ends; a and b destroyed</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680"/>
                        </a:lnSpc>
                        <a:buNone/>
                      </a:pPr>
                      <a:r>
                        <a:rPr lang="en-US" sz="1200" dirty="0">
                          <a:solidFill>
                            <a:srgbClr val="3D4657"/>
                          </a:solidFill>
                          <a:latin typeface="Rubik" pitchFamily="34" charset="0"/>
                          <a:ea typeface="Rubik" pitchFamily="34" charset="-122"/>
                          <a:cs typeface="Rubik" pitchFamily="34" charset="-120"/>
                        </a:rPr>
                        <a:t>empty</a:t>
                      </a:r>
                      <a:endParaRPr lang="en-US" sz="1200" dirty="0">
                        <a:latin typeface="Rubik" charset="0"/>
                        <a:ea typeface="Rubik" charset="0"/>
                        <a:cs typeface="Rubik" charset="0"/>
                      </a:endParaRPr>
                    </a:p>
                  </a:txBody>
                  <a:tcPr marL="53340" marR="53340" marT="53340" marB="5334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ECE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TWO KINDS OF USER-DEFINED FUNCTIONS</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Value-returning vs void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69206"/>
          <a:ext cx="10554854" cy="2309166"/>
        </p:xfrm>
        <a:graphic>
          <a:graphicData uri="http://schemas.openxmlformats.org/drawingml/2006/table">
            <a:tbl>
              <a:tblPr/>
              <a:tblGrid>
                <a:gridCol w="2744262">
                  <a:extLst>
                    <a:ext uri="{9D8B030D-6E8A-4147-A177-3AD203B41FA5}">
                      <a16:colId xmlns:a16="http://schemas.microsoft.com/office/drawing/2014/main" val="20000"/>
                    </a:ext>
                  </a:extLst>
                </a:gridCol>
                <a:gridCol w="3905296">
                  <a:extLst>
                    <a:ext uri="{9D8B030D-6E8A-4147-A177-3AD203B41FA5}">
                      <a16:colId xmlns:a16="http://schemas.microsoft.com/office/drawing/2014/main" val="20001"/>
                    </a:ext>
                  </a:extLst>
                </a:gridCol>
                <a:gridCol w="3905296">
                  <a:extLst>
                    <a:ext uri="{9D8B030D-6E8A-4147-A177-3AD203B41FA5}">
                      <a16:colId xmlns:a16="http://schemas.microsoft.com/office/drawing/2014/main" val="20002"/>
                    </a:ext>
                  </a:extLst>
                </a:gridCol>
              </a:tblGrid>
              <a:tr h="384861">
                <a:tc>
                  <a:txBody>
                    <a:bodyPr/>
                    <a:lstStyle/>
                    <a:p>
                      <a:pPr marL="0" indent="0">
                        <a:lnSpc>
                          <a:spcPts val="1960"/>
                        </a:lnSpc>
                        <a:buNone/>
                      </a:pP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B4531A"/>
                          </a:solidFill>
                          <a:latin typeface="Rubik" pitchFamily="34" charset="0"/>
                          <a:ea typeface="Rubik" pitchFamily="34" charset="-122"/>
                          <a:cs typeface="Rubik" pitchFamily="34" charset="-120"/>
                        </a:rPr>
                        <a:t>Value-returning</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B4531A"/>
                          </a:solidFill>
                          <a:latin typeface="Rubik" pitchFamily="34" charset="0"/>
                          <a:ea typeface="Rubik" pitchFamily="34" charset="-122"/>
                          <a:cs typeface="Rubik" pitchFamily="34" charset="-120"/>
                        </a:rPr>
                        <a:t>void</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Gives a result back?</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Yes, exactly one value</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No, it just does a job</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extLst>
                  <a:ext uri="{0D108BD9-81ED-4DB2-BD59-A6C34878D82A}">
                    <a16:rowId xmlns:a16="http://schemas.microsoft.com/office/drawing/2014/main" val="10001"/>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Return type</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int, double, char, bool …</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void</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extLst>
                  <a:ext uri="{0D108BD9-81ED-4DB2-BD59-A6C34878D82A}">
                    <a16:rowId xmlns:a16="http://schemas.microsoft.com/office/drawing/2014/main" val="10002"/>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return statement</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Must have return value;</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Not needed</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extLst>
                  <a:ext uri="{0D108BD9-81ED-4DB2-BD59-A6C34878D82A}">
                    <a16:rowId xmlns:a16="http://schemas.microsoft.com/office/drawing/2014/main" val="10003"/>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How we call it</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Inside an expression: x = square(4);</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As its own statement: printLine();</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tcPr>
                </a:tc>
                <a:extLst>
                  <a:ext uri="{0D108BD9-81ED-4DB2-BD59-A6C34878D82A}">
                    <a16:rowId xmlns:a16="http://schemas.microsoft.com/office/drawing/2014/main" val="10004"/>
                  </a:ext>
                </a:extLst>
              </a:tr>
              <a:tr h="384861">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Real life</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 calculator: you get an answer</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 printer: it prints, gives nothing back</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solidFill>
                      <a:srgbClr val="FBF8F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VALUE-RETURNING FUNCTION</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It hands an answer back</a:t>
            </a:r>
            <a:endParaRPr lang="en-US" sz="3600" dirty="0"/>
          </a:p>
        </p:txBody>
      </p:sp>
      <p:sp>
        <p:nvSpPr>
          <p:cNvPr id="4" name="Text 2"/>
          <p:cNvSpPr/>
          <p:nvPr/>
        </p:nvSpPr>
        <p:spPr>
          <a:xfrm>
            <a:off x="812800" y="1757660"/>
            <a:ext cx="6350000" cy="3390900"/>
          </a:xfrm>
          <a:prstGeom prst="roundRect">
            <a:avLst>
              <a:gd name="adj" fmla="val 3745"/>
            </a:avLst>
          </a:prstGeom>
          <a:solidFill>
            <a:srgbClr val="EDE7DA"/>
          </a:solidFill>
          <a:ln/>
        </p:spPr>
        <p:txBody>
          <a:bodyPr wrap="none" lIns="216803" tIns="191403" rIns="41543" bIns="166003" rtlCol="0" anchor="t">
            <a:normAutofit/>
          </a:bodyPr>
          <a:lstStyle/>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1F5F99"/>
                </a:solidFill>
                <a:latin typeface="JetBrains Mono" pitchFamily="49" charset="0"/>
                <a:ea typeface="JetBrains Mono" pitchFamily="49" charset="-122"/>
                <a:cs typeface="JetBrains Mono" pitchFamily="49" charset="-120"/>
              </a:rPr>
              <a:t>square</a:t>
            </a:r>
            <a:r>
              <a:rPr lang="en-US" sz="1400" dirty="0">
                <a:solidFill>
                  <a:srgbClr val="14213D"/>
                </a:solidFill>
                <a:latin typeface="JetBrains Mono" pitchFamily="49" charset="0"/>
                <a:ea typeface="JetBrains Mono" pitchFamily="49" charset="-122"/>
                <a:cs typeface="JetBrains Mono" pitchFamily="49" charset="-120"/>
              </a:rPr>
              <a:t>(</a:t>
            </a: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n)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return</a:t>
            </a:r>
            <a:r>
              <a:rPr lang="en-US" sz="1400" dirty="0">
                <a:solidFill>
                  <a:srgbClr val="14213D"/>
                </a:solidFill>
                <a:latin typeface="JetBrains Mono" pitchFamily="49" charset="0"/>
                <a:ea typeface="JetBrains Mono" pitchFamily="49" charset="-122"/>
                <a:cs typeface="JetBrains Mono" pitchFamily="49" charset="-120"/>
              </a:rPr>
              <a:t> n * n;      </a:t>
            </a:r>
            <a:r>
              <a:rPr lang="en-US" sz="1400" dirty="0">
                <a:solidFill>
                  <a:srgbClr val="6B7588"/>
                </a:solidFill>
                <a:latin typeface="JetBrains Mono" pitchFamily="49" charset="0"/>
                <a:ea typeface="JetBrains Mono" pitchFamily="49" charset="-122"/>
                <a:cs typeface="JetBrains Mono" pitchFamily="49" charset="-120"/>
              </a:rPr>
              <a:t>// sends the answer back</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endParaRPr lang="en-US" sz="1400" dirty="0"/>
          </a:p>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main()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a = </a:t>
            </a:r>
            <a:r>
              <a:rPr lang="en-US" sz="1400" dirty="0">
                <a:solidFill>
                  <a:srgbClr val="1F5F99"/>
                </a:solidFill>
                <a:latin typeface="JetBrains Mono" pitchFamily="49" charset="0"/>
                <a:ea typeface="JetBrains Mono" pitchFamily="49" charset="-122"/>
                <a:cs typeface="JetBrains Mono" pitchFamily="49" charset="-120"/>
              </a:rPr>
              <a:t>square</a:t>
            </a:r>
            <a:r>
              <a:rPr lang="en-US" sz="1400" dirty="0">
                <a:solidFill>
                  <a:srgbClr val="14213D"/>
                </a:solidFill>
                <a:latin typeface="JetBrains Mono" pitchFamily="49" charset="0"/>
                <a:ea typeface="JetBrains Mono" pitchFamily="49" charset="-122"/>
                <a:cs typeface="JetBrains Mono" pitchFamily="49" charset="-120"/>
              </a:rPr>
              <a:t>(5);        </a:t>
            </a:r>
            <a:r>
              <a:rPr lang="en-US" sz="1400" dirty="0">
                <a:solidFill>
                  <a:srgbClr val="6B7588"/>
                </a:solidFill>
                <a:latin typeface="JetBrains Mono" pitchFamily="49" charset="0"/>
                <a:ea typeface="JetBrains Mono" pitchFamily="49" charset="-122"/>
                <a:cs typeface="JetBrains Mono" pitchFamily="49" charset="-120"/>
              </a:rPr>
              <a:t>// store it</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a:t>
            </a:r>
            <a:r>
              <a:rPr lang="en-US" sz="1400" dirty="0">
                <a:solidFill>
                  <a:srgbClr val="1F5F99"/>
                </a:solidFill>
                <a:latin typeface="JetBrains Mono" pitchFamily="49" charset="0"/>
                <a:ea typeface="JetBrains Mono" pitchFamily="49" charset="-122"/>
                <a:cs typeface="JetBrains Mono" pitchFamily="49" charset="-120"/>
              </a:rPr>
              <a:t>square</a:t>
            </a:r>
            <a:r>
              <a:rPr lang="en-US" sz="1400" dirty="0">
                <a:solidFill>
                  <a:srgbClr val="14213D"/>
                </a:solidFill>
                <a:latin typeface="JetBrains Mono" pitchFamily="49" charset="0"/>
                <a:ea typeface="JetBrains Mono" pitchFamily="49" charset="-122"/>
                <a:cs typeface="JetBrains Mono" pitchFamily="49" charset="-120"/>
              </a:rPr>
              <a:t>(3);       </a:t>
            </a:r>
            <a:r>
              <a:rPr lang="en-US" sz="1400" dirty="0">
                <a:solidFill>
                  <a:srgbClr val="6B7588"/>
                </a:solidFill>
                <a:latin typeface="JetBrains Mono" pitchFamily="49" charset="0"/>
                <a:ea typeface="JetBrains Mono" pitchFamily="49" charset="-122"/>
                <a:cs typeface="JetBrains Mono" pitchFamily="49" charset="-120"/>
              </a:rPr>
              <a:t>// print it</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if</a:t>
            </a: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1F5F99"/>
                </a:solidFill>
                <a:latin typeface="JetBrains Mono" pitchFamily="49" charset="0"/>
                <a:ea typeface="JetBrains Mono" pitchFamily="49" charset="-122"/>
                <a:cs typeface="JetBrains Mono" pitchFamily="49" charset="-120"/>
              </a:rPr>
              <a:t>square</a:t>
            </a:r>
            <a:r>
              <a:rPr lang="en-US" sz="1400" dirty="0">
                <a:solidFill>
                  <a:srgbClr val="14213D"/>
                </a:solidFill>
                <a:latin typeface="JetBrains Mono" pitchFamily="49" charset="0"/>
                <a:ea typeface="JetBrains Mono" pitchFamily="49" charset="-122"/>
                <a:cs typeface="JetBrains Mono" pitchFamily="49" charset="-120"/>
              </a:rPr>
              <a:t>(4) &gt; 10)    </a:t>
            </a:r>
            <a:r>
              <a:rPr lang="en-US" sz="1400" dirty="0">
                <a:solidFill>
                  <a:srgbClr val="6B7588"/>
                </a:solidFill>
                <a:latin typeface="JetBrains Mono" pitchFamily="49" charset="0"/>
                <a:ea typeface="JetBrains Mono" pitchFamily="49" charset="-122"/>
                <a:cs typeface="JetBrains Mono" pitchFamily="49" charset="-120"/>
              </a:rPr>
              <a:t>// test it</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a:t>
            </a:r>
            <a:r>
              <a:rPr lang="en-US" sz="1400" dirty="0">
                <a:solidFill>
                  <a:srgbClr val="2F7A3A"/>
                </a:solidFill>
                <a:latin typeface="JetBrains Mono" pitchFamily="49" charset="0"/>
                <a:ea typeface="JetBrains Mono" pitchFamily="49" charset="-122"/>
                <a:cs typeface="JetBrains Mono" pitchFamily="49" charset="-120"/>
              </a:rPr>
              <a:t>" big"</a:t>
            </a:r>
            <a:r>
              <a:rPr lang="en-US" sz="1400" dirty="0">
                <a:solidFill>
                  <a:srgbClr val="14213D"/>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return</a:t>
            </a:r>
            <a:r>
              <a:rPr lang="en-US" sz="1400" dirty="0">
                <a:solidFill>
                  <a:srgbClr val="14213D"/>
                </a:solidFill>
                <a:latin typeface="JetBrains Mono" pitchFamily="49" charset="0"/>
                <a:ea typeface="JetBrains Mono" pitchFamily="49" charset="-122"/>
                <a:cs typeface="JetBrains Mono" pitchFamily="49" charset="-120"/>
              </a:rPr>
              <a:t> 0;</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7518400" y="1757660"/>
            <a:ext cx="3860800" cy="924502"/>
          </a:xfrm>
          <a:prstGeom prst="roundRect">
            <a:avLst>
              <a:gd name="adj" fmla="val 10990"/>
            </a:avLst>
          </a:prstGeom>
          <a:solidFill>
            <a:srgbClr val="E8EEF7"/>
          </a:solidFill>
          <a:ln/>
        </p:spPr>
        <p:txBody>
          <a:bodyPr wrap="square" lIns="173442" tIns="148042" rIns="69810" bIns="122642"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The call </a:t>
            </a:r>
            <a:r>
              <a:rPr lang="en-US" sz="1600" dirty="0">
                <a:solidFill>
                  <a:srgbClr val="B4531A"/>
                </a:solidFill>
                <a:latin typeface="Rubik" pitchFamily="34" charset="0"/>
                <a:ea typeface="Rubik" pitchFamily="34" charset="-122"/>
                <a:cs typeface="Rubik" pitchFamily="34" charset="-120"/>
              </a:rPr>
              <a:t>square(5)</a:t>
            </a:r>
            <a:r>
              <a:rPr lang="en-US" sz="1600" dirty="0">
                <a:solidFill>
                  <a:srgbClr val="14213D"/>
                </a:solidFill>
                <a:latin typeface="Rubik" pitchFamily="34" charset="0"/>
                <a:ea typeface="Rubik" pitchFamily="34" charset="-122"/>
                <a:cs typeface="Rubik" pitchFamily="34" charset="-120"/>
              </a:rPr>
              <a:t> is </a:t>
            </a:r>
            <a:r>
              <a:rPr lang="en-US" sz="1600" b="1" dirty="0">
                <a:solidFill>
                  <a:srgbClr val="14213D"/>
                </a:solidFill>
                <a:latin typeface="Rubik" pitchFamily="34" charset="0"/>
                <a:ea typeface="Rubik" pitchFamily="34" charset="-122"/>
                <a:cs typeface="Rubik" pitchFamily="34" charset="-120"/>
              </a:rPr>
              <a:t>replaced</a:t>
            </a:r>
            <a:r>
              <a:rPr lang="en-US" sz="1600" dirty="0">
                <a:solidFill>
                  <a:srgbClr val="14213D"/>
                </a:solidFill>
                <a:latin typeface="Rubik" pitchFamily="34" charset="0"/>
                <a:ea typeface="Rubik" pitchFamily="34" charset="-122"/>
                <a:cs typeface="Rubik" pitchFamily="34" charset="-120"/>
              </a:rPr>
              <a:t> by its answer, 25.</a:t>
            </a:r>
            <a:endParaRPr lang="en-US" sz="1600" dirty="0"/>
          </a:p>
        </p:txBody>
      </p:sp>
      <p:sp>
        <p:nvSpPr>
          <p:cNvPr id="6" name="Text 4"/>
          <p:cNvSpPr/>
          <p:nvPr/>
        </p:nvSpPr>
        <p:spPr>
          <a:xfrm>
            <a:off x="7518400" y="2834556"/>
            <a:ext cx="3976624" cy="54097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657"/>
                </a:solidFill>
                <a:latin typeface="Rubik" pitchFamily="34" charset="0"/>
                <a:ea typeface="Rubik" pitchFamily="34" charset="-122"/>
                <a:cs typeface="Rubik" pitchFamily="34" charset="-120"/>
              </a:rPr>
              <a:t>So we can store it, print it, or use it in a condition, like any number.</a:t>
            </a:r>
            <a:endParaRPr lang="en-US" sz="1400" dirty="0"/>
          </a:p>
        </p:txBody>
      </p:sp>
      <p:sp>
        <p:nvSpPr>
          <p:cNvPr id="7" name="Text 5"/>
          <p:cNvSpPr/>
          <p:nvPr/>
        </p:nvSpPr>
        <p:spPr>
          <a:xfrm>
            <a:off x="7518400" y="3502533"/>
            <a:ext cx="3976624" cy="54097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657"/>
                </a:solidFill>
                <a:latin typeface="Rubik" pitchFamily="34" charset="0"/>
                <a:ea typeface="Rubik" pitchFamily="34" charset="-122"/>
                <a:cs typeface="Rubik" pitchFamily="34" charset="-120"/>
              </a:rPr>
              <a:t>n is the parameter (the door in); return is the door out.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VOID FUNCTION</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It does a job and gives nothing back</a:t>
            </a:r>
            <a:endParaRPr lang="en-US" sz="3600" dirty="0"/>
          </a:p>
        </p:txBody>
      </p:sp>
      <p:sp>
        <p:nvSpPr>
          <p:cNvPr id="4" name="Text 2"/>
          <p:cNvSpPr/>
          <p:nvPr/>
        </p:nvSpPr>
        <p:spPr>
          <a:xfrm>
            <a:off x="812800" y="1757660"/>
            <a:ext cx="6350000" cy="3390900"/>
          </a:xfrm>
          <a:prstGeom prst="roundRect">
            <a:avLst>
              <a:gd name="adj" fmla="val 3745"/>
            </a:avLst>
          </a:prstGeom>
          <a:solidFill>
            <a:srgbClr val="EDE7DA"/>
          </a:solidFill>
          <a:ln/>
        </p:spPr>
        <p:txBody>
          <a:bodyPr wrap="none" lIns="216803" tIns="191403" rIns="41543" bIns="166003" rtlCol="0" anchor="t">
            <a:normAutofit/>
          </a:bodyPr>
          <a:lstStyle/>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void</a:t>
            </a: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1F5F99"/>
                </a:solidFill>
                <a:latin typeface="JetBrains Mono" pitchFamily="49" charset="0"/>
                <a:ea typeface="JetBrains Mono" pitchFamily="49" charset="-122"/>
                <a:cs typeface="JetBrains Mono" pitchFamily="49" charset="-120"/>
              </a:rPr>
              <a:t>printStars</a:t>
            </a:r>
            <a:r>
              <a:rPr lang="en-US" sz="1400" dirty="0">
                <a:solidFill>
                  <a:srgbClr val="14213D"/>
                </a:solidFill>
                <a:latin typeface="JetBrains Mono" pitchFamily="49" charset="0"/>
                <a:ea typeface="JetBrains Mono" pitchFamily="49" charset="-122"/>
                <a:cs typeface="JetBrains Mono" pitchFamily="49" charset="-120"/>
              </a:rPr>
              <a:t>(</a:t>
            </a: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count)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for</a:t>
            </a:r>
            <a:r>
              <a:rPr lang="en-US" sz="1400" dirty="0">
                <a:solidFill>
                  <a:srgbClr val="14213D"/>
                </a:solidFill>
                <a:latin typeface="JetBrains Mono" pitchFamily="49" charset="0"/>
                <a:ea typeface="JetBrains Mono" pitchFamily="49" charset="-122"/>
                <a:cs typeface="JetBrains Mono" pitchFamily="49" charset="-120"/>
              </a:rPr>
              <a:t> (int i = 0; i &lt; count; i++)</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cout &lt;&lt; endl;</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a:t>
            </a:r>
            <a:endParaRPr lang="en-US" sz="1400" dirty="0"/>
          </a:p>
          <a:p>
            <a:pPr marL="0" indent="0" algn="l">
              <a:lnSpc>
                <a:spcPts val="2100"/>
              </a:lnSpc>
              <a:buNone/>
            </a:pPr>
            <a:endParaRPr lang="en-US" sz="1400" dirty="0"/>
          </a:p>
          <a:p>
            <a:pPr marL="0" indent="0" algn="l">
              <a:lnSpc>
                <a:spcPts val="2100"/>
              </a:lnSpc>
              <a:buNone/>
            </a:pPr>
            <a:r>
              <a:rPr lang="en-US" sz="1400" dirty="0">
                <a:solidFill>
                  <a:srgbClr val="B4531A"/>
                </a:solidFill>
                <a:latin typeface="JetBrains Mono" pitchFamily="49" charset="0"/>
                <a:ea typeface="JetBrains Mono" pitchFamily="49" charset="-122"/>
                <a:cs typeface="JetBrains Mono" pitchFamily="49" charset="-120"/>
              </a:rPr>
              <a:t>int</a:t>
            </a:r>
            <a:r>
              <a:rPr lang="en-US" sz="1400" dirty="0">
                <a:solidFill>
                  <a:srgbClr val="14213D"/>
                </a:solidFill>
                <a:latin typeface="JetBrains Mono" pitchFamily="49" charset="0"/>
                <a:ea typeface="JetBrains Mono" pitchFamily="49" charset="-122"/>
                <a:cs typeface="JetBrains Mono" pitchFamily="49" charset="-120"/>
              </a:rPr>
              <a:t> main()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1F5F99"/>
                </a:solidFill>
                <a:latin typeface="JetBrains Mono" pitchFamily="49" charset="0"/>
                <a:ea typeface="JetBrains Mono" pitchFamily="49" charset="-122"/>
                <a:cs typeface="JetBrains Mono" pitchFamily="49" charset="-120"/>
              </a:rPr>
              <a:t>printStars</a:t>
            </a:r>
            <a:r>
              <a:rPr lang="en-US" sz="1400" dirty="0">
                <a:solidFill>
                  <a:srgbClr val="14213D"/>
                </a:solidFill>
                <a:latin typeface="JetBrains Mono" pitchFamily="49" charset="0"/>
                <a:ea typeface="JetBrains Mono" pitchFamily="49" charset="-122"/>
                <a:cs typeface="JetBrains Mono" pitchFamily="49" charset="-120"/>
              </a:rPr>
              <a:t>(5);    </a:t>
            </a:r>
            <a:r>
              <a:rPr lang="en-US" sz="1400" dirty="0">
                <a:solidFill>
                  <a:srgbClr val="6B7588"/>
                </a:solidFill>
                <a:latin typeface="JetBrains Mono" pitchFamily="49" charset="0"/>
                <a:ea typeface="JetBrains Mono" pitchFamily="49" charset="-122"/>
                <a:cs typeface="JetBrains Mono" pitchFamily="49" charset="-120"/>
              </a:rPr>
              <a:t>//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1F5F99"/>
                </a:solidFill>
                <a:latin typeface="JetBrains Mono" pitchFamily="49" charset="0"/>
                <a:ea typeface="JetBrains Mono" pitchFamily="49" charset="-122"/>
                <a:cs typeface="JetBrains Mono" pitchFamily="49" charset="-120"/>
              </a:rPr>
              <a:t>printStars</a:t>
            </a:r>
            <a:r>
              <a:rPr lang="en-US" sz="1400" dirty="0">
                <a:solidFill>
                  <a:srgbClr val="14213D"/>
                </a:solidFill>
                <a:latin typeface="JetBrains Mono" pitchFamily="49" charset="0"/>
                <a:ea typeface="JetBrains Mono" pitchFamily="49" charset="-122"/>
                <a:cs typeface="JetBrains Mono" pitchFamily="49" charset="-120"/>
              </a:rPr>
              <a:t>(12);   </a:t>
            </a:r>
            <a:r>
              <a:rPr lang="en-US" sz="1400" dirty="0">
                <a:solidFill>
                  <a:srgbClr val="6B7588"/>
                </a:solidFill>
                <a:latin typeface="JetBrains Mono" pitchFamily="49" charset="0"/>
                <a:ea typeface="JetBrains Mono" pitchFamily="49" charset="-122"/>
                <a:cs typeface="JetBrains Mono" pitchFamily="49" charset="-120"/>
              </a:rPr>
              <a:t>// ************</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    </a:t>
            </a:r>
            <a:r>
              <a:rPr lang="en-US" sz="1400" dirty="0">
                <a:solidFill>
                  <a:srgbClr val="B4531A"/>
                </a:solidFill>
                <a:latin typeface="JetBrains Mono" pitchFamily="49" charset="0"/>
                <a:ea typeface="JetBrains Mono" pitchFamily="49" charset="-122"/>
                <a:cs typeface="JetBrains Mono" pitchFamily="49" charset="-120"/>
              </a:rPr>
              <a:t>return</a:t>
            </a:r>
            <a:r>
              <a:rPr lang="en-US" sz="1400" dirty="0">
                <a:solidFill>
                  <a:srgbClr val="14213D"/>
                </a:solidFill>
                <a:latin typeface="JetBrains Mono" pitchFamily="49" charset="0"/>
                <a:ea typeface="JetBrains Mono" pitchFamily="49" charset="-122"/>
                <a:cs typeface="JetBrains Mono" pitchFamily="49" charset="-120"/>
              </a:rPr>
              <a:t> 0;</a:t>
            </a:r>
            <a:endParaRPr lang="en-US" sz="1400" dirty="0"/>
          </a:p>
          <a:p>
            <a:pPr marL="0" indent="0" algn="l">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7518400" y="1757660"/>
            <a:ext cx="3860800" cy="640051"/>
          </a:xfrm>
          <a:prstGeom prst="roundRect">
            <a:avLst>
              <a:gd name="adj" fmla="val 15874"/>
            </a:avLst>
          </a:prstGeom>
          <a:solidFill>
            <a:srgbClr val="E8EEF7"/>
          </a:solidFill>
          <a:ln/>
        </p:spPr>
        <p:txBody>
          <a:bodyPr wrap="square" lIns="173442" tIns="148042" rIns="69810" bIns="122642"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Called </a:t>
            </a:r>
            <a:r>
              <a:rPr lang="en-US" sz="1600" b="1" dirty="0">
                <a:solidFill>
                  <a:srgbClr val="14213D"/>
                </a:solidFill>
                <a:latin typeface="Rubik" pitchFamily="34" charset="0"/>
                <a:ea typeface="Rubik" pitchFamily="34" charset="-122"/>
                <a:cs typeface="Rubik" pitchFamily="34" charset="-120"/>
              </a:rPr>
              <a:t>alone</a:t>
            </a:r>
            <a:r>
              <a:rPr lang="en-US" sz="1600" dirty="0">
                <a:solidFill>
                  <a:srgbClr val="14213D"/>
                </a:solidFill>
                <a:latin typeface="Rubik" pitchFamily="34" charset="0"/>
                <a:ea typeface="Rubik" pitchFamily="34" charset="-122"/>
                <a:cs typeface="Rubik" pitchFamily="34" charset="-120"/>
              </a:rPr>
              <a:t>, as its own statement.</a:t>
            </a:r>
            <a:endParaRPr lang="en-US" sz="1600" dirty="0"/>
          </a:p>
        </p:txBody>
      </p:sp>
      <p:sp>
        <p:nvSpPr>
          <p:cNvPr id="6" name="Text 4"/>
          <p:cNvSpPr/>
          <p:nvPr/>
        </p:nvSpPr>
        <p:spPr>
          <a:xfrm>
            <a:off x="7518400" y="2550108"/>
            <a:ext cx="3976624" cy="54097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657"/>
                </a:solidFill>
                <a:latin typeface="Rubik" pitchFamily="34" charset="0"/>
                <a:ea typeface="Rubik" pitchFamily="34" charset="-122"/>
                <a:cs typeface="Rubik" pitchFamily="34" charset="-120"/>
              </a:rPr>
              <a:t>Nothing comes back, so we never write </a:t>
            </a:r>
            <a:r>
              <a:rPr lang="en-US" sz="1400" dirty="0">
                <a:solidFill>
                  <a:srgbClr val="B4531A"/>
                </a:solidFill>
                <a:latin typeface="Rubik" pitchFamily="34" charset="0"/>
                <a:ea typeface="Rubik" pitchFamily="34" charset="-122"/>
                <a:cs typeface="Rubik" pitchFamily="34" charset="-120"/>
              </a:rPr>
              <a:t>x = printStars(5);</a:t>
            </a:r>
            <a:endParaRPr lang="en-US" sz="1400" dirty="0"/>
          </a:p>
        </p:txBody>
      </p:sp>
      <p:sp>
        <p:nvSpPr>
          <p:cNvPr id="7" name="Text 5"/>
          <p:cNvSpPr/>
          <p:nvPr/>
        </p:nvSpPr>
        <p:spPr>
          <a:xfrm>
            <a:off x="7518400" y="3218086"/>
            <a:ext cx="3976624" cy="54097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D4657"/>
                </a:solidFill>
                <a:latin typeface="Rubik" pitchFamily="34" charset="0"/>
                <a:ea typeface="Rubik" pitchFamily="34" charset="-122"/>
                <a:cs typeface="Rubik" pitchFamily="34" charset="-120"/>
              </a:rPr>
              <a:t>This is our printLine from earlier, made better: now it can print any number of stars.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WATCH OUT</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Common beginner mistakes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69206"/>
          <a:ext cx="10554855" cy="2558078"/>
        </p:xfrm>
        <a:graphic>
          <a:graphicData uri="http://schemas.openxmlformats.org/drawingml/2006/table">
            <a:tbl>
              <a:tblPr/>
              <a:tblGrid>
                <a:gridCol w="3588651">
                  <a:extLst>
                    <a:ext uri="{9D8B030D-6E8A-4147-A177-3AD203B41FA5}">
                      <a16:colId xmlns:a16="http://schemas.microsoft.com/office/drawing/2014/main" val="20000"/>
                    </a:ext>
                  </a:extLst>
                </a:gridCol>
                <a:gridCol w="3166456">
                  <a:extLst>
                    <a:ext uri="{9D8B030D-6E8A-4147-A177-3AD203B41FA5}">
                      <a16:colId xmlns:a16="http://schemas.microsoft.com/office/drawing/2014/main" val="20001"/>
                    </a:ext>
                  </a:extLst>
                </a:gridCol>
                <a:gridCol w="3799748">
                  <a:extLst>
                    <a:ext uri="{9D8B030D-6E8A-4147-A177-3AD203B41FA5}">
                      <a16:colId xmlns:a16="http://schemas.microsoft.com/office/drawing/2014/main" val="20002"/>
                    </a:ext>
                  </a:extLst>
                </a:gridCol>
              </a:tblGrid>
              <a:tr h="384861">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Wrong</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Right</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tc>
                  <a:txBody>
                    <a:bodyPr/>
                    <a:lstStyle/>
                    <a:p>
                      <a:pPr marL="0" indent="0">
                        <a:lnSpc>
                          <a:spcPts val="1960"/>
                        </a:lnSpc>
                        <a:buNone/>
                      </a:pPr>
                      <a:r>
                        <a:rPr lang="en-US" sz="1400" b="1" dirty="0">
                          <a:solidFill>
                            <a:srgbClr val="14213D"/>
                          </a:solidFill>
                          <a:latin typeface="Rubik" pitchFamily="34" charset="0"/>
                          <a:ea typeface="Rubik" pitchFamily="34" charset="-122"/>
                          <a:cs typeface="Rubik" pitchFamily="34" charset="-120"/>
                        </a:rPr>
                        <a:t>Why</a:t>
                      </a:r>
                      <a:endParaRPr lang="en-US" sz="1400" dirty="0">
                        <a:latin typeface="Rubik" charset="0"/>
                        <a:ea typeface="Rubik" charset="0"/>
                        <a:cs typeface="Rubik" charset="0"/>
                      </a:endParaRPr>
                    </a:p>
                  </a:txBody>
                  <a:tcPr marL="62230" marR="62230" marT="62230" marB="62230">
                    <a:lnL w="12700" cap="flat" cmpd="sng" algn="ctr">
                      <a:solidFill>
                        <a:srgbClr val="B9BEC5"/>
                      </a:solidFill>
                      <a:prstDash val="solid"/>
                      <a:round/>
                      <a:headEnd type="none" w="med" len="med"/>
                      <a:tailEnd type="none" w="med" len="med"/>
                    </a:lnL>
                    <a:lnR w="12700" cap="flat" cmpd="sng" algn="ctr">
                      <a:solidFill>
                        <a:srgbClr val="B9BEC5"/>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9BEC5"/>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84861">
                <a:tc>
                  <a:txBody>
                    <a:bodyPr/>
                    <a:lstStyle/>
                    <a:p>
                      <a:pPr marL="0" indent="0">
                        <a:lnSpc>
                          <a:spcPts val="1960"/>
                        </a:lnSpc>
                        <a:buNone/>
                      </a:pPr>
                      <a:r>
                        <a:rPr lang="en-US" sz="1400" dirty="0">
                          <a:solidFill>
                            <a:srgbClr val="A33A1A"/>
                          </a:solidFill>
                          <a:latin typeface="Rubik" pitchFamily="34" charset="0"/>
                          <a:ea typeface="Rubik" pitchFamily="34" charset="-122"/>
                          <a:cs typeface="Rubik" pitchFamily="34" charset="-120"/>
                        </a:rPr>
                        <a:t>cout &lt;&lt; printStars(5);</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1F6B3A"/>
                          </a:solidFill>
                          <a:latin typeface="Rubik" pitchFamily="34" charset="0"/>
                          <a:ea typeface="Rubik" pitchFamily="34" charset="-122"/>
                          <a:cs typeface="Rubik" pitchFamily="34" charset="-120"/>
                        </a:rPr>
                        <a:t>printStars(5);</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 void function gives nothing to print</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BEC5"/>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384861">
                <a:tc>
                  <a:txBody>
                    <a:bodyPr/>
                    <a:lstStyle/>
                    <a:p>
                      <a:pPr marL="0" indent="0">
                        <a:lnSpc>
                          <a:spcPts val="1960"/>
                        </a:lnSpc>
                        <a:buNone/>
                      </a:pPr>
                      <a:r>
                        <a:rPr lang="en-US" sz="1400" dirty="0">
                          <a:solidFill>
                            <a:srgbClr val="A33A1A"/>
                          </a:solidFill>
                          <a:latin typeface="Rubik" pitchFamily="34" charset="0"/>
                          <a:ea typeface="Rubik" pitchFamily="34" charset="-122"/>
                          <a:cs typeface="Rubik" pitchFamily="34" charset="-120"/>
                        </a:rPr>
                        <a:t>square(5);</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1F6B3A"/>
                          </a:solidFill>
                          <a:latin typeface="Rubik" pitchFamily="34" charset="0"/>
                          <a:ea typeface="Rubik" pitchFamily="34" charset="-122"/>
                          <a:cs typeface="Rubik" pitchFamily="34" charset="-120"/>
                        </a:rPr>
                        <a:t>int s = square(5);</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The answer was thrown away</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2"/>
                  </a:ext>
                </a:extLst>
              </a:tr>
              <a:tr h="384861">
                <a:tc>
                  <a:txBody>
                    <a:bodyPr/>
                    <a:lstStyle/>
                    <a:p>
                      <a:pPr marL="0" indent="0">
                        <a:lnSpc>
                          <a:spcPts val="1960"/>
                        </a:lnSpc>
                        <a:buNone/>
                      </a:pPr>
                      <a:r>
                        <a:rPr lang="en-US" sz="1400" dirty="0">
                          <a:solidFill>
                            <a:srgbClr val="A33A1A"/>
                          </a:solidFill>
                          <a:latin typeface="Rubik" pitchFamily="34" charset="0"/>
                          <a:ea typeface="Rubik" pitchFamily="34" charset="-122"/>
                          <a:cs typeface="Rubik" pitchFamily="34" charset="-120"/>
                        </a:rPr>
                        <a:t>int square(int n) { n * n; }</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1F6B3A"/>
                          </a:solidFill>
                          <a:latin typeface="Rubik" pitchFamily="34" charset="0"/>
                          <a:ea typeface="Rubik" pitchFamily="34" charset="-122"/>
                          <a:cs typeface="Rubik" pitchFamily="34" charset="-120"/>
                        </a:rPr>
                        <a:t>{ return n * n; }</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Forgot return: no answer comes back</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r h="384861">
                <a:tc>
                  <a:txBody>
                    <a:bodyPr/>
                    <a:lstStyle/>
                    <a:p>
                      <a:pPr marL="0" indent="0">
                        <a:lnSpc>
                          <a:spcPts val="1960"/>
                        </a:lnSpc>
                        <a:buNone/>
                      </a:pPr>
                      <a:r>
                        <a:rPr lang="en-US" sz="1400" dirty="0">
                          <a:solidFill>
                            <a:srgbClr val="A33A1A"/>
                          </a:solidFill>
                          <a:latin typeface="Rubik" pitchFamily="34" charset="0"/>
                          <a:ea typeface="Rubik" pitchFamily="34" charset="-122"/>
                          <a:cs typeface="Rubik" pitchFamily="34" charset="-120"/>
                        </a:rPr>
                        <a:t>sayHello;</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1F6B3A"/>
                          </a:solidFill>
                          <a:latin typeface="Rubik" pitchFamily="34" charset="0"/>
                          <a:ea typeface="Rubik" pitchFamily="34" charset="-122"/>
                          <a:cs typeface="Rubik" pitchFamily="34" charset="-120"/>
                        </a:rPr>
                        <a:t>sayHello();</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A call always needs ( )</a:t>
                      </a:r>
                      <a:endParaRPr lang="en-US" sz="1400" dirty="0">
                        <a:latin typeface="Rubik" charset="0"/>
                        <a:ea typeface="Rubik" charset="0"/>
                        <a:cs typeface="Rubik" charset="0"/>
                      </a:endParaRPr>
                    </a:p>
                  </a:txBody>
                  <a:tcPr marL="62230" marR="62230" marT="62230" marB="62230">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extLst>
                  <a:ext uri="{0D108BD9-81ED-4DB2-BD59-A6C34878D82A}">
                    <a16:rowId xmlns:a16="http://schemas.microsoft.com/office/drawing/2014/main" val="10004"/>
                  </a:ext>
                </a:extLst>
              </a:tr>
              <a:tr h="633773">
                <a:tc>
                  <a:txBody>
                    <a:bodyPr/>
                    <a:lstStyle/>
                    <a:p>
                      <a:pPr marL="0" indent="0">
                        <a:lnSpc>
                          <a:spcPts val="1960"/>
                        </a:lnSpc>
                        <a:buNone/>
                      </a:pPr>
                      <a:r>
                        <a:rPr lang="en-US" sz="1400" dirty="0">
                          <a:solidFill>
                            <a:srgbClr val="A33A1A"/>
                          </a:solidFill>
                          <a:latin typeface="Rubik" pitchFamily="34" charset="0"/>
                          <a:ea typeface="Rubik" pitchFamily="34" charset="-122"/>
                          <a:cs typeface="Rubik" pitchFamily="34" charset="-120"/>
                        </a:rPr>
                        <a:t>void sayHello();</a:t>
                      </a:r>
                      <a:endParaRPr lang="en-US" sz="1400" dirty="0">
                        <a:latin typeface="Rubik" charset="0"/>
                        <a:ea typeface="Rubik" charset="0"/>
                        <a:cs typeface="Rubik" charset="0"/>
                      </a:endParaRPr>
                    </a:p>
                    <a:p>
                      <a:pPr marL="0" indent="0">
                        <a:lnSpc>
                          <a:spcPts val="1960"/>
                        </a:lnSpc>
                        <a:buNone/>
                      </a:pPr>
                      <a:r>
                        <a:rPr lang="en-US" sz="1400" dirty="0">
                          <a:solidFill>
                            <a:srgbClr val="A33A1A"/>
                          </a:solidFill>
                          <a:latin typeface="Rubik" pitchFamily="34" charset="0"/>
                          <a:ea typeface="Rubik" pitchFamily="34" charset="-122"/>
                          <a:cs typeface="Rubik" pitchFamily="34" charset="-120"/>
                        </a:rPr>
                        <a:t>{ … }</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1F6B3A"/>
                          </a:solidFill>
                          <a:latin typeface="Rubik" pitchFamily="34" charset="0"/>
                          <a:ea typeface="Rubik" pitchFamily="34" charset="-122"/>
                          <a:cs typeface="Rubik" pitchFamily="34" charset="-120"/>
                        </a:rPr>
                        <a:t>void sayHello()</a:t>
                      </a:r>
                      <a:endParaRPr lang="en-US" sz="1400" dirty="0">
                        <a:latin typeface="Rubik" charset="0"/>
                        <a:ea typeface="Rubik" charset="0"/>
                        <a:cs typeface="Rubik" charset="0"/>
                      </a:endParaRPr>
                    </a:p>
                    <a:p>
                      <a:pPr marL="0" indent="0">
                        <a:lnSpc>
                          <a:spcPts val="1960"/>
                        </a:lnSpc>
                        <a:buNone/>
                      </a:pPr>
                      <a:r>
                        <a:rPr lang="en-US" sz="1400" dirty="0">
                          <a:solidFill>
                            <a:srgbClr val="1F6B3A"/>
                          </a:solidFill>
                          <a:latin typeface="Rubik" pitchFamily="34" charset="0"/>
                          <a:ea typeface="Rubik" pitchFamily="34" charset="-122"/>
                          <a:cs typeface="Rubik" pitchFamily="34" charset="-120"/>
                        </a:rPr>
                        <a:t>{ … }</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1960"/>
                        </a:lnSpc>
                        <a:buNone/>
                      </a:pPr>
                      <a:r>
                        <a:rPr lang="en-US" sz="1400" dirty="0">
                          <a:solidFill>
                            <a:srgbClr val="3D4657"/>
                          </a:solidFill>
                          <a:latin typeface="Rubik" pitchFamily="34" charset="0"/>
                          <a:ea typeface="Rubik" pitchFamily="34" charset="-122"/>
                          <a:cs typeface="Rubik" pitchFamily="34" charset="-120"/>
                        </a:rPr>
                        <a:t>No semicolon after the header</a:t>
                      </a:r>
                      <a:endParaRPr lang="en-US" sz="1400" dirty="0">
                        <a:latin typeface="Rubik" charset="0"/>
                        <a:ea typeface="Rubik" charset="0"/>
                        <a:cs typeface="Rubik" charset="0"/>
                      </a:endParaRPr>
                    </a:p>
                  </a:txBody>
                  <a:tcPr marL="62230" marR="62230" marT="62230" marB="6223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E9D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4213D"/>
                </a:solidFill>
                <a:latin typeface="Rubik" pitchFamily="34" charset="0"/>
                <a:ea typeface="Rubik" pitchFamily="34" charset="-122"/>
                <a:cs typeface="Rubik" pitchFamily="34" charset="-120"/>
              </a:rPr>
              <a:t>QUICK CHECK · 4 MINUTES</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Answer in your notebook</a:t>
            </a:r>
            <a:endParaRPr lang="en-US" sz="3600" dirty="0"/>
          </a:p>
        </p:txBody>
      </p:sp>
      <p:sp>
        <p:nvSpPr>
          <p:cNvPr id="4" name="Shape 2"/>
          <p:cNvSpPr/>
          <p:nvPr/>
        </p:nvSpPr>
        <p:spPr>
          <a:xfrm>
            <a:off x="812800" y="1783060"/>
            <a:ext cx="5181600" cy="1333428"/>
          </a:xfrm>
          <a:prstGeom prst="roundRect">
            <a:avLst>
              <a:gd name="adj" fmla="val 9524"/>
            </a:avLst>
          </a:prstGeom>
          <a:solidFill>
            <a:srgbClr val="FBF8F1"/>
          </a:solidFill>
          <a:ln/>
        </p:spPr>
        <p:txBody>
          <a:bodyPr/>
          <a:lstStyle/>
          <a:p>
            <a:endParaRPr lang="en-US"/>
          </a:p>
        </p:txBody>
      </p:sp>
      <p:sp>
        <p:nvSpPr>
          <p:cNvPr id="5" name="Text 3"/>
          <p:cNvSpPr/>
          <p:nvPr/>
        </p:nvSpPr>
        <p:spPr>
          <a:xfrm>
            <a:off x="1041400" y="2011660"/>
            <a:ext cx="4866132"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1A"/>
                </a:solidFill>
                <a:latin typeface="Rubik" pitchFamily="34" charset="0"/>
                <a:ea typeface="Rubik" pitchFamily="34" charset="-122"/>
                <a:cs typeface="Rubik" pitchFamily="34" charset="-120"/>
              </a:rPr>
              <a:t>Q1</a:t>
            </a:r>
            <a:endParaRPr lang="en-US" sz="1300" dirty="0"/>
          </a:p>
        </p:txBody>
      </p:sp>
      <p:sp>
        <p:nvSpPr>
          <p:cNvPr id="6" name="Text 4"/>
          <p:cNvSpPr/>
          <p:nvPr/>
        </p:nvSpPr>
        <p:spPr>
          <a:xfrm>
            <a:off x="1041400" y="2318978"/>
            <a:ext cx="4866132" cy="30985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Is sqrt() predefined or user-defined?</a:t>
            </a:r>
            <a:endParaRPr lang="en-US" sz="1600" dirty="0"/>
          </a:p>
        </p:txBody>
      </p:sp>
      <p:sp>
        <p:nvSpPr>
          <p:cNvPr id="7" name="Shape 5"/>
          <p:cNvSpPr/>
          <p:nvPr/>
        </p:nvSpPr>
        <p:spPr>
          <a:xfrm>
            <a:off x="6197600" y="1783060"/>
            <a:ext cx="5181600" cy="1333428"/>
          </a:xfrm>
          <a:prstGeom prst="roundRect">
            <a:avLst>
              <a:gd name="adj" fmla="val 9524"/>
            </a:avLst>
          </a:prstGeom>
          <a:solidFill>
            <a:srgbClr val="FBF8F1"/>
          </a:solidFill>
          <a:ln/>
        </p:spPr>
        <p:txBody>
          <a:bodyPr/>
          <a:lstStyle/>
          <a:p>
            <a:endParaRPr lang="en-US"/>
          </a:p>
        </p:txBody>
      </p:sp>
      <p:sp>
        <p:nvSpPr>
          <p:cNvPr id="8" name="Text 6"/>
          <p:cNvSpPr/>
          <p:nvPr/>
        </p:nvSpPr>
        <p:spPr>
          <a:xfrm>
            <a:off x="6426200" y="2011660"/>
            <a:ext cx="4866132"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1A"/>
                </a:solidFill>
                <a:latin typeface="Rubik" pitchFamily="34" charset="0"/>
                <a:ea typeface="Rubik" pitchFamily="34" charset="-122"/>
                <a:cs typeface="Rubik" pitchFamily="34" charset="-120"/>
              </a:rPr>
              <a:t>Q2</a:t>
            </a:r>
            <a:endParaRPr lang="en-US" sz="1300" dirty="0"/>
          </a:p>
        </p:txBody>
      </p:sp>
      <p:sp>
        <p:nvSpPr>
          <p:cNvPr id="9" name="Text 7"/>
          <p:cNvSpPr/>
          <p:nvPr/>
        </p:nvSpPr>
        <p:spPr>
          <a:xfrm>
            <a:off x="6426200" y="2318978"/>
            <a:ext cx="4866132" cy="59430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What is the return type of a function that returns nothing?</a:t>
            </a:r>
            <a:endParaRPr lang="en-US" sz="1600" dirty="0"/>
          </a:p>
        </p:txBody>
      </p:sp>
      <p:sp>
        <p:nvSpPr>
          <p:cNvPr id="10" name="Shape 8"/>
          <p:cNvSpPr/>
          <p:nvPr/>
        </p:nvSpPr>
        <p:spPr>
          <a:xfrm>
            <a:off x="812800" y="3319686"/>
            <a:ext cx="5181600" cy="1333428"/>
          </a:xfrm>
          <a:prstGeom prst="roundRect">
            <a:avLst>
              <a:gd name="adj" fmla="val 9524"/>
            </a:avLst>
          </a:prstGeom>
          <a:solidFill>
            <a:srgbClr val="FBF8F1"/>
          </a:solidFill>
          <a:ln/>
        </p:spPr>
        <p:txBody>
          <a:bodyPr/>
          <a:lstStyle/>
          <a:p>
            <a:endParaRPr lang="en-US"/>
          </a:p>
        </p:txBody>
      </p:sp>
      <p:sp>
        <p:nvSpPr>
          <p:cNvPr id="11" name="Text 9"/>
          <p:cNvSpPr/>
          <p:nvPr/>
        </p:nvSpPr>
        <p:spPr>
          <a:xfrm>
            <a:off x="1041400" y="3548286"/>
            <a:ext cx="4866132"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1A"/>
                </a:solidFill>
                <a:latin typeface="Rubik" pitchFamily="34" charset="0"/>
                <a:ea typeface="Rubik" pitchFamily="34" charset="-122"/>
                <a:cs typeface="Rubik" pitchFamily="34" charset="-120"/>
              </a:rPr>
              <a:t>Q3</a:t>
            </a:r>
            <a:endParaRPr lang="en-US" sz="1300" dirty="0"/>
          </a:p>
        </p:txBody>
      </p:sp>
      <p:sp>
        <p:nvSpPr>
          <p:cNvPr id="12" name="Text 10"/>
          <p:cNvSpPr/>
          <p:nvPr/>
        </p:nvSpPr>
        <p:spPr>
          <a:xfrm>
            <a:off x="1041400" y="3855603"/>
            <a:ext cx="4866132" cy="59430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What does </a:t>
            </a:r>
            <a:r>
              <a:rPr lang="en-US" sz="1600" dirty="0">
                <a:solidFill>
                  <a:srgbClr val="2A6FB0"/>
                </a:solidFill>
                <a:latin typeface="Rubik" pitchFamily="34" charset="0"/>
                <a:ea typeface="Rubik" pitchFamily="34" charset="-122"/>
                <a:cs typeface="Rubik" pitchFamily="34" charset="-120"/>
              </a:rPr>
              <a:t>int cube(int n)</a:t>
            </a:r>
            <a:r>
              <a:rPr lang="en-US" sz="1600" dirty="0">
                <a:solidFill>
                  <a:srgbClr val="14213D"/>
                </a:solidFill>
                <a:latin typeface="Rubik" pitchFamily="34" charset="0"/>
                <a:ea typeface="Rubik" pitchFamily="34" charset="-122"/>
                <a:cs typeface="Rubik" pitchFamily="34" charset="-120"/>
              </a:rPr>
              <a:t> give back when called as cube(2)?</a:t>
            </a:r>
            <a:endParaRPr lang="en-US" sz="1600" dirty="0"/>
          </a:p>
        </p:txBody>
      </p:sp>
      <p:sp>
        <p:nvSpPr>
          <p:cNvPr id="13" name="Shape 11"/>
          <p:cNvSpPr/>
          <p:nvPr/>
        </p:nvSpPr>
        <p:spPr>
          <a:xfrm>
            <a:off x="6197600" y="3319686"/>
            <a:ext cx="5181600" cy="1333428"/>
          </a:xfrm>
          <a:prstGeom prst="roundRect">
            <a:avLst>
              <a:gd name="adj" fmla="val 9524"/>
            </a:avLst>
          </a:prstGeom>
          <a:solidFill>
            <a:srgbClr val="FBF8F1"/>
          </a:solidFill>
          <a:ln/>
        </p:spPr>
        <p:txBody>
          <a:bodyPr/>
          <a:lstStyle/>
          <a:p>
            <a:endParaRPr lang="en-US"/>
          </a:p>
        </p:txBody>
      </p:sp>
      <p:sp>
        <p:nvSpPr>
          <p:cNvPr id="14" name="Text 12"/>
          <p:cNvSpPr/>
          <p:nvPr/>
        </p:nvSpPr>
        <p:spPr>
          <a:xfrm>
            <a:off x="6426200" y="3548286"/>
            <a:ext cx="4866132"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1A"/>
                </a:solidFill>
                <a:latin typeface="Rubik" pitchFamily="34" charset="0"/>
                <a:ea typeface="Rubik" pitchFamily="34" charset="-122"/>
                <a:cs typeface="Rubik" pitchFamily="34" charset="-120"/>
              </a:rPr>
              <a:t>Q4</a:t>
            </a:r>
            <a:endParaRPr lang="en-US" sz="1300" dirty="0"/>
          </a:p>
        </p:txBody>
      </p:sp>
      <p:sp>
        <p:nvSpPr>
          <p:cNvPr id="15" name="Text 13"/>
          <p:cNvSpPr/>
          <p:nvPr/>
        </p:nvSpPr>
        <p:spPr>
          <a:xfrm>
            <a:off x="6426200" y="3855603"/>
            <a:ext cx="4866132" cy="59430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Rubik" pitchFamily="34" charset="0"/>
                <a:ea typeface="Rubik" pitchFamily="34" charset="-122"/>
                <a:cs typeface="Rubik" pitchFamily="34" charset="-120"/>
              </a:rPr>
              <a:t>Find the bug: </a:t>
            </a:r>
            <a:r>
              <a:rPr lang="en-US" sz="1600" dirty="0">
                <a:solidFill>
                  <a:srgbClr val="2A6FB0"/>
                </a:solidFill>
                <a:latin typeface="Rubik" pitchFamily="34" charset="0"/>
                <a:ea typeface="Rubik" pitchFamily="34" charset="-122"/>
                <a:cs typeface="Rubik" pitchFamily="34" charset="-120"/>
              </a:rPr>
              <a:t>cout &lt;&lt; printLine();</a:t>
            </a:r>
            <a:r>
              <a:rPr lang="en-US" sz="1600" dirty="0">
                <a:solidFill>
                  <a:srgbClr val="14213D"/>
                </a:solidFill>
                <a:latin typeface="Rubik" pitchFamily="34" charset="0"/>
                <a:ea typeface="Rubik" pitchFamily="34" charset="-122"/>
                <a:cs typeface="Rubik" pitchFamily="34" charset="-120"/>
              </a:rPr>
              <a:t> where printLine is void</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EEF7"/>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RECAP</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Today in one slide</a:t>
            </a:r>
            <a:endParaRPr lang="en-US" sz="3600" dirty="0"/>
          </a:p>
        </p:txBody>
      </p:sp>
      <p:sp>
        <p:nvSpPr>
          <p:cNvPr id="4" name="Text 2"/>
          <p:cNvSpPr/>
          <p:nvPr/>
        </p:nvSpPr>
        <p:spPr>
          <a:xfrm>
            <a:off x="812800" y="1783060"/>
            <a:ext cx="5194300" cy="914400"/>
          </a:xfrm>
          <a:prstGeom prst="roundRect">
            <a:avLst>
              <a:gd name="adj" fmla="val 11111"/>
            </a:avLst>
          </a:prstGeom>
          <a:solidFill>
            <a:srgbClr val="FFFFFF"/>
          </a:solidFill>
          <a:ln/>
        </p:spPr>
        <p:txBody>
          <a:bodyPr wrap="square" lIns="186142" tIns="160742" rIns="43267" bIns="135342"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1</a:t>
            </a:r>
            <a:r>
              <a:rPr lang="en-US" sz="1500" dirty="0">
                <a:solidFill>
                  <a:srgbClr val="14213D"/>
                </a:solidFill>
                <a:latin typeface="Rubik" pitchFamily="34" charset="0"/>
                <a:ea typeface="Rubik" pitchFamily="34" charset="-122"/>
                <a:cs typeface="Rubik" pitchFamily="34" charset="-120"/>
              </a:rPr>
              <a:t>  A function is a named block of code that does one job</a:t>
            </a:r>
            <a:endParaRPr lang="en-US" sz="1500" dirty="0"/>
          </a:p>
        </p:txBody>
      </p:sp>
      <p:sp>
        <p:nvSpPr>
          <p:cNvPr id="5" name="Text 3"/>
          <p:cNvSpPr/>
          <p:nvPr/>
        </p:nvSpPr>
        <p:spPr>
          <a:xfrm>
            <a:off x="6184900" y="1783060"/>
            <a:ext cx="5194300" cy="914400"/>
          </a:xfrm>
          <a:prstGeom prst="roundRect">
            <a:avLst>
              <a:gd name="adj" fmla="val 11111"/>
            </a:avLst>
          </a:prstGeom>
          <a:solidFill>
            <a:srgbClr val="FFFFFF"/>
          </a:solidFill>
          <a:ln/>
        </p:spPr>
        <p:txBody>
          <a:bodyPr wrap="square" lIns="186142" tIns="160742" rIns="43267" bIns="160742"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2</a:t>
            </a:r>
            <a:r>
              <a:rPr lang="en-US" sz="1500" dirty="0">
                <a:solidFill>
                  <a:srgbClr val="14213D"/>
                </a:solidFill>
                <a:latin typeface="Rubik" pitchFamily="34" charset="0"/>
                <a:ea typeface="Rubik" pitchFamily="34" charset="-122"/>
                <a:cs typeface="Rubik" pitchFamily="34" charset="-120"/>
              </a:rPr>
              <a:t>  Divide and conquer: big problem → small functions</a:t>
            </a:r>
            <a:endParaRPr lang="en-US" sz="1500" dirty="0"/>
          </a:p>
        </p:txBody>
      </p:sp>
      <p:sp>
        <p:nvSpPr>
          <p:cNvPr id="6" name="Text 4"/>
          <p:cNvSpPr/>
          <p:nvPr/>
        </p:nvSpPr>
        <p:spPr>
          <a:xfrm>
            <a:off x="812800" y="2875260"/>
            <a:ext cx="5194300" cy="914400"/>
          </a:xfrm>
          <a:prstGeom prst="roundRect">
            <a:avLst>
              <a:gd name="adj" fmla="val 11111"/>
            </a:avLst>
          </a:prstGeom>
          <a:solidFill>
            <a:srgbClr val="FFFFFF"/>
          </a:solidFill>
          <a:ln/>
        </p:spPr>
        <p:txBody>
          <a:bodyPr wrap="square" lIns="186142" tIns="160742" rIns="43267" bIns="160742"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3</a:t>
            </a:r>
            <a:r>
              <a:rPr lang="en-US" sz="1500" dirty="0">
                <a:solidFill>
                  <a:srgbClr val="14213D"/>
                </a:solidFill>
                <a:latin typeface="Rubik" pitchFamily="34" charset="0"/>
                <a:ea typeface="Rubik" pitchFamily="34" charset="-122"/>
                <a:cs typeface="Rubik" pitchFamily="34" charset="-120"/>
              </a:rPr>
              <a:t>  Reusability: write once, call many times</a:t>
            </a:r>
            <a:endParaRPr lang="en-US" sz="1500" dirty="0"/>
          </a:p>
        </p:txBody>
      </p:sp>
      <p:sp>
        <p:nvSpPr>
          <p:cNvPr id="7" name="Text 5"/>
          <p:cNvSpPr/>
          <p:nvPr/>
        </p:nvSpPr>
        <p:spPr>
          <a:xfrm>
            <a:off x="6184900" y="2875260"/>
            <a:ext cx="5194300" cy="914400"/>
          </a:xfrm>
          <a:prstGeom prst="roundRect">
            <a:avLst>
              <a:gd name="adj" fmla="val 11111"/>
            </a:avLst>
          </a:prstGeom>
          <a:solidFill>
            <a:srgbClr val="FFFFFF"/>
          </a:solidFill>
          <a:ln/>
        </p:spPr>
        <p:txBody>
          <a:bodyPr wrap="square" lIns="186142" tIns="160742" rIns="43267" bIns="135342"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4</a:t>
            </a:r>
            <a:r>
              <a:rPr lang="en-US" sz="1500" dirty="0">
                <a:solidFill>
                  <a:srgbClr val="14213D"/>
                </a:solidFill>
                <a:latin typeface="Rubik" pitchFamily="34" charset="0"/>
                <a:ea typeface="Rubik" pitchFamily="34" charset="-122"/>
                <a:cs typeface="Rubik" pitchFamily="34" charset="-120"/>
              </a:rPr>
              <a:t>  Predefined come from libraries; user-defined we write</a:t>
            </a:r>
            <a:endParaRPr lang="en-US" sz="1500" dirty="0"/>
          </a:p>
        </p:txBody>
      </p:sp>
      <p:sp>
        <p:nvSpPr>
          <p:cNvPr id="8" name="Text 6"/>
          <p:cNvSpPr/>
          <p:nvPr/>
        </p:nvSpPr>
        <p:spPr>
          <a:xfrm>
            <a:off x="812800" y="3967460"/>
            <a:ext cx="5194300" cy="914400"/>
          </a:xfrm>
          <a:prstGeom prst="roundRect">
            <a:avLst>
              <a:gd name="adj" fmla="val 11111"/>
            </a:avLst>
          </a:prstGeom>
          <a:solidFill>
            <a:srgbClr val="FFFFFF"/>
          </a:solidFill>
          <a:ln/>
        </p:spPr>
        <p:txBody>
          <a:bodyPr wrap="square" lIns="186142" tIns="160742" rIns="43267" bIns="135342"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5</a:t>
            </a:r>
            <a:r>
              <a:rPr lang="en-US" sz="1500" dirty="0">
                <a:solidFill>
                  <a:srgbClr val="14213D"/>
                </a:solidFill>
                <a:latin typeface="Rubik" pitchFamily="34" charset="0"/>
                <a:ea typeface="Rubik" pitchFamily="34" charset="-122"/>
                <a:cs typeface="Rubik" pitchFamily="34" charset="-120"/>
              </a:rPr>
              <a:t>  Value-returning gives one answer; void just does a job</a:t>
            </a:r>
            <a:endParaRPr lang="en-US" sz="1500" dirty="0"/>
          </a:p>
        </p:txBody>
      </p:sp>
      <p:sp>
        <p:nvSpPr>
          <p:cNvPr id="9" name="Text 7"/>
          <p:cNvSpPr/>
          <p:nvPr/>
        </p:nvSpPr>
        <p:spPr>
          <a:xfrm>
            <a:off x="6184900" y="3967460"/>
            <a:ext cx="5194300" cy="914400"/>
          </a:xfrm>
          <a:prstGeom prst="roundRect">
            <a:avLst>
              <a:gd name="adj" fmla="val 11111"/>
            </a:avLst>
          </a:prstGeom>
          <a:solidFill>
            <a:srgbClr val="FFFFFF"/>
          </a:solidFill>
          <a:ln/>
        </p:spPr>
        <p:txBody>
          <a:bodyPr wrap="square" lIns="186142" tIns="160742" rIns="43267" bIns="160742" rtlCol="0" anchor="t">
            <a:normAutofit/>
          </a:bodyPr>
          <a:lstStyle/>
          <a:p>
            <a:pPr marL="0" indent="0" algn="l">
              <a:lnSpc>
                <a:spcPts val="2100"/>
              </a:lnSpc>
              <a:buNone/>
            </a:pPr>
            <a:r>
              <a:rPr lang="en-US" sz="1500" dirty="0">
                <a:solidFill>
                  <a:srgbClr val="B4531A"/>
                </a:solidFill>
                <a:latin typeface="Rubik" pitchFamily="34" charset="0"/>
                <a:ea typeface="Rubik" pitchFamily="34" charset="-122"/>
                <a:cs typeface="Rubik" pitchFamily="34" charset="-120"/>
              </a:rPr>
              <a:t>6</a:t>
            </a:r>
            <a:r>
              <a:rPr lang="en-US" sz="1500" dirty="0">
                <a:solidFill>
                  <a:srgbClr val="14213D"/>
                </a:solidFill>
                <a:latin typeface="Rubik" pitchFamily="34" charset="0"/>
                <a:ea typeface="Rubik" pitchFamily="34" charset="-122"/>
                <a:cs typeface="Rubik" pitchFamily="34" charset="-120"/>
              </a:rPr>
              <a:t>  A call jumps into the function, then returns back</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8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3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Rubik" pitchFamily="34" charset="0"/>
                <a:ea typeface="Rubik" pitchFamily="34" charset="-122"/>
                <a:cs typeface="Rubik" pitchFamily="34" charset="-120"/>
              </a:rPr>
              <a:t>PRACTICE BEFORE NEXT CLASS</a:t>
            </a:r>
            <a:endParaRPr lang="en-US" sz="1200" dirty="0"/>
          </a:p>
        </p:txBody>
      </p:sp>
      <p:sp>
        <p:nvSpPr>
          <p:cNvPr id="3" name="Text 1"/>
          <p:cNvSpPr>
            <a:spLocks noGrp="1"/>
          </p:cNvSpPr>
          <p:nvPr>
            <p:ph type="title"/>
          </p:nvPr>
        </p:nvSpPr>
        <p:spPr>
          <a:xfrm>
            <a:off x="812800" y="1000745"/>
            <a:ext cx="10883392" cy="52831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Homework</a:t>
            </a:r>
            <a:endParaRPr lang="en-US" sz="3600" dirty="0"/>
          </a:p>
        </p:txBody>
      </p:sp>
      <p:sp>
        <p:nvSpPr>
          <p:cNvPr id="4" name="Text 2"/>
          <p:cNvSpPr/>
          <p:nvPr/>
        </p:nvSpPr>
        <p:spPr>
          <a:xfrm>
            <a:off x="812800" y="1732260"/>
            <a:ext cx="10566400" cy="546100"/>
          </a:xfrm>
          <a:prstGeom prst="roundRect">
            <a:avLst>
              <a:gd name="adj" fmla="val 13953"/>
            </a:avLst>
          </a:prstGeom>
          <a:solidFill>
            <a:srgbClr val="FFFFFF"/>
          </a:solidFill>
          <a:ln/>
        </p:spPr>
        <p:txBody>
          <a:bodyPr wrap="square" lIns="206282" tIns="117382" rIns="0" bIns="91982" rtlCol="0" anchor="t">
            <a:normAutofit/>
          </a:bodyPr>
          <a:lstStyle/>
          <a:p>
            <a:pPr marL="0" indent="0" algn="l">
              <a:lnSpc>
                <a:spcPts val="2100"/>
              </a:lnSpc>
              <a:buNone/>
            </a:pPr>
            <a:r>
              <a:rPr lang="en-US" sz="1500" b="1" dirty="0">
                <a:solidFill>
                  <a:srgbClr val="14213D"/>
                </a:solidFill>
                <a:latin typeface="Rubik" pitchFamily="34" charset="0"/>
                <a:ea typeface="Rubik" pitchFamily="34" charset="-122"/>
                <a:cs typeface="Rubik" pitchFamily="34" charset="-120"/>
              </a:rPr>
              <a:t>1.</a:t>
            </a:r>
            <a:r>
              <a:rPr lang="en-US" sz="1500" dirty="0">
                <a:solidFill>
                  <a:srgbClr val="14213D"/>
                </a:solidFill>
                <a:latin typeface="Rubik" pitchFamily="34" charset="0"/>
                <a:ea typeface="Rubik" pitchFamily="34" charset="-122"/>
                <a:cs typeface="Rubik" pitchFamily="34" charset="-120"/>
              </a:rPr>
              <a:t> Write </a:t>
            </a:r>
            <a:r>
              <a:rPr lang="en-US" sz="1500" dirty="0">
                <a:solidFill>
                  <a:srgbClr val="2A6FB0"/>
                </a:solidFill>
                <a:latin typeface="Rubik" pitchFamily="34" charset="0"/>
                <a:ea typeface="Rubik" pitchFamily="34" charset="-122"/>
                <a:cs typeface="Rubik" pitchFamily="34" charset="-120"/>
              </a:rPr>
              <a:t>void printBox()</a:t>
            </a:r>
            <a:r>
              <a:rPr lang="en-US" sz="1500" dirty="0">
                <a:solidFill>
                  <a:srgbClr val="14213D"/>
                </a:solidFill>
                <a:latin typeface="Rubik" pitchFamily="34" charset="0"/>
                <a:ea typeface="Rubik" pitchFamily="34" charset="-122"/>
                <a:cs typeface="Rubik" pitchFamily="34" charset="-120"/>
              </a:rPr>
              <a:t> that prints a 3 × 5 rectangle of # signs. Call it twice from main().</a:t>
            </a:r>
            <a:endParaRPr lang="en-US" sz="1500" dirty="0"/>
          </a:p>
        </p:txBody>
      </p:sp>
      <p:sp>
        <p:nvSpPr>
          <p:cNvPr id="5" name="Shape 3"/>
          <p:cNvSpPr/>
          <p:nvPr/>
        </p:nvSpPr>
        <p:spPr>
          <a:xfrm>
            <a:off x="812800" y="1732260"/>
            <a:ext cx="10566400" cy="546100"/>
          </a:xfrm>
          <a:custGeom>
            <a:avLst/>
            <a:gdLst/>
            <a:ahLst/>
            <a:cxnLst/>
            <a:rect l="l" t="t" r="r" b="b"/>
            <a:pathLst>
              <a:path w="10566400" h="546100">
                <a:moveTo>
                  <a:pt x="76200" y="546100"/>
                </a:moveTo>
                <a:lnTo>
                  <a:pt x="76200" y="546100"/>
                </a:lnTo>
                <a:arcTo wR="76200" hR="76200" stAng="5400000" swAng="5400000"/>
                <a:lnTo>
                  <a:pt x="0" y="76200"/>
                </a:lnTo>
                <a:arcTo wR="76200" hR="76200" stAng="10800000" swAng="5400000"/>
                <a:lnTo>
                  <a:pt x="76200" y="0"/>
                </a:lnTo>
                <a:arcTo wR="25400" hR="76200" stAng="16200000" swAng="-5400000"/>
                <a:lnTo>
                  <a:pt x="50800" y="469900"/>
                </a:lnTo>
                <a:arcTo wR="25400" hR="76200" stAng="10800000" swAng="-5400000"/>
                <a:close/>
              </a:path>
            </a:pathLst>
          </a:custGeom>
          <a:solidFill>
            <a:srgbClr val="E07A2E"/>
          </a:solidFill>
          <a:ln/>
        </p:spPr>
        <p:txBody>
          <a:bodyPr/>
          <a:lstStyle/>
          <a:p>
            <a:endParaRPr lang="en-US"/>
          </a:p>
        </p:txBody>
      </p:sp>
      <p:sp>
        <p:nvSpPr>
          <p:cNvPr id="6" name="Text 4"/>
          <p:cNvSpPr/>
          <p:nvPr/>
        </p:nvSpPr>
        <p:spPr>
          <a:xfrm>
            <a:off x="812800" y="2405360"/>
            <a:ext cx="10566400" cy="546100"/>
          </a:xfrm>
          <a:prstGeom prst="roundRect">
            <a:avLst>
              <a:gd name="adj" fmla="val 13953"/>
            </a:avLst>
          </a:prstGeom>
          <a:solidFill>
            <a:srgbClr val="FFFFFF"/>
          </a:solidFill>
          <a:ln/>
        </p:spPr>
        <p:txBody>
          <a:bodyPr wrap="square" lIns="206282" tIns="117382" rIns="0" bIns="91982" rtlCol="0" anchor="t">
            <a:normAutofit/>
          </a:bodyPr>
          <a:lstStyle/>
          <a:p>
            <a:pPr marL="0" indent="0" algn="l">
              <a:lnSpc>
                <a:spcPts val="2100"/>
              </a:lnSpc>
              <a:buNone/>
            </a:pPr>
            <a:r>
              <a:rPr lang="en-US" sz="1500" b="1" dirty="0">
                <a:solidFill>
                  <a:srgbClr val="14213D"/>
                </a:solidFill>
                <a:latin typeface="Rubik" pitchFamily="34" charset="0"/>
                <a:ea typeface="Rubik" pitchFamily="34" charset="-122"/>
                <a:cs typeface="Rubik" pitchFamily="34" charset="-120"/>
              </a:rPr>
              <a:t>2.</a:t>
            </a:r>
            <a:r>
              <a:rPr lang="en-US" sz="1500" dirty="0">
                <a:solidFill>
                  <a:srgbClr val="14213D"/>
                </a:solidFill>
                <a:latin typeface="Rubik" pitchFamily="34" charset="0"/>
                <a:ea typeface="Rubik" pitchFamily="34" charset="-122"/>
                <a:cs typeface="Rubik" pitchFamily="34" charset="-120"/>
              </a:rPr>
              <a:t> Write </a:t>
            </a:r>
            <a:r>
              <a:rPr lang="en-US" sz="1500" dirty="0">
                <a:solidFill>
                  <a:srgbClr val="2A6FB0"/>
                </a:solidFill>
                <a:latin typeface="Rubik" pitchFamily="34" charset="0"/>
                <a:ea typeface="Rubik" pitchFamily="34" charset="-122"/>
                <a:cs typeface="Rubik" pitchFamily="34" charset="-120"/>
              </a:rPr>
              <a:t>int cube(int n)</a:t>
            </a:r>
            <a:r>
              <a:rPr lang="en-US" sz="1500" dirty="0">
                <a:solidFill>
                  <a:srgbClr val="14213D"/>
                </a:solidFill>
                <a:latin typeface="Rubik" pitchFamily="34" charset="0"/>
                <a:ea typeface="Rubik" pitchFamily="34" charset="-122"/>
                <a:cs typeface="Rubik" pitchFamily="34" charset="-120"/>
              </a:rPr>
              <a:t> that returns n × n × n. Use a loop in main() to print the cubes of 1 to 5.</a:t>
            </a:r>
            <a:endParaRPr lang="en-US" sz="1500" dirty="0"/>
          </a:p>
        </p:txBody>
      </p:sp>
      <p:sp>
        <p:nvSpPr>
          <p:cNvPr id="7" name="Shape 5"/>
          <p:cNvSpPr/>
          <p:nvPr/>
        </p:nvSpPr>
        <p:spPr>
          <a:xfrm>
            <a:off x="812800" y="2405360"/>
            <a:ext cx="10566400" cy="546100"/>
          </a:xfrm>
          <a:custGeom>
            <a:avLst/>
            <a:gdLst/>
            <a:ahLst/>
            <a:cxnLst/>
            <a:rect l="l" t="t" r="r" b="b"/>
            <a:pathLst>
              <a:path w="10566400" h="546100">
                <a:moveTo>
                  <a:pt x="76200" y="546100"/>
                </a:moveTo>
                <a:lnTo>
                  <a:pt x="76200" y="546100"/>
                </a:lnTo>
                <a:arcTo wR="76200" hR="76200" stAng="5400000" swAng="5400000"/>
                <a:lnTo>
                  <a:pt x="0" y="76200"/>
                </a:lnTo>
                <a:arcTo wR="76200" hR="76200" stAng="10800000" swAng="5400000"/>
                <a:lnTo>
                  <a:pt x="76200" y="0"/>
                </a:lnTo>
                <a:arcTo wR="25400" hR="76200" stAng="16200000" swAng="-5400000"/>
                <a:lnTo>
                  <a:pt x="50800" y="469900"/>
                </a:lnTo>
                <a:arcTo wR="25400" hR="76200" stAng="10800000" swAng="-5400000"/>
                <a:close/>
              </a:path>
            </a:pathLst>
          </a:custGeom>
          <a:solidFill>
            <a:srgbClr val="E07A2E"/>
          </a:solidFill>
          <a:ln/>
        </p:spPr>
        <p:txBody>
          <a:bodyPr/>
          <a:lstStyle/>
          <a:p>
            <a:endParaRPr lang="en-US"/>
          </a:p>
        </p:txBody>
      </p:sp>
      <p:sp>
        <p:nvSpPr>
          <p:cNvPr id="8" name="Text 6"/>
          <p:cNvSpPr/>
          <p:nvPr/>
        </p:nvSpPr>
        <p:spPr>
          <a:xfrm>
            <a:off x="812800" y="3078460"/>
            <a:ext cx="10566400" cy="546100"/>
          </a:xfrm>
          <a:prstGeom prst="roundRect">
            <a:avLst>
              <a:gd name="adj" fmla="val 13953"/>
            </a:avLst>
          </a:prstGeom>
          <a:solidFill>
            <a:srgbClr val="FFFFFF"/>
          </a:solidFill>
          <a:ln/>
        </p:spPr>
        <p:txBody>
          <a:bodyPr wrap="square" lIns="206282" tIns="117382" rIns="0" bIns="91982" rtlCol="0" anchor="t">
            <a:normAutofit/>
          </a:bodyPr>
          <a:lstStyle/>
          <a:p>
            <a:pPr marL="0" indent="0" algn="l">
              <a:lnSpc>
                <a:spcPts val="2100"/>
              </a:lnSpc>
              <a:buNone/>
            </a:pPr>
            <a:r>
              <a:rPr lang="en-US" sz="1500" b="1" dirty="0">
                <a:solidFill>
                  <a:srgbClr val="14213D"/>
                </a:solidFill>
                <a:latin typeface="Rubik" pitchFamily="34" charset="0"/>
                <a:ea typeface="Rubik" pitchFamily="34" charset="-122"/>
                <a:cs typeface="Rubik" pitchFamily="34" charset="-120"/>
              </a:rPr>
              <a:t>3.</a:t>
            </a:r>
            <a:r>
              <a:rPr lang="en-US" sz="1500" dirty="0">
                <a:solidFill>
                  <a:srgbClr val="14213D"/>
                </a:solidFill>
                <a:latin typeface="Rubik" pitchFamily="34" charset="0"/>
                <a:ea typeface="Rubik" pitchFamily="34" charset="-122"/>
                <a:cs typeface="Rubik" pitchFamily="34" charset="-120"/>
              </a:rPr>
              <a:t> Write </a:t>
            </a:r>
            <a:r>
              <a:rPr lang="en-US" sz="1500" dirty="0">
                <a:solidFill>
                  <a:srgbClr val="2A6FB0"/>
                </a:solidFill>
                <a:latin typeface="Rubik" pitchFamily="34" charset="0"/>
                <a:ea typeface="Rubik" pitchFamily="34" charset="-122"/>
                <a:cs typeface="Rubik" pitchFamily="34" charset="-120"/>
              </a:rPr>
              <a:t>double average(int a, int b, int c)</a:t>
            </a:r>
            <a:r>
              <a:rPr lang="en-US" sz="1500" dirty="0">
                <a:solidFill>
                  <a:srgbClr val="14213D"/>
                </a:solidFill>
                <a:latin typeface="Rubik" pitchFamily="34" charset="0"/>
                <a:ea typeface="Rubik" pitchFamily="34" charset="-122"/>
                <a:cs typeface="Rubik" pitchFamily="34" charset="-120"/>
              </a:rPr>
              <a:t>. Read 3 numbers in main() and print their average.</a:t>
            </a:r>
            <a:endParaRPr lang="en-US" sz="1500" dirty="0"/>
          </a:p>
        </p:txBody>
      </p:sp>
      <p:sp>
        <p:nvSpPr>
          <p:cNvPr id="9" name="Shape 7"/>
          <p:cNvSpPr/>
          <p:nvPr/>
        </p:nvSpPr>
        <p:spPr>
          <a:xfrm>
            <a:off x="812800" y="3078460"/>
            <a:ext cx="10566400" cy="546100"/>
          </a:xfrm>
          <a:custGeom>
            <a:avLst/>
            <a:gdLst/>
            <a:ahLst/>
            <a:cxnLst/>
            <a:rect l="l" t="t" r="r" b="b"/>
            <a:pathLst>
              <a:path w="10566400" h="546100">
                <a:moveTo>
                  <a:pt x="76200" y="546100"/>
                </a:moveTo>
                <a:lnTo>
                  <a:pt x="76200" y="546100"/>
                </a:lnTo>
                <a:arcTo wR="76200" hR="76200" stAng="5400000" swAng="5400000"/>
                <a:lnTo>
                  <a:pt x="0" y="76200"/>
                </a:lnTo>
                <a:arcTo wR="76200" hR="76200" stAng="10800000" swAng="5400000"/>
                <a:lnTo>
                  <a:pt x="76200" y="0"/>
                </a:lnTo>
                <a:arcTo wR="25400" hR="76200" stAng="16200000" swAng="-5400000"/>
                <a:lnTo>
                  <a:pt x="50800" y="469900"/>
                </a:lnTo>
                <a:arcTo wR="25400" hR="76200" stAng="10800000" swAng="-5400000"/>
                <a:close/>
              </a:path>
            </a:pathLst>
          </a:custGeom>
          <a:solidFill>
            <a:srgbClr val="E07A2E"/>
          </a:solidFill>
          <a:ln/>
        </p:spPr>
        <p:txBody>
          <a:bodyPr/>
          <a:lstStyle/>
          <a:p>
            <a:endParaRPr lang="en-US"/>
          </a:p>
        </p:txBody>
      </p:sp>
      <p:sp>
        <p:nvSpPr>
          <p:cNvPr id="10" name="Text 8"/>
          <p:cNvSpPr/>
          <p:nvPr/>
        </p:nvSpPr>
        <p:spPr>
          <a:xfrm>
            <a:off x="812800" y="3751560"/>
            <a:ext cx="10566400" cy="812800"/>
          </a:xfrm>
          <a:prstGeom prst="roundRect">
            <a:avLst>
              <a:gd name="adj" fmla="val 9375"/>
            </a:avLst>
          </a:prstGeom>
          <a:solidFill>
            <a:srgbClr val="E8EEF7"/>
          </a:solidFill>
          <a:ln/>
        </p:spPr>
        <p:txBody>
          <a:bodyPr wrap="square" lIns="155482" tIns="117382" rIns="0" bIns="91982" rtlCol="0" anchor="t">
            <a:normAutofit/>
          </a:bodyPr>
          <a:lstStyle/>
          <a:p>
            <a:pPr marL="0" indent="0" algn="l">
              <a:lnSpc>
                <a:spcPts val="2100"/>
              </a:lnSpc>
              <a:buNone/>
            </a:pPr>
            <a:r>
              <a:rPr lang="en-US" sz="1500" b="1" dirty="0">
                <a:solidFill>
                  <a:srgbClr val="B4531A"/>
                </a:solidFill>
                <a:latin typeface="Rubik" pitchFamily="34" charset="0"/>
                <a:ea typeface="Rubik" pitchFamily="34" charset="-122"/>
                <a:cs typeface="Rubik" pitchFamily="34" charset="-120"/>
              </a:rPr>
              <a:t>4. Experiment:</a:t>
            </a:r>
            <a:r>
              <a:rPr lang="en-US" sz="1500" dirty="0">
                <a:solidFill>
                  <a:srgbClr val="14213D"/>
                </a:solidFill>
                <a:latin typeface="Rubik" pitchFamily="34" charset="0"/>
                <a:ea typeface="Rubik" pitchFamily="34" charset="-122"/>
                <a:cs typeface="Rubik" pitchFamily="34" charset="-120"/>
              </a:rPr>
              <a:t> move any of your functions </a:t>
            </a:r>
            <a:r>
              <a:rPr lang="en-US" sz="1500" b="1" dirty="0">
                <a:solidFill>
                  <a:srgbClr val="14213D"/>
                </a:solidFill>
                <a:latin typeface="Rubik" pitchFamily="34" charset="0"/>
                <a:ea typeface="Rubik" pitchFamily="34" charset="-122"/>
                <a:cs typeface="Rubik" pitchFamily="34" charset="-120"/>
              </a:rPr>
              <a:t>below</a:t>
            </a:r>
            <a:r>
              <a:rPr lang="en-US" sz="1500" dirty="0">
                <a:solidFill>
                  <a:srgbClr val="14213D"/>
                </a:solidFill>
                <a:latin typeface="Rubik" pitchFamily="34" charset="0"/>
                <a:ea typeface="Rubik" pitchFamily="34" charset="-122"/>
                <a:cs typeface="Rubik" pitchFamily="34" charset="-120"/>
              </a:rPr>
              <a:t> main() and compile. Write down the error you get. We solve it first thing next class.</a:t>
            </a:r>
            <a:endParaRPr lang="en-US" sz="1500" dirty="0"/>
          </a:p>
        </p:txBody>
      </p:sp>
    </p:spTree>
  </p:cSld>
  <p:clrMapOvr>
    <a:masterClrMapping/>
  </p:clrMapOvr>
</p:sld>
</file>

<file path=ppt/theme/theme1.xml><?xml version="1.0" encoding="utf-8"?>
<a:theme xmlns:a="http://schemas.openxmlformats.org/drawingml/2006/main" name="Functions in C++ — Lecture 1">
  <a:themeElements>
    <a:clrScheme name="Functions in C++ — Lecture 1">
      <a:dk1>
        <a:srgbClr val="14213D"/>
      </a:dk1>
      <a:lt1>
        <a:srgbClr val="FBF8F1"/>
      </a:lt1>
      <a:dk2>
        <a:srgbClr val="4E576A"/>
      </a:dk2>
      <a:lt2>
        <a:srgbClr val="E4E3DF"/>
      </a:lt2>
      <a:accent1>
        <a:srgbClr val="B4531A"/>
      </a:accent1>
      <a:accent2>
        <a:srgbClr val="E07A2E"/>
      </a:accent2>
      <a:accent3>
        <a:srgbClr val="2A6FB0"/>
      </a:accent3>
      <a:accent4>
        <a:srgbClr val="1F6B3A"/>
      </a:accent4>
      <a:accent5>
        <a:srgbClr val="3D4657"/>
      </a:accent5>
      <a:accent6>
        <a:srgbClr val="FCE9D8"/>
      </a:accent6>
      <a:hlink>
        <a:srgbClr val="0563C1"/>
      </a:hlink>
      <a:folHlink>
        <a:srgbClr val="954F72"/>
      </a:folHlink>
    </a:clrScheme>
    <a:fontScheme name="Functions in C++ — Lecture 1">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4563</Words>
  <Application>Microsoft Office PowerPoint</Application>
  <PresentationFormat>Widescreen</PresentationFormat>
  <Paragraphs>484</Paragraphs>
  <Slides>27</Slides>
  <Notes>27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JetBrains Mono</vt:lpstr>
      <vt:lpstr>Rubik</vt:lpstr>
      <vt:lpstr>Functions in C++ — Lecture 1</vt:lpstr>
      <vt:lpstr>Functions: breaking big problems into small pieces</vt:lpstr>
      <vt:lpstr>Six steps</vt:lpstr>
      <vt:lpstr>Write a program that prints this</vt:lpstr>
      <vt:lpstr>What most of us write</vt:lpstr>
      <vt:lpstr>Think of a restaurant kitchen</vt:lpstr>
      <vt:lpstr>A function is a named block of code that does one specific job. Write it once, run it whenever you call its name.</vt:lpstr>
      <vt:lpstr>Why do we need functions?</vt:lpstr>
      <vt:lpstr>Split one big problem into small ones</vt:lpstr>
      <vt:lpstr>Write once, call many times</vt:lpstr>
      <vt:lpstr>Predefined vs user-defined functions</vt:lpstr>
      <vt:lpstr>Some you will use all the time</vt:lpstr>
      <vt:lpstr>Using predefined functions</vt:lpstr>
      <vt:lpstr>Our very first function</vt:lpstr>
      <vt:lpstr>The four parts of every function</vt:lpstr>
      <vt:lpstr>What does the function hand back?</vt:lpstr>
      <vt:lpstr>What does the function need?</vt:lpstr>
      <vt:lpstr>How a value goes in and an answer comes out</vt:lpstr>
      <vt:lpstr>Design any function with 3 questions</vt:lpstr>
      <vt:lpstr>Watch what happens in memory</vt:lpstr>
      <vt:lpstr>Variables are born and destroyed</vt:lpstr>
      <vt:lpstr>Value-returning vs void</vt:lpstr>
      <vt:lpstr>It hands an answer back</vt:lpstr>
      <vt:lpstr>It does a job and gives nothing back</vt:lpstr>
      <vt:lpstr>Common beginner mistakes</vt:lpstr>
      <vt:lpstr>Answer in your notebook</vt:lpstr>
      <vt:lpstr>Today in one slide</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in C++ — Lecture 1</dc:title>
  <dc:subject/>
  <dc:creator/>
  <cp:lastModifiedBy>Fareeha Iqbal</cp:lastModifiedBy>
  <cp:revision>5</cp:revision>
  <dcterms:created xsi:type="dcterms:W3CDTF">2026-10-18T17:17:14Z</dcterms:created>
  <dcterms:modified xsi:type="dcterms:W3CDTF">2026-10-19T03:20:08Z</dcterms:modified>
</cp:coreProperties>
</file>