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68" r:id="rId30"/>
    <p:sldId id="269" r:id="rId31"/>
    <p:sldId id="270" r:id="rId32"/>
    <p:sldId id="271" r:id="rId33"/>
    <p:sldId id="272" r:id="rId34"/>
    <p:sldId id="292" r:id="rId35"/>
    <p:sldId id="293" r:id="rId36"/>
    <p:sldId id="273" r:id="rId37"/>
    <p:sldId id="274" r:id="rId38"/>
    <p:sldId id="275"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E80023-57E8-4987-85B5-163EDF0C4CCD}" v="1" dt="2026-10-12T13:36:26.6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87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reeha Iqbal" userId="92ee55c5-ebe1-4b24-a80b-44c3fa312313" providerId="ADAL" clId="{DAD66C0D-2CAE-4C5E-8BCE-C526EB98D19E}"/>
    <pc:docChg chg="undo custSel modSld">
      <pc:chgData name="Fareeha Iqbal" userId="92ee55c5-ebe1-4b24-a80b-44c3fa312313" providerId="ADAL" clId="{DAD66C0D-2CAE-4C5E-8BCE-C526EB98D19E}" dt="2026-10-12T13:37:03.515" v="77" actId="20577"/>
      <pc:docMkLst>
        <pc:docMk/>
      </pc:docMkLst>
      <pc:sldChg chg="modSp mod">
        <pc:chgData name="Fareeha Iqbal" userId="92ee55c5-ebe1-4b24-a80b-44c3fa312313" providerId="ADAL" clId="{DAD66C0D-2CAE-4C5E-8BCE-C526EB98D19E}" dt="2026-10-12T13:37:03.515" v="77" actId="20577"/>
        <pc:sldMkLst>
          <pc:docMk/>
          <pc:sldMk cId="0" sldId="260"/>
        </pc:sldMkLst>
        <pc:spChg chg="mod">
          <ac:chgData name="Fareeha Iqbal" userId="92ee55c5-ebe1-4b24-a80b-44c3fa312313" providerId="ADAL" clId="{DAD66C0D-2CAE-4C5E-8BCE-C526EB98D19E}" dt="2026-10-12T13:35:58.263" v="54" actId="20577"/>
          <ac:spMkLst>
            <pc:docMk/>
            <pc:sldMk cId="0" sldId="260"/>
            <ac:spMk id="7" creationId="{00000000-0000-0000-0000-000000000000}"/>
          </ac:spMkLst>
        </pc:spChg>
        <pc:spChg chg="mod">
          <ac:chgData name="Fareeha Iqbal" userId="92ee55c5-ebe1-4b24-a80b-44c3fa312313" providerId="ADAL" clId="{DAD66C0D-2CAE-4C5E-8BCE-C526EB98D19E}" dt="2026-10-12T13:37:03.515" v="77" actId="20577"/>
          <ac:spMkLst>
            <pc:docMk/>
            <pc:sldMk cId="0" sldId="260"/>
            <ac:spMk id="8" creationId="{00000000-0000-0000-0000-000000000000}"/>
          </ac:spMkLst>
        </pc:spChg>
      </pc:sldChg>
      <pc:sldChg chg="modSp mod">
        <pc:chgData name="Fareeha Iqbal" userId="92ee55c5-ebe1-4b24-a80b-44c3fa312313" providerId="ADAL" clId="{DAD66C0D-2CAE-4C5E-8BCE-C526EB98D19E}" dt="2026-10-12T13:36:27.111" v="55" actId="27636"/>
        <pc:sldMkLst>
          <pc:docMk/>
          <pc:sldMk cId="0" sldId="265"/>
        </pc:sldMkLst>
        <pc:spChg chg="mod">
          <ac:chgData name="Fareeha Iqbal" userId="92ee55c5-ebe1-4b24-a80b-44c3fa312313" providerId="ADAL" clId="{DAD66C0D-2CAE-4C5E-8BCE-C526EB98D19E}" dt="2026-10-12T13:36:27.111" v="55" actId="27636"/>
          <ac:spMkLst>
            <pc:docMk/>
            <pc:sldMk cId="0" sldId="265"/>
            <ac:spMk id="13" creationId="{00000000-0000-0000-0000-000000000000}"/>
          </ac:spMkLst>
        </pc:spChg>
      </pc:sldChg>
      <pc:sldChg chg="modSp mod">
        <pc:chgData name="Fareeha Iqbal" userId="92ee55c5-ebe1-4b24-a80b-44c3fa312313" providerId="ADAL" clId="{DAD66C0D-2CAE-4C5E-8BCE-C526EB98D19E}" dt="2026-10-12T13:36:27.904" v="56" actId="27636"/>
        <pc:sldMkLst>
          <pc:docMk/>
          <pc:sldMk cId="0" sldId="274"/>
        </pc:sldMkLst>
        <pc:spChg chg="mod">
          <ac:chgData name="Fareeha Iqbal" userId="92ee55c5-ebe1-4b24-a80b-44c3fa312313" providerId="ADAL" clId="{DAD66C0D-2CAE-4C5E-8BCE-C526EB98D19E}" dt="2026-10-12T13:36:27.904" v="56" actId="27636"/>
          <ac:spMkLst>
            <pc:docMk/>
            <pc:sldMk cId="0" sldId="274"/>
            <ac:spMk id="1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9835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Part 1 read files with one clean number per line. Real files are messier: commas, dates, letters mixed with numbers, and sometimes junk. Today we learn to read all of them, and to notice when something goes wrong.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Keep the four steps on the board for the whole class. The key rule for today: &gt;&gt; first skips any whitespace, then reads characters only as long as they fit the type. An int stops at the first character that is not a digit. That single rule explains every format on the next slides.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Show all three files side by side and ask students to predict the output before revealing that all three give the same array. The layout of the file does not matter, because &gt;&gt; treats spaces and new lines the same way. For decimals the type matters: an int reads 3 and stops at the dot, and the next int read fails on .5.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the map for the lecture. Each row gets its own slide. The | symbol in the samples means a new line in the file. Ask students which of these they have seen in real life: CSV exports from Excel, dates, attendance sheets with roll numbers and grades.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Walk through the first two reads slowly: 85 is read, the stream stops in front of the comma, and the comma is read into the char variable and simply never used. This is the most important trick of the lecture: whatever sits between the values, read it into a char. The next slide answers the obvious question: what happens after 88, where there is no comma? Two ways to get past the comma: read it into a char with inFile &gt;&gt; comma, or skip it with inFile.ignore(1, ','), which throws away one character. Both print count = 5. One difference: &gt;&gt; comma first skips spaces, but ignore(1, ',') skips exactly one character, so a file like 85 ,90 (space before the comma) only works with the char version.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 good analogy: a failed read is a red light that stays on. Once the comma read fails at the end of the file, every read after it fails too, including the one in the while condition. The last number got through just before the light turned red. Notepad often adds a new line at the end: the comma read skips it as whitespace, then fails in the same way.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t>Three formats, one idea. For the sum file, students then use if or switch on op to decide whether to add or multiply: a nice mini-calculator exercise. Point out that 09 is read as the number 9: leading zeros are not kept. Each separator can also be skipped with ignore(1, symbol) instead of reading it into a char. Both give the same values. The sum cannot use ignore: the program needs to know whether it is + or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type of each variable decides how much &gt;&gt; reads: an int reads digits, a char reads exactly one character. That is why 5A7 with no spaces still splits correctly into 5, A and 7. Parallel arrays: roll[1], grade[1] and marks[1] all belong to the same student.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 char array works with &gt;&gt; just like an int: it reads one word. That is fine for single names, but a full name like Ali Khan has a space in it, so &gt;&gt; reads only Ali, and then tries to read Khan as the marks. The next slide shows how to read names with spaces.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This is the hardest format of the lecture, so treat it as a bonus if time is short. getline with a third argument reads until that character instead of until the end of the line, and it keeps the spaces. After &gt;&gt; reads the marks, the new line is still waiting in the file, so ignore throws it away before the next getline.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Two ways a file can tell you how much data it holds. With a count, read n first, then loop exactly n times; a careful program also checks n against the array size. With a sentinel, a value that can never be real data, like -1 for marks, marks the end. Compare both with the safe while loop from Part 1, which simply reads until the file ends.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ignore(100, '\n') throws away up to 100 characters or until the end of the line, whichever comes first. Files exported from Excel often have a header row like this. The grid example only makes sense if 2D arrays have been taught; otherwise skip the right half.</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This section repeats every format from the lecture as a complete, runnable program. Each slide shows the data file on the left, the full program on the right, and the output it prints. All programs were compiled and run; the outputs shown are real. Students can type the program, create the .txt file in the same folder, and check they get the same output.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Format 1: Numbers only. Save the data as marks.txt in the same folder as the program, then run it. Spaces or new lines: &gt;&gt; skips both, so the layout of the file does not matter. Ask students to predict the output before showing 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Format 2: Decimal numbers. Save the data as prices.txt in the same folder as the program, then run it. Read into a double. An int would read 3 and then get stuck at .5 Ask students to predict the output before showing 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Format 3: Comma-separated numbers. Save the data as marks.txt in the same folder as the program, then run it. Read the comma into a char and ignore it. Works the same for ; or | Ask students to predict the output before showing 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Format 4: Dates. Save the data as dates.txt in the same folder as the program, then run it. int, char, int, char, int. Leading zeros are lost: 05 is read as 5. Ask students to predict the output before showing 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Format 5: Times. Save the data as times.txt in the same folder as the program, then run it. Same trick as dates: the : goes into a char. Ask students to predict the output before showing 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Format 6: Expressions. Save the data as sums.txt in the same folder as the program, then run it. Number, char, number. The char op decides what to do. Ask students to predict the output before showing 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Format 7: Number, letter, number. Save the data as results.txt in the same folder as the program, then run it. Parallel arrays: the same index belongs to the same student. Ask students to predict the output before showing 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Format 8: Letters only. Save the data as grades.txt in the same folder as the program, then run it. Read one char at a time. &gt;&gt; skips the spaces, so C A B works too. Ask students to predict the output before showing 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Format 9: One-word name + number. Save the data as students.txt in the same folder as the program, then run it. &gt;&gt; into a char array reads one word. Needs #include &lt;cstring&gt; for strcpy. Ask students to predict the output before showing 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Format 10: Full names with spaces. Save the data as students.txt in the same folder as the program, then run it. getline(name, 30, ',') reads up to the comma, spaces included. Ask students to predict the output before showing 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Format 11: Count on the first line. Save the data as data.txt in the same folder as the program, then run it. Read n first, then loop exactly n times. Check n against the array size. Ask students to predict the output before showing 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Format 12: Sentinel value at the end. Save the data as marks.txt in the same folder as the program, then run it. -1 marks the end. 55 after it is never read. Ask students to predict the output before showing 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Format 13: Header line. Save the data as results.txt in the same folder as the program, then run it. Without ignore(), &gt;&gt; fails on the word Roll and nothing is read. Ask students to predict the output before showing 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Format 14: Grid into a 2D array. Save the data as grid.txt in the same folder as the program, then run it. Rows and columns come first, then nested loops fill m[i][j]. Ask students to predict the output before showing 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r>
              <a:t>Format 15: Numbers mixed with junk. Save the data as readings.txt in the same folder as the program, then run it. Each pass asks: number, end of file, or junk? clear() then skip the junk. Ask students to predict the output before showing it.</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So far every file was perfect. Real files are not: someone types abc instead of a number, or the file is empty. The rest of the lecture is about noticing these problems instead of silently reading garbage.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After the loop, ask the stream why it stopped. eof() means it ran out of file: a normal ending. fail() without eof() means it hit something that was not a number. Order matters because a normal end of file also sets the fail flag, since the last read attempt failed. Notice the 10 abc 30 row: the 30 is never read, because the loop stops at the first problem.</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Both files leave count at 0, but they are different problems and deserve different messages. For abc 10 20 the message says "Bad data after 0 numbers", which tells the student exactly where to look: right at the start of the file.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Trace the first row with the class: the first read sees abc and fails, eof is false, so the else branch clears the stream, reads abc into junk and counts it. Then 10 and 20 are read normally, and the next read hits the end of the file, so the loop breaks. The position of the junk does not matter.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For a beginner class, char junk[50] is fine as long as you mention its limit. ignore(100, ' ') is the safer version: it discards up to 100 characters or until a space, and never writes into an array. The abc12 case only happens when junk and a number are joined with no space.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Limit 1: an array of 50 chars holds 49 letters plus the end mark. &gt;&gt; does not know the size, so a longer word writes past the end. This is undefined behaviour: here it crashed with "stack smashing detected"; Visual Studio Debug builds stop with Run-Time Check Failure #2, stack around the variable junk was corrupted. Limit 2: &gt;&gt; into a char array reads a whole word, so in abc12 the digits are swallowed with the letters. 12abc works because the int read comes first.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The only change from slide 32 is inside the junk branch: inFile.ignore(1) throws away one character, and the loop tries to read a number again. For abc12 it skips a, b and c, then reads 12. Nothing is stored, so a 60-letter junk word cannot overflow anything: with that file this program printed Kept: 7 and Skipped characters: 60. All outputs on this slide come from running the program. ignore(100, ' ') is also safe for long junk, but like &gt;&gt; junk it throws away 12 in abc12.</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The red light analogy again: clear() turns the light green, but the car is still in front of the same obstacle. You must also move past it: seekg(0) goes back to the top, and reading the junk into a char array moves past the bad word. For beginners, closing and reopening the file is the easiest way to read it a second time.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Task 1 checks separators and parallel arrays: inFile &gt;&gt; roll[n] &gt;&gt; c &gt;&gt; grade[n] &gt;&gt; c &gt;&gt; marks[n]. Task 2 checks the skip loop and the bad counter: the average of 31 34 29 36 is 32.5, with 1 item skipped. Task 3 checks date parsing plus the empty-file test with eof().</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One slide to keep: the left table covers every format from today, the right one every stream check. The | symbol means a new line in the file.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92452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000000"/>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676301"/>
            <a:ext cx="10566400" cy="4368899"/>
          </a:xfrm>
          <a:prstGeom prst="rect">
            <a:avLst/>
          </a:prstGeom>
          <a:noFill/>
          <a:ln/>
        </p:spPr>
        <p:txBody>
          <a:bodyPr wrap="square" lIns="0" tIns="0" rIns="0" bIns="0" rtlCol="0" anchor="t"/>
          <a:lstStyle>
            <a:lvl1pPr marL="0" indent="0" algn="l">
              <a:lnSpc>
                <a:spcPct val="140000"/>
              </a:lnSpc>
              <a:buNone/>
              <a:defRPr lang="en-US" sz="1600" dirty="0">
                <a:solidFill>
                  <a:srgbClr val="000000"/>
                </a:solidFill>
                <a:latin typeface="Carlito" pitchFamily="34" charset="0"/>
                <a:ea typeface="Carlito" pitchFamily="34" charset="-122"/>
                <a:cs typeface="Carlit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924520"/>
            <a:ext cx="10566400" cy="446980"/>
          </a:xfrm>
          <a:prstGeom prst="rect">
            <a:avLst/>
          </a:prstGeom>
          <a:noFill/>
          <a:ln/>
        </p:spPr>
        <p:txBody>
          <a:bodyPr wrap="square" lIns="0" tIns="0" rIns="0" bIns="0" rtlCol="0" anchor="t"/>
          <a:lstStyle>
            <a:lvl1pPr marL="0" indent="0" algn="l">
              <a:lnSpc>
                <a:spcPct val="115000"/>
              </a:lnSpc>
              <a:buNone/>
              <a:defRPr lang="en-US" sz="3200" dirty="0">
                <a:solidFill>
                  <a:srgbClr val="000000"/>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676301"/>
            <a:ext cx="10566400" cy="4368899"/>
          </a:xfrm>
          <a:prstGeom prst="rect">
            <a:avLst/>
          </a:prstGeom>
          <a:noFill/>
          <a:ln/>
        </p:spPr>
        <p:txBody>
          <a:bodyPr wrap="square" lIns="0" tIns="0" rIns="0" bIns="0" rtlCol="0" anchor="t"/>
          <a:lstStyle>
            <a:lvl1pPr marL="0" indent="0" algn="l">
              <a:lnSpc>
                <a:spcPct val="140000"/>
              </a:lnSpc>
              <a:buNone/>
              <a:defRPr lang="en-US" sz="1600" dirty="0">
                <a:solidFill>
                  <a:srgbClr val="000000"/>
                </a:solidFill>
                <a:latin typeface="Carlito" pitchFamily="34" charset="0"/>
                <a:ea typeface="Carlito" pitchFamily="34" charset="-122"/>
                <a:cs typeface="Carlit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2183209"/>
            <a:ext cx="6592824" cy="274241"/>
          </a:xfrm>
          <a:prstGeom prst="rect">
            <a:avLst/>
          </a:prstGeom>
          <a:noFill/>
          <a:ln/>
        </p:spPr>
        <p:txBody>
          <a:bodyPr wrap="square" lIns="0" tIns="0" rIns="0" bIns="0" rtlCol="0" anchor="t">
            <a:normAutofit/>
          </a:bodyPr>
          <a:lstStyle/>
          <a:p>
            <a:pPr marL="0" indent="0" algn="l">
              <a:lnSpc>
                <a:spcPts val="1960"/>
              </a:lnSpc>
              <a:buNone/>
            </a:pPr>
            <a:r>
              <a:rPr lang="en-US" sz="1400" b="1" kern="0" spc="150" dirty="0">
                <a:solidFill>
                  <a:srgbClr val="000000"/>
                </a:solidFill>
                <a:latin typeface="Carlito" pitchFamily="34" charset="0"/>
                <a:ea typeface="Carlito" pitchFamily="34" charset="-122"/>
                <a:cs typeface="Carlito" pitchFamily="34" charset="-120"/>
              </a:rPr>
              <a:t>C++ · BEGINNER LECTURE · PART 2</a:t>
            </a:r>
            <a:endParaRPr lang="en-US" sz="1400" dirty="0"/>
          </a:p>
        </p:txBody>
      </p:sp>
      <p:sp>
        <p:nvSpPr>
          <p:cNvPr id="3" name="Text 1"/>
          <p:cNvSpPr>
            <a:spLocks noGrp="1"/>
          </p:cNvSpPr>
          <p:nvPr>
            <p:ph type="title"/>
          </p:nvPr>
        </p:nvSpPr>
        <p:spPr>
          <a:xfrm>
            <a:off x="812800" y="2635250"/>
            <a:ext cx="6592824" cy="1518841"/>
          </a:xfrm>
          <a:prstGeom prst="rect">
            <a:avLst/>
          </a:prstGeom>
          <a:noFill/>
          <a:ln/>
        </p:spPr>
        <p:txBody>
          <a:bodyPr wrap="square" lIns="0" tIns="0" rIns="0" bIns="0" rtlCol="0" anchor="t">
            <a:normAutofit/>
          </a:bodyPr>
          <a:lstStyle/>
          <a:p>
            <a:pPr marL="0" indent="0" algn="l">
              <a:lnSpc>
                <a:spcPts val="5880"/>
              </a:lnSpc>
              <a:buNone/>
            </a:pPr>
            <a:r>
              <a:rPr lang="en-US" sz="5600" b="1" i="0" dirty="0">
                <a:solidFill>
                  <a:srgbClr val="000000"/>
                </a:solidFill>
                <a:latin typeface="Source Serif 4" pitchFamily="18" charset="0"/>
                <a:ea typeface="Source Serif 4" pitchFamily="18" charset="-122"/>
                <a:cs typeface="Source Serif 4" pitchFamily="18" charset="-120"/>
              </a:rPr>
              <a:t>File Handling in C++</a:t>
            </a:r>
            <a:endParaRPr lang="en-US" sz="5600" dirty="0"/>
          </a:p>
        </p:txBody>
      </p:sp>
      <p:sp>
        <p:nvSpPr>
          <p:cNvPr id="4" name="Text 2"/>
          <p:cNvSpPr/>
          <p:nvPr/>
        </p:nvSpPr>
        <p:spPr>
          <a:xfrm>
            <a:off x="812800" y="4331891"/>
            <a:ext cx="7010400" cy="368300"/>
          </a:xfrm>
          <a:prstGeom prst="rect">
            <a:avLst/>
          </a:prstGeom>
          <a:noFill/>
          <a:ln/>
        </p:spPr>
        <p:txBody>
          <a:bodyPr wrap="square" lIns="0" tIns="0" rIns="0" bIns="0" rtlCol="0" anchor="t">
            <a:normAutofit/>
          </a:bodyPr>
          <a:lstStyle/>
          <a:p>
            <a:pPr marL="0" indent="0" algn="l">
              <a:lnSpc>
                <a:spcPts val="2700"/>
              </a:lnSpc>
              <a:buNone/>
            </a:pPr>
            <a:r>
              <a:rPr lang="en-US" sz="2000" dirty="0">
                <a:solidFill>
                  <a:srgbClr val="000000"/>
                </a:solidFill>
                <a:latin typeface="Carlito" pitchFamily="34" charset="0"/>
                <a:ea typeface="Carlito" pitchFamily="34" charset="-122"/>
                <a:cs typeface="Carlito" pitchFamily="34" charset="-120"/>
              </a:rPr>
              <a:t>Reading real-world files: separators, mixed data and bad data</a:t>
            </a:r>
            <a:endParaRPr lang="en-US" sz="2000" dirty="0"/>
          </a:p>
        </p:txBody>
      </p:sp>
      <p:sp>
        <p:nvSpPr>
          <p:cNvPr id="5" name="Shape 3"/>
          <p:cNvSpPr/>
          <p:nvPr/>
        </p:nvSpPr>
        <p:spPr>
          <a:xfrm>
            <a:off x="7823200" y="2177455"/>
            <a:ext cx="3556000" cy="2503091"/>
          </a:xfrm>
          <a:prstGeom prst="roundRect">
            <a:avLst>
              <a:gd name="adj" fmla="val 6088"/>
            </a:avLst>
          </a:prstGeom>
          <a:solidFill>
            <a:srgbClr val="FFFFFF"/>
          </a:solidFill>
          <a:ln w="9525">
            <a:solidFill>
              <a:srgbClr val="808080"/>
            </a:solidFill>
          </a:ln>
        </p:spPr>
        <p:txBody>
          <a:bodyPr/>
          <a:lstStyle/>
          <a:p>
            <a:endParaRPr lang="en-US"/>
          </a:p>
        </p:txBody>
      </p:sp>
      <p:sp>
        <p:nvSpPr>
          <p:cNvPr id="6" name="Text 4"/>
          <p:cNvSpPr/>
          <p:nvPr/>
        </p:nvSpPr>
        <p:spPr>
          <a:xfrm>
            <a:off x="8128000" y="2431455"/>
            <a:ext cx="303479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404040"/>
                </a:solidFill>
                <a:latin typeface="Courier New" pitchFamily="49" charset="0"/>
                <a:ea typeface="Courier New" pitchFamily="49" charset="-122"/>
                <a:cs typeface="Courier New" pitchFamily="49" charset="-120"/>
              </a:rPr>
              <a:t>results.txt</a:t>
            </a:r>
            <a:endParaRPr lang="en-US" sz="1400" dirty="0"/>
          </a:p>
        </p:txBody>
      </p:sp>
      <p:sp>
        <p:nvSpPr>
          <p:cNvPr id="7" name="Text 5"/>
          <p:cNvSpPr/>
          <p:nvPr/>
        </p:nvSpPr>
        <p:spPr>
          <a:xfrm>
            <a:off x="8128000" y="2807295"/>
            <a:ext cx="3034792" cy="1644650"/>
          </a:xfrm>
          <a:prstGeom prst="rect">
            <a:avLst/>
          </a:prstGeom>
          <a:noFill/>
          <a:ln/>
        </p:spPr>
        <p:txBody>
          <a:bodyPr wrap="square" lIns="0" tIns="0" rIns="0" bIns="0" rtlCol="0" anchor="t">
            <a:normAutofit/>
          </a:bodyPr>
          <a:lstStyle/>
          <a:p>
            <a:pPr marL="0" indent="0" algn="l">
              <a:lnSpc>
                <a:spcPts val="2550"/>
              </a:lnSpc>
              <a:buNone/>
            </a:pPr>
            <a:r>
              <a:rPr lang="en-US" sz="1700" dirty="0">
                <a:solidFill>
                  <a:srgbClr val="000000"/>
                </a:solidFill>
                <a:latin typeface="Courier New" pitchFamily="49" charset="0"/>
                <a:ea typeface="Courier New" pitchFamily="49" charset="-122"/>
                <a:cs typeface="Courier New" pitchFamily="49" charset="-120"/>
              </a:rPr>
              <a:t>101 A 85</a:t>
            </a:r>
            <a:endParaRPr lang="en-US" sz="1700" dirty="0"/>
          </a:p>
          <a:p>
            <a:pPr marL="0" indent="0" algn="l">
              <a:lnSpc>
                <a:spcPts val="2550"/>
              </a:lnSpc>
              <a:buNone/>
            </a:pPr>
            <a:r>
              <a:rPr lang="en-US" sz="1700" dirty="0">
                <a:solidFill>
                  <a:srgbClr val="000000"/>
                </a:solidFill>
                <a:latin typeface="Courier New" pitchFamily="49" charset="0"/>
                <a:ea typeface="Courier New" pitchFamily="49" charset="-122"/>
                <a:cs typeface="Courier New" pitchFamily="49" charset="-120"/>
              </a:rPr>
              <a:t>102 B 72</a:t>
            </a:r>
            <a:endParaRPr lang="en-US" sz="1700" dirty="0"/>
          </a:p>
          <a:p>
            <a:pPr marL="0" indent="0" algn="l">
              <a:lnSpc>
                <a:spcPts val="2550"/>
              </a:lnSpc>
              <a:buNone/>
            </a:pPr>
            <a:r>
              <a:rPr lang="en-US" sz="1700" dirty="0">
                <a:solidFill>
                  <a:srgbClr val="000000"/>
                </a:solidFill>
                <a:latin typeface="Courier New" pitchFamily="49" charset="0"/>
                <a:ea typeface="Courier New" pitchFamily="49" charset="-122"/>
                <a:cs typeface="Courier New" pitchFamily="49" charset="-120"/>
              </a:rPr>
              <a:t>85,90,78</a:t>
            </a:r>
            <a:endParaRPr lang="en-US" sz="1700" dirty="0"/>
          </a:p>
          <a:p>
            <a:pPr marL="0" indent="0" algn="l">
              <a:lnSpc>
                <a:spcPts val="2550"/>
              </a:lnSpc>
              <a:buNone/>
            </a:pPr>
            <a:r>
              <a:rPr lang="en-US" sz="1700" dirty="0">
                <a:solidFill>
                  <a:srgbClr val="000000"/>
                </a:solidFill>
                <a:latin typeface="Courier New" pitchFamily="49" charset="0"/>
                <a:ea typeface="Courier New" pitchFamily="49" charset="-122"/>
                <a:cs typeface="Courier New" pitchFamily="49" charset="-120"/>
              </a:rPr>
              <a:t>12/05/2026</a:t>
            </a:r>
            <a:endParaRPr lang="en-US" sz="1700" dirty="0"/>
          </a:p>
          <a:p>
            <a:pPr marL="0" indent="0" algn="l">
              <a:lnSpc>
                <a:spcPts val="2550"/>
              </a:lnSpc>
              <a:buNone/>
            </a:pPr>
            <a:r>
              <a:rPr lang="en-US" sz="1700" b="1" dirty="0">
                <a:solidFill>
                  <a:srgbClr val="000000"/>
                </a:solidFill>
                <a:latin typeface="Courier New" pitchFamily="49" charset="0"/>
                <a:ea typeface="Courier New" pitchFamily="49" charset="-122"/>
                <a:cs typeface="Courier New" pitchFamily="49" charset="-120"/>
              </a:rPr>
              <a:t>abc</a:t>
            </a:r>
            <a:r>
              <a:rPr lang="en-US" sz="1700" dirty="0">
                <a:solidFill>
                  <a:srgbClr val="000000"/>
                </a:solidFill>
                <a:latin typeface="Courier New" pitchFamily="49" charset="0"/>
                <a:ea typeface="Courier New" pitchFamily="49" charset="-122"/>
                <a:cs typeface="Courier New" pitchFamily="49" charset="-120"/>
              </a:rPr>
              <a:t> 40 50</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RECAP</a:t>
            </a:r>
            <a:endParaRPr lang="en-US" sz="1200" dirty="0"/>
          </a:p>
        </p:txBody>
      </p:sp>
      <p:sp>
        <p:nvSpPr>
          <p:cNvPr id="3" name="Text 1"/>
          <p:cNvSpPr>
            <a:spLocks noGrp="1"/>
          </p:cNvSpPr>
          <p:nvPr>
            <p:ph type="title"/>
          </p:nvPr>
        </p:nvSpPr>
        <p:spPr>
          <a:xfrm>
            <a:off x="812800" y="924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Quick recap from Part 1</a:t>
            </a:r>
            <a:endParaRPr lang="en-US" sz="3200" dirty="0"/>
          </a:p>
        </p:txBody>
      </p:sp>
      <p:sp>
        <p:nvSpPr>
          <p:cNvPr id="4" name="Shape 2"/>
          <p:cNvSpPr/>
          <p:nvPr/>
        </p:nvSpPr>
        <p:spPr>
          <a:xfrm>
            <a:off x="812800" y="1676301"/>
            <a:ext cx="2489200" cy="1523901"/>
          </a:xfrm>
          <a:prstGeom prst="roundRect">
            <a:avLst>
              <a:gd name="adj" fmla="val 8334"/>
            </a:avLst>
          </a:prstGeom>
          <a:solidFill>
            <a:srgbClr val="FFFFFF"/>
          </a:solidFill>
          <a:ln w="9525">
            <a:solidFill>
              <a:srgbClr val="808080"/>
            </a:solidFill>
          </a:ln>
        </p:spPr>
        <p:txBody>
          <a:bodyPr/>
          <a:lstStyle/>
          <a:p>
            <a:endParaRPr lang="en-US"/>
          </a:p>
        </p:txBody>
      </p:sp>
      <p:sp>
        <p:nvSpPr>
          <p:cNvPr id="5" name="Text 3"/>
          <p:cNvSpPr/>
          <p:nvPr/>
        </p:nvSpPr>
        <p:spPr>
          <a:xfrm>
            <a:off x="1016000" y="1879501"/>
            <a:ext cx="214528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00000"/>
                </a:solidFill>
                <a:latin typeface="Carlito" pitchFamily="34" charset="0"/>
                <a:ea typeface="Carlito" pitchFamily="34" charset="-122"/>
                <a:cs typeface="Carlito" pitchFamily="34" charset="-120"/>
              </a:rPr>
              <a:t>STEP 1</a:t>
            </a:r>
            <a:endParaRPr lang="en-US" sz="1200" dirty="0"/>
          </a:p>
        </p:txBody>
      </p:sp>
      <p:sp>
        <p:nvSpPr>
          <p:cNvPr id="6" name="Text 4"/>
          <p:cNvSpPr/>
          <p:nvPr/>
        </p:nvSpPr>
        <p:spPr>
          <a:xfrm>
            <a:off x="1016000" y="2194421"/>
            <a:ext cx="2145284"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00000"/>
                </a:solidFill>
                <a:latin typeface="Carlito" pitchFamily="34" charset="0"/>
                <a:ea typeface="Carlito" pitchFamily="34" charset="-122"/>
                <a:cs typeface="Carlito" pitchFamily="34" charset="-120"/>
              </a:rPr>
              <a:t>Open</a:t>
            </a:r>
            <a:endParaRPr lang="en-US" sz="2200" dirty="0"/>
          </a:p>
        </p:txBody>
      </p:sp>
      <p:sp>
        <p:nvSpPr>
          <p:cNvPr id="7" name="Text 5"/>
          <p:cNvSpPr/>
          <p:nvPr/>
        </p:nvSpPr>
        <p:spPr>
          <a:xfrm>
            <a:off x="1016000" y="2631281"/>
            <a:ext cx="2082800" cy="365720"/>
          </a:xfrm>
          <a:prstGeom prst="roundRect">
            <a:avLst>
              <a:gd name="adj" fmla="val 17363"/>
            </a:avLst>
          </a:prstGeom>
          <a:solidFill>
            <a:srgbClr val="F2F2F2"/>
          </a:solidFill>
          <a:ln w="12700">
            <a:solidFill>
              <a:srgbClr val="404040"/>
            </a:solidFill>
          </a:ln>
        </p:spPr>
        <p:txBody>
          <a:bodyPr wrap="square" lIns="83001" tIns="57601" rIns="26613" bIns="32201" rtlCol="0" anchor="t">
            <a:normAutofit/>
          </a:bodyPr>
          <a:lstStyle/>
          <a:p>
            <a:pPr marL="0" indent="0" algn="l">
              <a:lnSpc>
                <a:spcPts val="1680"/>
              </a:lnSpc>
              <a:buNone/>
            </a:pPr>
            <a:r>
              <a:rPr lang="en-US" sz="1200" dirty="0">
                <a:solidFill>
                  <a:srgbClr val="000000"/>
                </a:solidFill>
                <a:latin typeface="Courier New" pitchFamily="49" charset="0"/>
                <a:ea typeface="Courier New" pitchFamily="49" charset="-122"/>
                <a:cs typeface="Courier New" pitchFamily="49" charset="-120"/>
              </a:rPr>
              <a:t>ifstream f("a.txt");</a:t>
            </a:r>
            <a:endParaRPr lang="en-US" sz="1200" dirty="0"/>
          </a:p>
        </p:txBody>
      </p:sp>
      <p:sp>
        <p:nvSpPr>
          <p:cNvPr id="8" name="Shape 6"/>
          <p:cNvSpPr/>
          <p:nvPr/>
        </p:nvSpPr>
        <p:spPr>
          <a:xfrm>
            <a:off x="3505200" y="1676301"/>
            <a:ext cx="2489200" cy="1523901"/>
          </a:xfrm>
          <a:prstGeom prst="roundRect">
            <a:avLst>
              <a:gd name="adj" fmla="val 8334"/>
            </a:avLst>
          </a:prstGeom>
          <a:solidFill>
            <a:srgbClr val="FFFFFF"/>
          </a:solidFill>
          <a:ln w="9525">
            <a:solidFill>
              <a:srgbClr val="808080"/>
            </a:solidFill>
          </a:ln>
        </p:spPr>
        <p:txBody>
          <a:bodyPr/>
          <a:lstStyle/>
          <a:p>
            <a:endParaRPr lang="en-US"/>
          </a:p>
        </p:txBody>
      </p:sp>
      <p:sp>
        <p:nvSpPr>
          <p:cNvPr id="9" name="Text 7"/>
          <p:cNvSpPr/>
          <p:nvPr/>
        </p:nvSpPr>
        <p:spPr>
          <a:xfrm>
            <a:off x="3708400" y="1879501"/>
            <a:ext cx="214528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00000"/>
                </a:solidFill>
                <a:latin typeface="Carlito" pitchFamily="34" charset="0"/>
                <a:ea typeface="Carlito" pitchFamily="34" charset="-122"/>
                <a:cs typeface="Carlito" pitchFamily="34" charset="-120"/>
              </a:rPr>
              <a:t>STEP 2</a:t>
            </a:r>
            <a:endParaRPr lang="en-US" sz="1200" dirty="0"/>
          </a:p>
        </p:txBody>
      </p:sp>
      <p:sp>
        <p:nvSpPr>
          <p:cNvPr id="10" name="Text 8"/>
          <p:cNvSpPr/>
          <p:nvPr/>
        </p:nvSpPr>
        <p:spPr>
          <a:xfrm>
            <a:off x="3708400" y="2194421"/>
            <a:ext cx="2145284"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00000"/>
                </a:solidFill>
                <a:latin typeface="Carlito" pitchFamily="34" charset="0"/>
                <a:ea typeface="Carlito" pitchFamily="34" charset="-122"/>
                <a:cs typeface="Carlito" pitchFamily="34" charset="-120"/>
              </a:rPr>
              <a:t>Check</a:t>
            </a:r>
            <a:endParaRPr lang="en-US" sz="2200" dirty="0"/>
          </a:p>
        </p:txBody>
      </p:sp>
      <p:sp>
        <p:nvSpPr>
          <p:cNvPr id="11" name="Text 9"/>
          <p:cNvSpPr/>
          <p:nvPr/>
        </p:nvSpPr>
        <p:spPr>
          <a:xfrm>
            <a:off x="3708400" y="2631281"/>
            <a:ext cx="2082800" cy="365720"/>
          </a:xfrm>
          <a:prstGeom prst="roundRect">
            <a:avLst>
              <a:gd name="adj" fmla="val 17363"/>
            </a:avLst>
          </a:prstGeom>
          <a:solidFill>
            <a:srgbClr val="F2F2F2"/>
          </a:solidFill>
          <a:ln w="12700">
            <a:solidFill>
              <a:srgbClr val="404040"/>
            </a:solidFill>
          </a:ln>
        </p:spPr>
        <p:txBody>
          <a:bodyPr wrap="square" lIns="83001" tIns="57601" rIns="26613" bIns="32201" rtlCol="0" anchor="t">
            <a:normAutofit/>
          </a:bodyPr>
          <a:lstStyle/>
          <a:p>
            <a:pPr marL="0" indent="0" algn="l">
              <a:lnSpc>
                <a:spcPts val="1680"/>
              </a:lnSpc>
              <a:buNone/>
            </a:pPr>
            <a:r>
              <a:rPr lang="en-US" sz="1200" dirty="0">
                <a:solidFill>
                  <a:srgbClr val="000000"/>
                </a:solidFill>
                <a:latin typeface="Courier New" pitchFamily="49" charset="0"/>
                <a:ea typeface="Courier New" pitchFamily="49" charset="-122"/>
                <a:cs typeface="Courier New" pitchFamily="49" charset="-120"/>
              </a:rPr>
              <a:t>if (!f) { ... }</a:t>
            </a:r>
            <a:endParaRPr lang="en-US" sz="1200" dirty="0"/>
          </a:p>
        </p:txBody>
      </p:sp>
      <p:sp>
        <p:nvSpPr>
          <p:cNvPr id="12" name="Shape 10"/>
          <p:cNvSpPr/>
          <p:nvPr/>
        </p:nvSpPr>
        <p:spPr>
          <a:xfrm>
            <a:off x="6197600" y="1676301"/>
            <a:ext cx="2489200" cy="1523901"/>
          </a:xfrm>
          <a:prstGeom prst="roundRect">
            <a:avLst>
              <a:gd name="adj" fmla="val 8334"/>
            </a:avLst>
          </a:prstGeom>
          <a:solidFill>
            <a:srgbClr val="FFFFFF"/>
          </a:solidFill>
          <a:ln w="9525">
            <a:solidFill>
              <a:srgbClr val="808080"/>
            </a:solidFill>
          </a:ln>
        </p:spPr>
        <p:txBody>
          <a:bodyPr/>
          <a:lstStyle/>
          <a:p>
            <a:endParaRPr lang="en-US"/>
          </a:p>
        </p:txBody>
      </p:sp>
      <p:sp>
        <p:nvSpPr>
          <p:cNvPr id="13" name="Text 11"/>
          <p:cNvSpPr/>
          <p:nvPr/>
        </p:nvSpPr>
        <p:spPr>
          <a:xfrm>
            <a:off x="6400800" y="1879501"/>
            <a:ext cx="214528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00000"/>
                </a:solidFill>
                <a:latin typeface="Carlito" pitchFamily="34" charset="0"/>
                <a:ea typeface="Carlito" pitchFamily="34" charset="-122"/>
                <a:cs typeface="Carlito" pitchFamily="34" charset="-120"/>
              </a:rPr>
              <a:t>STEP 3</a:t>
            </a:r>
            <a:endParaRPr lang="en-US" sz="1200" dirty="0"/>
          </a:p>
        </p:txBody>
      </p:sp>
      <p:sp>
        <p:nvSpPr>
          <p:cNvPr id="14" name="Text 12"/>
          <p:cNvSpPr/>
          <p:nvPr/>
        </p:nvSpPr>
        <p:spPr>
          <a:xfrm>
            <a:off x="6400800" y="2194421"/>
            <a:ext cx="2145284"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00000"/>
                </a:solidFill>
                <a:latin typeface="Carlito" pitchFamily="34" charset="0"/>
                <a:ea typeface="Carlito" pitchFamily="34" charset="-122"/>
                <a:cs typeface="Carlito" pitchFamily="34" charset="-120"/>
              </a:rPr>
              <a:t>Read / Write</a:t>
            </a:r>
            <a:endParaRPr lang="en-US" sz="2200" dirty="0"/>
          </a:p>
        </p:txBody>
      </p:sp>
      <p:sp>
        <p:nvSpPr>
          <p:cNvPr id="15" name="Text 13"/>
          <p:cNvSpPr/>
          <p:nvPr/>
        </p:nvSpPr>
        <p:spPr>
          <a:xfrm>
            <a:off x="6400800" y="2631281"/>
            <a:ext cx="2082800" cy="365720"/>
          </a:xfrm>
          <a:prstGeom prst="roundRect">
            <a:avLst>
              <a:gd name="adj" fmla="val 17363"/>
            </a:avLst>
          </a:prstGeom>
          <a:solidFill>
            <a:srgbClr val="F2F2F2"/>
          </a:solidFill>
          <a:ln w="12700">
            <a:solidFill>
              <a:srgbClr val="404040"/>
            </a:solidFill>
          </a:ln>
        </p:spPr>
        <p:txBody>
          <a:bodyPr wrap="square" lIns="83001" tIns="57601" rIns="26613" bIns="32201" rtlCol="0" anchor="t">
            <a:normAutofit/>
          </a:bodyPr>
          <a:lstStyle/>
          <a:p>
            <a:pPr marL="0" indent="0" algn="l">
              <a:lnSpc>
                <a:spcPts val="1680"/>
              </a:lnSpc>
              <a:buNone/>
            </a:pPr>
            <a:r>
              <a:rPr lang="en-US" sz="1200" dirty="0">
                <a:solidFill>
                  <a:srgbClr val="000000"/>
                </a:solidFill>
                <a:latin typeface="Courier New" pitchFamily="49" charset="0"/>
                <a:ea typeface="Courier New" pitchFamily="49" charset="-122"/>
                <a:cs typeface="Courier New" pitchFamily="49" charset="-120"/>
              </a:rPr>
              <a:t>f &gt;&gt; x;</a:t>
            </a:r>
            <a:endParaRPr lang="en-US" sz="1200" dirty="0"/>
          </a:p>
        </p:txBody>
      </p:sp>
      <p:sp>
        <p:nvSpPr>
          <p:cNvPr id="16" name="Shape 14"/>
          <p:cNvSpPr/>
          <p:nvPr/>
        </p:nvSpPr>
        <p:spPr>
          <a:xfrm>
            <a:off x="8890000" y="1676301"/>
            <a:ext cx="2489200" cy="1523901"/>
          </a:xfrm>
          <a:prstGeom prst="roundRect">
            <a:avLst>
              <a:gd name="adj" fmla="val 8334"/>
            </a:avLst>
          </a:prstGeom>
          <a:solidFill>
            <a:srgbClr val="FFFFFF"/>
          </a:solidFill>
          <a:ln w="9525">
            <a:solidFill>
              <a:srgbClr val="808080"/>
            </a:solidFill>
          </a:ln>
        </p:spPr>
        <p:txBody>
          <a:bodyPr/>
          <a:lstStyle/>
          <a:p>
            <a:endParaRPr lang="en-US"/>
          </a:p>
        </p:txBody>
      </p:sp>
      <p:sp>
        <p:nvSpPr>
          <p:cNvPr id="17" name="Text 15"/>
          <p:cNvSpPr/>
          <p:nvPr/>
        </p:nvSpPr>
        <p:spPr>
          <a:xfrm>
            <a:off x="9093200" y="1879501"/>
            <a:ext cx="2145284"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000000"/>
                </a:solidFill>
                <a:latin typeface="Carlito" pitchFamily="34" charset="0"/>
                <a:ea typeface="Carlito" pitchFamily="34" charset="-122"/>
                <a:cs typeface="Carlito" pitchFamily="34" charset="-120"/>
              </a:rPr>
              <a:t>STEP 4</a:t>
            </a:r>
            <a:endParaRPr lang="en-US" sz="1200" dirty="0"/>
          </a:p>
        </p:txBody>
      </p:sp>
      <p:sp>
        <p:nvSpPr>
          <p:cNvPr id="18" name="Text 16"/>
          <p:cNvSpPr/>
          <p:nvPr/>
        </p:nvSpPr>
        <p:spPr>
          <a:xfrm>
            <a:off x="9093200" y="2194421"/>
            <a:ext cx="2145284"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00000"/>
                </a:solidFill>
                <a:latin typeface="Carlito" pitchFamily="34" charset="0"/>
                <a:ea typeface="Carlito" pitchFamily="34" charset="-122"/>
                <a:cs typeface="Carlito" pitchFamily="34" charset="-120"/>
              </a:rPr>
              <a:t>Close</a:t>
            </a:r>
            <a:endParaRPr lang="en-US" sz="2200" dirty="0"/>
          </a:p>
        </p:txBody>
      </p:sp>
      <p:sp>
        <p:nvSpPr>
          <p:cNvPr id="19" name="Text 17"/>
          <p:cNvSpPr/>
          <p:nvPr/>
        </p:nvSpPr>
        <p:spPr>
          <a:xfrm>
            <a:off x="9093200" y="2631281"/>
            <a:ext cx="2082800" cy="365720"/>
          </a:xfrm>
          <a:prstGeom prst="roundRect">
            <a:avLst>
              <a:gd name="adj" fmla="val 17363"/>
            </a:avLst>
          </a:prstGeom>
          <a:solidFill>
            <a:srgbClr val="F2F2F2"/>
          </a:solidFill>
          <a:ln w="12700">
            <a:solidFill>
              <a:srgbClr val="404040"/>
            </a:solidFill>
          </a:ln>
        </p:spPr>
        <p:txBody>
          <a:bodyPr wrap="square" lIns="83001" tIns="57601" rIns="26613" bIns="32201" rtlCol="0" anchor="t">
            <a:normAutofit/>
          </a:bodyPr>
          <a:lstStyle/>
          <a:p>
            <a:pPr marL="0" indent="0" algn="l">
              <a:lnSpc>
                <a:spcPts val="1680"/>
              </a:lnSpc>
              <a:buNone/>
            </a:pPr>
            <a:r>
              <a:rPr lang="en-US" sz="1200" dirty="0">
                <a:solidFill>
                  <a:srgbClr val="000000"/>
                </a:solidFill>
                <a:latin typeface="Courier New" pitchFamily="49" charset="0"/>
                <a:ea typeface="Courier New" pitchFamily="49" charset="-122"/>
                <a:cs typeface="Courier New" pitchFamily="49" charset="-120"/>
              </a:rPr>
              <a:t>f.close();</a:t>
            </a:r>
            <a:endParaRPr lang="en-US" sz="1200" dirty="0"/>
          </a:p>
        </p:txBody>
      </p:sp>
      <p:sp>
        <p:nvSpPr>
          <p:cNvPr id="20" name="Shape 18"/>
          <p:cNvSpPr/>
          <p:nvPr/>
        </p:nvSpPr>
        <p:spPr>
          <a:xfrm>
            <a:off x="812800" y="3505002"/>
            <a:ext cx="10566400" cy="1617762"/>
          </a:xfrm>
          <a:prstGeom prst="roundRect">
            <a:avLst>
              <a:gd name="adj" fmla="val 7850"/>
            </a:avLst>
          </a:prstGeom>
          <a:solidFill>
            <a:srgbClr val="F2F2F2"/>
          </a:solidFill>
          <a:ln w="12700">
            <a:solidFill>
              <a:srgbClr val="404040"/>
            </a:solidFill>
          </a:ln>
        </p:spPr>
        <p:txBody>
          <a:bodyPr/>
          <a:lstStyle/>
          <a:p>
            <a:endParaRPr lang="en-US"/>
          </a:p>
        </p:txBody>
      </p:sp>
      <p:sp>
        <p:nvSpPr>
          <p:cNvPr id="21" name="Text 19"/>
          <p:cNvSpPr/>
          <p:nvPr/>
        </p:nvSpPr>
        <p:spPr>
          <a:xfrm>
            <a:off x="1168400" y="3784402"/>
            <a:ext cx="10150856" cy="256480"/>
          </a:xfrm>
          <a:prstGeom prst="rect">
            <a:avLst/>
          </a:prstGeom>
          <a:noFill/>
          <a:ln/>
        </p:spPr>
        <p:txBody>
          <a:bodyPr wrap="square" lIns="0" tIns="0" rIns="0" bIns="0" rtlCol="0" anchor="t">
            <a:normAutofit/>
          </a:bodyPr>
          <a:lstStyle/>
          <a:p>
            <a:pPr marL="0" indent="0" algn="l">
              <a:lnSpc>
                <a:spcPts val="1820"/>
              </a:lnSpc>
              <a:buNone/>
            </a:pPr>
            <a:r>
              <a:rPr lang="en-US" sz="1300" b="1" kern="0" spc="150" dirty="0">
                <a:solidFill>
                  <a:srgbClr val="000000"/>
                </a:solidFill>
                <a:latin typeface="Carlito" pitchFamily="34" charset="0"/>
                <a:ea typeface="Carlito" pitchFamily="34" charset="-122"/>
                <a:cs typeface="Carlito" pitchFamily="34" charset="-120"/>
              </a:rPr>
              <a:t>THE ONE RULE FOR ALL OF PART 2</a:t>
            </a:r>
            <a:endParaRPr lang="en-US" sz="1300" dirty="0"/>
          </a:p>
        </p:txBody>
      </p:sp>
      <p:sp>
        <p:nvSpPr>
          <p:cNvPr id="22" name="Text 20"/>
          <p:cNvSpPr/>
          <p:nvPr/>
        </p:nvSpPr>
        <p:spPr>
          <a:xfrm>
            <a:off x="1168400" y="4117082"/>
            <a:ext cx="10150856" cy="751681"/>
          </a:xfrm>
          <a:prstGeom prst="rect">
            <a:avLst/>
          </a:prstGeom>
          <a:noFill/>
          <a:ln/>
        </p:spPr>
        <p:txBody>
          <a:bodyPr wrap="square" lIns="0" tIns="0" rIns="0" bIns="0" rtlCol="0" anchor="t">
            <a:normAutofit/>
          </a:bodyPr>
          <a:lstStyle/>
          <a:p>
            <a:pPr marL="0" indent="0" algn="l">
              <a:lnSpc>
                <a:spcPts val="2860"/>
              </a:lnSpc>
              <a:buNone/>
            </a:pPr>
            <a:r>
              <a:rPr lang="en-US" sz="2200" b="1" dirty="0">
                <a:solidFill>
                  <a:srgbClr val="000000"/>
                </a:solidFill>
                <a:latin typeface="Carlito" pitchFamily="34" charset="0"/>
                <a:ea typeface="Carlito" pitchFamily="34" charset="-122"/>
                <a:cs typeface="Carlito" pitchFamily="34" charset="-120"/>
              </a:rPr>
              <a:t>&gt;&gt;</a:t>
            </a:r>
            <a:r>
              <a:rPr lang="en-US" sz="2200" dirty="0">
                <a:solidFill>
                  <a:srgbClr val="000000"/>
                </a:solidFill>
                <a:latin typeface="Carlito" pitchFamily="34" charset="0"/>
                <a:ea typeface="Carlito" pitchFamily="34" charset="-122"/>
                <a:cs typeface="Carlito" pitchFamily="34" charset="-120"/>
              </a:rPr>
              <a:t> skips spaces, tabs and new lines, then reads until the value ends. Every format today is built on this rule.</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NUMBERS ONLY</a:t>
            </a:r>
            <a:endParaRPr lang="en-US" sz="1200" dirty="0"/>
          </a:p>
        </p:txBody>
      </p:sp>
      <p:sp>
        <p:nvSpPr>
          <p:cNvPr id="3" name="Text 1"/>
          <p:cNvSpPr>
            <a:spLocks noGrp="1"/>
          </p:cNvSpPr>
          <p:nvPr>
            <p:ph type="title"/>
          </p:nvPr>
        </p:nvSpPr>
        <p:spPr>
          <a:xfrm>
            <a:off x="812800" y="924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Spaces or new lines: &gt;&gt; does not care</a:t>
            </a:r>
            <a:endParaRPr lang="en-US" sz="3200" dirty="0"/>
          </a:p>
        </p:txBody>
      </p:sp>
      <p:sp>
        <p:nvSpPr>
          <p:cNvPr id="4" name="Shape 2"/>
          <p:cNvSpPr/>
          <p:nvPr/>
        </p:nvSpPr>
        <p:spPr>
          <a:xfrm>
            <a:off x="812800" y="1600101"/>
            <a:ext cx="3403600" cy="1399480"/>
          </a:xfrm>
          <a:prstGeom prst="roundRect">
            <a:avLst>
              <a:gd name="adj" fmla="val 9075"/>
            </a:avLst>
          </a:prstGeom>
          <a:solidFill>
            <a:srgbClr val="FFFFFF"/>
          </a:solidFill>
          <a:ln w="9525">
            <a:solidFill>
              <a:srgbClr val="808080"/>
            </a:solidFill>
          </a:ln>
        </p:spPr>
        <p:txBody>
          <a:bodyPr/>
          <a:lstStyle/>
          <a:p>
            <a:endParaRPr lang="en-US"/>
          </a:p>
        </p:txBody>
      </p:sp>
      <p:sp>
        <p:nvSpPr>
          <p:cNvPr id="5" name="Text 3"/>
          <p:cNvSpPr/>
          <p:nvPr/>
        </p:nvSpPr>
        <p:spPr>
          <a:xfrm>
            <a:off x="1016000" y="1752501"/>
            <a:ext cx="308711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04040"/>
                </a:solidFill>
                <a:latin typeface="Carlito" pitchFamily="34" charset="0"/>
                <a:ea typeface="Carlito" pitchFamily="34" charset="-122"/>
                <a:cs typeface="Carlito" pitchFamily="34" charset="-120"/>
              </a:rPr>
              <a:t>One per line</a:t>
            </a:r>
            <a:endParaRPr lang="en-US" sz="1300" dirty="0"/>
          </a:p>
        </p:txBody>
      </p:sp>
      <p:sp>
        <p:nvSpPr>
          <p:cNvPr id="6" name="Text 4"/>
          <p:cNvSpPr/>
          <p:nvPr/>
        </p:nvSpPr>
        <p:spPr>
          <a:xfrm>
            <a:off x="1016000" y="2047081"/>
            <a:ext cx="3087116" cy="8255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00000"/>
                </a:solidFill>
                <a:latin typeface="Courier New" pitchFamily="49" charset="0"/>
                <a:ea typeface="Courier New" pitchFamily="49" charset="-122"/>
                <a:cs typeface="Courier New" pitchFamily="49" charset="-120"/>
              </a:rPr>
              <a:t>85</a:t>
            </a:r>
            <a:endParaRPr lang="en-US" sz="1500" dirty="0"/>
          </a:p>
          <a:p>
            <a:pPr marL="0" indent="0" algn="l">
              <a:lnSpc>
                <a:spcPts val="2100"/>
              </a:lnSpc>
              <a:buNone/>
            </a:pPr>
            <a:r>
              <a:rPr lang="en-US" sz="1500" dirty="0">
                <a:solidFill>
                  <a:srgbClr val="000000"/>
                </a:solidFill>
                <a:latin typeface="Courier New" pitchFamily="49" charset="0"/>
                <a:ea typeface="Courier New" pitchFamily="49" charset="-122"/>
                <a:cs typeface="Courier New" pitchFamily="49" charset="-120"/>
              </a:rPr>
              <a:t>90</a:t>
            </a:r>
            <a:endParaRPr lang="en-US" sz="1500" dirty="0"/>
          </a:p>
          <a:p>
            <a:pPr marL="0" indent="0" algn="l">
              <a:lnSpc>
                <a:spcPts val="2100"/>
              </a:lnSpc>
              <a:buNone/>
            </a:pPr>
            <a:r>
              <a:rPr lang="en-US" sz="1500" dirty="0">
                <a:solidFill>
                  <a:srgbClr val="000000"/>
                </a:solidFill>
                <a:latin typeface="Courier New" pitchFamily="49" charset="0"/>
                <a:ea typeface="Courier New" pitchFamily="49" charset="-122"/>
                <a:cs typeface="Courier New" pitchFamily="49" charset="-120"/>
              </a:rPr>
              <a:t>78</a:t>
            </a:r>
            <a:endParaRPr lang="en-US" sz="1500" dirty="0"/>
          </a:p>
        </p:txBody>
      </p:sp>
      <p:sp>
        <p:nvSpPr>
          <p:cNvPr id="7" name="Shape 5"/>
          <p:cNvSpPr/>
          <p:nvPr/>
        </p:nvSpPr>
        <p:spPr>
          <a:xfrm>
            <a:off x="4394200" y="1600101"/>
            <a:ext cx="3403600" cy="1399480"/>
          </a:xfrm>
          <a:prstGeom prst="roundRect">
            <a:avLst>
              <a:gd name="adj" fmla="val 9075"/>
            </a:avLst>
          </a:prstGeom>
          <a:solidFill>
            <a:srgbClr val="FFFFFF"/>
          </a:solidFill>
          <a:ln w="9525">
            <a:solidFill>
              <a:srgbClr val="808080"/>
            </a:solidFill>
          </a:ln>
        </p:spPr>
        <p:txBody>
          <a:bodyPr/>
          <a:lstStyle/>
          <a:p>
            <a:endParaRPr lang="en-US"/>
          </a:p>
        </p:txBody>
      </p:sp>
      <p:sp>
        <p:nvSpPr>
          <p:cNvPr id="8" name="Text 6"/>
          <p:cNvSpPr/>
          <p:nvPr/>
        </p:nvSpPr>
        <p:spPr>
          <a:xfrm>
            <a:off x="4597400" y="1752501"/>
            <a:ext cx="308711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04040"/>
                </a:solidFill>
                <a:latin typeface="Carlito" pitchFamily="34" charset="0"/>
                <a:ea typeface="Carlito" pitchFamily="34" charset="-122"/>
                <a:cs typeface="Carlito" pitchFamily="34" charset="-120"/>
              </a:rPr>
              <a:t>All on one line</a:t>
            </a:r>
            <a:endParaRPr lang="en-US" sz="1300" dirty="0"/>
          </a:p>
        </p:txBody>
      </p:sp>
      <p:sp>
        <p:nvSpPr>
          <p:cNvPr id="9" name="Text 7"/>
          <p:cNvSpPr/>
          <p:nvPr/>
        </p:nvSpPr>
        <p:spPr>
          <a:xfrm>
            <a:off x="4597400" y="2047081"/>
            <a:ext cx="308711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00000"/>
                </a:solidFill>
                <a:latin typeface="Courier New" pitchFamily="49" charset="0"/>
                <a:ea typeface="Courier New" pitchFamily="49" charset="-122"/>
                <a:cs typeface="Courier New" pitchFamily="49" charset="-120"/>
              </a:rPr>
              <a:t>85 90 78</a:t>
            </a:r>
            <a:endParaRPr lang="en-US" sz="1500" dirty="0"/>
          </a:p>
        </p:txBody>
      </p:sp>
      <p:sp>
        <p:nvSpPr>
          <p:cNvPr id="10" name="Shape 8"/>
          <p:cNvSpPr/>
          <p:nvPr/>
        </p:nvSpPr>
        <p:spPr>
          <a:xfrm>
            <a:off x="7975600" y="1600101"/>
            <a:ext cx="3403600" cy="1399480"/>
          </a:xfrm>
          <a:prstGeom prst="roundRect">
            <a:avLst>
              <a:gd name="adj" fmla="val 9075"/>
            </a:avLst>
          </a:prstGeom>
          <a:solidFill>
            <a:srgbClr val="FFFFFF"/>
          </a:solidFill>
          <a:ln w="9525">
            <a:solidFill>
              <a:srgbClr val="808080"/>
            </a:solidFill>
          </a:ln>
        </p:spPr>
        <p:txBody>
          <a:bodyPr/>
          <a:lstStyle/>
          <a:p>
            <a:endParaRPr lang="en-US"/>
          </a:p>
        </p:txBody>
      </p:sp>
      <p:sp>
        <p:nvSpPr>
          <p:cNvPr id="11" name="Text 9"/>
          <p:cNvSpPr/>
          <p:nvPr/>
        </p:nvSpPr>
        <p:spPr>
          <a:xfrm>
            <a:off x="8178800" y="1752501"/>
            <a:ext cx="308711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04040"/>
                </a:solidFill>
                <a:latin typeface="Carlito" pitchFamily="34" charset="0"/>
                <a:ea typeface="Carlito" pitchFamily="34" charset="-122"/>
                <a:cs typeface="Carlito" pitchFamily="34" charset="-120"/>
              </a:rPr>
              <a:t>Mixed</a:t>
            </a:r>
            <a:endParaRPr lang="en-US" sz="1300" dirty="0"/>
          </a:p>
        </p:txBody>
      </p:sp>
      <p:sp>
        <p:nvSpPr>
          <p:cNvPr id="12" name="Text 10"/>
          <p:cNvSpPr/>
          <p:nvPr/>
        </p:nvSpPr>
        <p:spPr>
          <a:xfrm>
            <a:off x="8178800" y="2047081"/>
            <a:ext cx="3087116"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00000"/>
                </a:solidFill>
                <a:latin typeface="Courier New" pitchFamily="49" charset="0"/>
                <a:ea typeface="Courier New" pitchFamily="49" charset="-122"/>
                <a:cs typeface="Courier New" pitchFamily="49" charset="-120"/>
              </a:rPr>
              <a:t>85 90</a:t>
            </a:r>
            <a:endParaRPr lang="en-US" sz="1500" dirty="0"/>
          </a:p>
          <a:p>
            <a:pPr marL="0" indent="0" algn="l">
              <a:lnSpc>
                <a:spcPts val="2100"/>
              </a:lnSpc>
              <a:buNone/>
            </a:pPr>
            <a:r>
              <a:rPr lang="en-US" sz="1500" dirty="0">
                <a:solidFill>
                  <a:srgbClr val="000000"/>
                </a:solidFill>
                <a:latin typeface="Courier New" pitchFamily="49" charset="0"/>
                <a:ea typeface="Courier New" pitchFamily="49" charset="-122"/>
                <a:cs typeface="Courier New" pitchFamily="49" charset="-120"/>
              </a:rPr>
              <a:t>78</a:t>
            </a:r>
            <a:endParaRPr lang="en-US" sz="1500" dirty="0"/>
          </a:p>
        </p:txBody>
      </p:sp>
      <p:sp>
        <p:nvSpPr>
          <p:cNvPr id="13" name="Text 11"/>
          <p:cNvSpPr/>
          <p:nvPr/>
        </p:nvSpPr>
        <p:spPr>
          <a:xfrm>
            <a:off x="812800" y="3228181"/>
            <a:ext cx="7086600" cy="1246981"/>
          </a:xfrm>
          <a:prstGeom prst="roundRect">
            <a:avLst>
              <a:gd name="adj" fmla="val 10185"/>
            </a:avLst>
          </a:prstGeom>
          <a:solidFill>
            <a:srgbClr val="F2F2F2"/>
          </a:solidFill>
          <a:ln w="12700">
            <a:solidFill>
              <a:srgbClr val="404040"/>
            </a:solidFill>
          </a:ln>
        </p:spPr>
        <p:txBody>
          <a:bodyPr wrap="square" lIns="216803" tIns="140603" rIns="19445" bIns="140603" rtlCol="0" anchor="ctr">
            <a:normAutofit/>
          </a:bodyPr>
          <a:lstStyle/>
          <a:p>
            <a:pPr marL="0" indent="0" algn="l">
              <a:lnSpc>
                <a:spcPts val="1950"/>
              </a:lnSpc>
              <a:buNone/>
            </a:pPr>
            <a:r>
              <a:rPr lang="en-US" sz="1300" dirty="0">
                <a:solidFill>
                  <a:srgbClr val="000000"/>
                </a:solidFill>
                <a:latin typeface="Courier New" pitchFamily="49" charset="0"/>
                <a:ea typeface="Courier New" pitchFamily="49" charset="-122"/>
                <a:cs typeface="Courier New" pitchFamily="49" charset="-120"/>
              </a:rPr>
              <a:t>int marks[10], count = 0;</a:t>
            </a:r>
            <a:endParaRPr lang="en-US" sz="1300" dirty="0"/>
          </a:p>
          <a:p>
            <a:pPr marL="0" indent="0" algn="l">
              <a:lnSpc>
                <a:spcPts val="1950"/>
              </a:lnSpc>
              <a:buNone/>
            </a:pPr>
            <a:r>
              <a:rPr lang="en-US" sz="1300" dirty="0">
                <a:solidFill>
                  <a:srgbClr val="000000"/>
                </a:solidFill>
                <a:latin typeface="Courier New" pitchFamily="49" charset="0"/>
                <a:ea typeface="Courier New" pitchFamily="49" charset="-122"/>
                <a:cs typeface="Courier New" pitchFamily="49" charset="-120"/>
              </a:rPr>
              <a:t>while (count &lt; 10 &amp;&amp; inFile &gt;&gt; marks[count])</a:t>
            </a:r>
            <a:endParaRPr lang="en-US" sz="1300" dirty="0"/>
          </a:p>
          <a:p>
            <a:pPr marL="0" indent="0" algn="l">
              <a:lnSpc>
                <a:spcPts val="1950"/>
              </a:lnSpc>
              <a:buNone/>
            </a:pPr>
            <a:r>
              <a:rPr lang="en-US" sz="1300" dirty="0">
                <a:solidFill>
                  <a:srgbClr val="000000"/>
                </a:solidFill>
                <a:latin typeface="Courier New" pitchFamily="49" charset="0"/>
                <a:ea typeface="Courier New" pitchFamily="49" charset="-122"/>
                <a:cs typeface="Courier New" pitchFamily="49" charset="-120"/>
              </a:rPr>
              <a:t>    count++;</a:t>
            </a:r>
            <a:endParaRPr lang="en-US" sz="1300" dirty="0"/>
          </a:p>
        </p:txBody>
      </p:sp>
      <p:sp>
        <p:nvSpPr>
          <p:cNvPr id="14" name="Shape 12"/>
          <p:cNvSpPr/>
          <p:nvPr/>
        </p:nvSpPr>
        <p:spPr>
          <a:xfrm>
            <a:off x="8077200" y="3228181"/>
            <a:ext cx="3302000" cy="1246981"/>
          </a:xfrm>
          <a:prstGeom prst="roundRect">
            <a:avLst>
              <a:gd name="adj" fmla="val 10185"/>
            </a:avLst>
          </a:prstGeom>
          <a:solidFill>
            <a:srgbClr val="FFFFFF"/>
          </a:solidFill>
          <a:ln w="9525">
            <a:solidFill>
              <a:srgbClr val="808080"/>
            </a:solidFill>
          </a:ln>
        </p:spPr>
        <p:txBody>
          <a:bodyPr/>
          <a:lstStyle/>
          <a:p>
            <a:endParaRPr lang="en-US"/>
          </a:p>
        </p:txBody>
      </p:sp>
      <p:sp>
        <p:nvSpPr>
          <p:cNvPr id="15" name="Text 13"/>
          <p:cNvSpPr/>
          <p:nvPr/>
        </p:nvSpPr>
        <p:spPr>
          <a:xfrm>
            <a:off x="8305800" y="3405981"/>
            <a:ext cx="2930144"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00000"/>
                </a:solidFill>
                <a:latin typeface="Carlito" pitchFamily="34" charset="0"/>
                <a:ea typeface="Carlito" pitchFamily="34" charset="-122"/>
                <a:cs typeface="Carlito" pitchFamily="34" charset="-120"/>
              </a:rPr>
              <a:t>All three files give</a:t>
            </a:r>
            <a:endParaRPr lang="en-US" sz="1400" dirty="0"/>
          </a:p>
        </p:txBody>
      </p:sp>
      <p:sp>
        <p:nvSpPr>
          <p:cNvPr id="16" name="Text 14"/>
          <p:cNvSpPr/>
          <p:nvPr/>
        </p:nvSpPr>
        <p:spPr>
          <a:xfrm>
            <a:off x="8305800" y="3718322"/>
            <a:ext cx="293014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00000"/>
                </a:solidFill>
                <a:latin typeface="Courier New" pitchFamily="49" charset="0"/>
                <a:ea typeface="Courier New" pitchFamily="49" charset="-122"/>
                <a:cs typeface="Courier New" pitchFamily="49" charset="-120"/>
              </a:rPr>
              <a:t>85 90 78</a:t>
            </a:r>
            <a:endParaRPr lang="en-US" sz="1500" dirty="0"/>
          </a:p>
        </p:txBody>
      </p:sp>
      <p:sp>
        <p:nvSpPr>
          <p:cNvPr id="17" name="Text 15"/>
          <p:cNvSpPr/>
          <p:nvPr/>
        </p:nvSpPr>
        <p:spPr>
          <a:xfrm>
            <a:off x="8305800" y="4048522"/>
            <a:ext cx="2930144"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04040"/>
                </a:solidFill>
                <a:latin typeface="Carlito" pitchFamily="34" charset="0"/>
                <a:ea typeface="Carlito" pitchFamily="34" charset="-122"/>
                <a:cs typeface="Carlito" pitchFamily="34" charset="-120"/>
              </a:rPr>
              <a:t>count = 3</a:t>
            </a:r>
            <a:endParaRPr lang="en-US" sz="1400" dirty="0"/>
          </a:p>
        </p:txBody>
      </p:sp>
      <p:sp>
        <p:nvSpPr>
          <p:cNvPr id="18" name="Text 16"/>
          <p:cNvSpPr/>
          <p:nvPr/>
        </p:nvSpPr>
        <p:spPr>
          <a:xfrm>
            <a:off x="812800" y="4703763"/>
            <a:ext cx="10566400" cy="612775"/>
          </a:xfrm>
          <a:prstGeom prst="roundRect">
            <a:avLst>
              <a:gd name="adj" fmla="val 20725"/>
            </a:avLst>
          </a:prstGeom>
          <a:solidFill>
            <a:srgbClr val="F2F2F2"/>
          </a:solidFill>
          <a:ln w="12700">
            <a:solidFill>
              <a:srgbClr val="404040"/>
            </a:solidFill>
          </a:ln>
        </p:spPr>
        <p:txBody>
          <a:bodyPr wrap="square" lIns="216803" tIns="140603" rIns="0" bIns="115203" rtlCol="0" anchor="t">
            <a:normAutofit/>
          </a:bodyPr>
          <a:lstStyle/>
          <a:p>
            <a:pPr marL="0" indent="0" algn="l">
              <a:lnSpc>
                <a:spcPts val="2025"/>
              </a:lnSpc>
              <a:buNone/>
            </a:pPr>
            <a:r>
              <a:rPr lang="en-US" sz="1500" b="1" dirty="0">
                <a:solidFill>
                  <a:srgbClr val="000000"/>
                </a:solidFill>
                <a:latin typeface="Carlito" pitchFamily="34" charset="0"/>
                <a:ea typeface="Carlito" pitchFamily="34" charset="-122"/>
                <a:cs typeface="Carlito" pitchFamily="34" charset="-120"/>
              </a:rPr>
              <a:t>Decimals like 3.5 7.25?</a:t>
            </a:r>
            <a:r>
              <a:rPr lang="en-US" sz="1500" dirty="0">
                <a:solidFill>
                  <a:srgbClr val="000000"/>
                </a:solidFill>
                <a:latin typeface="Carlito" pitchFamily="34" charset="0"/>
                <a:ea typeface="Carlito" pitchFamily="34" charset="-122"/>
                <a:cs typeface="Carlito" pitchFamily="34" charset="-120"/>
              </a:rPr>
              <a:t> Same loop, but read into a </a:t>
            </a:r>
            <a:r>
              <a:rPr lang="en-US" sz="1500" b="1" dirty="0">
                <a:solidFill>
                  <a:srgbClr val="000000"/>
                </a:solidFill>
                <a:latin typeface="Carlito" pitchFamily="34" charset="0"/>
                <a:ea typeface="Carlito" pitchFamily="34" charset="-122"/>
                <a:cs typeface="Carlito" pitchFamily="34" charset="-120"/>
              </a:rPr>
              <a:t>double</a:t>
            </a:r>
            <a:r>
              <a:rPr lang="en-US" sz="1500" dirty="0">
                <a:solidFill>
                  <a:srgbClr val="000000"/>
                </a:solidFill>
                <a:latin typeface="Carlito" pitchFamily="34" charset="0"/>
                <a:ea typeface="Carlito" pitchFamily="34" charset="-122"/>
                <a:cs typeface="Carlito" pitchFamily="34" charset="-120"/>
              </a:rPr>
              <a:t>. An int would read 3 and then get stuck at .5</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THE MAP FOR TODAY</a:t>
            </a:r>
            <a:endParaRPr lang="en-US" sz="1200" dirty="0"/>
          </a:p>
        </p:txBody>
      </p:sp>
      <p:sp>
        <p:nvSpPr>
          <p:cNvPr id="3" name="Text 1"/>
          <p:cNvSpPr>
            <a:spLocks noGrp="1"/>
          </p:cNvSpPr>
          <p:nvPr>
            <p:ph type="title"/>
          </p:nvPr>
        </p:nvSpPr>
        <p:spPr>
          <a:xfrm>
            <a:off x="812800" y="924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Files come in many shapes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12801"/>
          <a:ext cx="10553700" cy="3951981"/>
        </p:xfrm>
        <a:graphic>
          <a:graphicData uri="http://schemas.openxmlformats.org/drawingml/2006/table">
            <a:tbl>
              <a:tblPr/>
              <a:tblGrid>
                <a:gridCol w="2955036">
                  <a:extLst>
                    <a:ext uri="{9D8B030D-6E8A-4147-A177-3AD203B41FA5}">
                      <a16:colId xmlns:a16="http://schemas.microsoft.com/office/drawing/2014/main" val="20000"/>
                    </a:ext>
                  </a:extLst>
                </a:gridCol>
                <a:gridCol w="3377184">
                  <a:extLst>
                    <a:ext uri="{9D8B030D-6E8A-4147-A177-3AD203B41FA5}">
                      <a16:colId xmlns:a16="http://schemas.microsoft.com/office/drawing/2014/main" val="20001"/>
                    </a:ext>
                  </a:extLst>
                </a:gridCol>
                <a:gridCol w="4221480">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000000"/>
                          </a:solidFill>
                          <a:latin typeface="Carlito" pitchFamily="34" charset="0"/>
                          <a:ea typeface="Carlito" pitchFamily="34" charset="-122"/>
                          <a:cs typeface="Carlito" pitchFamily="34" charset="-120"/>
                        </a:rPr>
                        <a:t>Format</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D9D9D9"/>
                    </a:solidFill>
                  </a:tcPr>
                </a:tc>
                <a:tc>
                  <a:txBody>
                    <a:bodyPr/>
                    <a:lstStyle/>
                    <a:p>
                      <a:pPr marL="0" indent="0">
                        <a:lnSpc>
                          <a:spcPts val="1820"/>
                        </a:lnSpc>
                        <a:buNone/>
                      </a:pPr>
                      <a:r>
                        <a:rPr lang="en-US" sz="1300" b="1" dirty="0">
                          <a:solidFill>
                            <a:srgbClr val="000000"/>
                          </a:solidFill>
                          <a:latin typeface="Carlito" pitchFamily="34" charset="0"/>
                          <a:ea typeface="Carlito" pitchFamily="34" charset="-122"/>
                          <a:cs typeface="Carlito" pitchFamily="34" charset="-120"/>
                        </a:rPr>
                        <a:t>Sample</a:t>
                      </a:r>
                      <a:endParaRPr lang="en-US" sz="1300" dirty="0">
                        <a:latin typeface="Carlito" charset="0"/>
                        <a:ea typeface="Carlito" charset="0"/>
                        <a:cs typeface="Carlito" charset="0"/>
                      </a:endParaRPr>
                    </a:p>
                  </a:txBody>
                  <a:tcPr marL="57785" marR="57785" marT="57785" marB="57785">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D9D9D9"/>
                    </a:solidFill>
                  </a:tcPr>
                </a:tc>
                <a:tc>
                  <a:txBody>
                    <a:bodyPr/>
                    <a:lstStyle/>
                    <a:p>
                      <a:pPr marL="0" indent="0">
                        <a:lnSpc>
                          <a:spcPts val="1820"/>
                        </a:lnSpc>
                        <a:buNone/>
                      </a:pPr>
                      <a:r>
                        <a:rPr lang="en-US" sz="1300" b="1" dirty="0">
                          <a:solidFill>
                            <a:srgbClr val="000000"/>
                          </a:solidFill>
                          <a:latin typeface="Carlito" pitchFamily="34" charset="0"/>
                          <a:ea typeface="Carlito" pitchFamily="34" charset="-122"/>
                          <a:cs typeface="Carlito" pitchFamily="34" charset="-120"/>
                        </a:rPr>
                        <a:t>The trick</a:t>
                      </a:r>
                      <a:endParaRPr lang="en-US" sz="1300" dirty="0">
                        <a:latin typeface="Carlito" charset="0"/>
                        <a:ea typeface="Carlito" charset="0"/>
                        <a:cs typeface="Carlito" charset="0"/>
                      </a:endParaRPr>
                    </a:p>
                  </a:txBody>
                  <a:tcPr marL="57785" marR="57785" marT="57785" marB="57785">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Comma-separated</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85,90,78</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Read the comma into a char, or ignore(1, ',')</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Date and time</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12/05/2026 09:30</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Read / and : into a char, or ignore() them</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Expression</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12 + 7</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Number, char, number</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Number letter number</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101 A 85</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Parallel arrays: int, char, int</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Letters only</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ABACB</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Read one char at a time</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Names</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Ali Khan,85</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char array; getline for spaces</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359271">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Count first</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4 | 10 20 30 40</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Read n, then loop n times</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7"/>
                  </a:ext>
                </a:extLst>
              </a:tr>
              <a:tr h="359271">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Sentinel</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85 90 78 -1</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Stop at the special value</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8"/>
                  </a:ext>
                </a:extLst>
              </a:tr>
              <a:tr h="359271">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Header line</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Roll Marks</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Skip it with ignore()</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9"/>
                  </a:ext>
                </a:extLst>
              </a:tr>
              <a:tr h="359271">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Grid</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2 3 | 1 2 3 | 4 5 6</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Nested loops into a 2D array</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10"/>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SEPARATORS</a:t>
            </a:r>
            <a:endParaRPr lang="en-US" sz="1200" dirty="0"/>
          </a:p>
        </p:txBody>
      </p:sp>
      <p:sp>
        <p:nvSpPr>
          <p:cNvPr id="3" name="Text 1"/>
          <p:cNvSpPr>
            <a:spLocks noGrp="1"/>
          </p:cNvSpPr>
          <p:nvPr>
            <p:ph type="title"/>
          </p:nvPr>
        </p:nvSpPr>
        <p:spPr>
          <a:xfrm>
            <a:off x="812800" y="924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Comma-separated numbers</a:t>
            </a:r>
            <a:endParaRPr lang="en-US" sz="3200" dirty="0"/>
          </a:p>
        </p:txBody>
      </p:sp>
      <p:sp>
        <p:nvSpPr>
          <p:cNvPr id="4" name="Shape 2"/>
          <p:cNvSpPr/>
          <p:nvPr/>
        </p:nvSpPr>
        <p:spPr>
          <a:xfrm>
            <a:off x="812800" y="1625501"/>
            <a:ext cx="3810000" cy="934641"/>
          </a:xfrm>
          <a:prstGeom prst="roundRect">
            <a:avLst>
              <a:gd name="adj" fmla="val 13588"/>
            </a:avLst>
          </a:prstGeom>
          <a:solidFill>
            <a:srgbClr val="FFFFFF"/>
          </a:solidFill>
          <a:ln w="9525">
            <a:solidFill>
              <a:srgbClr val="808080"/>
            </a:solidFill>
          </a:ln>
        </p:spPr>
        <p:txBody>
          <a:bodyPr/>
          <a:lstStyle/>
          <a:p>
            <a:endParaRPr lang="en-US"/>
          </a:p>
        </p:txBody>
      </p:sp>
      <p:sp>
        <p:nvSpPr>
          <p:cNvPr id="5" name="Text 3"/>
          <p:cNvSpPr/>
          <p:nvPr/>
        </p:nvSpPr>
        <p:spPr>
          <a:xfrm>
            <a:off x="1041400" y="1803301"/>
            <a:ext cx="345338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04040"/>
                </a:solidFill>
                <a:latin typeface="Courier New" pitchFamily="49" charset="0"/>
                <a:ea typeface="Courier New" pitchFamily="49" charset="-122"/>
                <a:cs typeface="Courier New" pitchFamily="49" charset="-120"/>
              </a:rPr>
              <a:t>marks.txt</a:t>
            </a:r>
            <a:endParaRPr lang="en-US" sz="1200" dirty="0"/>
          </a:p>
        </p:txBody>
      </p:sp>
      <p:sp>
        <p:nvSpPr>
          <p:cNvPr id="6" name="Text 4"/>
          <p:cNvSpPr/>
          <p:nvPr/>
        </p:nvSpPr>
        <p:spPr>
          <a:xfrm>
            <a:off x="1041400" y="2080121"/>
            <a:ext cx="3453384"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000000"/>
                </a:solidFill>
                <a:latin typeface="Courier New" pitchFamily="49" charset="0"/>
                <a:ea typeface="Courier New" pitchFamily="49" charset="-122"/>
                <a:cs typeface="Courier New" pitchFamily="49" charset="-120"/>
              </a:rPr>
              <a:t>85,90,78,92,88</a:t>
            </a:r>
            <a:endParaRPr lang="en-US" sz="1700" dirty="0"/>
          </a:p>
        </p:txBody>
      </p:sp>
      <p:sp>
        <p:nvSpPr>
          <p:cNvPr id="7" name="Text 5"/>
          <p:cNvSpPr/>
          <p:nvPr/>
        </p:nvSpPr>
        <p:spPr>
          <a:xfrm>
            <a:off x="890270" y="2737941"/>
            <a:ext cx="3839210" cy="1311275"/>
          </a:xfrm>
          <a:prstGeom prst="rect">
            <a:avLst/>
          </a:prstGeom>
          <a:noFill/>
          <a:ln/>
        </p:spPr>
        <p:txBody>
          <a:bodyPr wrap="square" lIns="0" tIns="0" rIns="0" bIns="0" rtlCol="0" anchor="t">
            <a:normAutofit fontScale="77500" lnSpcReduction="20000"/>
          </a:bodyPr>
          <a:lstStyle/>
          <a:p>
            <a:pPr marL="176530" indent="-176530" algn="l">
              <a:lnSpc>
                <a:spcPts val="2025"/>
              </a:lnSpc>
              <a:buSzPct val="100000"/>
              <a:buChar char="•"/>
            </a:pPr>
            <a:r>
              <a:rPr lang="en-US" sz="1500" b="1" dirty="0">
                <a:solidFill>
                  <a:srgbClr val="000000"/>
                </a:solidFill>
                <a:latin typeface="Carlito" pitchFamily="34" charset="0"/>
                <a:ea typeface="Carlito" pitchFamily="34" charset="-122"/>
                <a:cs typeface="Carlito" pitchFamily="34" charset="-120"/>
              </a:rPr>
              <a:t>&gt;&gt;</a:t>
            </a:r>
            <a:r>
              <a:rPr lang="en-US" sz="1500" dirty="0">
                <a:solidFill>
                  <a:srgbClr val="000000"/>
                </a:solidFill>
                <a:latin typeface="Carlito" pitchFamily="34" charset="0"/>
                <a:ea typeface="Carlito" pitchFamily="34" charset="-122"/>
                <a:cs typeface="Carlito" pitchFamily="34" charset="-120"/>
              </a:rPr>
              <a:t> reads 85 and stops at the comma, because a comma is not a digit.</a:t>
            </a:r>
            <a:endParaRPr lang="en-US" sz="1500" dirty="0"/>
          </a:p>
          <a:p>
            <a:pPr marL="176530" indent="-176530" algn="l">
              <a:lnSpc>
                <a:spcPts val="2025"/>
              </a:lnSpc>
              <a:buSzPct val="100000"/>
              <a:buChar char="•"/>
            </a:pPr>
            <a:r>
              <a:rPr lang="en-US" sz="1500" dirty="0">
                <a:solidFill>
                  <a:srgbClr val="000000"/>
                </a:solidFill>
                <a:latin typeface="Carlito" pitchFamily="34" charset="0"/>
                <a:ea typeface="Carlito" pitchFamily="34" charset="-122"/>
                <a:cs typeface="Carlito" pitchFamily="34" charset="-120"/>
              </a:rPr>
              <a:t>The comma is still waiting. The next int read would fail on it.</a:t>
            </a:r>
            <a:endParaRPr lang="en-US" sz="1500" dirty="0"/>
          </a:p>
          <a:p>
            <a:pPr marL="176530" indent="-176530" algn="l">
              <a:lnSpc>
                <a:spcPts val="2025"/>
              </a:lnSpc>
              <a:buSzPct val="100000"/>
              <a:buChar char="•"/>
            </a:pPr>
            <a:r>
              <a:rPr lang="en-US" sz="1500" b="1" dirty="0">
                <a:solidFill>
                  <a:srgbClr val="000000"/>
                </a:solidFill>
                <a:latin typeface="Carlito" pitchFamily="34" charset="0"/>
                <a:ea typeface="Carlito" pitchFamily="34" charset="-122"/>
                <a:cs typeface="Carlito" pitchFamily="34" charset="-120"/>
              </a:rPr>
              <a:t>Fix:</a:t>
            </a:r>
            <a:r>
              <a:rPr lang="en-US" sz="1500" dirty="0">
                <a:solidFill>
                  <a:srgbClr val="000000"/>
                </a:solidFill>
                <a:latin typeface="Carlito" pitchFamily="34" charset="0"/>
                <a:ea typeface="Carlito" pitchFamily="34" charset="-122"/>
                <a:cs typeface="Carlito" pitchFamily="34" charset="-120"/>
              </a:rPr>
              <a:t> read the comma into a char, or skip it with ignore().</a:t>
            </a:r>
            <a:endParaRPr lang="en-US" sz="1500" dirty="0"/>
          </a:p>
        </p:txBody>
      </p:sp>
      <p:sp>
        <p:nvSpPr>
          <p:cNvPr id="8" name="Text 6"/>
          <p:cNvSpPr/>
          <p:nvPr/>
        </p:nvSpPr>
        <p:spPr>
          <a:xfrm>
            <a:off x="4876800" y="1625501"/>
            <a:ext cx="6502400" cy="2197596"/>
          </a:xfrm>
          <a:prstGeom prst="roundRect">
            <a:avLst>
              <a:gd name="adj" fmla="val 5779"/>
            </a:avLst>
          </a:prstGeom>
          <a:solidFill>
            <a:srgbClr val="F2F2F2"/>
          </a:solidFill>
          <a:ln w="12700">
            <a:solidFill>
              <a:srgbClr val="404040"/>
            </a:solidFill>
          </a:ln>
        </p:spPr>
        <p:txBody>
          <a:bodyPr wrap="square" lIns="216803" tIns="166003" rIns="36971" bIns="140603" rtlCol="0" anchor="t">
            <a:normAutofit/>
          </a:bodyPr>
          <a:lstStyle/>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int marks[10], count = 0;</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char comma;</a:t>
            </a:r>
            <a:endParaRPr lang="en-US" sz="1300" dirty="0"/>
          </a:p>
          <a:p>
            <a:pPr marL="0" indent="0" algn="l">
              <a:lnSpc>
                <a:spcPts val="2015"/>
              </a:lnSpc>
              <a:buNone/>
            </a:pP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while (count &lt; 10 &amp;&amp; inFile &gt;&gt; marks[count]) {</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    count++;</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    inFile &gt;&gt; </a:t>
            </a:r>
            <a:r>
              <a:rPr lang="en-US" sz="1300" b="1" dirty="0">
                <a:solidFill>
                  <a:srgbClr val="000000"/>
                </a:solidFill>
                <a:latin typeface="Courier New" pitchFamily="49" charset="0"/>
                <a:ea typeface="Courier New" pitchFamily="49" charset="-122"/>
                <a:cs typeface="Courier New" pitchFamily="49" charset="-120"/>
              </a:rPr>
              <a:t>comma</a:t>
            </a:r>
            <a:r>
              <a:rPr lang="en-US" sz="1300" dirty="0">
                <a:solidFill>
                  <a:srgbClr val="000000"/>
                </a:solidFill>
                <a:latin typeface="Courier New" pitchFamily="49" charset="0"/>
                <a:ea typeface="Courier New" pitchFamily="49" charset="-122"/>
                <a:cs typeface="Courier New" pitchFamily="49" charset="-120"/>
              </a:rPr>
              <a:t>;    </a:t>
            </a:r>
            <a:r>
              <a:rPr lang="en-US" sz="1300" dirty="0">
                <a:solidFill>
                  <a:srgbClr val="595959"/>
                </a:solidFill>
                <a:latin typeface="Courier New" pitchFamily="49" charset="0"/>
                <a:ea typeface="Courier New" pitchFamily="49" charset="-122"/>
                <a:cs typeface="Courier New" pitchFamily="49" charset="-120"/>
              </a:rPr>
              <a:t>// or: inFile.ignore(1, ',');</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a:t>
            </a:r>
            <a:endParaRPr lang="en-US" sz="1300" dirty="0"/>
          </a:p>
        </p:txBody>
      </p:sp>
      <p:sp>
        <p:nvSpPr>
          <p:cNvPr id="9" name="Shape 7"/>
          <p:cNvSpPr/>
          <p:nvPr/>
        </p:nvSpPr>
        <p:spPr>
          <a:xfrm>
            <a:off x="4876800" y="3975497"/>
            <a:ext cx="3175000" cy="1117402"/>
          </a:xfrm>
          <a:prstGeom prst="roundRect">
            <a:avLst>
              <a:gd name="adj" fmla="val 11366"/>
            </a:avLst>
          </a:prstGeom>
          <a:solidFill>
            <a:srgbClr val="FFFFFF"/>
          </a:solidFill>
          <a:ln w="9525">
            <a:solidFill>
              <a:srgbClr val="808080"/>
            </a:solidFill>
          </a:ln>
        </p:spPr>
        <p:txBody>
          <a:bodyPr/>
          <a:lstStyle/>
          <a:p>
            <a:endParaRPr lang="en-US"/>
          </a:p>
        </p:txBody>
      </p:sp>
      <p:sp>
        <p:nvSpPr>
          <p:cNvPr id="10" name="Text 8"/>
          <p:cNvSpPr/>
          <p:nvPr/>
        </p:nvSpPr>
        <p:spPr>
          <a:xfrm>
            <a:off x="5080000" y="4127897"/>
            <a:ext cx="2851658"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0000"/>
                </a:solidFill>
                <a:latin typeface="Carlito" pitchFamily="34" charset="0"/>
                <a:ea typeface="Carlito" pitchFamily="34" charset="-122"/>
                <a:cs typeface="Carlito" pitchFamily="34" charset="-120"/>
              </a:rPr>
              <a:t>Result</a:t>
            </a:r>
            <a:endParaRPr lang="en-US" sz="1300" dirty="0"/>
          </a:p>
        </p:txBody>
      </p:sp>
      <p:sp>
        <p:nvSpPr>
          <p:cNvPr id="11" name="Text 9"/>
          <p:cNvSpPr/>
          <p:nvPr/>
        </p:nvSpPr>
        <p:spPr>
          <a:xfrm>
            <a:off x="5080000" y="4409777"/>
            <a:ext cx="2851658"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0000"/>
                </a:solidFill>
                <a:latin typeface="Courier New" pitchFamily="49" charset="0"/>
                <a:ea typeface="Courier New" pitchFamily="49" charset="-122"/>
                <a:cs typeface="Courier New" pitchFamily="49" charset="-120"/>
              </a:rPr>
              <a:t>85 90 78 92 88</a:t>
            </a:r>
            <a:endParaRPr lang="en-US" sz="1400" dirty="0"/>
          </a:p>
        </p:txBody>
      </p:sp>
      <p:sp>
        <p:nvSpPr>
          <p:cNvPr id="12" name="Text 10"/>
          <p:cNvSpPr/>
          <p:nvPr/>
        </p:nvSpPr>
        <p:spPr>
          <a:xfrm>
            <a:off x="5080000" y="4709418"/>
            <a:ext cx="285165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04040"/>
                </a:solidFill>
                <a:latin typeface="Carlito" pitchFamily="34" charset="0"/>
                <a:ea typeface="Carlito" pitchFamily="34" charset="-122"/>
                <a:cs typeface="Carlito" pitchFamily="34" charset="-120"/>
              </a:rPr>
              <a:t>count = 5</a:t>
            </a:r>
            <a:endParaRPr lang="en-US" sz="1300" dirty="0"/>
          </a:p>
        </p:txBody>
      </p:sp>
      <p:sp>
        <p:nvSpPr>
          <p:cNvPr id="13" name="Text 11"/>
          <p:cNvSpPr/>
          <p:nvPr/>
        </p:nvSpPr>
        <p:spPr>
          <a:xfrm>
            <a:off x="8204200" y="3975497"/>
            <a:ext cx="3175000" cy="1117402"/>
          </a:xfrm>
          <a:prstGeom prst="roundRect">
            <a:avLst>
              <a:gd name="adj" fmla="val 11366"/>
            </a:avLst>
          </a:prstGeom>
          <a:solidFill>
            <a:srgbClr val="FFFFFF"/>
          </a:solidFill>
          <a:ln w="9525">
            <a:solidFill>
              <a:srgbClr val="808080"/>
            </a:solidFill>
          </a:ln>
        </p:spPr>
        <p:txBody>
          <a:bodyPr wrap="square" lIns="166003" tIns="115203" rIns="82945" bIns="115203" rtlCol="0" anchor="ctr">
            <a:noAutofit/>
          </a:bodyPr>
          <a:lstStyle/>
          <a:p>
            <a:pPr marL="0" indent="0" algn="l">
              <a:lnSpc>
                <a:spcPts val="1890"/>
              </a:lnSpc>
              <a:buNone/>
            </a:pPr>
            <a:r>
              <a:rPr lang="en-US" sz="1300" b="1" dirty="0">
                <a:solidFill>
                  <a:srgbClr val="000000"/>
                </a:solidFill>
                <a:latin typeface="Carlito" pitchFamily="34" charset="0"/>
                <a:ea typeface="Carlito" pitchFamily="34" charset="-122"/>
                <a:cs typeface="Carlito" pitchFamily="34" charset="-120"/>
              </a:rPr>
              <a:t>Or skip it with ignore():</a:t>
            </a:r>
            <a:endParaRPr lang="en-US" sz="1400" dirty="0"/>
          </a:p>
          <a:p>
            <a:pPr marL="0" indent="0" algn="l">
              <a:lnSpc>
                <a:spcPts val="1890"/>
              </a:lnSpc>
              <a:buNone/>
            </a:pPr>
            <a:r>
              <a:rPr lang="en-US" sz="1300" b="1" dirty="0">
                <a:solidFill>
                  <a:srgbClr val="000000"/>
                </a:solidFill>
                <a:latin typeface="Courier New" pitchFamily="34" charset="0"/>
                <a:ea typeface="Carlito" pitchFamily="34" charset="-122"/>
                <a:cs typeface="Carlito" pitchFamily="34" charset="-120"/>
              </a:rPr>
              <a:t>inFile.ignore(1, ',');</a:t>
            </a:r>
            <a:endParaRPr lang="en-US" sz="1400" dirty="0"/>
          </a:p>
          <a:p>
            <a:pPr marL="0" indent="0" algn="l">
              <a:lnSpc>
                <a:spcPts val="1890"/>
              </a:lnSpc>
              <a:buNone/>
            </a:pPr>
            <a:r>
              <a:rPr lang="en-US" sz="1200" b="0" dirty="0">
                <a:solidFill>
                  <a:srgbClr val="000000"/>
                </a:solidFill>
                <a:latin typeface="Carlito" pitchFamily="34" charset="0"/>
                <a:ea typeface="Carlito" pitchFamily="34" charset="-122"/>
                <a:cs typeface="Carlito" pitchFamily="34" charset="-120"/>
              </a:rPr>
              <a:t>Skips exactly one character. For ; or | write that symbol.</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SEPARATORS · TRACING THE LOOP</a:t>
            </a:r>
            <a:endParaRPr lang="en-US" sz="1200" dirty="0"/>
          </a:p>
        </p:txBody>
      </p:sp>
      <p:sp>
        <p:nvSpPr>
          <p:cNvPr id="3" name="Text 1"/>
          <p:cNvSpPr>
            <a:spLocks noGrp="1"/>
          </p:cNvSpPr>
          <p:nvPr>
            <p:ph type="title"/>
          </p:nvPr>
        </p:nvSpPr>
        <p:spPr>
          <a:xfrm>
            <a:off x="812800" y="924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No comma after 88: how does the loop stop?</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12801"/>
          <a:ext cx="10553700" cy="2607962"/>
        </p:xfrm>
        <a:graphic>
          <a:graphicData uri="http://schemas.openxmlformats.org/drawingml/2006/table">
            <a:tbl>
              <a:tblPr/>
              <a:tblGrid>
                <a:gridCol w="2532888">
                  <a:extLst>
                    <a:ext uri="{9D8B030D-6E8A-4147-A177-3AD203B41FA5}">
                      <a16:colId xmlns:a16="http://schemas.microsoft.com/office/drawing/2014/main" val="20000"/>
                    </a:ext>
                  </a:extLst>
                </a:gridCol>
                <a:gridCol w="4854702">
                  <a:extLst>
                    <a:ext uri="{9D8B030D-6E8A-4147-A177-3AD203B41FA5}">
                      <a16:colId xmlns:a16="http://schemas.microsoft.com/office/drawing/2014/main" val="20001"/>
                    </a:ext>
                  </a:extLst>
                </a:gridCol>
                <a:gridCol w="1688592">
                  <a:extLst>
                    <a:ext uri="{9D8B030D-6E8A-4147-A177-3AD203B41FA5}">
                      <a16:colId xmlns:a16="http://schemas.microsoft.com/office/drawing/2014/main" val="20002"/>
                    </a:ext>
                  </a:extLst>
                </a:gridCol>
                <a:gridCol w="1477518">
                  <a:extLst>
                    <a:ext uri="{9D8B030D-6E8A-4147-A177-3AD203B41FA5}">
                      <a16:colId xmlns:a16="http://schemas.microsoft.com/office/drawing/2014/main" val="20003"/>
                    </a:ext>
                  </a:extLst>
                </a:gridCol>
              </a:tblGrid>
              <a:tr h="372566">
                <a:tc>
                  <a:txBody>
                    <a:bodyPr/>
                    <a:lstStyle/>
                    <a:p>
                      <a:pPr marL="0" indent="0">
                        <a:lnSpc>
                          <a:spcPts val="1890"/>
                        </a:lnSpc>
                        <a:buNone/>
                      </a:pPr>
                      <a:r>
                        <a:rPr lang="en-US" sz="1350" b="1" dirty="0">
                          <a:solidFill>
                            <a:srgbClr val="000000"/>
                          </a:solidFill>
                          <a:latin typeface="Carlito" pitchFamily="34" charset="0"/>
                          <a:ea typeface="Carlito" pitchFamily="34" charset="-122"/>
                          <a:cs typeface="Carlito" pitchFamily="34" charset="-120"/>
                        </a:rPr>
                        <a:t>Step</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D9D9D9"/>
                    </a:solidFill>
                  </a:tcPr>
                </a:tc>
                <a:tc>
                  <a:txBody>
                    <a:bodyPr/>
                    <a:lstStyle/>
                    <a:p>
                      <a:pPr marL="0" indent="0">
                        <a:lnSpc>
                          <a:spcPts val="1890"/>
                        </a:lnSpc>
                        <a:buNone/>
                      </a:pPr>
                      <a:r>
                        <a:rPr lang="en-US" sz="1350" b="1" dirty="0">
                          <a:solidFill>
                            <a:srgbClr val="000000"/>
                          </a:solidFill>
                          <a:latin typeface="Carlito" pitchFamily="34" charset="0"/>
                          <a:ea typeface="Carlito" pitchFamily="34" charset="-122"/>
                          <a:cs typeface="Carlito" pitchFamily="34" charset="-120"/>
                        </a:rPr>
                        <a:t>What happens</a:t>
                      </a:r>
                      <a:endParaRPr lang="en-US" sz="1350" dirty="0">
                        <a:latin typeface="Carlito" charset="0"/>
                        <a:ea typeface="Carlito" charset="0"/>
                        <a:cs typeface="Carlito" charset="0"/>
                      </a:endParaRPr>
                    </a:p>
                  </a:txBody>
                  <a:tcPr marL="60007" marR="60007" marT="60007" marB="60007">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D9D9D9"/>
                    </a:solidFill>
                  </a:tcPr>
                </a:tc>
                <a:tc>
                  <a:txBody>
                    <a:bodyPr/>
                    <a:lstStyle/>
                    <a:p>
                      <a:pPr marL="0" indent="0">
                        <a:lnSpc>
                          <a:spcPts val="1890"/>
                        </a:lnSpc>
                        <a:buNone/>
                      </a:pPr>
                      <a:r>
                        <a:rPr lang="en-US" sz="1350" b="1" dirty="0">
                          <a:solidFill>
                            <a:srgbClr val="000000"/>
                          </a:solidFill>
                          <a:latin typeface="Carlito" pitchFamily="34" charset="0"/>
                          <a:ea typeface="Carlito" pitchFamily="34" charset="-122"/>
                          <a:cs typeface="Carlito" pitchFamily="34" charset="-120"/>
                        </a:rPr>
                        <a:t>Stream</a:t>
                      </a:r>
                      <a:endParaRPr lang="en-US" sz="1350" dirty="0">
                        <a:latin typeface="Carlito" charset="0"/>
                        <a:ea typeface="Carlito" charset="0"/>
                        <a:cs typeface="Carlito" charset="0"/>
                      </a:endParaRPr>
                    </a:p>
                  </a:txBody>
                  <a:tcPr marL="60007" marR="60007" marT="60007" marB="60007">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D9D9D9"/>
                    </a:solidFill>
                  </a:tcPr>
                </a:tc>
                <a:tc>
                  <a:txBody>
                    <a:bodyPr/>
                    <a:lstStyle/>
                    <a:p>
                      <a:pPr marL="0" indent="0">
                        <a:lnSpc>
                          <a:spcPts val="1890"/>
                        </a:lnSpc>
                        <a:buNone/>
                      </a:pPr>
                      <a:r>
                        <a:rPr lang="en-US" sz="1350" b="1" dirty="0">
                          <a:solidFill>
                            <a:srgbClr val="000000"/>
                          </a:solidFill>
                          <a:latin typeface="Carlito" pitchFamily="34" charset="0"/>
                          <a:ea typeface="Carlito" pitchFamily="34" charset="-122"/>
                          <a:cs typeface="Carlito" pitchFamily="34" charset="-120"/>
                        </a:rPr>
                        <a:t>count</a:t>
                      </a:r>
                      <a:endParaRPr lang="en-US" sz="1350" dirty="0">
                        <a:latin typeface="Carlito" charset="0"/>
                        <a:ea typeface="Carlito" charset="0"/>
                        <a:cs typeface="Carlito" charset="0"/>
                      </a:endParaRPr>
                    </a:p>
                  </a:txBody>
                  <a:tcPr marL="60007" marR="60007" marT="60007" marB="60007">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72566">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&gt;&gt; marks[0]</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Reads 85, stops at the comma</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OK</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1</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r h="372566">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&gt;&gt; comma</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Reads the comma</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OK</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1</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372566">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Same for 90, 78 and 92</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OK</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4</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3"/>
                  </a:ext>
                </a:extLst>
              </a:tr>
              <a:tr h="372566">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&gt;&gt; marks[4]</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Reads 88, reaches the end of the file</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OK</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5</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372566">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&gt;&gt; comma</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Nothing left to read, so this read fails</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failed</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5</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372566">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loop check</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Stream already failed, so &gt;&gt; is false</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failed</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90"/>
                        </a:lnSpc>
                        <a:buNone/>
                      </a:pPr>
                      <a:r>
                        <a:rPr lang="en-US" sz="1350" dirty="0">
                          <a:solidFill>
                            <a:srgbClr val="000000"/>
                          </a:solidFill>
                          <a:latin typeface="Carlito" pitchFamily="34" charset="0"/>
                          <a:ea typeface="Carlito" pitchFamily="34" charset="-122"/>
                          <a:cs typeface="Carlito" pitchFamily="34" charset="-120"/>
                        </a:rPr>
                        <a:t>5</a:t>
                      </a:r>
                      <a:endParaRPr lang="en-US" sz="1350" dirty="0">
                        <a:latin typeface="Carlito" charset="0"/>
                        <a:ea typeface="Carlito" charset="0"/>
                        <a:cs typeface="Carlito" charset="0"/>
                      </a:endParaRPr>
                    </a:p>
                  </a:txBody>
                  <a:tcPr marL="60007" marR="60007" marT="60007" marB="60007">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bl>
          </a:graphicData>
        </a:graphic>
      </p:graphicFrame>
      <p:sp>
        <p:nvSpPr>
          <p:cNvPr id="5" name="Text 2"/>
          <p:cNvSpPr/>
          <p:nvPr/>
        </p:nvSpPr>
        <p:spPr>
          <a:xfrm>
            <a:off x="812800" y="4449366"/>
            <a:ext cx="6162080" cy="869950"/>
          </a:xfrm>
          <a:prstGeom prst="roundRect">
            <a:avLst>
              <a:gd name="adj" fmla="val 14599"/>
            </a:avLst>
          </a:prstGeom>
          <a:solidFill>
            <a:srgbClr val="F2F2F2"/>
          </a:solidFill>
          <a:ln w="12700">
            <a:solidFill>
              <a:srgbClr val="404040"/>
            </a:solidFill>
          </a:ln>
        </p:spPr>
        <p:txBody>
          <a:bodyPr wrap="square" lIns="216803" tIns="140603" rIns="47181" bIns="115203" rtlCol="0" anchor="t">
            <a:normAutofit/>
          </a:bodyPr>
          <a:lstStyle/>
          <a:p>
            <a:pPr marL="0" indent="0" algn="l">
              <a:lnSpc>
                <a:spcPts val="2025"/>
              </a:lnSpc>
              <a:buNone/>
            </a:pPr>
            <a:r>
              <a:rPr lang="en-US" sz="1500" b="1" dirty="0">
                <a:solidFill>
                  <a:srgbClr val="000000"/>
                </a:solidFill>
                <a:latin typeface="Carlito" pitchFamily="34" charset="0"/>
                <a:ea typeface="Carlito" pitchFamily="34" charset="-122"/>
                <a:cs typeface="Carlito" pitchFamily="34" charset="-120"/>
              </a:rPr>
              <a:t>88 is safe:</a:t>
            </a:r>
            <a:r>
              <a:rPr lang="en-US" sz="1500" dirty="0">
                <a:solidFill>
                  <a:srgbClr val="000000"/>
                </a:solidFill>
                <a:latin typeface="Carlito" pitchFamily="34" charset="0"/>
                <a:ea typeface="Carlito" pitchFamily="34" charset="-122"/>
                <a:cs typeface="Carlito" pitchFamily="34" charset="-120"/>
              </a:rPr>
              <a:t> it was stored and counted before the comma read failed. A failed stream stays failed, so the loop has to stop.</a:t>
            </a:r>
            <a:endParaRPr lang="en-US" sz="1500" dirty="0"/>
          </a:p>
        </p:txBody>
      </p:sp>
      <p:sp>
        <p:nvSpPr>
          <p:cNvPr id="6" name="Text 3"/>
          <p:cNvSpPr/>
          <p:nvPr/>
        </p:nvSpPr>
        <p:spPr>
          <a:xfrm>
            <a:off x="7152680" y="4449366"/>
            <a:ext cx="4226520" cy="869950"/>
          </a:xfrm>
          <a:prstGeom prst="roundRect">
            <a:avLst>
              <a:gd name="adj" fmla="val 14599"/>
            </a:avLst>
          </a:prstGeom>
          <a:solidFill>
            <a:srgbClr val="FFFFFF"/>
          </a:solidFill>
          <a:ln w="9525">
            <a:solidFill>
              <a:srgbClr val="808080"/>
            </a:solidFill>
          </a:ln>
        </p:spPr>
        <p:txBody>
          <a:bodyPr wrap="square" lIns="191403" tIns="140603" rIns="78323" bIns="140603" rtlCol="0" anchor="ctr">
            <a:normAutofit/>
          </a:bodyPr>
          <a:lstStyle/>
          <a:p>
            <a:pPr marL="0" indent="0" algn="l">
              <a:lnSpc>
                <a:spcPts val="1890"/>
              </a:lnSpc>
              <a:buNone/>
            </a:pPr>
            <a:r>
              <a:rPr lang="en-US" sz="1400" dirty="0">
                <a:solidFill>
                  <a:srgbClr val="000000"/>
                </a:solidFill>
                <a:latin typeface="Carlito" pitchFamily="34" charset="0"/>
                <a:ea typeface="Carlito" pitchFamily="34" charset="-122"/>
                <a:cs typeface="Carlito" pitchFamily="34" charset="-120"/>
              </a:rPr>
              <a:t>A new line after 88, or a trailing comma? Still </a:t>
            </a:r>
            <a:r>
              <a:rPr lang="en-US" sz="1400" b="1" dirty="0">
                <a:solidFill>
                  <a:srgbClr val="000000"/>
                </a:solidFill>
                <a:latin typeface="Carlito" pitchFamily="34" charset="0"/>
                <a:ea typeface="Carlito" pitchFamily="34" charset="-122"/>
                <a:cs typeface="Carlito" pitchFamily="34" charset="-120"/>
              </a:rPr>
              <a:t>count = 5</a:t>
            </a:r>
            <a:r>
              <a:rPr lang="en-US" sz="1400" dirty="0">
                <a:solidFill>
                  <a:srgbClr val="000000"/>
                </a:solidFill>
                <a:latin typeface="Carlito" pitchFamily="34" charset="0"/>
                <a:ea typeface="Carlito" pitchFamily="34" charset="-122"/>
                <a:cs typeface="Carlito" pitchFamily="34" charset="-120"/>
              </a:rPr>
              <a:t>.</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SEPARATORS</a:t>
            </a:r>
            <a:endParaRPr lang="en-US" sz="1200" dirty="0"/>
          </a:p>
        </p:txBody>
      </p:sp>
      <p:sp>
        <p:nvSpPr>
          <p:cNvPr id="3" name="Text 1"/>
          <p:cNvSpPr>
            <a:spLocks noGrp="1"/>
          </p:cNvSpPr>
          <p:nvPr>
            <p:ph type="title"/>
          </p:nvPr>
        </p:nvSpPr>
        <p:spPr>
          <a:xfrm>
            <a:off x="812800" y="924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The same trick: dates, times and sums</a:t>
            </a:r>
            <a:endParaRPr lang="en-US" sz="3200" dirty="0"/>
          </a:p>
        </p:txBody>
      </p:sp>
      <p:sp>
        <p:nvSpPr>
          <p:cNvPr id="4" name="Shape 2"/>
          <p:cNvSpPr/>
          <p:nvPr/>
        </p:nvSpPr>
        <p:spPr>
          <a:xfrm>
            <a:off x="812800" y="1625501"/>
            <a:ext cx="3386634" cy="3932039"/>
          </a:xfrm>
          <a:prstGeom prst="roundRect">
            <a:avLst>
              <a:gd name="adj" fmla="val 3750"/>
            </a:avLst>
          </a:prstGeom>
          <a:solidFill>
            <a:srgbClr val="FFFFFF"/>
          </a:solidFill>
          <a:ln w="9525">
            <a:solidFill>
              <a:srgbClr val="808080"/>
            </a:solidFill>
          </a:ln>
        </p:spPr>
        <p:txBody>
          <a:bodyPr/>
          <a:lstStyle/>
          <a:p>
            <a:endParaRPr lang="en-US"/>
          </a:p>
        </p:txBody>
      </p:sp>
      <p:sp>
        <p:nvSpPr>
          <p:cNvPr id="5" name="Text 3"/>
          <p:cNvSpPr/>
          <p:nvPr/>
        </p:nvSpPr>
        <p:spPr>
          <a:xfrm>
            <a:off x="1016000" y="1828701"/>
            <a:ext cx="3069641"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00"/>
                </a:solidFill>
                <a:latin typeface="Carlito" pitchFamily="34" charset="0"/>
                <a:ea typeface="Carlito" pitchFamily="34" charset="-122"/>
                <a:cs typeface="Carlito" pitchFamily="34" charset="-120"/>
              </a:rPr>
              <a:t>Date</a:t>
            </a:r>
            <a:endParaRPr lang="en-US" sz="1800" dirty="0"/>
          </a:p>
        </p:txBody>
      </p:sp>
      <p:sp>
        <p:nvSpPr>
          <p:cNvPr id="6" name="Text 4"/>
          <p:cNvSpPr/>
          <p:nvPr/>
        </p:nvSpPr>
        <p:spPr>
          <a:xfrm>
            <a:off x="1016000" y="2229941"/>
            <a:ext cx="2980234" cy="436860"/>
          </a:xfrm>
          <a:prstGeom prst="roundRect">
            <a:avLst>
              <a:gd name="adj" fmla="val 14536"/>
            </a:avLst>
          </a:prstGeom>
          <a:solidFill>
            <a:srgbClr val="FFFFFF"/>
          </a:solidFill>
          <a:ln w="9525">
            <a:solidFill>
              <a:srgbClr val="808080"/>
            </a:solidFill>
          </a:ln>
        </p:spPr>
        <p:txBody>
          <a:bodyPr wrap="square" lIns="108401" tIns="57601" rIns="26614" bIns="32201" rtlCol="0" anchor="t">
            <a:normAutofit/>
          </a:bodyPr>
          <a:lstStyle/>
          <a:p>
            <a:pPr marL="0" indent="0" algn="l">
              <a:lnSpc>
                <a:spcPts val="2240"/>
              </a:lnSpc>
              <a:buNone/>
            </a:pPr>
            <a:r>
              <a:rPr lang="en-US" sz="1600" dirty="0">
                <a:solidFill>
                  <a:srgbClr val="000000"/>
                </a:solidFill>
                <a:latin typeface="Courier New" pitchFamily="49" charset="0"/>
                <a:ea typeface="Courier New" pitchFamily="49" charset="-122"/>
                <a:cs typeface="Courier New" pitchFamily="49" charset="-120"/>
              </a:rPr>
              <a:t>12/05/2026</a:t>
            </a:r>
            <a:endParaRPr lang="en-US" sz="1600" dirty="0"/>
          </a:p>
        </p:txBody>
      </p:sp>
      <p:sp>
        <p:nvSpPr>
          <p:cNvPr id="7" name="Text 5"/>
          <p:cNvSpPr/>
          <p:nvPr/>
        </p:nvSpPr>
        <p:spPr>
          <a:xfrm>
            <a:off x="1016000" y="2793802"/>
            <a:ext cx="2980234" cy="1168400"/>
          </a:xfrm>
          <a:prstGeom prst="roundRect">
            <a:avLst>
              <a:gd name="adj" fmla="val 6522"/>
            </a:avLst>
          </a:prstGeom>
          <a:solidFill>
            <a:srgbClr val="F2F2F2"/>
          </a:solidFill>
          <a:ln w="12700">
            <a:solidFill>
              <a:srgbClr val="404040"/>
            </a:solidFill>
          </a:ln>
        </p:spPr>
        <p:txBody>
          <a:bodyPr wrap="square" lIns="117382" tIns="104682" rIns="36357" bIns="79282" rtlCol="0" anchor="t">
            <a:normAutofit/>
          </a:bodyPr>
          <a:lstStyle/>
          <a:p>
            <a:pPr marL="0" indent="0" algn="l">
              <a:lnSpc>
                <a:spcPts val="1800"/>
              </a:lnSpc>
              <a:buNone/>
            </a:pPr>
            <a:r>
              <a:rPr lang="en-US" sz="1200" dirty="0">
                <a:solidFill>
                  <a:srgbClr val="000000"/>
                </a:solidFill>
                <a:latin typeface="Courier New" pitchFamily="49" charset="0"/>
                <a:ea typeface="Courier New" pitchFamily="49" charset="-122"/>
                <a:cs typeface="Courier New" pitchFamily="49" charset="-120"/>
              </a:rPr>
              <a:t>int d, m, y;</a:t>
            </a:r>
            <a:endParaRPr lang="en-US" sz="1200" dirty="0"/>
          </a:p>
          <a:p>
            <a:pPr marL="0" indent="0" algn="l">
              <a:lnSpc>
                <a:spcPts val="1800"/>
              </a:lnSpc>
              <a:buNone/>
            </a:pPr>
            <a:r>
              <a:rPr lang="en-US" sz="1200" dirty="0">
                <a:solidFill>
                  <a:srgbClr val="000000"/>
                </a:solidFill>
                <a:latin typeface="Courier New" pitchFamily="49" charset="0"/>
                <a:ea typeface="Courier New" pitchFamily="49" charset="-122"/>
                <a:cs typeface="Courier New" pitchFamily="49" charset="-120"/>
              </a:rPr>
              <a:t>char s;</a:t>
            </a:r>
            <a:endParaRPr lang="en-US" sz="1200" dirty="0"/>
          </a:p>
          <a:p>
            <a:pPr marL="0" indent="0" algn="l">
              <a:lnSpc>
                <a:spcPts val="1800"/>
              </a:lnSpc>
              <a:buNone/>
            </a:pPr>
            <a:r>
              <a:rPr lang="en-US" sz="1200" dirty="0">
                <a:solidFill>
                  <a:srgbClr val="000000"/>
                </a:solidFill>
                <a:latin typeface="Courier New" pitchFamily="49" charset="0"/>
                <a:ea typeface="Courier New" pitchFamily="49" charset="-122"/>
                <a:cs typeface="Courier New" pitchFamily="49" charset="-120"/>
              </a:rPr>
              <a:t>inFile &gt;&gt; d &gt;&gt; s &gt;&gt; m</a:t>
            </a:r>
            <a:endParaRPr lang="en-US" sz="1200" dirty="0"/>
          </a:p>
          <a:p>
            <a:pPr marL="0" indent="0" algn="l">
              <a:lnSpc>
                <a:spcPts val="1800"/>
              </a:lnSpc>
              <a:buNone/>
            </a:pPr>
            <a:r>
              <a:rPr lang="en-US" sz="1200" dirty="0">
                <a:solidFill>
                  <a:srgbClr val="000000"/>
                </a:solidFill>
                <a:latin typeface="Courier New" pitchFamily="49" charset="0"/>
                <a:ea typeface="Courier New" pitchFamily="49" charset="-122"/>
                <a:cs typeface="Courier New" pitchFamily="49" charset="-120"/>
              </a:rPr>
              <a:t>          &gt;&gt; s &gt;&gt; y;</a:t>
            </a:r>
            <a:endParaRPr lang="en-US" sz="1200" dirty="0"/>
          </a:p>
        </p:txBody>
      </p:sp>
      <p:sp>
        <p:nvSpPr>
          <p:cNvPr id="8" name="Text 6"/>
          <p:cNvSpPr/>
          <p:nvPr/>
        </p:nvSpPr>
        <p:spPr>
          <a:xfrm>
            <a:off x="1016000" y="4089202"/>
            <a:ext cx="3069641"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0000"/>
                </a:solidFill>
                <a:latin typeface="Carlito" pitchFamily="34" charset="0"/>
                <a:ea typeface="Carlito" pitchFamily="34" charset="-122"/>
                <a:cs typeface="Carlito" pitchFamily="34" charset="-120"/>
              </a:rPr>
              <a:t>d = 12, m = 5, y = 2026</a:t>
            </a:r>
            <a:endParaRPr lang="en-US" sz="1400" dirty="0"/>
          </a:p>
        </p:txBody>
      </p:sp>
      <p:sp>
        <p:nvSpPr>
          <p:cNvPr id="9" name="Shape 7"/>
          <p:cNvSpPr/>
          <p:nvPr/>
        </p:nvSpPr>
        <p:spPr>
          <a:xfrm>
            <a:off x="4402634" y="1625501"/>
            <a:ext cx="3386733" cy="3932039"/>
          </a:xfrm>
          <a:prstGeom prst="roundRect">
            <a:avLst>
              <a:gd name="adj" fmla="val 3750"/>
            </a:avLst>
          </a:prstGeom>
          <a:solidFill>
            <a:srgbClr val="FFFFFF"/>
          </a:solidFill>
          <a:ln w="9525">
            <a:solidFill>
              <a:srgbClr val="808080"/>
            </a:solidFill>
          </a:ln>
        </p:spPr>
        <p:txBody>
          <a:bodyPr/>
          <a:lstStyle/>
          <a:p>
            <a:endParaRPr lang="en-US"/>
          </a:p>
        </p:txBody>
      </p:sp>
      <p:sp>
        <p:nvSpPr>
          <p:cNvPr id="10" name="Text 8"/>
          <p:cNvSpPr/>
          <p:nvPr/>
        </p:nvSpPr>
        <p:spPr>
          <a:xfrm>
            <a:off x="4605834" y="1828701"/>
            <a:ext cx="3069743"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00"/>
                </a:solidFill>
                <a:latin typeface="Carlito" pitchFamily="34" charset="0"/>
                <a:ea typeface="Carlito" pitchFamily="34" charset="-122"/>
                <a:cs typeface="Carlito" pitchFamily="34" charset="-120"/>
              </a:rPr>
              <a:t>Time</a:t>
            </a:r>
            <a:endParaRPr lang="en-US" sz="1800" dirty="0"/>
          </a:p>
        </p:txBody>
      </p:sp>
      <p:sp>
        <p:nvSpPr>
          <p:cNvPr id="11" name="Text 9"/>
          <p:cNvSpPr/>
          <p:nvPr/>
        </p:nvSpPr>
        <p:spPr>
          <a:xfrm>
            <a:off x="4605834" y="2229941"/>
            <a:ext cx="2980333" cy="436860"/>
          </a:xfrm>
          <a:prstGeom prst="roundRect">
            <a:avLst>
              <a:gd name="adj" fmla="val 14536"/>
            </a:avLst>
          </a:prstGeom>
          <a:solidFill>
            <a:srgbClr val="FFFFFF"/>
          </a:solidFill>
          <a:ln w="9525">
            <a:solidFill>
              <a:srgbClr val="808080"/>
            </a:solidFill>
          </a:ln>
        </p:spPr>
        <p:txBody>
          <a:bodyPr wrap="square" lIns="108401" tIns="57601" rIns="26612" bIns="32201" rtlCol="0" anchor="t">
            <a:normAutofit/>
          </a:bodyPr>
          <a:lstStyle/>
          <a:p>
            <a:pPr marL="0" indent="0" algn="l">
              <a:lnSpc>
                <a:spcPts val="2240"/>
              </a:lnSpc>
              <a:buNone/>
            </a:pPr>
            <a:r>
              <a:rPr lang="en-US" sz="1600" dirty="0">
                <a:solidFill>
                  <a:srgbClr val="000000"/>
                </a:solidFill>
                <a:latin typeface="Courier New" pitchFamily="49" charset="0"/>
                <a:ea typeface="Courier New" pitchFamily="49" charset="-122"/>
                <a:cs typeface="Courier New" pitchFamily="49" charset="-120"/>
              </a:rPr>
              <a:t>09:30</a:t>
            </a:r>
            <a:endParaRPr lang="en-US" sz="1600" dirty="0"/>
          </a:p>
        </p:txBody>
      </p:sp>
      <p:sp>
        <p:nvSpPr>
          <p:cNvPr id="12" name="Text 10"/>
          <p:cNvSpPr/>
          <p:nvPr/>
        </p:nvSpPr>
        <p:spPr>
          <a:xfrm>
            <a:off x="4605834" y="2793802"/>
            <a:ext cx="2980333" cy="939800"/>
          </a:xfrm>
          <a:prstGeom prst="roundRect">
            <a:avLst>
              <a:gd name="adj" fmla="val 8108"/>
            </a:avLst>
          </a:prstGeom>
          <a:solidFill>
            <a:srgbClr val="F2F2F2"/>
          </a:solidFill>
          <a:ln w="12700">
            <a:solidFill>
              <a:srgbClr val="404040"/>
            </a:solidFill>
          </a:ln>
        </p:spPr>
        <p:txBody>
          <a:bodyPr wrap="square" lIns="117382" tIns="104682" rIns="36354" bIns="79282" rtlCol="0" anchor="t">
            <a:normAutofit/>
          </a:bodyPr>
          <a:lstStyle/>
          <a:p>
            <a:pPr marL="0" indent="0" algn="l">
              <a:lnSpc>
                <a:spcPts val="1800"/>
              </a:lnSpc>
              <a:buNone/>
            </a:pPr>
            <a:r>
              <a:rPr lang="en-US" sz="1200" dirty="0">
                <a:solidFill>
                  <a:srgbClr val="000000"/>
                </a:solidFill>
                <a:latin typeface="Courier New" pitchFamily="49" charset="0"/>
                <a:ea typeface="Courier New" pitchFamily="49" charset="-122"/>
                <a:cs typeface="Courier New" pitchFamily="49" charset="-120"/>
              </a:rPr>
              <a:t>int h, mi;</a:t>
            </a:r>
            <a:endParaRPr lang="en-US" sz="1200" dirty="0"/>
          </a:p>
          <a:p>
            <a:pPr marL="0" indent="0" algn="l">
              <a:lnSpc>
                <a:spcPts val="1800"/>
              </a:lnSpc>
              <a:buNone/>
            </a:pPr>
            <a:r>
              <a:rPr lang="en-US" sz="1200" dirty="0">
                <a:solidFill>
                  <a:srgbClr val="000000"/>
                </a:solidFill>
                <a:latin typeface="Courier New" pitchFamily="49" charset="0"/>
                <a:ea typeface="Courier New" pitchFamily="49" charset="-122"/>
                <a:cs typeface="Courier New" pitchFamily="49" charset="-120"/>
              </a:rPr>
              <a:t>char c;</a:t>
            </a:r>
            <a:endParaRPr lang="en-US" sz="1200" dirty="0"/>
          </a:p>
          <a:p>
            <a:pPr marL="0" indent="0" algn="l">
              <a:lnSpc>
                <a:spcPts val="1800"/>
              </a:lnSpc>
              <a:buNone/>
            </a:pPr>
            <a:r>
              <a:rPr lang="en-US" sz="1200" dirty="0">
                <a:solidFill>
                  <a:srgbClr val="000000"/>
                </a:solidFill>
                <a:latin typeface="Courier New" pitchFamily="49" charset="0"/>
                <a:ea typeface="Courier New" pitchFamily="49" charset="-122"/>
                <a:cs typeface="Courier New" pitchFamily="49" charset="-120"/>
              </a:rPr>
              <a:t>inFile &gt;&gt; h &gt;&gt; c &gt;&gt; mi;</a:t>
            </a:r>
            <a:endParaRPr lang="en-US" sz="1200" dirty="0"/>
          </a:p>
        </p:txBody>
      </p:sp>
      <p:sp>
        <p:nvSpPr>
          <p:cNvPr id="13" name="Text 11"/>
          <p:cNvSpPr/>
          <p:nvPr/>
        </p:nvSpPr>
        <p:spPr>
          <a:xfrm>
            <a:off x="4605834" y="3860602"/>
            <a:ext cx="3069743"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0000"/>
                </a:solidFill>
                <a:latin typeface="Carlito" pitchFamily="34" charset="0"/>
                <a:ea typeface="Carlito" pitchFamily="34" charset="-122"/>
                <a:cs typeface="Carlito" pitchFamily="34" charset="-120"/>
              </a:rPr>
              <a:t>h = 9, mi = 30</a:t>
            </a:r>
            <a:endParaRPr lang="en-US" sz="1400" dirty="0"/>
          </a:p>
          <a:p>
            <a:pPr marL="0" indent="0" algn="l">
              <a:lnSpc>
                <a:spcPts val="1960"/>
              </a:lnSpc>
              <a:buNone/>
            </a:pPr>
            <a:r>
              <a:rPr lang="en-US" sz="1400" dirty="0">
                <a:solidFill>
                  <a:srgbClr val="404040"/>
                </a:solidFill>
                <a:latin typeface="Carlito" pitchFamily="34" charset="0"/>
                <a:ea typeface="Carlito" pitchFamily="34" charset="-122"/>
                <a:cs typeface="Carlito" pitchFamily="34" charset="-120"/>
              </a:rPr>
              <a:t>09 is read as 9</a:t>
            </a:r>
            <a:endParaRPr lang="en-US" sz="1400" dirty="0"/>
          </a:p>
        </p:txBody>
      </p:sp>
      <p:sp>
        <p:nvSpPr>
          <p:cNvPr id="14" name="Shape 12"/>
          <p:cNvSpPr/>
          <p:nvPr/>
        </p:nvSpPr>
        <p:spPr>
          <a:xfrm>
            <a:off x="7992566" y="1625501"/>
            <a:ext cx="3386634" cy="3932039"/>
          </a:xfrm>
          <a:prstGeom prst="roundRect">
            <a:avLst>
              <a:gd name="adj" fmla="val 3750"/>
            </a:avLst>
          </a:prstGeom>
          <a:solidFill>
            <a:srgbClr val="FFFFFF"/>
          </a:solidFill>
          <a:ln w="9525">
            <a:solidFill>
              <a:srgbClr val="808080"/>
            </a:solidFill>
          </a:ln>
        </p:spPr>
        <p:txBody>
          <a:bodyPr/>
          <a:lstStyle/>
          <a:p>
            <a:endParaRPr lang="en-US"/>
          </a:p>
        </p:txBody>
      </p:sp>
      <p:sp>
        <p:nvSpPr>
          <p:cNvPr id="15" name="Text 13"/>
          <p:cNvSpPr/>
          <p:nvPr/>
        </p:nvSpPr>
        <p:spPr>
          <a:xfrm>
            <a:off x="8195766" y="1828701"/>
            <a:ext cx="3069641"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00"/>
                </a:solidFill>
                <a:latin typeface="Carlito" pitchFamily="34" charset="0"/>
                <a:ea typeface="Carlito" pitchFamily="34" charset="-122"/>
                <a:cs typeface="Carlito" pitchFamily="34" charset="-120"/>
              </a:rPr>
              <a:t>Sum</a:t>
            </a:r>
            <a:endParaRPr lang="en-US" sz="1800" dirty="0"/>
          </a:p>
        </p:txBody>
      </p:sp>
      <p:sp>
        <p:nvSpPr>
          <p:cNvPr id="16" name="Text 14"/>
          <p:cNvSpPr/>
          <p:nvPr/>
        </p:nvSpPr>
        <p:spPr>
          <a:xfrm>
            <a:off x="8195766" y="2229941"/>
            <a:ext cx="2980234" cy="721320"/>
          </a:xfrm>
          <a:prstGeom prst="roundRect">
            <a:avLst>
              <a:gd name="adj" fmla="val 8803"/>
            </a:avLst>
          </a:prstGeom>
          <a:solidFill>
            <a:srgbClr val="FFFFFF"/>
          </a:solidFill>
          <a:ln w="9525">
            <a:solidFill>
              <a:srgbClr val="808080"/>
            </a:solidFill>
          </a:ln>
        </p:spPr>
        <p:txBody>
          <a:bodyPr wrap="square" lIns="108401" tIns="57601" rIns="26614" bIns="32201" rtlCol="0" anchor="t">
            <a:normAutofit/>
          </a:bodyPr>
          <a:lstStyle/>
          <a:p>
            <a:pPr marL="0" indent="0" algn="l">
              <a:lnSpc>
                <a:spcPts val="2240"/>
              </a:lnSpc>
              <a:buNone/>
            </a:pPr>
            <a:r>
              <a:rPr lang="en-US" sz="1600" dirty="0">
                <a:solidFill>
                  <a:srgbClr val="000000"/>
                </a:solidFill>
                <a:latin typeface="Courier New" pitchFamily="49" charset="0"/>
                <a:ea typeface="Courier New" pitchFamily="49" charset="-122"/>
                <a:cs typeface="Courier New" pitchFamily="49" charset="-120"/>
              </a:rPr>
              <a:t>12 + 7</a:t>
            </a:r>
            <a:endParaRPr lang="en-US" sz="1600" dirty="0"/>
          </a:p>
          <a:p>
            <a:pPr marL="0" indent="0" algn="l">
              <a:lnSpc>
                <a:spcPts val="2240"/>
              </a:lnSpc>
              <a:buNone/>
            </a:pPr>
            <a:r>
              <a:rPr lang="en-US" sz="1600" dirty="0">
                <a:solidFill>
                  <a:srgbClr val="000000"/>
                </a:solidFill>
                <a:latin typeface="Courier New" pitchFamily="49" charset="0"/>
                <a:ea typeface="Courier New" pitchFamily="49" charset="-122"/>
                <a:cs typeface="Courier New" pitchFamily="49" charset="-120"/>
              </a:rPr>
              <a:t>20 * 3</a:t>
            </a:r>
            <a:endParaRPr lang="en-US" sz="1600" dirty="0"/>
          </a:p>
        </p:txBody>
      </p:sp>
      <p:sp>
        <p:nvSpPr>
          <p:cNvPr id="17" name="Text 15"/>
          <p:cNvSpPr/>
          <p:nvPr/>
        </p:nvSpPr>
        <p:spPr>
          <a:xfrm>
            <a:off x="8195766" y="3078262"/>
            <a:ext cx="2980234" cy="1168400"/>
          </a:xfrm>
          <a:prstGeom prst="roundRect">
            <a:avLst>
              <a:gd name="adj" fmla="val 6522"/>
            </a:avLst>
          </a:prstGeom>
          <a:solidFill>
            <a:srgbClr val="F2F2F2"/>
          </a:solidFill>
          <a:ln w="12700">
            <a:solidFill>
              <a:srgbClr val="404040"/>
            </a:solidFill>
          </a:ln>
        </p:spPr>
        <p:txBody>
          <a:bodyPr wrap="square" lIns="117382" tIns="104682" rIns="36357" bIns="79282" rtlCol="0" anchor="t">
            <a:normAutofit/>
          </a:bodyPr>
          <a:lstStyle/>
          <a:p>
            <a:pPr marL="0" indent="0" algn="l">
              <a:lnSpc>
                <a:spcPts val="1800"/>
              </a:lnSpc>
              <a:buNone/>
            </a:pPr>
            <a:r>
              <a:rPr lang="en-US" sz="1200" dirty="0">
                <a:solidFill>
                  <a:srgbClr val="000000"/>
                </a:solidFill>
                <a:latin typeface="Courier New" pitchFamily="49" charset="0"/>
                <a:ea typeface="Courier New" pitchFamily="49" charset="-122"/>
                <a:cs typeface="Courier New" pitchFamily="49" charset="-120"/>
              </a:rPr>
              <a:t>int a, b;</a:t>
            </a:r>
            <a:endParaRPr lang="en-US" sz="1200" dirty="0"/>
          </a:p>
          <a:p>
            <a:pPr marL="0" indent="0" algn="l">
              <a:lnSpc>
                <a:spcPts val="1800"/>
              </a:lnSpc>
              <a:buNone/>
            </a:pPr>
            <a:r>
              <a:rPr lang="en-US" sz="1200" dirty="0">
                <a:solidFill>
                  <a:srgbClr val="000000"/>
                </a:solidFill>
                <a:latin typeface="Courier New" pitchFamily="49" charset="0"/>
                <a:ea typeface="Courier New" pitchFamily="49" charset="-122"/>
                <a:cs typeface="Courier New" pitchFamily="49" charset="-120"/>
              </a:rPr>
              <a:t>char op;</a:t>
            </a:r>
            <a:endParaRPr lang="en-US" sz="1200" dirty="0"/>
          </a:p>
          <a:p>
            <a:pPr marL="0" indent="0" algn="l">
              <a:lnSpc>
                <a:spcPts val="1800"/>
              </a:lnSpc>
              <a:buNone/>
            </a:pPr>
            <a:r>
              <a:rPr lang="en-US" sz="1200" dirty="0">
                <a:solidFill>
                  <a:srgbClr val="000000"/>
                </a:solidFill>
                <a:latin typeface="Courier New" pitchFamily="49" charset="0"/>
                <a:ea typeface="Courier New" pitchFamily="49" charset="-122"/>
                <a:cs typeface="Courier New" pitchFamily="49" charset="-120"/>
              </a:rPr>
              <a:t>while (inFile &gt;&gt; a</a:t>
            </a:r>
            <a:endParaRPr lang="en-US" sz="1200" dirty="0"/>
          </a:p>
          <a:p>
            <a:pPr marL="0" indent="0" algn="l">
              <a:lnSpc>
                <a:spcPts val="1800"/>
              </a:lnSpc>
              <a:buNone/>
            </a:pPr>
            <a:r>
              <a:rPr lang="en-US" sz="1200" dirty="0">
                <a:solidFill>
                  <a:srgbClr val="000000"/>
                </a:solidFill>
                <a:latin typeface="Courier New" pitchFamily="49" charset="0"/>
                <a:ea typeface="Courier New" pitchFamily="49" charset="-122"/>
                <a:cs typeface="Courier New" pitchFamily="49" charset="-120"/>
              </a:rPr>
              <a:t>      &gt;&gt; op &gt;&gt; b)</a:t>
            </a:r>
            <a:endParaRPr lang="en-US" sz="1200" dirty="0"/>
          </a:p>
        </p:txBody>
      </p:sp>
      <p:sp>
        <p:nvSpPr>
          <p:cNvPr id="18" name="Text 16"/>
          <p:cNvSpPr/>
          <p:nvPr/>
        </p:nvSpPr>
        <p:spPr>
          <a:xfrm>
            <a:off x="8195766" y="4373662"/>
            <a:ext cx="3069641"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0000"/>
                </a:solidFill>
                <a:latin typeface="Carlito" pitchFamily="34" charset="0"/>
                <a:ea typeface="Carlito" pitchFamily="34" charset="-122"/>
                <a:cs typeface="Carlito" pitchFamily="34" charset="-120"/>
              </a:rPr>
              <a:t>12 + 7 = 19</a:t>
            </a:r>
            <a:endParaRPr lang="en-US" sz="1400" dirty="0"/>
          </a:p>
          <a:p>
            <a:pPr marL="0" indent="0" algn="l">
              <a:lnSpc>
                <a:spcPts val="1960"/>
              </a:lnSpc>
              <a:buNone/>
            </a:pPr>
            <a:r>
              <a:rPr lang="en-US" sz="1400" dirty="0">
                <a:solidFill>
                  <a:srgbClr val="000000"/>
                </a:solidFill>
                <a:latin typeface="Carlito" pitchFamily="34" charset="0"/>
                <a:ea typeface="Carlito" pitchFamily="34" charset="-122"/>
                <a:cs typeface="Carlito" pitchFamily="34" charset="-120"/>
              </a:rPr>
              <a:t>20 * 3 = 60</a:t>
            </a:r>
            <a:endParaRPr lang="en-US" sz="1400" dirty="0"/>
          </a:p>
        </p:txBody>
      </p:sp>
      <p:sp>
        <p:nvSpPr>
          <p:cNvPr id="19" name="Text 17"/>
          <p:cNvSpPr/>
          <p:nvPr/>
        </p:nvSpPr>
        <p:spPr>
          <a:xfrm>
            <a:off x="812800" y="5760720"/>
            <a:ext cx="10883392" cy="566928"/>
          </a:xfrm>
          <a:prstGeom prst="rect">
            <a:avLst/>
          </a:prstGeom>
          <a:noFill/>
          <a:ln/>
        </p:spPr>
        <p:txBody>
          <a:bodyPr wrap="square" lIns="0" tIns="0" rIns="0" bIns="0" rtlCol="0" anchor="t">
            <a:noAutofit/>
          </a:bodyPr>
          <a:lstStyle/>
          <a:p>
            <a:pPr marL="0" indent="0" algn="l">
              <a:lnSpc>
                <a:spcPts val="2240"/>
              </a:lnSpc>
              <a:buNone/>
            </a:pPr>
            <a:r>
              <a:rPr lang="en-US" sz="1600" b="1" dirty="0">
                <a:solidFill>
                  <a:srgbClr val="000000"/>
                </a:solidFill>
                <a:latin typeface="Carlito" pitchFamily="34" charset="0"/>
                <a:ea typeface="Carlito" pitchFamily="34" charset="-122"/>
                <a:cs typeface="Carlito" pitchFamily="34" charset="-120"/>
              </a:rPr>
              <a:t>Rule: whatever sits between the numbers, read it into a char, or skip it with ignore(1, '/').</a:t>
            </a:r>
            <a:endParaRPr lang="en-US" sz="1600" dirty="0"/>
          </a:p>
          <a:p>
            <a:pPr marL="0" indent="0" algn="l">
              <a:lnSpc>
                <a:spcPts val="2240"/>
              </a:lnSpc>
              <a:buNone/>
            </a:pPr>
            <a:r>
              <a:rPr lang="en-US" sz="1600" b="0" dirty="0">
                <a:solidFill>
                  <a:srgbClr val="000000"/>
                </a:solidFill>
                <a:latin typeface="Carlito" pitchFamily="34" charset="0"/>
                <a:ea typeface="Carlito" pitchFamily="34" charset="-122"/>
                <a:cs typeface="Carlito" pitchFamily="34" charset="-120"/>
              </a:rPr>
              <a:t>The sum is different: it needs op, so read the + or * into a char.</a:t>
            </a:r>
            <a:endParaRPr lang="en-US" sz="1600" dirty="0"/>
          </a:p>
        </p:txBody>
      </p:sp>
      <p:sp>
        <p:nvSpPr>
          <p:cNvPr id="20" name="TextBox 19"/>
          <p:cNvSpPr txBox="1"/>
          <p:nvPr/>
        </p:nvSpPr>
        <p:spPr>
          <a:xfrm>
            <a:off x="1014984" y="4434840"/>
            <a:ext cx="2926080" cy="1005840"/>
          </a:xfrm>
          <a:prstGeom prst="rect">
            <a:avLst/>
          </a:prstGeom>
          <a:noFill/>
        </p:spPr>
        <p:txBody>
          <a:bodyPr wrap="square" lIns="0" tIns="0" rIns="0" bIns="0">
            <a:spAutoFit/>
          </a:bodyPr>
          <a:lstStyle/>
          <a:p>
            <a:r>
              <a:rPr sz="1200" b="1">
                <a:solidFill>
                  <a:srgbClr val="000000"/>
                </a:solidFill>
                <a:latin typeface="Carlito"/>
              </a:rPr>
              <a:t>Or with ignore():</a:t>
            </a:r>
          </a:p>
          <a:p>
            <a:r>
              <a:rPr sz="1050" b="0">
                <a:solidFill>
                  <a:srgbClr val="000000"/>
                </a:solidFill>
                <a:latin typeface="Courier New"/>
              </a:rPr>
              <a:t>inFile &gt;&gt; d;</a:t>
            </a:r>
          </a:p>
          <a:p>
            <a:r>
              <a:rPr sz="1050" b="0">
                <a:solidFill>
                  <a:srgbClr val="000000"/>
                </a:solidFill>
                <a:latin typeface="Courier New"/>
              </a:rPr>
              <a:t>inFile.ignore(1, '/');</a:t>
            </a:r>
          </a:p>
          <a:p>
            <a:r>
              <a:rPr sz="1050" b="0">
                <a:solidFill>
                  <a:srgbClr val="000000"/>
                </a:solidFill>
                <a:latin typeface="Courier New"/>
              </a:rPr>
              <a:t>inFile &gt;&gt; m;</a:t>
            </a:r>
          </a:p>
          <a:p>
            <a:r>
              <a:rPr sz="1050" b="0">
                <a:solidFill>
                  <a:srgbClr val="000000"/>
                </a:solidFill>
                <a:latin typeface="Courier New"/>
              </a:rPr>
              <a:t>inFile.ignore(1, '/');</a:t>
            </a:r>
          </a:p>
          <a:p>
            <a:r>
              <a:rPr sz="1050" b="0">
                <a:solidFill>
                  <a:srgbClr val="000000"/>
                </a:solidFill>
                <a:latin typeface="Courier New"/>
              </a:rPr>
              <a:t>inFile &gt;&gt; y;</a:t>
            </a:r>
          </a:p>
        </p:txBody>
      </p:sp>
      <p:sp>
        <p:nvSpPr>
          <p:cNvPr id="21" name="TextBox 20"/>
          <p:cNvSpPr txBox="1"/>
          <p:nvPr/>
        </p:nvSpPr>
        <p:spPr>
          <a:xfrm>
            <a:off x="4608576" y="4434840"/>
            <a:ext cx="2926080" cy="1005840"/>
          </a:xfrm>
          <a:prstGeom prst="rect">
            <a:avLst/>
          </a:prstGeom>
          <a:noFill/>
        </p:spPr>
        <p:txBody>
          <a:bodyPr wrap="square" lIns="0" tIns="0" rIns="0" bIns="0">
            <a:spAutoFit/>
          </a:bodyPr>
          <a:lstStyle/>
          <a:p>
            <a:r>
              <a:rPr sz="1200" b="1">
                <a:solidFill>
                  <a:srgbClr val="000000"/>
                </a:solidFill>
                <a:latin typeface="Carlito"/>
              </a:rPr>
              <a:t>Or with ignore():</a:t>
            </a:r>
          </a:p>
          <a:p>
            <a:r>
              <a:rPr sz="1050" b="0">
                <a:solidFill>
                  <a:srgbClr val="000000"/>
                </a:solidFill>
                <a:latin typeface="Courier New"/>
              </a:rPr>
              <a:t>inFile &gt;&gt; h;</a:t>
            </a:r>
          </a:p>
          <a:p>
            <a:r>
              <a:rPr sz="1050" b="0">
                <a:solidFill>
                  <a:srgbClr val="000000"/>
                </a:solidFill>
                <a:latin typeface="Courier New"/>
              </a:rPr>
              <a:t>inFile.ignore(1, ':');</a:t>
            </a:r>
          </a:p>
          <a:p>
            <a:r>
              <a:rPr sz="1050" b="0">
                <a:solidFill>
                  <a:srgbClr val="000000"/>
                </a:solidFill>
                <a:latin typeface="Courier New"/>
              </a:rPr>
              <a:t>inFile &gt;&gt; mi;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MIXED TYPES</a:t>
            </a:r>
            <a:endParaRPr lang="en-US" sz="1200" dirty="0"/>
          </a:p>
        </p:txBody>
      </p:sp>
      <p:sp>
        <p:nvSpPr>
          <p:cNvPr id="3" name="Text 1"/>
          <p:cNvSpPr>
            <a:spLocks noGrp="1"/>
          </p:cNvSpPr>
          <p:nvPr>
            <p:ph type="title"/>
          </p:nvPr>
        </p:nvSpPr>
        <p:spPr>
          <a:xfrm>
            <a:off x="812800" y="924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Number, letter, number</a:t>
            </a:r>
            <a:endParaRPr lang="en-US" sz="3200" dirty="0"/>
          </a:p>
        </p:txBody>
      </p:sp>
      <p:sp>
        <p:nvSpPr>
          <p:cNvPr id="4" name="Shape 2"/>
          <p:cNvSpPr/>
          <p:nvPr/>
        </p:nvSpPr>
        <p:spPr>
          <a:xfrm>
            <a:off x="812800" y="1600101"/>
            <a:ext cx="2540000" cy="1685826"/>
          </a:xfrm>
          <a:prstGeom prst="roundRect">
            <a:avLst>
              <a:gd name="adj" fmla="val 7533"/>
            </a:avLst>
          </a:prstGeom>
          <a:solidFill>
            <a:srgbClr val="FFFFFF"/>
          </a:solidFill>
          <a:ln w="9525">
            <a:solidFill>
              <a:srgbClr val="808080"/>
            </a:solidFill>
          </a:ln>
        </p:spPr>
        <p:txBody>
          <a:bodyPr/>
          <a:lstStyle/>
          <a:p>
            <a:endParaRPr lang="en-US"/>
          </a:p>
        </p:txBody>
      </p:sp>
      <p:sp>
        <p:nvSpPr>
          <p:cNvPr id="5" name="Text 3"/>
          <p:cNvSpPr/>
          <p:nvPr/>
        </p:nvSpPr>
        <p:spPr>
          <a:xfrm>
            <a:off x="1041400" y="1777901"/>
            <a:ext cx="214528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04040"/>
                </a:solidFill>
                <a:latin typeface="Courier New" pitchFamily="49" charset="0"/>
                <a:ea typeface="Courier New" pitchFamily="49" charset="-122"/>
                <a:cs typeface="Courier New" pitchFamily="49" charset="-120"/>
              </a:rPr>
              <a:t>results.txt</a:t>
            </a:r>
            <a:endParaRPr lang="en-US" sz="1200" dirty="0"/>
          </a:p>
        </p:txBody>
      </p:sp>
      <p:sp>
        <p:nvSpPr>
          <p:cNvPr id="6" name="Text 4"/>
          <p:cNvSpPr/>
          <p:nvPr/>
        </p:nvSpPr>
        <p:spPr>
          <a:xfrm>
            <a:off x="1041400" y="2054721"/>
            <a:ext cx="2145284" cy="909141"/>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000000"/>
                </a:solidFill>
                <a:latin typeface="Courier New" pitchFamily="49" charset="0"/>
                <a:ea typeface="Courier New" pitchFamily="49" charset="-122"/>
                <a:cs typeface="Courier New" pitchFamily="49" charset="-120"/>
              </a:rPr>
              <a:t>101 A 85</a:t>
            </a:r>
            <a:endParaRPr lang="en-US" sz="1600" dirty="0"/>
          </a:p>
          <a:p>
            <a:pPr marL="0" indent="0" algn="l">
              <a:lnSpc>
                <a:spcPts val="2320"/>
              </a:lnSpc>
              <a:buNone/>
            </a:pPr>
            <a:r>
              <a:rPr lang="en-US" sz="1600" dirty="0">
                <a:solidFill>
                  <a:srgbClr val="000000"/>
                </a:solidFill>
                <a:latin typeface="Courier New" pitchFamily="49" charset="0"/>
                <a:ea typeface="Courier New" pitchFamily="49" charset="-122"/>
                <a:cs typeface="Courier New" pitchFamily="49" charset="-120"/>
              </a:rPr>
              <a:t>102 B 72</a:t>
            </a:r>
            <a:endParaRPr lang="en-US" sz="1600" dirty="0"/>
          </a:p>
          <a:p>
            <a:pPr marL="0" indent="0" algn="l">
              <a:lnSpc>
                <a:spcPts val="2320"/>
              </a:lnSpc>
              <a:buNone/>
            </a:pPr>
            <a:r>
              <a:rPr lang="en-US" sz="1600" dirty="0">
                <a:solidFill>
                  <a:srgbClr val="000000"/>
                </a:solidFill>
                <a:latin typeface="Courier New" pitchFamily="49" charset="0"/>
                <a:ea typeface="Courier New" pitchFamily="49" charset="-122"/>
                <a:cs typeface="Courier New" pitchFamily="49" charset="-120"/>
              </a:rPr>
              <a:t>103 A 91</a:t>
            </a:r>
            <a:endParaRPr lang="en-US" sz="1600" dirty="0"/>
          </a:p>
        </p:txBody>
      </p:sp>
      <p:sp>
        <p:nvSpPr>
          <p:cNvPr id="7" name="Text 5"/>
          <p:cNvSpPr/>
          <p:nvPr/>
        </p:nvSpPr>
        <p:spPr>
          <a:xfrm>
            <a:off x="3556000" y="1600101"/>
            <a:ext cx="7823200" cy="1685826"/>
          </a:xfrm>
          <a:prstGeom prst="roundRect">
            <a:avLst>
              <a:gd name="adj" fmla="val 7533"/>
            </a:avLst>
          </a:prstGeom>
          <a:solidFill>
            <a:srgbClr val="F2F2F2"/>
          </a:solidFill>
          <a:ln w="12700">
            <a:solidFill>
              <a:srgbClr val="404040"/>
            </a:solidFill>
          </a:ln>
        </p:spPr>
        <p:txBody>
          <a:bodyPr wrap="square" lIns="216803" tIns="166003" rIns="0" bIns="140603" rtlCol="0" anchor="t">
            <a:normAutofit/>
          </a:bodyPr>
          <a:lstStyle/>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int roll[30], marks[30], n = 0;</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char grade[30];</a:t>
            </a:r>
            <a:endParaRPr lang="en-US" sz="1300" dirty="0"/>
          </a:p>
          <a:p>
            <a:pPr marL="0" indent="0" algn="l">
              <a:lnSpc>
                <a:spcPts val="2015"/>
              </a:lnSpc>
              <a:buNone/>
            </a:pP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while (n &lt; 30 &amp;&amp; inFile &gt;&gt; roll[n] &gt;&gt; grade[n] &gt;&gt; marks[n])</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    n++;</a:t>
            </a:r>
            <a:endParaRPr lang="en-US" sz="1300" dirty="0"/>
          </a:p>
        </p:txBody>
      </p:sp>
      <p:sp>
        <p:nvSpPr>
          <p:cNvPr id="8" name="Text 6"/>
          <p:cNvSpPr/>
          <p:nvPr/>
        </p:nvSpPr>
        <p:spPr>
          <a:xfrm>
            <a:off x="812800" y="3514527"/>
            <a:ext cx="6121908"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00000"/>
                </a:solidFill>
                <a:latin typeface="Carlito" pitchFamily="34" charset="0"/>
                <a:ea typeface="Carlito" pitchFamily="34" charset="-122"/>
                <a:cs typeface="Carlito" pitchFamily="34" charset="-120"/>
              </a:rPr>
              <a:t>Three parallel arrays: same index = same student</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3852267"/>
          <a:ext cx="5930900" cy="1543844"/>
        </p:xfrm>
        <a:graphic>
          <a:graphicData uri="http://schemas.openxmlformats.org/drawingml/2006/table">
            <a:tbl>
              <a:tblPr/>
              <a:tblGrid>
                <a:gridCol w="1660652">
                  <a:extLst>
                    <a:ext uri="{9D8B030D-6E8A-4147-A177-3AD203B41FA5}">
                      <a16:colId xmlns:a16="http://schemas.microsoft.com/office/drawing/2014/main" val="20000"/>
                    </a:ext>
                  </a:extLst>
                </a:gridCol>
                <a:gridCol w="1423416">
                  <a:extLst>
                    <a:ext uri="{9D8B030D-6E8A-4147-A177-3AD203B41FA5}">
                      <a16:colId xmlns:a16="http://schemas.microsoft.com/office/drawing/2014/main" val="20001"/>
                    </a:ext>
                  </a:extLst>
                </a:gridCol>
                <a:gridCol w="1423416">
                  <a:extLst>
                    <a:ext uri="{9D8B030D-6E8A-4147-A177-3AD203B41FA5}">
                      <a16:colId xmlns:a16="http://schemas.microsoft.com/office/drawing/2014/main" val="20002"/>
                    </a:ext>
                  </a:extLst>
                </a:gridCol>
                <a:gridCol w="1423416">
                  <a:extLst>
                    <a:ext uri="{9D8B030D-6E8A-4147-A177-3AD203B41FA5}">
                      <a16:colId xmlns:a16="http://schemas.microsoft.com/office/drawing/2014/main" val="20003"/>
                    </a:ext>
                  </a:extLst>
                </a:gridCol>
              </a:tblGrid>
              <a:tr h="385961">
                <a:tc>
                  <a:txBody>
                    <a:bodyPr/>
                    <a:lstStyle/>
                    <a:p>
                      <a:pPr marL="0" indent="0">
                        <a:lnSpc>
                          <a:spcPts val="1960"/>
                        </a:lnSpc>
                        <a:buNone/>
                      </a:pPr>
                      <a:r>
                        <a:rPr lang="en-US" sz="1400" b="1" dirty="0">
                          <a:solidFill>
                            <a:srgbClr val="000000"/>
                          </a:solidFill>
                          <a:latin typeface="Carlito" pitchFamily="34" charset="0"/>
                          <a:ea typeface="Carlito" pitchFamily="34" charset="-122"/>
                          <a:cs typeface="Carlito" pitchFamily="34" charset="-120"/>
                        </a:rPr>
                        <a:t>index</a:t>
                      </a:r>
                      <a:endParaRPr lang="en-US" sz="1400" dirty="0">
                        <a:latin typeface="Carlito" charset="0"/>
                        <a:ea typeface="Carlito" charset="0"/>
                        <a:cs typeface="Carlito" charset="0"/>
                      </a:endParaRPr>
                    </a:p>
                  </a:txBody>
                  <a:tcPr marL="62230" marR="62230" marT="62230" marB="62230">
                    <a:lnL w="12700" cap="flat" cmpd="sng" algn="ctr">
                      <a:solidFill>
                        <a:srgbClr val="80808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D9D9D9"/>
                    </a:solidFill>
                  </a:tcPr>
                </a:tc>
                <a:tc>
                  <a:txBody>
                    <a:bodyPr/>
                    <a:lstStyle/>
                    <a:p>
                      <a:pPr marL="0" indent="0">
                        <a:lnSpc>
                          <a:spcPts val="1960"/>
                        </a:lnSpc>
                        <a:buNone/>
                      </a:pPr>
                      <a:r>
                        <a:rPr lang="en-US" sz="1400" b="1" dirty="0">
                          <a:solidFill>
                            <a:srgbClr val="000000"/>
                          </a:solidFill>
                          <a:latin typeface="Carlito" pitchFamily="34" charset="0"/>
                          <a:ea typeface="Carlito" pitchFamily="34" charset="-122"/>
                          <a:cs typeface="Carlito" pitchFamily="34" charset="-120"/>
                        </a:rPr>
                        <a:t>0</a:t>
                      </a:r>
                      <a:endParaRPr lang="en-US" sz="1400" dirty="0">
                        <a:latin typeface="Carlito" charset="0"/>
                        <a:ea typeface="Carlito" charset="0"/>
                        <a:cs typeface="Carlito" charset="0"/>
                      </a:endParaRPr>
                    </a:p>
                  </a:txBody>
                  <a:tcPr marL="62230" marR="62230" marT="62230" marB="62230">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D9D9D9"/>
                    </a:solidFill>
                  </a:tcPr>
                </a:tc>
                <a:tc>
                  <a:txBody>
                    <a:bodyPr/>
                    <a:lstStyle/>
                    <a:p>
                      <a:pPr marL="0" indent="0">
                        <a:lnSpc>
                          <a:spcPts val="1960"/>
                        </a:lnSpc>
                        <a:buNone/>
                      </a:pPr>
                      <a:r>
                        <a:rPr lang="en-US" sz="1400" b="1" dirty="0">
                          <a:solidFill>
                            <a:srgbClr val="000000"/>
                          </a:solidFill>
                          <a:latin typeface="Carlito" pitchFamily="34" charset="0"/>
                          <a:ea typeface="Carlito" pitchFamily="34" charset="-122"/>
                          <a:cs typeface="Carlito" pitchFamily="34" charset="-120"/>
                        </a:rPr>
                        <a:t>1</a:t>
                      </a:r>
                      <a:endParaRPr lang="en-US" sz="1400" dirty="0">
                        <a:latin typeface="Carlito" charset="0"/>
                        <a:ea typeface="Carlito" charset="0"/>
                        <a:cs typeface="Carlito" charset="0"/>
                      </a:endParaRPr>
                    </a:p>
                  </a:txBody>
                  <a:tcPr marL="62230" marR="62230" marT="62230" marB="62230">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D9D9D9"/>
                    </a:solidFill>
                  </a:tcPr>
                </a:tc>
                <a:tc>
                  <a:txBody>
                    <a:bodyPr/>
                    <a:lstStyle/>
                    <a:p>
                      <a:pPr marL="0" indent="0">
                        <a:lnSpc>
                          <a:spcPts val="1960"/>
                        </a:lnSpc>
                        <a:buNone/>
                      </a:pPr>
                      <a:r>
                        <a:rPr lang="en-US" sz="1400" b="1" dirty="0">
                          <a:solidFill>
                            <a:srgbClr val="000000"/>
                          </a:solidFill>
                          <a:latin typeface="Carlito" pitchFamily="34" charset="0"/>
                          <a:ea typeface="Carlito" pitchFamily="34" charset="-122"/>
                          <a:cs typeface="Carlito" pitchFamily="34" charset="-120"/>
                        </a:rPr>
                        <a:t>2</a:t>
                      </a:r>
                      <a:endParaRPr lang="en-US" sz="1400" dirty="0">
                        <a:latin typeface="Carlito" charset="0"/>
                        <a:ea typeface="Carlito" charset="0"/>
                        <a:cs typeface="Carlito" charset="0"/>
                      </a:endParaRPr>
                    </a:p>
                  </a:txBody>
                  <a:tcPr marL="62230" marR="62230" marT="62230" marB="62230">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000000"/>
                          </a:solidFill>
                          <a:latin typeface="Carlito" pitchFamily="34" charset="0"/>
                          <a:ea typeface="Carlito" pitchFamily="34" charset="-122"/>
                          <a:cs typeface="Carlito" pitchFamily="34" charset="-120"/>
                        </a:rPr>
                        <a:t>roll (int)</a:t>
                      </a:r>
                      <a:endParaRPr lang="en-US" sz="1400" dirty="0">
                        <a:latin typeface="Carlito" charset="0"/>
                        <a:ea typeface="Carlito" charset="0"/>
                        <a:cs typeface="Carlito" charset="0"/>
                      </a:endParaRPr>
                    </a:p>
                  </a:txBody>
                  <a:tcPr marL="62230" marR="62230" marT="62230" marB="6223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Carlito" pitchFamily="34" charset="0"/>
                          <a:ea typeface="Carlito" pitchFamily="34" charset="-122"/>
                          <a:cs typeface="Carlito" pitchFamily="34" charset="-120"/>
                        </a:rPr>
                        <a:t>101</a:t>
                      </a:r>
                      <a:endParaRPr lang="en-US" sz="1400" dirty="0">
                        <a:latin typeface="Carlito" charset="0"/>
                        <a:ea typeface="Carlito" charset="0"/>
                        <a:cs typeface="Carlito" charset="0"/>
                      </a:endParaRPr>
                    </a:p>
                  </a:txBody>
                  <a:tcPr marL="62230" marR="62230" marT="62230" marB="6223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Carlito" pitchFamily="34" charset="0"/>
                          <a:ea typeface="Carlito" pitchFamily="34" charset="-122"/>
                          <a:cs typeface="Carlito" pitchFamily="34" charset="-120"/>
                        </a:rPr>
                        <a:t>102</a:t>
                      </a:r>
                      <a:endParaRPr lang="en-US" sz="1400" dirty="0">
                        <a:latin typeface="Carlito" charset="0"/>
                        <a:ea typeface="Carlito" charset="0"/>
                        <a:cs typeface="Carlito" charset="0"/>
                      </a:endParaRPr>
                    </a:p>
                  </a:txBody>
                  <a:tcPr marL="62230" marR="62230" marT="62230" marB="6223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Carlito" pitchFamily="34" charset="0"/>
                          <a:ea typeface="Carlito" pitchFamily="34" charset="-122"/>
                          <a:cs typeface="Carlito" pitchFamily="34" charset="-120"/>
                        </a:rPr>
                        <a:t>103</a:t>
                      </a:r>
                      <a:endParaRPr lang="en-US" sz="1400" dirty="0">
                        <a:latin typeface="Carlito" charset="0"/>
                        <a:ea typeface="Carlito" charset="0"/>
                        <a:cs typeface="Carlito" charset="0"/>
                      </a:endParaRPr>
                    </a:p>
                  </a:txBody>
                  <a:tcPr marL="62230" marR="62230" marT="62230" marB="6223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000000"/>
                          </a:solidFill>
                          <a:latin typeface="Carlito" pitchFamily="34" charset="0"/>
                          <a:ea typeface="Carlito" pitchFamily="34" charset="-122"/>
                          <a:cs typeface="Carlito" pitchFamily="34" charset="-120"/>
                        </a:rPr>
                        <a:t>grade (char)</a:t>
                      </a:r>
                      <a:endParaRPr lang="en-US" sz="1400" dirty="0">
                        <a:latin typeface="Carlito" charset="0"/>
                        <a:ea typeface="Carlito" charset="0"/>
                        <a:cs typeface="Carlito" charset="0"/>
                      </a:endParaRPr>
                    </a:p>
                  </a:txBody>
                  <a:tcPr marL="62230" marR="62230" marT="62230" marB="6223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960"/>
                        </a:lnSpc>
                        <a:buNone/>
                      </a:pPr>
                      <a:r>
                        <a:rPr lang="en-US" sz="1400" dirty="0">
                          <a:solidFill>
                            <a:srgbClr val="000000"/>
                          </a:solidFill>
                          <a:latin typeface="Carlito" pitchFamily="34" charset="0"/>
                          <a:ea typeface="Carlito" pitchFamily="34" charset="-122"/>
                          <a:cs typeface="Carlito" pitchFamily="34" charset="-120"/>
                        </a:rPr>
                        <a:t>A</a:t>
                      </a:r>
                      <a:endParaRPr lang="en-US" sz="1400" dirty="0">
                        <a:latin typeface="Carlito" charset="0"/>
                        <a:ea typeface="Carlito" charset="0"/>
                        <a:cs typeface="Carlito" charset="0"/>
                      </a:endParaRPr>
                    </a:p>
                  </a:txBody>
                  <a:tcPr marL="62230" marR="62230" marT="62230" marB="6223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960"/>
                        </a:lnSpc>
                        <a:buNone/>
                      </a:pPr>
                      <a:r>
                        <a:rPr lang="en-US" sz="1400" dirty="0">
                          <a:solidFill>
                            <a:srgbClr val="000000"/>
                          </a:solidFill>
                          <a:latin typeface="Carlito" pitchFamily="34" charset="0"/>
                          <a:ea typeface="Carlito" pitchFamily="34" charset="-122"/>
                          <a:cs typeface="Carlito" pitchFamily="34" charset="-120"/>
                        </a:rPr>
                        <a:t>B</a:t>
                      </a:r>
                      <a:endParaRPr lang="en-US" sz="1400" dirty="0">
                        <a:latin typeface="Carlito" charset="0"/>
                        <a:ea typeface="Carlito" charset="0"/>
                        <a:cs typeface="Carlito" charset="0"/>
                      </a:endParaRPr>
                    </a:p>
                  </a:txBody>
                  <a:tcPr marL="62230" marR="62230" marT="62230" marB="6223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960"/>
                        </a:lnSpc>
                        <a:buNone/>
                      </a:pPr>
                      <a:r>
                        <a:rPr lang="en-US" sz="1400" dirty="0">
                          <a:solidFill>
                            <a:srgbClr val="000000"/>
                          </a:solidFill>
                          <a:latin typeface="Carlito" pitchFamily="34" charset="0"/>
                          <a:ea typeface="Carlito" pitchFamily="34" charset="-122"/>
                          <a:cs typeface="Carlito" pitchFamily="34" charset="-120"/>
                        </a:rPr>
                        <a:t>A</a:t>
                      </a:r>
                      <a:endParaRPr lang="en-US" sz="1400" dirty="0">
                        <a:latin typeface="Carlito" charset="0"/>
                        <a:ea typeface="Carlito" charset="0"/>
                        <a:cs typeface="Carlito" charset="0"/>
                      </a:endParaRPr>
                    </a:p>
                  </a:txBody>
                  <a:tcPr marL="62230" marR="62230" marT="62230" marB="6223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000000"/>
                          </a:solidFill>
                          <a:latin typeface="Carlito" pitchFamily="34" charset="0"/>
                          <a:ea typeface="Carlito" pitchFamily="34" charset="-122"/>
                          <a:cs typeface="Carlito" pitchFamily="34" charset="-120"/>
                        </a:rPr>
                        <a:t>marks (int)</a:t>
                      </a:r>
                      <a:endParaRPr lang="en-US" sz="1400" dirty="0">
                        <a:latin typeface="Carlito" charset="0"/>
                        <a:ea typeface="Carlito" charset="0"/>
                        <a:cs typeface="Carlito" charset="0"/>
                      </a:endParaRPr>
                    </a:p>
                  </a:txBody>
                  <a:tcPr marL="62230" marR="62230" marT="62230" marB="6223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Carlito" pitchFamily="34" charset="0"/>
                          <a:ea typeface="Carlito" pitchFamily="34" charset="-122"/>
                          <a:cs typeface="Carlito" pitchFamily="34" charset="-120"/>
                        </a:rPr>
                        <a:t>85</a:t>
                      </a:r>
                      <a:endParaRPr lang="en-US" sz="1400" dirty="0">
                        <a:latin typeface="Carlito" charset="0"/>
                        <a:ea typeface="Carlito" charset="0"/>
                        <a:cs typeface="Carlito" charset="0"/>
                      </a:endParaRPr>
                    </a:p>
                  </a:txBody>
                  <a:tcPr marL="62230" marR="62230" marT="62230" marB="6223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Carlito" pitchFamily="34" charset="0"/>
                          <a:ea typeface="Carlito" pitchFamily="34" charset="-122"/>
                          <a:cs typeface="Carlito" pitchFamily="34" charset="-120"/>
                        </a:rPr>
                        <a:t>72</a:t>
                      </a:r>
                      <a:endParaRPr lang="en-US" sz="1400" dirty="0">
                        <a:latin typeface="Carlito" charset="0"/>
                        <a:ea typeface="Carlito" charset="0"/>
                        <a:cs typeface="Carlito" charset="0"/>
                      </a:endParaRPr>
                    </a:p>
                  </a:txBody>
                  <a:tcPr marL="62230" marR="62230" marT="62230" marB="6223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960"/>
                        </a:lnSpc>
                        <a:buNone/>
                      </a:pPr>
                      <a:r>
                        <a:rPr lang="en-US" sz="1400" dirty="0">
                          <a:solidFill>
                            <a:srgbClr val="000000"/>
                          </a:solidFill>
                          <a:latin typeface="Carlito" pitchFamily="34" charset="0"/>
                          <a:ea typeface="Carlito" pitchFamily="34" charset="-122"/>
                          <a:cs typeface="Carlito" pitchFamily="34" charset="-120"/>
                        </a:rPr>
                        <a:t>91</a:t>
                      </a:r>
                      <a:endParaRPr lang="en-US" sz="1400" dirty="0">
                        <a:latin typeface="Carlito" charset="0"/>
                        <a:ea typeface="Carlito" charset="0"/>
                        <a:cs typeface="Carlito" charset="0"/>
                      </a:endParaRPr>
                    </a:p>
                  </a:txBody>
                  <a:tcPr marL="62230" marR="62230" marT="62230" marB="6223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0" name="Shape 7"/>
          <p:cNvSpPr/>
          <p:nvPr/>
        </p:nvSpPr>
        <p:spPr>
          <a:xfrm>
            <a:off x="6959600" y="3514527"/>
            <a:ext cx="4419600" cy="1881584"/>
          </a:xfrm>
          <a:prstGeom prst="roundRect">
            <a:avLst>
              <a:gd name="adj" fmla="val 6750"/>
            </a:avLst>
          </a:prstGeom>
          <a:solidFill>
            <a:srgbClr val="FFFFFF"/>
          </a:solidFill>
          <a:ln w="9525">
            <a:solidFill>
              <a:srgbClr val="808080"/>
            </a:solidFill>
          </a:ln>
        </p:spPr>
        <p:txBody>
          <a:bodyPr/>
          <a:lstStyle/>
          <a:p>
            <a:endParaRPr lang="en-US"/>
          </a:p>
        </p:txBody>
      </p:sp>
      <p:sp>
        <p:nvSpPr>
          <p:cNvPr id="11" name="Text 8"/>
          <p:cNvSpPr/>
          <p:nvPr/>
        </p:nvSpPr>
        <p:spPr>
          <a:xfrm>
            <a:off x="7188200" y="3692327"/>
            <a:ext cx="4081272"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00000"/>
                </a:solidFill>
                <a:latin typeface="Carlito" pitchFamily="34" charset="0"/>
                <a:ea typeface="Carlito" pitchFamily="34" charset="-122"/>
                <a:cs typeface="Carlito" pitchFamily="34" charset="-120"/>
              </a:rPr>
              <a:t>No spaces? Still works.</a:t>
            </a:r>
            <a:endParaRPr lang="en-US" sz="1400" dirty="0"/>
          </a:p>
        </p:txBody>
      </p:sp>
      <p:sp>
        <p:nvSpPr>
          <p:cNvPr id="12" name="Text 9"/>
          <p:cNvSpPr/>
          <p:nvPr/>
        </p:nvSpPr>
        <p:spPr>
          <a:xfrm>
            <a:off x="7188200" y="4017367"/>
            <a:ext cx="408127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00000"/>
                </a:solidFill>
                <a:latin typeface="Courier New" pitchFamily="49" charset="0"/>
                <a:ea typeface="Courier New" pitchFamily="49" charset="-122"/>
                <a:cs typeface="Courier New" pitchFamily="49" charset="-120"/>
              </a:rPr>
              <a:t>5A7  12B3</a:t>
            </a:r>
            <a:endParaRPr lang="en-US" sz="1500" dirty="0"/>
          </a:p>
        </p:txBody>
      </p:sp>
      <p:sp>
        <p:nvSpPr>
          <p:cNvPr id="13" name="Text 10"/>
          <p:cNvSpPr/>
          <p:nvPr/>
        </p:nvSpPr>
        <p:spPr>
          <a:xfrm>
            <a:off x="7188200" y="4360267"/>
            <a:ext cx="4081272"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00000"/>
                </a:solidFill>
                <a:latin typeface="Carlito" pitchFamily="34" charset="0"/>
                <a:ea typeface="Carlito" pitchFamily="34" charset="-122"/>
                <a:cs typeface="Carlito" pitchFamily="34" charset="-120"/>
              </a:rPr>
              <a:t>&gt;&gt; for an int stops at the first non-digit, so the letter is left for the char.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MIXED TYPES</a:t>
            </a:r>
            <a:endParaRPr lang="en-US" sz="1200" dirty="0"/>
          </a:p>
        </p:txBody>
      </p:sp>
      <p:sp>
        <p:nvSpPr>
          <p:cNvPr id="3" name="Text 1"/>
          <p:cNvSpPr>
            <a:spLocks noGrp="1"/>
          </p:cNvSpPr>
          <p:nvPr>
            <p:ph type="title"/>
          </p:nvPr>
        </p:nvSpPr>
        <p:spPr>
          <a:xfrm>
            <a:off x="812800" y="924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Letters and one-word names</a:t>
            </a:r>
            <a:endParaRPr lang="en-US" sz="3200" dirty="0"/>
          </a:p>
        </p:txBody>
      </p:sp>
      <p:sp>
        <p:nvSpPr>
          <p:cNvPr id="4" name="Shape 2"/>
          <p:cNvSpPr/>
          <p:nvPr/>
        </p:nvSpPr>
        <p:spPr>
          <a:xfrm>
            <a:off x="812800" y="1625501"/>
            <a:ext cx="5156200" cy="4470499"/>
          </a:xfrm>
          <a:prstGeom prst="roundRect">
            <a:avLst>
              <a:gd name="adj" fmla="val 2841"/>
            </a:avLst>
          </a:prstGeom>
          <a:solidFill>
            <a:srgbClr val="FFFFFF"/>
          </a:solidFill>
          <a:ln w="9525">
            <a:solidFill>
              <a:srgbClr val="808080"/>
            </a:solidFill>
          </a:ln>
        </p:spPr>
        <p:txBody>
          <a:bodyPr/>
          <a:lstStyle/>
          <a:p>
            <a:endParaRPr lang="en-US"/>
          </a:p>
        </p:txBody>
      </p:sp>
      <p:sp>
        <p:nvSpPr>
          <p:cNvPr id="5" name="Text 3"/>
          <p:cNvSpPr/>
          <p:nvPr/>
        </p:nvSpPr>
        <p:spPr>
          <a:xfrm>
            <a:off x="1041400" y="1854101"/>
            <a:ext cx="483997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00"/>
                </a:solidFill>
                <a:latin typeface="Carlito" pitchFamily="34" charset="0"/>
                <a:ea typeface="Carlito" pitchFamily="34" charset="-122"/>
                <a:cs typeface="Carlito" pitchFamily="34" charset="-120"/>
              </a:rPr>
              <a:t>Letters only</a:t>
            </a:r>
            <a:endParaRPr lang="en-US" sz="1800" dirty="0"/>
          </a:p>
        </p:txBody>
      </p:sp>
      <p:sp>
        <p:nvSpPr>
          <p:cNvPr id="6" name="Text 4"/>
          <p:cNvSpPr/>
          <p:nvPr/>
        </p:nvSpPr>
        <p:spPr>
          <a:xfrm>
            <a:off x="1041400" y="2255341"/>
            <a:ext cx="4699000" cy="436860"/>
          </a:xfrm>
          <a:prstGeom prst="roundRect">
            <a:avLst>
              <a:gd name="adj" fmla="val 14536"/>
            </a:avLst>
          </a:prstGeom>
          <a:solidFill>
            <a:srgbClr val="FFFFFF"/>
          </a:solidFill>
          <a:ln w="9525">
            <a:solidFill>
              <a:srgbClr val="808080"/>
            </a:solidFill>
          </a:ln>
        </p:spPr>
        <p:txBody>
          <a:bodyPr wrap="square" lIns="108401" tIns="57601" rIns="0" bIns="32201" rtlCol="0" anchor="t">
            <a:normAutofit/>
          </a:bodyPr>
          <a:lstStyle/>
          <a:p>
            <a:pPr marL="0" indent="0" algn="l">
              <a:lnSpc>
                <a:spcPts val="2240"/>
              </a:lnSpc>
              <a:buNone/>
            </a:pPr>
            <a:r>
              <a:rPr lang="en-US" sz="1600" dirty="0">
                <a:solidFill>
                  <a:srgbClr val="000000"/>
                </a:solidFill>
                <a:latin typeface="Courier New" pitchFamily="49" charset="0"/>
                <a:ea typeface="Courier New" pitchFamily="49" charset="-122"/>
                <a:cs typeface="Courier New" pitchFamily="49" charset="-120"/>
              </a:rPr>
              <a:t>ABACB</a:t>
            </a:r>
            <a:endParaRPr lang="en-US" sz="1600" dirty="0"/>
          </a:p>
        </p:txBody>
      </p:sp>
      <p:sp>
        <p:nvSpPr>
          <p:cNvPr id="7" name="Text 5"/>
          <p:cNvSpPr/>
          <p:nvPr/>
        </p:nvSpPr>
        <p:spPr>
          <a:xfrm>
            <a:off x="1041400" y="2819202"/>
            <a:ext cx="4699000" cy="1328341"/>
          </a:xfrm>
          <a:prstGeom prst="roundRect">
            <a:avLst>
              <a:gd name="adj" fmla="val 6693"/>
            </a:avLst>
          </a:prstGeom>
          <a:solidFill>
            <a:srgbClr val="F2F2F2"/>
          </a:solidFill>
          <a:ln w="12700">
            <a:solidFill>
              <a:srgbClr val="404040"/>
            </a:solidFill>
          </a:ln>
        </p:spPr>
        <p:txBody>
          <a:bodyPr wrap="square" lIns="151762" tIns="126362" rIns="21460" bIns="100962" rtlCol="0" anchor="t">
            <a:normAutofit/>
          </a:bodyPr>
          <a:lstStyle/>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char g;</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int countA = 0;</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while (inFile &gt;&gt; g)</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    if (g == 'A') countA++;</a:t>
            </a:r>
            <a:endParaRPr lang="en-US" sz="1300" dirty="0"/>
          </a:p>
        </p:txBody>
      </p:sp>
      <p:sp>
        <p:nvSpPr>
          <p:cNvPr id="8" name="Text 6"/>
          <p:cNvSpPr/>
          <p:nvPr/>
        </p:nvSpPr>
        <p:spPr>
          <a:xfrm>
            <a:off x="1041400" y="4274542"/>
            <a:ext cx="48399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00000"/>
                </a:solidFill>
                <a:latin typeface="Carlito" pitchFamily="34" charset="0"/>
                <a:ea typeface="Carlito" pitchFamily="34" charset="-122"/>
                <a:cs typeface="Carlito" pitchFamily="34" charset="-120"/>
              </a:rPr>
              <a:t>countA = 2</a:t>
            </a:r>
            <a:r>
              <a:rPr lang="en-US" sz="1400" dirty="0">
                <a:solidFill>
                  <a:srgbClr val="000000"/>
                </a:solidFill>
                <a:latin typeface="Carlito" pitchFamily="34" charset="0"/>
                <a:ea typeface="Carlito" pitchFamily="34" charset="-122"/>
                <a:cs typeface="Carlito" pitchFamily="34" charset="-120"/>
              </a:rPr>
              <a:t>. &gt;&gt; skips spaces, so A B A works too.</a:t>
            </a:r>
            <a:endParaRPr lang="en-US" sz="1400" dirty="0"/>
          </a:p>
        </p:txBody>
      </p:sp>
      <p:sp>
        <p:nvSpPr>
          <p:cNvPr id="9" name="Shape 7"/>
          <p:cNvSpPr/>
          <p:nvPr/>
        </p:nvSpPr>
        <p:spPr>
          <a:xfrm>
            <a:off x="6223000" y="1625501"/>
            <a:ext cx="5156200" cy="4470499"/>
          </a:xfrm>
          <a:prstGeom prst="roundRect">
            <a:avLst>
              <a:gd name="adj" fmla="val 2841"/>
            </a:avLst>
          </a:prstGeom>
          <a:solidFill>
            <a:srgbClr val="FFFFFF"/>
          </a:solidFill>
          <a:ln w="9525">
            <a:solidFill>
              <a:srgbClr val="808080"/>
            </a:solidFill>
          </a:ln>
        </p:spPr>
        <p:txBody>
          <a:bodyPr/>
          <a:lstStyle/>
          <a:p>
            <a:endParaRPr lang="en-US"/>
          </a:p>
        </p:txBody>
      </p:sp>
      <p:sp>
        <p:nvSpPr>
          <p:cNvPr id="10" name="Text 8"/>
          <p:cNvSpPr/>
          <p:nvPr/>
        </p:nvSpPr>
        <p:spPr>
          <a:xfrm>
            <a:off x="6451600" y="1854101"/>
            <a:ext cx="483997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00"/>
                </a:solidFill>
                <a:latin typeface="Carlito" pitchFamily="34" charset="0"/>
                <a:ea typeface="Carlito" pitchFamily="34" charset="-122"/>
                <a:cs typeface="Carlito" pitchFamily="34" charset="-120"/>
              </a:rPr>
              <a:t>One-word name + number</a:t>
            </a:r>
            <a:endParaRPr lang="en-US" sz="1800" dirty="0"/>
          </a:p>
        </p:txBody>
      </p:sp>
      <p:sp>
        <p:nvSpPr>
          <p:cNvPr id="11" name="Text 9"/>
          <p:cNvSpPr/>
          <p:nvPr/>
        </p:nvSpPr>
        <p:spPr>
          <a:xfrm>
            <a:off x="6451600" y="2255341"/>
            <a:ext cx="4699000" cy="721320"/>
          </a:xfrm>
          <a:prstGeom prst="roundRect">
            <a:avLst>
              <a:gd name="adj" fmla="val 8803"/>
            </a:avLst>
          </a:prstGeom>
          <a:solidFill>
            <a:srgbClr val="FFFFFF"/>
          </a:solidFill>
          <a:ln w="9525">
            <a:solidFill>
              <a:srgbClr val="808080"/>
            </a:solidFill>
          </a:ln>
        </p:spPr>
        <p:txBody>
          <a:bodyPr wrap="square" lIns="108401" tIns="57601" rIns="0" bIns="32201" rtlCol="0" anchor="t">
            <a:normAutofit/>
          </a:bodyPr>
          <a:lstStyle/>
          <a:p>
            <a:pPr marL="0" indent="0" algn="l">
              <a:lnSpc>
                <a:spcPts val="2240"/>
              </a:lnSpc>
              <a:buNone/>
            </a:pPr>
            <a:r>
              <a:rPr lang="en-US" sz="1600" dirty="0">
                <a:solidFill>
                  <a:srgbClr val="000000"/>
                </a:solidFill>
                <a:latin typeface="Courier New" pitchFamily="49" charset="0"/>
                <a:ea typeface="Courier New" pitchFamily="49" charset="-122"/>
                <a:cs typeface="Courier New" pitchFamily="49" charset="-120"/>
              </a:rPr>
              <a:t>Ali 85</a:t>
            </a:r>
            <a:endParaRPr lang="en-US" sz="1600" dirty="0"/>
          </a:p>
          <a:p>
            <a:pPr marL="0" indent="0" algn="l">
              <a:lnSpc>
                <a:spcPts val="2240"/>
              </a:lnSpc>
              <a:buNone/>
            </a:pPr>
            <a:r>
              <a:rPr lang="en-US" sz="1600" dirty="0">
                <a:solidFill>
                  <a:srgbClr val="000000"/>
                </a:solidFill>
                <a:latin typeface="Courier New" pitchFamily="49" charset="0"/>
                <a:ea typeface="Courier New" pitchFamily="49" charset="-122"/>
                <a:cs typeface="Courier New" pitchFamily="49" charset="-120"/>
              </a:rPr>
              <a:t>Sara 92</a:t>
            </a:r>
            <a:endParaRPr lang="en-US" sz="1600" dirty="0"/>
          </a:p>
        </p:txBody>
      </p:sp>
      <p:sp>
        <p:nvSpPr>
          <p:cNvPr id="12" name="Text 10"/>
          <p:cNvSpPr/>
          <p:nvPr/>
        </p:nvSpPr>
        <p:spPr>
          <a:xfrm>
            <a:off x="6451600" y="3103662"/>
            <a:ext cx="4699000" cy="1328341"/>
          </a:xfrm>
          <a:prstGeom prst="roundRect">
            <a:avLst>
              <a:gd name="adj" fmla="val 6693"/>
            </a:avLst>
          </a:prstGeom>
          <a:solidFill>
            <a:srgbClr val="F2F2F2"/>
          </a:solidFill>
          <a:ln w="12700">
            <a:solidFill>
              <a:srgbClr val="404040"/>
            </a:solidFill>
          </a:ln>
        </p:spPr>
        <p:txBody>
          <a:bodyPr wrap="square" lIns="151762" tIns="126362" rIns="21460" bIns="100962" rtlCol="0" anchor="t">
            <a:normAutofit/>
          </a:bodyPr>
          <a:lstStyle/>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char name[20];</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int marks;</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while (inFile &gt;&gt; name &gt;&gt; marks)</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    cout &lt;&lt; name &lt;&lt; " " &lt;&lt; marks;</a:t>
            </a:r>
            <a:endParaRPr lang="en-US" sz="1300" dirty="0"/>
          </a:p>
        </p:txBody>
      </p:sp>
      <p:sp>
        <p:nvSpPr>
          <p:cNvPr id="13" name="Text 11"/>
          <p:cNvSpPr/>
          <p:nvPr/>
        </p:nvSpPr>
        <p:spPr>
          <a:xfrm>
            <a:off x="6451600" y="4559002"/>
            <a:ext cx="4839970" cy="50542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000000"/>
                </a:solidFill>
                <a:latin typeface="Carlito" pitchFamily="34" charset="0"/>
                <a:ea typeface="Carlito" pitchFamily="34" charset="-122"/>
                <a:cs typeface="Carlito" pitchFamily="34" charset="-120"/>
              </a:rPr>
              <a:t>Careful: &gt;&gt; stops at a space. "Ali Khan 85" puts Khan where the number should be, and the read fails.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MIXED TYPES · THE TRICKY ONE</a:t>
            </a:r>
            <a:endParaRPr lang="en-US" sz="1200" dirty="0"/>
          </a:p>
        </p:txBody>
      </p:sp>
      <p:sp>
        <p:nvSpPr>
          <p:cNvPr id="3" name="Text 1"/>
          <p:cNvSpPr>
            <a:spLocks noGrp="1"/>
          </p:cNvSpPr>
          <p:nvPr>
            <p:ph type="title"/>
          </p:nvPr>
        </p:nvSpPr>
        <p:spPr>
          <a:xfrm>
            <a:off x="812800" y="924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Full names with spaces</a:t>
            </a:r>
            <a:endParaRPr lang="en-US" sz="3200" dirty="0"/>
          </a:p>
        </p:txBody>
      </p:sp>
      <p:sp>
        <p:nvSpPr>
          <p:cNvPr id="4" name="Shape 2"/>
          <p:cNvSpPr/>
          <p:nvPr/>
        </p:nvSpPr>
        <p:spPr>
          <a:xfrm>
            <a:off x="812800" y="1600101"/>
            <a:ext cx="2794000" cy="1941711"/>
          </a:xfrm>
          <a:prstGeom prst="roundRect">
            <a:avLst>
              <a:gd name="adj" fmla="val 6541"/>
            </a:avLst>
          </a:prstGeom>
          <a:solidFill>
            <a:srgbClr val="FFFFFF"/>
          </a:solidFill>
          <a:ln w="9525">
            <a:solidFill>
              <a:srgbClr val="808080"/>
            </a:solidFill>
          </a:ln>
        </p:spPr>
        <p:txBody>
          <a:bodyPr/>
          <a:lstStyle/>
          <a:p>
            <a:endParaRPr lang="en-US"/>
          </a:p>
        </p:txBody>
      </p:sp>
      <p:sp>
        <p:nvSpPr>
          <p:cNvPr id="5" name="Text 3"/>
          <p:cNvSpPr/>
          <p:nvPr/>
        </p:nvSpPr>
        <p:spPr>
          <a:xfrm>
            <a:off x="1041400" y="1777901"/>
            <a:ext cx="240690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404040"/>
                </a:solidFill>
                <a:latin typeface="Courier New" pitchFamily="49" charset="0"/>
                <a:ea typeface="Courier New" pitchFamily="49" charset="-122"/>
                <a:cs typeface="Courier New" pitchFamily="49" charset="-120"/>
              </a:rPr>
              <a:t>students.txt</a:t>
            </a:r>
            <a:endParaRPr lang="en-US" sz="1200" dirty="0"/>
          </a:p>
        </p:txBody>
      </p:sp>
      <p:sp>
        <p:nvSpPr>
          <p:cNvPr id="6" name="Text 4"/>
          <p:cNvSpPr/>
          <p:nvPr/>
        </p:nvSpPr>
        <p:spPr>
          <a:xfrm>
            <a:off x="1041400" y="2054721"/>
            <a:ext cx="2406904" cy="577850"/>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000000"/>
                </a:solidFill>
                <a:latin typeface="Courier New" pitchFamily="49" charset="0"/>
                <a:ea typeface="Courier New" pitchFamily="49" charset="-122"/>
                <a:cs typeface="Courier New" pitchFamily="49" charset="-120"/>
              </a:rPr>
              <a:t>Ali Khan,85</a:t>
            </a:r>
            <a:endParaRPr lang="en-US" sz="1500" dirty="0"/>
          </a:p>
          <a:p>
            <a:pPr marL="0" indent="0" algn="l">
              <a:lnSpc>
                <a:spcPts val="2175"/>
              </a:lnSpc>
              <a:buNone/>
            </a:pPr>
            <a:r>
              <a:rPr lang="en-US" sz="1500" dirty="0">
                <a:solidFill>
                  <a:srgbClr val="000000"/>
                </a:solidFill>
                <a:latin typeface="Courier New" pitchFamily="49" charset="0"/>
                <a:ea typeface="Courier New" pitchFamily="49" charset="-122"/>
                <a:cs typeface="Courier New" pitchFamily="49" charset="-120"/>
              </a:rPr>
              <a:t>Sara Ahmed,92</a:t>
            </a:r>
            <a:endParaRPr lang="en-US" sz="1500" dirty="0"/>
          </a:p>
        </p:txBody>
      </p:sp>
      <p:sp>
        <p:nvSpPr>
          <p:cNvPr id="7" name="Text 5"/>
          <p:cNvSpPr/>
          <p:nvPr/>
        </p:nvSpPr>
        <p:spPr>
          <a:xfrm>
            <a:off x="3810000" y="1600101"/>
            <a:ext cx="7569200" cy="1941711"/>
          </a:xfrm>
          <a:prstGeom prst="roundRect">
            <a:avLst>
              <a:gd name="adj" fmla="val 6541"/>
            </a:avLst>
          </a:prstGeom>
          <a:solidFill>
            <a:srgbClr val="F2F2F2"/>
          </a:solidFill>
          <a:ln w="12700">
            <a:solidFill>
              <a:srgbClr val="404040"/>
            </a:solidFill>
          </a:ln>
        </p:spPr>
        <p:txBody>
          <a:bodyPr wrap="square" lIns="216803" tIns="166003" rIns="4967" bIns="140603" rtlCol="0" anchor="t">
            <a:normAutofit/>
          </a:bodyPr>
          <a:lstStyle/>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char name[30];</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int marks;</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while (inFile.</a:t>
            </a:r>
            <a:r>
              <a:rPr lang="en-US" sz="1300" b="1" dirty="0">
                <a:solidFill>
                  <a:srgbClr val="000000"/>
                </a:solidFill>
                <a:latin typeface="Courier New" pitchFamily="49" charset="0"/>
                <a:ea typeface="Courier New" pitchFamily="49" charset="-122"/>
                <a:cs typeface="Courier New" pitchFamily="49" charset="-120"/>
              </a:rPr>
              <a:t>getline(name, 30, ',')</a:t>
            </a:r>
            <a:r>
              <a:rPr lang="en-US" sz="1300" dirty="0">
                <a:solidFill>
                  <a:srgbClr val="000000"/>
                </a:solidFill>
                <a:latin typeface="Courier New" pitchFamily="49" charset="0"/>
                <a:ea typeface="Courier New" pitchFamily="49" charset="-122"/>
                <a:cs typeface="Courier New" pitchFamily="49" charset="-120"/>
              </a:rPr>
              <a:t> &amp;&amp; inFile &gt;&gt; marks) {</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    inFile.</a:t>
            </a:r>
            <a:r>
              <a:rPr lang="en-US" sz="1300" b="1" dirty="0">
                <a:solidFill>
                  <a:srgbClr val="000000"/>
                </a:solidFill>
                <a:latin typeface="Courier New" pitchFamily="49" charset="0"/>
                <a:ea typeface="Courier New" pitchFamily="49" charset="-122"/>
                <a:cs typeface="Courier New" pitchFamily="49" charset="-120"/>
              </a:rPr>
              <a:t>ignore(100, '\n')</a:t>
            </a:r>
            <a:r>
              <a:rPr lang="en-US" sz="1300" dirty="0">
                <a:solidFill>
                  <a:srgbClr val="000000"/>
                </a:solidFill>
                <a:latin typeface="Courier New" pitchFamily="49" charset="0"/>
                <a:ea typeface="Courier New" pitchFamily="49" charset="-122"/>
                <a:cs typeface="Courier New" pitchFamily="49" charset="-120"/>
              </a:rPr>
              <a:t>;  </a:t>
            </a:r>
            <a:r>
              <a:rPr lang="en-US" sz="1300" dirty="0">
                <a:solidFill>
                  <a:srgbClr val="595959"/>
                </a:solidFill>
                <a:latin typeface="Courier New" pitchFamily="49" charset="0"/>
                <a:ea typeface="Courier New" pitchFamily="49" charset="-122"/>
                <a:cs typeface="Courier New" pitchFamily="49" charset="-120"/>
              </a:rPr>
              <a:t>// skip the rest of the line</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    cout &lt;&lt; name &lt;&lt; " = " &lt;&lt; marks &lt;&lt; endl;</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a:t>
            </a:r>
            <a:endParaRPr lang="en-US" sz="1300" dirty="0"/>
          </a:p>
        </p:txBody>
      </p:sp>
      <p:sp>
        <p:nvSpPr>
          <p:cNvPr id="8" name="Shape 6"/>
          <p:cNvSpPr/>
          <p:nvPr/>
        </p:nvSpPr>
        <p:spPr>
          <a:xfrm>
            <a:off x="812800" y="3770412"/>
            <a:ext cx="3403600" cy="1165721"/>
          </a:xfrm>
          <a:prstGeom prst="roundRect">
            <a:avLst>
              <a:gd name="adj" fmla="val 10895"/>
            </a:avLst>
          </a:prstGeom>
          <a:solidFill>
            <a:srgbClr val="FFFFFF"/>
          </a:solidFill>
          <a:ln w="9525">
            <a:solidFill>
              <a:srgbClr val="808080"/>
            </a:solidFill>
          </a:ln>
        </p:spPr>
        <p:txBody>
          <a:bodyPr/>
          <a:lstStyle/>
          <a:p>
            <a:endParaRPr lang="en-US"/>
          </a:p>
        </p:txBody>
      </p:sp>
      <p:sp>
        <p:nvSpPr>
          <p:cNvPr id="9" name="Text 7"/>
          <p:cNvSpPr/>
          <p:nvPr/>
        </p:nvSpPr>
        <p:spPr>
          <a:xfrm>
            <a:off x="1016000" y="3948212"/>
            <a:ext cx="308711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0000"/>
                </a:solidFill>
                <a:latin typeface="Courier New" pitchFamily="49" charset="0"/>
                <a:ea typeface="Courier New" pitchFamily="49" charset="-122"/>
                <a:cs typeface="Courier New" pitchFamily="49" charset="-120"/>
              </a:rPr>
              <a:t>getline(name, 30, ',')</a:t>
            </a:r>
            <a:endParaRPr lang="en-US" sz="1300" dirty="0"/>
          </a:p>
        </p:txBody>
      </p:sp>
      <p:sp>
        <p:nvSpPr>
          <p:cNvPr id="10" name="Text 8"/>
          <p:cNvSpPr/>
          <p:nvPr/>
        </p:nvSpPr>
        <p:spPr>
          <a:xfrm>
            <a:off x="1016000" y="4242792"/>
            <a:ext cx="3087116"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00000"/>
                </a:solidFill>
                <a:latin typeface="Carlito" pitchFamily="34" charset="0"/>
                <a:ea typeface="Carlito" pitchFamily="34" charset="-122"/>
                <a:cs typeface="Carlito" pitchFamily="34" charset="-120"/>
              </a:rPr>
              <a:t>Reads up to the comma, spaces included. 30 is the array size.</a:t>
            </a:r>
            <a:endParaRPr lang="en-US" sz="1400" dirty="0"/>
          </a:p>
        </p:txBody>
      </p:sp>
      <p:sp>
        <p:nvSpPr>
          <p:cNvPr id="11" name="Shape 9"/>
          <p:cNvSpPr/>
          <p:nvPr/>
        </p:nvSpPr>
        <p:spPr>
          <a:xfrm>
            <a:off x="4394200" y="3770412"/>
            <a:ext cx="3403600" cy="1165721"/>
          </a:xfrm>
          <a:prstGeom prst="roundRect">
            <a:avLst>
              <a:gd name="adj" fmla="val 10895"/>
            </a:avLst>
          </a:prstGeom>
          <a:solidFill>
            <a:srgbClr val="FFFFFF"/>
          </a:solidFill>
          <a:ln w="9525">
            <a:solidFill>
              <a:srgbClr val="808080"/>
            </a:solidFill>
          </a:ln>
        </p:spPr>
        <p:txBody>
          <a:bodyPr/>
          <a:lstStyle/>
          <a:p>
            <a:endParaRPr lang="en-US"/>
          </a:p>
        </p:txBody>
      </p:sp>
      <p:sp>
        <p:nvSpPr>
          <p:cNvPr id="12" name="Text 10"/>
          <p:cNvSpPr/>
          <p:nvPr/>
        </p:nvSpPr>
        <p:spPr>
          <a:xfrm>
            <a:off x="4597400" y="3948212"/>
            <a:ext cx="308711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0000"/>
                </a:solidFill>
                <a:latin typeface="Courier New" pitchFamily="49" charset="0"/>
                <a:ea typeface="Courier New" pitchFamily="49" charset="-122"/>
                <a:cs typeface="Courier New" pitchFamily="49" charset="-120"/>
              </a:rPr>
              <a:t>ignore(100, '\n')</a:t>
            </a:r>
            <a:endParaRPr lang="en-US" sz="1300" dirty="0"/>
          </a:p>
        </p:txBody>
      </p:sp>
      <p:sp>
        <p:nvSpPr>
          <p:cNvPr id="13" name="Text 11"/>
          <p:cNvSpPr/>
          <p:nvPr/>
        </p:nvSpPr>
        <p:spPr>
          <a:xfrm>
            <a:off x="4597400" y="4242792"/>
            <a:ext cx="3087116" cy="505420"/>
          </a:xfrm>
          <a:prstGeom prst="rect">
            <a:avLst/>
          </a:prstGeom>
          <a:noFill/>
          <a:ln/>
        </p:spPr>
        <p:txBody>
          <a:bodyPr wrap="square" lIns="0" tIns="0" rIns="0" bIns="0" rtlCol="0" anchor="t">
            <a:normAutofit lnSpcReduction="10000"/>
          </a:bodyPr>
          <a:lstStyle/>
          <a:p>
            <a:pPr marL="0" indent="0" algn="l">
              <a:lnSpc>
                <a:spcPts val="1890"/>
              </a:lnSpc>
              <a:buNone/>
            </a:pPr>
            <a:r>
              <a:rPr lang="en-US" sz="1400" dirty="0">
                <a:solidFill>
                  <a:srgbClr val="000000"/>
                </a:solidFill>
                <a:latin typeface="Carlito" pitchFamily="34" charset="0"/>
                <a:ea typeface="Carlito" pitchFamily="34" charset="-122"/>
                <a:cs typeface="Carlito" pitchFamily="34" charset="-120"/>
              </a:rPr>
              <a:t>Skips the new line after the number. Without it, the next name starts with it.</a:t>
            </a:r>
            <a:endParaRPr lang="en-US" sz="1400" dirty="0"/>
          </a:p>
        </p:txBody>
      </p:sp>
      <p:sp>
        <p:nvSpPr>
          <p:cNvPr id="14" name="Shape 12"/>
          <p:cNvSpPr/>
          <p:nvPr/>
        </p:nvSpPr>
        <p:spPr>
          <a:xfrm>
            <a:off x="7975600" y="3770412"/>
            <a:ext cx="3403600" cy="1165721"/>
          </a:xfrm>
          <a:prstGeom prst="roundRect">
            <a:avLst>
              <a:gd name="adj" fmla="val 10895"/>
            </a:avLst>
          </a:prstGeom>
          <a:solidFill>
            <a:srgbClr val="FFFFFF"/>
          </a:solidFill>
          <a:ln w="9525">
            <a:solidFill>
              <a:srgbClr val="808080"/>
            </a:solidFill>
          </a:ln>
        </p:spPr>
        <p:txBody>
          <a:bodyPr/>
          <a:lstStyle/>
          <a:p>
            <a:endParaRPr lang="en-US"/>
          </a:p>
        </p:txBody>
      </p:sp>
      <p:sp>
        <p:nvSpPr>
          <p:cNvPr id="15" name="Text 13"/>
          <p:cNvSpPr/>
          <p:nvPr/>
        </p:nvSpPr>
        <p:spPr>
          <a:xfrm>
            <a:off x="8178800" y="3948212"/>
            <a:ext cx="3087116"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00000"/>
                </a:solidFill>
                <a:latin typeface="Carlito" pitchFamily="34" charset="0"/>
                <a:ea typeface="Carlito" pitchFamily="34" charset="-122"/>
                <a:cs typeface="Carlito" pitchFamily="34" charset="-120"/>
              </a:rPr>
              <a:t>Output</a:t>
            </a:r>
            <a:endParaRPr lang="en-US" sz="1300" dirty="0"/>
          </a:p>
        </p:txBody>
      </p:sp>
      <p:sp>
        <p:nvSpPr>
          <p:cNvPr id="16" name="Text 14"/>
          <p:cNvSpPr/>
          <p:nvPr/>
        </p:nvSpPr>
        <p:spPr>
          <a:xfrm>
            <a:off x="8178800" y="4242792"/>
            <a:ext cx="3087116"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000000"/>
                </a:solidFill>
                <a:latin typeface="Courier New" pitchFamily="49" charset="0"/>
                <a:ea typeface="Courier New" pitchFamily="49" charset="-122"/>
                <a:cs typeface="Courier New" pitchFamily="49" charset="-120"/>
              </a:rPr>
              <a:t>Ali Khan = 85</a:t>
            </a:r>
            <a:endParaRPr lang="en-US" sz="1400" dirty="0"/>
          </a:p>
          <a:p>
            <a:pPr marL="0" indent="0" algn="l">
              <a:lnSpc>
                <a:spcPts val="2030"/>
              </a:lnSpc>
              <a:buNone/>
            </a:pPr>
            <a:r>
              <a:rPr lang="en-US" sz="1400" dirty="0">
                <a:solidFill>
                  <a:srgbClr val="000000"/>
                </a:solidFill>
                <a:latin typeface="Courier New" pitchFamily="49" charset="0"/>
                <a:ea typeface="Courier New" pitchFamily="49" charset="-122"/>
                <a:cs typeface="Courier New" pitchFamily="49" charset="-120"/>
              </a:rPr>
              <a:t>Sara Ahmed = 92</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FILE STRUCTURE</a:t>
            </a:r>
            <a:endParaRPr lang="en-US" sz="1200" dirty="0"/>
          </a:p>
        </p:txBody>
      </p:sp>
      <p:sp>
        <p:nvSpPr>
          <p:cNvPr id="3" name="Text 1"/>
          <p:cNvSpPr>
            <a:spLocks noGrp="1"/>
          </p:cNvSpPr>
          <p:nvPr>
            <p:ph type="title"/>
          </p:nvPr>
        </p:nvSpPr>
        <p:spPr>
          <a:xfrm>
            <a:off x="812800" y="924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Unknown size: a count first, or a sentinel</a:t>
            </a:r>
            <a:endParaRPr lang="en-US" sz="3200" dirty="0"/>
          </a:p>
        </p:txBody>
      </p:sp>
      <p:sp>
        <p:nvSpPr>
          <p:cNvPr id="4" name="Shape 2"/>
          <p:cNvSpPr/>
          <p:nvPr/>
        </p:nvSpPr>
        <p:spPr>
          <a:xfrm>
            <a:off x="812800" y="1625501"/>
            <a:ext cx="5156200" cy="4470499"/>
          </a:xfrm>
          <a:prstGeom prst="roundRect">
            <a:avLst>
              <a:gd name="adj" fmla="val 2841"/>
            </a:avLst>
          </a:prstGeom>
          <a:solidFill>
            <a:srgbClr val="FFFFFF"/>
          </a:solidFill>
          <a:ln w="9525">
            <a:solidFill>
              <a:srgbClr val="808080"/>
            </a:solidFill>
          </a:ln>
        </p:spPr>
        <p:txBody>
          <a:bodyPr/>
          <a:lstStyle/>
          <a:p>
            <a:endParaRPr lang="en-US"/>
          </a:p>
        </p:txBody>
      </p:sp>
      <p:sp>
        <p:nvSpPr>
          <p:cNvPr id="5" name="Text 3"/>
          <p:cNvSpPr/>
          <p:nvPr/>
        </p:nvSpPr>
        <p:spPr>
          <a:xfrm>
            <a:off x="1041400" y="1854101"/>
            <a:ext cx="483997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00"/>
                </a:solidFill>
                <a:latin typeface="Carlito" pitchFamily="34" charset="0"/>
                <a:ea typeface="Carlito" pitchFamily="34" charset="-122"/>
                <a:cs typeface="Carlito" pitchFamily="34" charset="-120"/>
              </a:rPr>
              <a:t>Count on the first line</a:t>
            </a:r>
            <a:endParaRPr lang="en-US" sz="1800" dirty="0"/>
          </a:p>
        </p:txBody>
      </p:sp>
      <p:sp>
        <p:nvSpPr>
          <p:cNvPr id="6" name="Text 4"/>
          <p:cNvSpPr/>
          <p:nvPr/>
        </p:nvSpPr>
        <p:spPr>
          <a:xfrm>
            <a:off x="1041400" y="2255341"/>
            <a:ext cx="4699000" cy="721320"/>
          </a:xfrm>
          <a:prstGeom prst="roundRect">
            <a:avLst>
              <a:gd name="adj" fmla="val 8803"/>
            </a:avLst>
          </a:prstGeom>
          <a:solidFill>
            <a:srgbClr val="FFFFFF"/>
          </a:solidFill>
          <a:ln w="9525">
            <a:solidFill>
              <a:srgbClr val="808080"/>
            </a:solidFill>
          </a:ln>
        </p:spPr>
        <p:txBody>
          <a:bodyPr wrap="square" lIns="108401" tIns="57601" rIns="0" bIns="32201" rtlCol="0" anchor="t">
            <a:normAutofit/>
          </a:bodyPr>
          <a:lstStyle/>
          <a:p>
            <a:pPr marL="0" indent="0" algn="l">
              <a:lnSpc>
                <a:spcPts val="2240"/>
              </a:lnSpc>
              <a:buNone/>
            </a:pPr>
            <a:r>
              <a:rPr lang="en-US" sz="1600" b="1" dirty="0">
                <a:solidFill>
                  <a:srgbClr val="000000"/>
                </a:solidFill>
                <a:latin typeface="Courier New" pitchFamily="49" charset="0"/>
                <a:ea typeface="Courier New" pitchFamily="49" charset="-122"/>
                <a:cs typeface="Courier New" pitchFamily="49" charset="-120"/>
              </a:rPr>
              <a:t>4</a:t>
            </a:r>
            <a:endParaRPr lang="en-US" sz="1600" dirty="0"/>
          </a:p>
          <a:p>
            <a:pPr marL="0" indent="0" algn="l">
              <a:lnSpc>
                <a:spcPts val="2240"/>
              </a:lnSpc>
              <a:buNone/>
            </a:pPr>
            <a:r>
              <a:rPr lang="en-US" sz="1600" dirty="0">
                <a:solidFill>
                  <a:srgbClr val="000000"/>
                </a:solidFill>
                <a:latin typeface="Courier New" pitchFamily="49" charset="0"/>
                <a:ea typeface="Courier New" pitchFamily="49" charset="-122"/>
                <a:cs typeface="Courier New" pitchFamily="49" charset="-120"/>
              </a:rPr>
              <a:t>10 20 30 40</a:t>
            </a:r>
            <a:endParaRPr lang="en-US" sz="1600" dirty="0"/>
          </a:p>
        </p:txBody>
      </p:sp>
      <p:sp>
        <p:nvSpPr>
          <p:cNvPr id="7" name="Text 5"/>
          <p:cNvSpPr/>
          <p:nvPr/>
        </p:nvSpPr>
        <p:spPr>
          <a:xfrm>
            <a:off x="1041400" y="3103662"/>
            <a:ext cx="4699000" cy="1328341"/>
          </a:xfrm>
          <a:prstGeom prst="roundRect">
            <a:avLst>
              <a:gd name="adj" fmla="val 6693"/>
            </a:avLst>
          </a:prstGeom>
          <a:solidFill>
            <a:srgbClr val="F2F2F2"/>
          </a:solidFill>
          <a:ln w="12700">
            <a:solidFill>
              <a:srgbClr val="404040"/>
            </a:solidFill>
          </a:ln>
        </p:spPr>
        <p:txBody>
          <a:bodyPr wrap="square" lIns="151762" tIns="126362" rIns="21460" bIns="100962" rtlCol="0" anchor="t">
            <a:normAutofit/>
          </a:bodyPr>
          <a:lstStyle/>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int n, a[10];</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inFile &gt;&gt; n;</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for (int i = 0; i &lt; n; i++)</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    inFile &gt;&gt; a[i];</a:t>
            </a:r>
            <a:endParaRPr lang="en-US" sz="1300" dirty="0"/>
          </a:p>
        </p:txBody>
      </p:sp>
      <p:sp>
        <p:nvSpPr>
          <p:cNvPr id="8" name="Text 6"/>
          <p:cNvSpPr/>
          <p:nvPr/>
        </p:nvSpPr>
        <p:spPr>
          <a:xfrm>
            <a:off x="1041400" y="4559002"/>
            <a:ext cx="483997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00000"/>
                </a:solidFill>
                <a:latin typeface="Carlito" pitchFamily="34" charset="0"/>
                <a:ea typeface="Carlito" pitchFamily="34" charset="-122"/>
                <a:cs typeface="Carlito" pitchFamily="34" charset="-120"/>
              </a:rPr>
              <a:t>The file says how many. </a:t>
            </a:r>
            <a:r>
              <a:rPr lang="en-US" sz="1400" b="1" dirty="0">
                <a:solidFill>
                  <a:srgbClr val="000000"/>
                </a:solidFill>
                <a:latin typeface="Carlito" pitchFamily="34" charset="0"/>
                <a:ea typeface="Carlito" pitchFamily="34" charset="-122"/>
                <a:cs typeface="Carlito" pitchFamily="34" charset="-120"/>
              </a:rPr>
              <a:t>Check that n is not bigger than the array!</a:t>
            </a:r>
            <a:endParaRPr lang="en-US" sz="1400" dirty="0"/>
          </a:p>
        </p:txBody>
      </p:sp>
      <p:sp>
        <p:nvSpPr>
          <p:cNvPr id="9" name="Shape 7"/>
          <p:cNvSpPr/>
          <p:nvPr/>
        </p:nvSpPr>
        <p:spPr>
          <a:xfrm>
            <a:off x="6223000" y="1625501"/>
            <a:ext cx="5156200" cy="4470499"/>
          </a:xfrm>
          <a:prstGeom prst="roundRect">
            <a:avLst>
              <a:gd name="adj" fmla="val 2841"/>
            </a:avLst>
          </a:prstGeom>
          <a:solidFill>
            <a:srgbClr val="FFFFFF"/>
          </a:solidFill>
          <a:ln w="9525">
            <a:solidFill>
              <a:srgbClr val="808080"/>
            </a:solidFill>
          </a:ln>
        </p:spPr>
        <p:txBody>
          <a:bodyPr/>
          <a:lstStyle/>
          <a:p>
            <a:endParaRPr lang="en-US"/>
          </a:p>
        </p:txBody>
      </p:sp>
      <p:sp>
        <p:nvSpPr>
          <p:cNvPr id="10" name="Text 8"/>
          <p:cNvSpPr/>
          <p:nvPr/>
        </p:nvSpPr>
        <p:spPr>
          <a:xfrm>
            <a:off x="6451600" y="1854101"/>
            <a:ext cx="483997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00"/>
                </a:solidFill>
                <a:latin typeface="Carlito" pitchFamily="34" charset="0"/>
                <a:ea typeface="Carlito" pitchFamily="34" charset="-122"/>
                <a:cs typeface="Carlito" pitchFamily="34" charset="-120"/>
              </a:rPr>
              <a:t>Sentinel value at the end</a:t>
            </a:r>
            <a:endParaRPr lang="en-US" sz="1800" dirty="0"/>
          </a:p>
        </p:txBody>
      </p:sp>
      <p:sp>
        <p:nvSpPr>
          <p:cNvPr id="11" name="Text 9"/>
          <p:cNvSpPr/>
          <p:nvPr/>
        </p:nvSpPr>
        <p:spPr>
          <a:xfrm>
            <a:off x="6451600" y="2255341"/>
            <a:ext cx="4699000" cy="436860"/>
          </a:xfrm>
          <a:prstGeom prst="roundRect">
            <a:avLst>
              <a:gd name="adj" fmla="val 14536"/>
            </a:avLst>
          </a:prstGeom>
          <a:solidFill>
            <a:srgbClr val="FFFFFF"/>
          </a:solidFill>
          <a:ln w="9525">
            <a:solidFill>
              <a:srgbClr val="808080"/>
            </a:solidFill>
          </a:ln>
        </p:spPr>
        <p:txBody>
          <a:bodyPr wrap="square" lIns="108401" tIns="57601" rIns="0" bIns="32201" rtlCol="0" anchor="t">
            <a:normAutofit/>
          </a:bodyPr>
          <a:lstStyle/>
          <a:p>
            <a:pPr marL="0" indent="0" algn="l">
              <a:lnSpc>
                <a:spcPts val="2240"/>
              </a:lnSpc>
              <a:buNone/>
            </a:pPr>
            <a:r>
              <a:rPr lang="en-US" sz="1600" dirty="0">
                <a:solidFill>
                  <a:srgbClr val="000000"/>
                </a:solidFill>
                <a:latin typeface="Courier New" pitchFamily="49" charset="0"/>
                <a:ea typeface="Courier New" pitchFamily="49" charset="-122"/>
                <a:cs typeface="Courier New" pitchFamily="49" charset="-120"/>
              </a:rPr>
              <a:t>85 90 78 </a:t>
            </a:r>
            <a:r>
              <a:rPr lang="en-US" sz="1600" b="1" dirty="0">
                <a:solidFill>
                  <a:srgbClr val="000000"/>
                </a:solidFill>
                <a:latin typeface="Courier New" pitchFamily="49" charset="0"/>
                <a:ea typeface="Courier New" pitchFamily="49" charset="-122"/>
                <a:cs typeface="Courier New" pitchFamily="49" charset="-120"/>
              </a:rPr>
              <a:t>-1</a:t>
            </a:r>
            <a:r>
              <a:rPr lang="en-US" sz="1600" dirty="0">
                <a:solidFill>
                  <a:srgbClr val="000000"/>
                </a:solidFill>
                <a:latin typeface="Courier New" pitchFamily="49" charset="0"/>
                <a:ea typeface="Courier New" pitchFamily="49" charset="-122"/>
                <a:cs typeface="Courier New" pitchFamily="49" charset="-120"/>
              </a:rPr>
              <a:t> 55</a:t>
            </a:r>
            <a:endParaRPr lang="en-US" sz="1600" dirty="0"/>
          </a:p>
        </p:txBody>
      </p:sp>
      <p:sp>
        <p:nvSpPr>
          <p:cNvPr id="12" name="Text 10"/>
          <p:cNvSpPr/>
          <p:nvPr/>
        </p:nvSpPr>
        <p:spPr>
          <a:xfrm>
            <a:off x="6451600" y="2819202"/>
            <a:ext cx="4699000" cy="1328341"/>
          </a:xfrm>
          <a:prstGeom prst="roundRect">
            <a:avLst>
              <a:gd name="adj" fmla="val 6693"/>
            </a:avLst>
          </a:prstGeom>
          <a:solidFill>
            <a:srgbClr val="F2F2F2"/>
          </a:solidFill>
          <a:ln w="12700">
            <a:solidFill>
              <a:srgbClr val="404040"/>
            </a:solidFill>
          </a:ln>
        </p:spPr>
        <p:txBody>
          <a:bodyPr wrap="square" lIns="151762" tIns="126362" rIns="21460" bIns="100962" rtlCol="0" anchor="t">
            <a:normAutofit/>
          </a:bodyPr>
          <a:lstStyle/>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int x, count = 0, a[10];</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while (count &lt; 10 &amp;&amp; inFile &gt;&gt; x</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                &amp;&amp; x != -1)</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    a[count++] = x;</a:t>
            </a:r>
            <a:endParaRPr lang="en-US" sz="1300" dirty="0"/>
          </a:p>
        </p:txBody>
      </p:sp>
      <p:sp>
        <p:nvSpPr>
          <p:cNvPr id="13" name="Text 11"/>
          <p:cNvSpPr/>
          <p:nvPr/>
        </p:nvSpPr>
        <p:spPr>
          <a:xfrm>
            <a:off x="6451600" y="4274542"/>
            <a:ext cx="4839970" cy="26541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000000"/>
                </a:solidFill>
                <a:latin typeface="Carlito" pitchFamily="34" charset="0"/>
                <a:ea typeface="Carlito" pitchFamily="34" charset="-122"/>
                <a:cs typeface="Carlito" pitchFamily="34" charset="-120"/>
              </a:rPr>
              <a:t>count = 3.</a:t>
            </a:r>
            <a:r>
              <a:rPr lang="en-US" sz="1400" dirty="0">
                <a:solidFill>
                  <a:srgbClr val="000000"/>
                </a:solidFill>
                <a:latin typeface="Carlito" pitchFamily="34" charset="0"/>
                <a:ea typeface="Carlito" pitchFamily="34" charset="-122"/>
                <a:cs typeface="Carlito" pitchFamily="34" charset="-120"/>
              </a:rPr>
              <a:t> A special value marks the end: 55 is never read.</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FILE STRUCTURE</a:t>
            </a:r>
            <a:endParaRPr lang="en-US" sz="1200" dirty="0"/>
          </a:p>
        </p:txBody>
      </p:sp>
      <p:sp>
        <p:nvSpPr>
          <p:cNvPr id="3" name="Text 1"/>
          <p:cNvSpPr>
            <a:spLocks noGrp="1"/>
          </p:cNvSpPr>
          <p:nvPr>
            <p:ph type="title"/>
          </p:nvPr>
        </p:nvSpPr>
        <p:spPr>
          <a:xfrm>
            <a:off x="812800" y="924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Header lines and grids</a:t>
            </a:r>
            <a:endParaRPr lang="en-US" sz="3200" dirty="0"/>
          </a:p>
        </p:txBody>
      </p:sp>
      <p:sp>
        <p:nvSpPr>
          <p:cNvPr id="4" name="Shape 2"/>
          <p:cNvSpPr/>
          <p:nvPr/>
        </p:nvSpPr>
        <p:spPr>
          <a:xfrm>
            <a:off x="812800" y="1625501"/>
            <a:ext cx="5156200" cy="4470499"/>
          </a:xfrm>
          <a:prstGeom prst="roundRect">
            <a:avLst>
              <a:gd name="adj" fmla="val 2841"/>
            </a:avLst>
          </a:prstGeom>
          <a:solidFill>
            <a:srgbClr val="FFFFFF"/>
          </a:solidFill>
          <a:ln w="9525">
            <a:solidFill>
              <a:srgbClr val="808080"/>
            </a:solidFill>
          </a:ln>
        </p:spPr>
        <p:txBody>
          <a:bodyPr/>
          <a:lstStyle/>
          <a:p>
            <a:endParaRPr lang="en-US"/>
          </a:p>
        </p:txBody>
      </p:sp>
      <p:sp>
        <p:nvSpPr>
          <p:cNvPr id="5" name="Text 3"/>
          <p:cNvSpPr/>
          <p:nvPr/>
        </p:nvSpPr>
        <p:spPr>
          <a:xfrm>
            <a:off x="1041400" y="1854101"/>
            <a:ext cx="483997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00"/>
                </a:solidFill>
                <a:latin typeface="Carlito" pitchFamily="34" charset="0"/>
                <a:ea typeface="Carlito" pitchFamily="34" charset="-122"/>
                <a:cs typeface="Carlito" pitchFamily="34" charset="-120"/>
              </a:rPr>
              <a:t>Skip a header line</a:t>
            </a:r>
            <a:endParaRPr lang="en-US" sz="1800" dirty="0"/>
          </a:p>
        </p:txBody>
      </p:sp>
      <p:sp>
        <p:nvSpPr>
          <p:cNvPr id="6" name="Text 4"/>
          <p:cNvSpPr/>
          <p:nvPr/>
        </p:nvSpPr>
        <p:spPr>
          <a:xfrm>
            <a:off x="1041400" y="2255341"/>
            <a:ext cx="4699000" cy="952500"/>
          </a:xfrm>
          <a:prstGeom prst="roundRect">
            <a:avLst>
              <a:gd name="adj" fmla="val 6667"/>
            </a:avLst>
          </a:prstGeom>
          <a:solidFill>
            <a:srgbClr val="FFFFFF"/>
          </a:solidFill>
          <a:ln w="9525">
            <a:solidFill>
              <a:srgbClr val="808080"/>
            </a:solidFill>
          </a:ln>
        </p:spPr>
        <p:txBody>
          <a:bodyPr wrap="square" lIns="108401" tIns="57601" rIns="0" bIns="32201" rtlCol="0" anchor="t">
            <a:normAutofit/>
          </a:bodyPr>
          <a:lstStyle/>
          <a:p>
            <a:pPr marL="0" indent="0" algn="l">
              <a:lnSpc>
                <a:spcPts val="2100"/>
              </a:lnSpc>
              <a:buNone/>
            </a:pPr>
            <a:r>
              <a:rPr lang="en-US" sz="1500" b="1" dirty="0">
                <a:solidFill>
                  <a:srgbClr val="000000"/>
                </a:solidFill>
                <a:latin typeface="Courier New" pitchFamily="49" charset="0"/>
                <a:ea typeface="Courier New" pitchFamily="49" charset="-122"/>
                <a:cs typeface="Courier New" pitchFamily="49" charset="-120"/>
              </a:rPr>
              <a:t>Roll Marks</a:t>
            </a:r>
            <a:endParaRPr lang="en-US" sz="1500" dirty="0"/>
          </a:p>
          <a:p>
            <a:pPr marL="0" indent="0" algn="l">
              <a:lnSpc>
                <a:spcPts val="2100"/>
              </a:lnSpc>
              <a:buNone/>
            </a:pPr>
            <a:r>
              <a:rPr lang="en-US" sz="1500" dirty="0">
                <a:solidFill>
                  <a:srgbClr val="000000"/>
                </a:solidFill>
                <a:latin typeface="Courier New" pitchFamily="49" charset="0"/>
                <a:ea typeface="Courier New" pitchFamily="49" charset="-122"/>
                <a:cs typeface="Courier New" pitchFamily="49" charset="-120"/>
              </a:rPr>
              <a:t>101 85</a:t>
            </a:r>
            <a:endParaRPr lang="en-US" sz="1500" dirty="0"/>
          </a:p>
          <a:p>
            <a:pPr marL="0" indent="0" algn="l">
              <a:lnSpc>
                <a:spcPts val="2100"/>
              </a:lnSpc>
              <a:buNone/>
            </a:pPr>
            <a:r>
              <a:rPr lang="en-US" sz="1500" dirty="0">
                <a:solidFill>
                  <a:srgbClr val="000000"/>
                </a:solidFill>
                <a:latin typeface="Courier New" pitchFamily="49" charset="0"/>
                <a:ea typeface="Courier New" pitchFamily="49" charset="-122"/>
                <a:cs typeface="Courier New" pitchFamily="49" charset="-120"/>
              </a:rPr>
              <a:t>102 72</a:t>
            </a:r>
            <a:endParaRPr lang="en-US" sz="1500" dirty="0"/>
          </a:p>
        </p:txBody>
      </p:sp>
      <p:sp>
        <p:nvSpPr>
          <p:cNvPr id="7" name="Text 5"/>
          <p:cNvSpPr/>
          <p:nvPr/>
        </p:nvSpPr>
        <p:spPr>
          <a:xfrm>
            <a:off x="1041400" y="3334841"/>
            <a:ext cx="4699000" cy="1328341"/>
          </a:xfrm>
          <a:prstGeom prst="roundRect">
            <a:avLst>
              <a:gd name="adj" fmla="val 6693"/>
            </a:avLst>
          </a:prstGeom>
          <a:solidFill>
            <a:srgbClr val="F2F2F2"/>
          </a:solidFill>
          <a:ln w="12700">
            <a:solidFill>
              <a:srgbClr val="404040"/>
            </a:solidFill>
          </a:ln>
        </p:spPr>
        <p:txBody>
          <a:bodyPr wrap="square" lIns="151762" tIns="126362" rIns="21460" bIns="100962" rtlCol="0" anchor="t">
            <a:normAutofit/>
          </a:bodyPr>
          <a:lstStyle/>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inFile.ignore(100, '\n');</a:t>
            </a:r>
            <a:endParaRPr lang="en-US" sz="1300" dirty="0"/>
          </a:p>
          <a:p>
            <a:pPr marL="0" indent="0" algn="l">
              <a:lnSpc>
                <a:spcPts val="2015"/>
              </a:lnSpc>
              <a:buNone/>
            </a:pPr>
            <a:r>
              <a:rPr lang="en-US" sz="1300" dirty="0">
                <a:solidFill>
                  <a:srgbClr val="595959"/>
                </a:solidFill>
                <a:latin typeface="Courier New" pitchFamily="49" charset="0"/>
                <a:ea typeface="Courier New" pitchFamily="49" charset="-122"/>
                <a:cs typeface="Courier New" pitchFamily="49" charset="-120"/>
              </a:rPr>
              <a:t>// line 1 skipped, now read</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while (inFile &gt;&gt; roll &gt;&gt; marks)</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    ...</a:t>
            </a:r>
            <a:endParaRPr lang="en-US" sz="1300" dirty="0"/>
          </a:p>
        </p:txBody>
      </p:sp>
      <p:sp>
        <p:nvSpPr>
          <p:cNvPr id="8" name="Text 6"/>
          <p:cNvSpPr/>
          <p:nvPr/>
        </p:nvSpPr>
        <p:spPr>
          <a:xfrm>
            <a:off x="1041400" y="4790182"/>
            <a:ext cx="483997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00000"/>
                </a:solidFill>
                <a:latin typeface="Carlito" pitchFamily="34" charset="0"/>
                <a:ea typeface="Carlito" pitchFamily="34" charset="-122"/>
                <a:cs typeface="Carlito" pitchFamily="34" charset="-120"/>
              </a:rPr>
              <a:t>Without it, &gt;&gt; fails on the word </a:t>
            </a:r>
            <a:r>
              <a:rPr lang="en-US" sz="1400" b="1" dirty="0">
                <a:solidFill>
                  <a:srgbClr val="000000"/>
                </a:solidFill>
                <a:latin typeface="Carlito" pitchFamily="34" charset="0"/>
                <a:ea typeface="Carlito" pitchFamily="34" charset="-122"/>
                <a:cs typeface="Carlito" pitchFamily="34" charset="-120"/>
              </a:rPr>
              <a:t>Roll</a:t>
            </a:r>
            <a:r>
              <a:rPr lang="en-US" sz="1400" dirty="0">
                <a:solidFill>
                  <a:srgbClr val="000000"/>
                </a:solidFill>
                <a:latin typeface="Carlito" pitchFamily="34" charset="0"/>
                <a:ea typeface="Carlito" pitchFamily="34" charset="-122"/>
                <a:cs typeface="Carlito" pitchFamily="34" charset="-120"/>
              </a:rPr>
              <a:t> and nothing is read.</a:t>
            </a:r>
            <a:endParaRPr lang="en-US" sz="1400" dirty="0"/>
          </a:p>
        </p:txBody>
      </p:sp>
      <p:sp>
        <p:nvSpPr>
          <p:cNvPr id="9" name="Shape 7"/>
          <p:cNvSpPr/>
          <p:nvPr/>
        </p:nvSpPr>
        <p:spPr>
          <a:xfrm>
            <a:off x="6223000" y="1625501"/>
            <a:ext cx="5156200" cy="4470499"/>
          </a:xfrm>
          <a:prstGeom prst="roundRect">
            <a:avLst>
              <a:gd name="adj" fmla="val 2841"/>
            </a:avLst>
          </a:prstGeom>
          <a:solidFill>
            <a:srgbClr val="FFFFFF"/>
          </a:solidFill>
          <a:ln w="9525">
            <a:solidFill>
              <a:srgbClr val="808080"/>
            </a:solidFill>
          </a:ln>
        </p:spPr>
        <p:txBody>
          <a:bodyPr/>
          <a:lstStyle/>
          <a:p>
            <a:endParaRPr lang="en-US"/>
          </a:p>
        </p:txBody>
      </p:sp>
      <p:sp>
        <p:nvSpPr>
          <p:cNvPr id="10" name="Text 8"/>
          <p:cNvSpPr/>
          <p:nvPr/>
        </p:nvSpPr>
        <p:spPr>
          <a:xfrm>
            <a:off x="6451600" y="1854101"/>
            <a:ext cx="4839970" cy="299641"/>
          </a:xfrm>
          <a:prstGeom prst="rect">
            <a:avLst/>
          </a:prstGeom>
          <a:noFill/>
          <a:ln/>
        </p:spPr>
        <p:txBody>
          <a:bodyPr wrap="square" lIns="0" tIns="0" rIns="0" bIns="0" rtlCol="0" anchor="t">
            <a:normAutofit fontScale="85000" lnSpcReduction="10000"/>
          </a:bodyPr>
          <a:lstStyle/>
          <a:p>
            <a:pPr marL="0" indent="0" algn="l">
              <a:lnSpc>
                <a:spcPts val="2160"/>
              </a:lnSpc>
              <a:buNone/>
            </a:pPr>
            <a:r>
              <a:rPr lang="en-US" sz="1800" b="1" dirty="0">
                <a:solidFill>
                  <a:srgbClr val="000000"/>
                </a:solidFill>
                <a:latin typeface="Carlito" pitchFamily="34" charset="0"/>
                <a:ea typeface="Carlito" pitchFamily="34" charset="-122"/>
                <a:cs typeface="Carlito" pitchFamily="34" charset="-120"/>
              </a:rPr>
              <a:t>A grid into a 2D array (skip this , will discuss later in course)</a:t>
            </a:r>
            <a:endParaRPr lang="en-US" sz="1800" dirty="0"/>
          </a:p>
        </p:txBody>
      </p:sp>
      <p:sp>
        <p:nvSpPr>
          <p:cNvPr id="11" name="Text 9"/>
          <p:cNvSpPr/>
          <p:nvPr/>
        </p:nvSpPr>
        <p:spPr>
          <a:xfrm>
            <a:off x="6451600" y="2255341"/>
            <a:ext cx="4699000" cy="952500"/>
          </a:xfrm>
          <a:prstGeom prst="roundRect">
            <a:avLst>
              <a:gd name="adj" fmla="val 6667"/>
            </a:avLst>
          </a:prstGeom>
          <a:solidFill>
            <a:srgbClr val="FFFFFF"/>
          </a:solidFill>
          <a:ln w="9525">
            <a:solidFill>
              <a:srgbClr val="808080"/>
            </a:solidFill>
          </a:ln>
        </p:spPr>
        <p:txBody>
          <a:bodyPr wrap="square" lIns="108401" tIns="57601" rIns="0" bIns="32201" rtlCol="0" anchor="t">
            <a:normAutofit/>
          </a:bodyPr>
          <a:lstStyle/>
          <a:p>
            <a:pPr marL="0" indent="0" algn="l">
              <a:lnSpc>
                <a:spcPts val="2100"/>
              </a:lnSpc>
              <a:buNone/>
            </a:pPr>
            <a:r>
              <a:rPr lang="en-US" sz="1500" b="1" dirty="0">
                <a:solidFill>
                  <a:srgbClr val="000000"/>
                </a:solidFill>
                <a:latin typeface="Courier New" pitchFamily="49" charset="0"/>
                <a:ea typeface="Courier New" pitchFamily="49" charset="-122"/>
                <a:cs typeface="Courier New" pitchFamily="49" charset="-120"/>
              </a:rPr>
              <a:t>2 3</a:t>
            </a:r>
            <a:endParaRPr lang="en-US" sz="1500" dirty="0"/>
          </a:p>
          <a:p>
            <a:pPr marL="0" indent="0" algn="l">
              <a:lnSpc>
                <a:spcPts val="2100"/>
              </a:lnSpc>
              <a:buNone/>
            </a:pPr>
            <a:r>
              <a:rPr lang="en-US" sz="1500" dirty="0">
                <a:solidFill>
                  <a:srgbClr val="000000"/>
                </a:solidFill>
                <a:latin typeface="Courier New" pitchFamily="49" charset="0"/>
                <a:ea typeface="Courier New" pitchFamily="49" charset="-122"/>
                <a:cs typeface="Courier New" pitchFamily="49" charset="-120"/>
              </a:rPr>
              <a:t>1 2 3</a:t>
            </a:r>
            <a:endParaRPr lang="en-US" sz="1500" dirty="0"/>
          </a:p>
          <a:p>
            <a:pPr marL="0" indent="0" algn="l">
              <a:lnSpc>
                <a:spcPts val="2100"/>
              </a:lnSpc>
              <a:buNone/>
            </a:pPr>
            <a:r>
              <a:rPr lang="en-US" sz="1500" dirty="0">
                <a:solidFill>
                  <a:srgbClr val="000000"/>
                </a:solidFill>
                <a:latin typeface="Courier New" pitchFamily="49" charset="0"/>
                <a:ea typeface="Courier New" pitchFamily="49" charset="-122"/>
                <a:cs typeface="Courier New" pitchFamily="49" charset="-120"/>
              </a:rPr>
              <a:t>4 5 6</a:t>
            </a:r>
            <a:endParaRPr lang="en-US" sz="1500" dirty="0"/>
          </a:p>
        </p:txBody>
      </p:sp>
      <p:sp>
        <p:nvSpPr>
          <p:cNvPr id="12" name="Text 10"/>
          <p:cNvSpPr/>
          <p:nvPr/>
        </p:nvSpPr>
        <p:spPr>
          <a:xfrm>
            <a:off x="6451600" y="3334841"/>
            <a:ext cx="4699000" cy="1584226"/>
          </a:xfrm>
          <a:prstGeom prst="roundRect">
            <a:avLst>
              <a:gd name="adj" fmla="val 5612"/>
            </a:avLst>
          </a:prstGeom>
          <a:solidFill>
            <a:srgbClr val="F2F2F2"/>
          </a:solidFill>
          <a:ln w="12700">
            <a:solidFill>
              <a:srgbClr val="404040"/>
            </a:solidFill>
          </a:ln>
        </p:spPr>
        <p:txBody>
          <a:bodyPr wrap="square" lIns="151762" tIns="126362" rIns="21460" bIns="100962" rtlCol="0" anchor="t">
            <a:normAutofit/>
          </a:bodyPr>
          <a:lstStyle/>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int r, c, m[5][5];</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inFile &gt;&gt; r &gt;&gt; c;</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for (int i = 0; i &lt; r; i++)</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    for (int j = 0; j &lt; c; j++)</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        inFile &gt;&gt; m[i][j];</a:t>
            </a:r>
            <a:endParaRPr lang="en-US" sz="1300" dirty="0"/>
          </a:p>
        </p:txBody>
      </p:sp>
      <p:sp>
        <p:nvSpPr>
          <p:cNvPr id="13" name="Text 11"/>
          <p:cNvSpPr/>
          <p:nvPr/>
        </p:nvSpPr>
        <p:spPr>
          <a:xfrm>
            <a:off x="6451600" y="5046067"/>
            <a:ext cx="4839970"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000000"/>
                </a:solidFill>
                <a:latin typeface="Carlito" pitchFamily="34" charset="0"/>
                <a:ea typeface="Carlito" pitchFamily="34" charset="-122"/>
                <a:cs typeface="Carlito" pitchFamily="34" charset="-120"/>
              </a:rPr>
              <a:t>Rows and columns come first. Here </a:t>
            </a:r>
            <a:r>
              <a:rPr lang="en-US" sz="1400" b="1" dirty="0">
                <a:solidFill>
                  <a:srgbClr val="000000"/>
                </a:solidFill>
                <a:latin typeface="Carlito" pitchFamily="34" charset="0"/>
                <a:ea typeface="Carlito" pitchFamily="34" charset="-122"/>
                <a:cs typeface="Carlito" pitchFamily="34" charset="-120"/>
              </a:rPr>
              <a:t>m[1][2] = 6</a:t>
            </a:r>
            <a:r>
              <a:rPr lang="en-US" sz="1400" dirty="0">
                <a:solidFill>
                  <a:srgbClr val="000000"/>
                </a:solidFill>
                <a:latin typeface="Carlito" pitchFamily="34" charset="0"/>
                <a:ea typeface="Carlito" pitchFamily="34" charset="-122"/>
                <a:cs typeface="Carlito" pitchFamily="34" charset="-120"/>
              </a:rPr>
              <a:t>.</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4304" y="881459"/>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200" dirty="0">
                <a:solidFill>
                  <a:srgbClr val="000000"/>
                </a:solidFill>
                <a:latin typeface="Carlito" pitchFamily="34" charset="0"/>
                <a:ea typeface="Carlito" pitchFamily="34" charset="-122"/>
                <a:cs typeface="Carlito" pitchFamily="34" charset="-120"/>
              </a:rPr>
              <a:t>PART A · WORKED EXAMPLES</a:t>
            </a:r>
            <a:endParaRPr lang="en-US" sz="1500" dirty="0"/>
          </a:p>
        </p:txBody>
      </p:sp>
      <p:sp>
        <p:nvSpPr>
          <p:cNvPr id="3" name="Text 1"/>
          <p:cNvSpPr>
            <a:spLocks noGrp="1"/>
          </p:cNvSpPr>
          <p:nvPr>
            <p:ph type="title"/>
          </p:nvPr>
        </p:nvSpPr>
        <p:spPr>
          <a:xfrm>
            <a:off x="654304" y="1870245"/>
            <a:ext cx="10883392" cy="825500"/>
          </a:xfrm>
          <a:prstGeom prst="rect">
            <a:avLst/>
          </a:prstGeom>
          <a:noFill/>
          <a:ln/>
        </p:spPr>
        <p:txBody>
          <a:bodyPr wrap="square" lIns="0" tIns="0" rIns="0" bIns="0" rtlCol="0" anchor="t">
            <a:normAutofit fontScale="90000"/>
          </a:bodyPr>
          <a:lstStyle/>
          <a:p>
            <a:pPr marL="0" indent="0" algn="l">
              <a:lnSpc>
                <a:spcPts val="6300"/>
              </a:lnSpc>
              <a:buNone/>
            </a:pPr>
            <a:r>
              <a:rPr lang="en-US" sz="6000" b="1" i="0" dirty="0">
                <a:solidFill>
                  <a:srgbClr val="000000"/>
                </a:solidFill>
                <a:latin typeface="Source Serif 4" pitchFamily="18" charset="0"/>
                <a:ea typeface="Source Serif 4" pitchFamily="18" charset="-122"/>
                <a:cs typeface="Source Serif 4" pitchFamily="18" charset="-120"/>
              </a:rPr>
              <a:t>Every format, one complete program</a:t>
            </a:r>
            <a:endParaRPr lang="en-US" sz="6000" dirty="0"/>
          </a:p>
        </p:txBody>
      </p:sp>
      <p:sp>
        <p:nvSpPr>
          <p:cNvPr id="4" name="Text 2"/>
          <p:cNvSpPr/>
          <p:nvPr/>
        </p:nvSpPr>
        <p:spPr>
          <a:xfrm>
            <a:off x="812800" y="3827859"/>
            <a:ext cx="8502650" cy="751681"/>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000000"/>
                </a:solidFill>
                <a:latin typeface="Carlito" pitchFamily="34" charset="0"/>
                <a:ea typeface="Carlito" pitchFamily="34" charset="-122"/>
                <a:cs typeface="Carlito" pitchFamily="34" charset="-120"/>
              </a:rPr>
              <a:t>15 formats. For each one: the text file, a short program that reads it, and the real output when you run it.</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WORKED EXAMPLE · FORMAT 1 OF 15</a:t>
            </a:r>
            <a:endParaRPr lang="en-US" sz="1200" dirty="0"/>
          </a:p>
        </p:txBody>
      </p:sp>
      <p:sp>
        <p:nvSpPr>
          <p:cNvPr id="3" name="Text 1"/>
          <p:cNvSpPr>
            <a:spLocks noGrp="1"/>
          </p:cNvSpPr>
          <p:nvPr>
            <p:ph type="title"/>
          </p:nvPr>
        </p:nvSpPr>
        <p:spPr>
          <a:xfrm>
            <a:off x="812800" y="924520"/>
            <a:ext cx="67665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Numbers only</a:t>
            </a:r>
            <a:endParaRPr lang="en-US" sz="3200" dirty="0"/>
          </a:p>
        </p:txBody>
      </p:sp>
      <p:sp>
        <p:nvSpPr>
          <p:cNvPr id="4" name="Rounded Rectangle 3"/>
          <p:cNvSpPr/>
          <p:nvPr/>
        </p:nvSpPr>
        <p:spPr>
          <a:xfrm>
            <a:off x="7808975" y="786384"/>
            <a:ext cx="3566160" cy="658368"/>
          </a:xfrm>
          <a:prstGeom prst="roundRect">
            <a:avLst>
              <a:gd name="adj" fmla="val 4000"/>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991855" y="850392"/>
            <a:ext cx="3200400" cy="201168"/>
          </a:xfrm>
          <a:prstGeom prst="rect">
            <a:avLst/>
          </a:prstGeom>
          <a:noFill/>
        </p:spPr>
        <p:txBody>
          <a:bodyPr wrap="square" lIns="0" tIns="0" rIns="0" bIns="0" anchor="t">
            <a:spAutoFit/>
          </a:bodyPr>
          <a:lstStyle/>
          <a:p>
            <a:pPr>
              <a:lnSpc>
                <a:spcPct val="100000"/>
              </a:lnSpc>
            </a:pPr>
            <a:r>
              <a:rPr sz="1000" b="1">
                <a:solidFill>
                  <a:srgbClr val="595959"/>
                </a:solidFill>
                <a:latin typeface="Carlito"/>
              </a:rPr>
              <a:t>FORMAT LOOKS LIKE</a:t>
            </a:r>
          </a:p>
        </p:txBody>
      </p:sp>
      <p:sp>
        <p:nvSpPr>
          <p:cNvPr id="6" name="TextBox 5"/>
          <p:cNvSpPr txBox="1"/>
          <p:nvPr/>
        </p:nvSpPr>
        <p:spPr>
          <a:xfrm>
            <a:off x="7991855" y="1069848"/>
            <a:ext cx="3200400" cy="274320"/>
          </a:xfrm>
          <a:prstGeom prst="rect">
            <a:avLst/>
          </a:prstGeom>
          <a:noFill/>
        </p:spPr>
        <p:txBody>
          <a:bodyPr wrap="square" lIns="0" tIns="0" rIns="0" bIns="0" anchor="t">
            <a:spAutoFit/>
          </a:bodyPr>
          <a:lstStyle/>
          <a:p>
            <a:pPr>
              <a:lnSpc>
                <a:spcPct val="100000"/>
              </a:lnSpc>
            </a:pPr>
            <a:r>
              <a:rPr sz="1500" b="1">
                <a:solidFill>
                  <a:srgbClr val="000000"/>
                </a:solidFill>
                <a:latin typeface="Courier New"/>
              </a:rPr>
              <a:t>85 90 | 78 | 92</a:t>
            </a:r>
          </a:p>
        </p:txBody>
      </p:sp>
      <p:sp>
        <p:nvSpPr>
          <p:cNvPr id="7" name="Rounded Rectangle 6"/>
          <p:cNvSpPr/>
          <p:nvPr/>
        </p:nvSpPr>
        <p:spPr>
          <a:xfrm>
            <a:off x="813816" y="1627632"/>
            <a:ext cx="3886200" cy="1408176"/>
          </a:xfrm>
          <a:prstGeom prst="roundRect">
            <a:avLst>
              <a:gd name="adj" fmla="val 4000"/>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14984" y="1783080"/>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1  The text file:  marks.txt</a:t>
            </a:r>
          </a:p>
        </p:txBody>
      </p:sp>
      <p:sp>
        <p:nvSpPr>
          <p:cNvPr id="9" name="TextBox 8"/>
          <p:cNvSpPr txBox="1"/>
          <p:nvPr/>
        </p:nvSpPr>
        <p:spPr>
          <a:xfrm>
            <a:off x="1014984" y="2103120"/>
            <a:ext cx="3520440" cy="768096"/>
          </a:xfrm>
          <a:prstGeom prst="rect">
            <a:avLst/>
          </a:prstGeom>
          <a:noFill/>
        </p:spPr>
        <p:txBody>
          <a:bodyPr wrap="square" lIns="0" tIns="0" rIns="0" bIns="0" anchor="t">
            <a:spAutoFit/>
          </a:bodyPr>
          <a:lstStyle/>
          <a:p>
            <a:pPr>
              <a:lnSpc>
                <a:spcPct val="100000"/>
              </a:lnSpc>
            </a:pPr>
            <a:r>
              <a:rPr sz="1500" b="0">
                <a:solidFill>
                  <a:srgbClr val="000000"/>
                </a:solidFill>
                <a:latin typeface="Courier New"/>
              </a:rPr>
              <a:t>85 90</a:t>
            </a:r>
          </a:p>
          <a:p>
            <a:pPr>
              <a:lnSpc>
                <a:spcPct val="100000"/>
              </a:lnSpc>
            </a:pPr>
            <a:r>
              <a:rPr sz="1500" b="0">
                <a:solidFill>
                  <a:srgbClr val="000000"/>
                </a:solidFill>
                <a:latin typeface="Courier New"/>
              </a:rPr>
              <a:t>78</a:t>
            </a:r>
          </a:p>
          <a:p>
            <a:pPr>
              <a:lnSpc>
                <a:spcPct val="100000"/>
              </a:lnSpc>
            </a:pPr>
            <a:r>
              <a:rPr sz="1500" b="0">
                <a:solidFill>
                  <a:srgbClr val="000000"/>
                </a:solidFill>
                <a:latin typeface="Courier New"/>
              </a:rPr>
              <a:t>92</a:t>
            </a:r>
          </a:p>
        </p:txBody>
      </p:sp>
      <p:sp>
        <p:nvSpPr>
          <p:cNvPr id="10" name="Rounded Rectangle 9"/>
          <p:cNvSpPr/>
          <p:nvPr/>
        </p:nvSpPr>
        <p:spPr>
          <a:xfrm>
            <a:off x="813816" y="3264408"/>
            <a:ext cx="3886200" cy="1325880"/>
          </a:xfrm>
          <a:prstGeom prst="roundRect">
            <a:avLst>
              <a:gd name="adj" fmla="val 4000"/>
            </a:avLst>
          </a:prstGeom>
          <a:solidFill>
            <a:srgbClr val="FFFFFF"/>
          </a:solidFill>
          <a:ln w="1905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14984" y="3419856"/>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3  Output on the screen</a:t>
            </a:r>
          </a:p>
        </p:txBody>
      </p:sp>
      <p:sp>
        <p:nvSpPr>
          <p:cNvPr id="12" name="TextBox 11"/>
          <p:cNvSpPr txBox="1"/>
          <p:nvPr/>
        </p:nvSpPr>
        <p:spPr>
          <a:xfrm>
            <a:off x="1014984" y="3739896"/>
            <a:ext cx="3520440" cy="685800"/>
          </a:xfrm>
          <a:prstGeom prst="rect">
            <a:avLst/>
          </a:prstGeom>
          <a:noFill/>
        </p:spPr>
        <p:txBody>
          <a:bodyPr wrap="square" lIns="0" tIns="0" rIns="0" bIns="0" anchor="t">
            <a:spAutoFit/>
          </a:bodyPr>
          <a:lstStyle/>
          <a:p>
            <a:pPr>
              <a:lnSpc>
                <a:spcPct val="100000"/>
              </a:lnSpc>
            </a:pPr>
            <a:r>
              <a:rPr sz="1300" b="0">
                <a:solidFill>
                  <a:srgbClr val="000000"/>
                </a:solidFill>
                <a:latin typeface="Courier New"/>
              </a:rPr>
              <a:t>Marks read: 4</a:t>
            </a:r>
          </a:p>
          <a:p>
            <a:pPr>
              <a:lnSpc>
                <a:spcPct val="100000"/>
              </a:lnSpc>
            </a:pPr>
            <a:r>
              <a:rPr sz="1300" b="0">
                <a:solidFill>
                  <a:srgbClr val="000000"/>
                </a:solidFill>
                <a:latin typeface="Courier New"/>
              </a:rPr>
              <a:t>85 90 78 92 </a:t>
            </a:r>
          </a:p>
          <a:p>
            <a:pPr>
              <a:lnSpc>
                <a:spcPct val="100000"/>
              </a:lnSpc>
            </a:pPr>
            <a:r>
              <a:rPr sz="1300" b="0">
                <a:solidFill>
                  <a:srgbClr val="000000"/>
                </a:solidFill>
                <a:latin typeface="Courier New"/>
              </a:rPr>
              <a:t>Total = 345</a:t>
            </a:r>
          </a:p>
        </p:txBody>
      </p:sp>
      <p:sp>
        <p:nvSpPr>
          <p:cNvPr id="13" name="TextBox 12"/>
          <p:cNvSpPr txBox="1"/>
          <p:nvPr/>
        </p:nvSpPr>
        <p:spPr>
          <a:xfrm>
            <a:off x="813816" y="4818888"/>
            <a:ext cx="3886200" cy="1581911"/>
          </a:xfrm>
          <a:prstGeom prst="rect">
            <a:avLst/>
          </a:prstGeom>
          <a:noFill/>
        </p:spPr>
        <p:txBody>
          <a:bodyPr wrap="square" lIns="0" tIns="0" rIns="0" bIns="0" anchor="t">
            <a:spAutoFit/>
          </a:bodyPr>
          <a:lstStyle/>
          <a:p>
            <a:pPr>
              <a:lnSpc>
                <a:spcPct val="100000"/>
              </a:lnSpc>
            </a:pPr>
            <a:r>
              <a:rPr sz="1400" b="1">
                <a:solidFill>
                  <a:srgbClr val="000000"/>
                </a:solidFill>
                <a:latin typeface="Carlito"/>
              </a:rPr>
              <a:t>Key idea: </a:t>
            </a:r>
            <a:r>
              <a:rPr sz="1400" b="0">
                <a:solidFill>
                  <a:srgbClr val="000000"/>
                </a:solidFill>
                <a:latin typeface="Carlito"/>
              </a:rPr>
              <a:t>Spaces or new lines: &gt;&gt; skips both, so the layout of the file does not matter.</a:t>
            </a:r>
          </a:p>
        </p:txBody>
      </p:sp>
      <p:sp>
        <p:nvSpPr>
          <p:cNvPr id="14" name="Rounded Rectangle 13"/>
          <p:cNvSpPr/>
          <p:nvPr/>
        </p:nvSpPr>
        <p:spPr>
          <a:xfrm>
            <a:off x="4974336" y="1627632"/>
            <a:ext cx="6400800" cy="4773168"/>
          </a:xfrm>
          <a:prstGeom prst="roundRect">
            <a:avLst>
              <a:gd name="adj" fmla="val 4000"/>
            </a:avLst>
          </a:prstGeom>
          <a:solidFill>
            <a:srgbClr val="F2F2F2"/>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202936" y="1783080"/>
            <a:ext cx="594360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2  The program</a:t>
            </a:r>
          </a:p>
        </p:txBody>
      </p:sp>
      <p:sp>
        <p:nvSpPr>
          <p:cNvPr id="16" name="TextBox 15"/>
          <p:cNvSpPr txBox="1"/>
          <p:nvPr/>
        </p:nvSpPr>
        <p:spPr>
          <a:xfrm>
            <a:off x="5202936" y="2130552"/>
            <a:ext cx="5943600" cy="4069079"/>
          </a:xfrm>
          <a:prstGeom prst="rect">
            <a:avLst/>
          </a:prstGeom>
          <a:noFill/>
        </p:spPr>
        <p:txBody>
          <a:bodyPr wrap="square" lIns="0" tIns="0" rIns="0" bIns="0" anchor="t">
            <a:spAutoFit/>
          </a:bodyPr>
          <a:lstStyle/>
          <a:p>
            <a:pPr>
              <a:lnSpc>
                <a:spcPct val="100000"/>
              </a:lnSpc>
            </a:pPr>
            <a:r>
              <a:rPr sz="1250" b="0">
                <a:solidFill>
                  <a:srgbClr val="000000"/>
                </a:solidFill>
                <a:latin typeface="Courier New"/>
              </a:rPr>
              <a:t>#include &lt;iostream&gt;</a:t>
            </a:r>
          </a:p>
          <a:p>
            <a:pPr>
              <a:lnSpc>
                <a:spcPct val="100000"/>
              </a:lnSpc>
            </a:pPr>
            <a:r>
              <a:rPr sz="1250" b="0">
                <a:solidFill>
                  <a:srgbClr val="000000"/>
                </a:solidFill>
                <a:latin typeface="Courier New"/>
              </a:rPr>
              <a:t>#include &lt;fstream&gt;</a:t>
            </a:r>
          </a:p>
          <a:p>
            <a:pPr>
              <a:lnSpc>
                <a:spcPct val="100000"/>
              </a:lnSpc>
            </a:pPr>
            <a:r>
              <a:rPr sz="1250" b="0">
                <a:solidFill>
                  <a:srgbClr val="000000"/>
                </a:solidFill>
                <a:latin typeface="Courier New"/>
              </a:rPr>
              <a:t>using namespace std;</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int main() {</a:t>
            </a:r>
          </a:p>
          <a:p>
            <a:pPr>
              <a:lnSpc>
                <a:spcPct val="100000"/>
              </a:lnSpc>
            </a:pPr>
            <a:r>
              <a:rPr sz="1250" b="0">
                <a:solidFill>
                  <a:srgbClr val="000000"/>
                </a:solidFill>
                <a:latin typeface="Courier New"/>
              </a:rPr>
              <a:t>    ifstream inFile("marks.txt");</a:t>
            </a:r>
          </a:p>
          <a:p>
            <a:pPr>
              <a:lnSpc>
                <a:spcPct val="100000"/>
              </a:lnSpc>
            </a:pPr>
            <a:r>
              <a:rPr sz="1250" b="0">
                <a:solidFill>
                  <a:srgbClr val="000000"/>
                </a:solidFill>
                <a:latin typeface="Courier New"/>
              </a:rPr>
              <a:t>    if (!inFile) { cout &lt;&lt; "File not found"; return 1; }</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    int marks[10], count = 0, total = 0;</a:t>
            </a:r>
          </a:p>
          <a:p>
            <a:pPr>
              <a:lnSpc>
                <a:spcPct val="100000"/>
              </a:lnSpc>
            </a:pPr>
            <a:r>
              <a:rPr sz="1250" b="0">
                <a:solidFill>
                  <a:srgbClr val="000000"/>
                </a:solidFill>
                <a:latin typeface="Courier New"/>
              </a:rPr>
              <a:t>    while (count &lt; 10 &amp;&amp; inFile &gt;&gt; marks[count]) {</a:t>
            </a:r>
          </a:p>
          <a:p>
            <a:pPr>
              <a:lnSpc>
                <a:spcPct val="100000"/>
              </a:lnSpc>
            </a:pPr>
            <a:r>
              <a:rPr sz="1250" b="0">
                <a:solidFill>
                  <a:srgbClr val="000000"/>
                </a:solidFill>
                <a:latin typeface="Courier New"/>
              </a:rPr>
              <a:t>        total += marks[count];</a:t>
            </a:r>
          </a:p>
          <a:p>
            <a:pPr>
              <a:lnSpc>
                <a:spcPct val="100000"/>
              </a:lnSpc>
            </a:pPr>
            <a:r>
              <a:rPr sz="1250" b="0">
                <a:solidFill>
                  <a:srgbClr val="000000"/>
                </a:solidFill>
                <a:latin typeface="Courier New"/>
              </a:rPr>
              <a:t>        count++;</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    cout &lt;&lt; "Marks read: " &lt;&lt; count &lt;&lt; endl;</a:t>
            </a:r>
          </a:p>
          <a:p>
            <a:pPr>
              <a:lnSpc>
                <a:spcPct val="100000"/>
              </a:lnSpc>
            </a:pPr>
            <a:r>
              <a:rPr sz="1250" b="0">
                <a:solidFill>
                  <a:srgbClr val="000000"/>
                </a:solidFill>
                <a:latin typeface="Courier New"/>
              </a:rPr>
              <a:t>    for (int i = 0; i &lt; count; i++)</a:t>
            </a:r>
          </a:p>
          <a:p>
            <a:pPr>
              <a:lnSpc>
                <a:spcPct val="100000"/>
              </a:lnSpc>
            </a:pPr>
            <a:r>
              <a:rPr sz="1250" b="0">
                <a:solidFill>
                  <a:srgbClr val="000000"/>
                </a:solidFill>
                <a:latin typeface="Courier New"/>
              </a:rPr>
              <a:t>        cout &lt;&lt; marks[i] &lt;&lt; " ";</a:t>
            </a:r>
          </a:p>
          <a:p>
            <a:pPr>
              <a:lnSpc>
                <a:spcPct val="100000"/>
              </a:lnSpc>
            </a:pPr>
            <a:r>
              <a:rPr sz="1250" b="0">
                <a:solidFill>
                  <a:srgbClr val="000000"/>
                </a:solidFill>
                <a:latin typeface="Courier New"/>
              </a:rPr>
              <a:t>    cout &lt;&lt; endl &lt;&lt; "Total = " &lt;&lt; total &lt;&lt; endl;</a:t>
            </a:r>
          </a:p>
          <a:p>
            <a:pPr>
              <a:lnSpc>
                <a:spcPct val="100000"/>
              </a:lnSpc>
            </a:pPr>
            <a:r>
              <a:rPr sz="1250" b="0">
                <a:solidFill>
                  <a:srgbClr val="000000"/>
                </a:solidFill>
                <a:latin typeface="Courier New"/>
              </a:rPr>
              <a:t>    inFile.close();</a:t>
            </a:r>
          </a:p>
          <a:p>
            <a:pPr>
              <a:lnSpc>
                <a:spcPct val="100000"/>
              </a:lnSpc>
            </a:pPr>
            <a:r>
              <a:rPr sz="1250" b="0">
                <a:solidFill>
                  <a:srgbClr val="000000"/>
                </a:solidFill>
                <a:latin typeface="Courier New"/>
              </a:rPr>
              <a:t>    return 0;</a:t>
            </a:r>
          </a:p>
          <a:p>
            <a:pPr>
              <a:lnSpc>
                <a:spcPct val="100000"/>
              </a:lnSpc>
            </a:pPr>
            <a:r>
              <a:rPr sz="1250" b="0">
                <a:solidFill>
                  <a:srgbClr val="000000"/>
                </a:solidFill>
                <a:latin typeface="Courier New"/>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WORKED EXAMPLE · FORMAT 2 OF 15</a:t>
            </a:r>
            <a:endParaRPr lang="en-US" sz="1200" dirty="0"/>
          </a:p>
        </p:txBody>
      </p:sp>
      <p:sp>
        <p:nvSpPr>
          <p:cNvPr id="3" name="Text 1"/>
          <p:cNvSpPr>
            <a:spLocks noGrp="1"/>
          </p:cNvSpPr>
          <p:nvPr>
            <p:ph type="title"/>
          </p:nvPr>
        </p:nvSpPr>
        <p:spPr>
          <a:xfrm>
            <a:off x="812800" y="924520"/>
            <a:ext cx="67665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Decimal numbers</a:t>
            </a:r>
            <a:endParaRPr lang="en-US" sz="3200" dirty="0"/>
          </a:p>
        </p:txBody>
      </p:sp>
      <p:sp>
        <p:nvSpPr>
          <p:cNvPr id="4" name="Rounded Rectangle 3"/>
          <p:cNvSpPr/>
          <p:nvPr/>
        </p:nvSpPr>
        <p:spPr>
          <a:xfrm>
            <a:off x="7808975" y="786384"/>
            <a:ext cx="3566160" cy="658368"/>
          </a:xfrm>
          <a:prstGeom prst="roundRect">
            <a:avLst>
              <a:gd name="adj" fmla="val 4000"/>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991855" y="850392"/>
            <a:ext cx="3200400" cy="201168"/>
          </a:xfrm>
          <a:prstGeom prst="rect">
            <a:avLst/>
          </a:prstGeom>
          <a:noFill/>
        </p:spPr>
        <p:txBody>
          <a:bodyPr wrap="square" lIns="0" tIns="0" rIns="0" bIns="0" anchor="t">
            <a:spAutoFit/>
          </a:bodyPr>
          <a:lstStyle/>
          <a:p>
            <a:pPr>
              <a:lnSpc>
                <a:spcPct val="100000"/>
              </a:lnSpc>
            </a:pPr>
            <a:r>
              <a:rPr sz="1000" b="1">
                <a:solidFill>
                  <a:srgbClr val="595959"/>
                </a:solidFill>
                <a:latin typeface="Carlito"/>
              </a:rPr>
              <a:t>FORMAT LOOKS LIKE</a:t>
            </a:r>
          </a:p>
        </p:txBody>
      </p:sp>
      <p:sp>
        <p:nvSpPr>
          <p:cNvPr id="6" name="TextBox 5"/>
          <p:cNvSpPr txBox="1"/>
          <p:nvPr/>
        </p:nvSpPr>
        <p:spPr>
          <a:xfrm>
            <a:off x="7991855" y="1069848"/>
            <a:ext cx="3200400" cy="274320"/>
          </a:xfrm>
          <a:prstGeom prst="rect">
            <a:avLst/>
          </a:prstGeom>
          <a:noFill/>
        </p:spPr>
        <p:txBody>
          <a:bodyPr wrap="square" lIns="0" tIns="0" rIns="0" bIns="0" anchor="t">
            <a:spAutoFit/>
          </a:bodyPr>
          <a:lstStyle/>
          <a:p>
            <a:pPr>
              <a:lnSpc>
                <a:spcPct val="100000"/>
              </a:lnSpc>
            </a:pPr>
            <a:r>
              <a:rPr sz="1500" b="1">
                <a:solidFill>
                  <a:srgbClr val="000000"/>
                </a:solidFill>
                <a:latin typeface="Courier New"/>
              </a:rPr>
              <a:t>3.5 7.25 10 2.75</a:t>
            </a:r>
          </a:p>
        </p:txBody>
      </p:sp>
      <p:sp>
        <p:nvSpPr>
          <p:cNvPr id="7" name="Rounded Rectangle 6"/>
          <p:cNvSpPr/>
          <p:nvPr/>
        </p:nvSpPr>
        <p:spPr>
          <a:xfrm>
            <a:off x="813816" y="1627632"/>
            <a:ext cx="3886200" cy="1152144"/>
          </a:xfrm>
          <a:prstGeom prst="roundRect">
            <a:avLst>
              <a:gd name="adj" fmla="val 4000"/>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14984" y="1783080"/>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1  The text file:  prices.txt</a:t>
            </a:r>
          </a:p>
        </p:txBody>
      </p:sp>
      <p:sp>
        <p:nvSpPr>
          <p:cNvPr id="9" name="TextBox 8"/>
          <p:cNvSpPr txBox="1"/>
          <p:nvPr/>
        </p:nvSpPr>
        <p:spPr>
          <a:xfrm>
            <a:off x="1014984" y="2103120"/>
            <a:ext cx="3520440" cy="512064"/>
          </a:xfrm>
          <a:prstGeom prst="rect">
            <a:avLst/>
          </a:prstGeom>
          <a:noFill/>
        </p:spPr>
        <p:txBody>
          <a:bodyPr wrap="square" lIns="0" tIns="0" rIns="0" bIns="0" anchor="t">
            <a:spAutoFit/>
          </a:bodyPr>
          <a:lstStyle/>
          <a:p>
            <a:pPr>
              <a:lnSpc>
                <a:spcPct val="100000"/>
              </a:lnSpc>
            </a:pPr>
            <a:r>
              <a:rPr sz="1500" b="0">
                <a:solidFill>
                  <a:srgbClr val="000000"/>
                </a:solidFill>
                <a:latin typeface="Courier New"/>
              </a:rPr>
              <a:t>3.5 7.25</a:t>
            </a:r>
          </a:p>
          <a:p>
            <a:pPr>
              <a:lnSpc>
                <a:spcPct val="100000"/>
              </a:lnSpc>
            </a:pPr>
            <a:r>
              <a:rPr sz="1500" b="0">
                <a:solidFill>
                  <a:srgbClr val="000000"/>
                </a:solidFill>
                <a:latin typeface="Courier New"/>
              </a:rPr>
              <a:t>10 2.75</a:t>
            </a:r>
          </a:p>
        </p:txBody>
      </p:sp>
      <p:sp>
        <p:nvSpPr>
          <p:cNvPr id="10" name="Rounded Rectangle 9"/>
          <p:cNvSpPr/>
          <p:nvPr/>
        </p:nvSpPr>
        <p:spPr>
          <a:xfrm>
            <a:off x="813816" y="3008376"/>
            <a:ext cx="3886200" cy="2011679"/>
          </a:xfrm>
          <a:prstGeom prst="roundRect">
            <a:avLst>
              <a:gd name="adj" fmla="val 4000"/>
            </a:avLst>
          </a:prstGeom>
          <a:solidFill>
            <a:srgbClr val="FFFFFF"/>
          </a:solidFill>
          <a:ln w="1905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14984" y="3163824"/>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3  Output on the screen</a:t>
            </a:r>
          </a:p>
        </p:txBody>
      </p:sp>
      <p:sp>
        <p:nvSpPr>
          <p:cNvPr id="12" name="TextBox 11"/>
          <p:cNvSpPr txBox="1"/>
          <p:nvPr/>
        </p:nvSpPr>
        <p:spPr>
          <a:xfrm>
            <a:off x="1014984" y="3483864"/>
            <a:ext cx="3520440" cy="1371600"/>
          </a:xfrm>
          <a:prstGeom prst="rect">
            <a:avLst/>
          </a:prstGeom>
          <a:noFill/>
        </p:spPr>
        <p:txBody>
          <a:bodyPr wrap="square" lIns="0" tIns="0" rIns="0" bIns="0" anchor="t">
            <a:spAutoFit/>
          </a:bodyPr>
          <a:lstStyle/>
          <a:p>
            <a:pPr>
              <a:lnSpc>
                <a:spcPct val="100000"/>
              </a:lnSpc>
            </a:pPr>
            <a:r>
              <a:rPr sz="1300" b="0">
                <a:solidFill>
                  <a:srgbClr val="000000"/>
                </a:solidFill>
                <a:latin typeface="Courier New"/>
              </a:rPr>
              <a:t>Price: 3.5</a:t>
            </a:r>
          </a:p>
          <a:p>
            <a:pPr>
              <a:lnSpc>
                <a:spcPct val="100000"/>
              </a:lnSpc>
            </a:pPr>
            <a:r>
              <a:rPr sz="1300" b="0">
                <a:solidFill>
                  <a:srgbClr val="000000"/>
                </a:solidFill>
                <a:latin typeface="Courier New"/>
              </a:rPr>
              <a:t>Price: 7.25</a:t>
            </a:r>
          </a:p>
          <a:p>
            <a:pPr>
              <a:lnSpc>
                <a:spcPct val="100000"/>
              </a:lnSpc>
            </a:pPr>
            <a:r>
              <a:rPr sz="1300" b="0">
                <a:solidFill>
                  <a:srgbClr val="000000"/>
                </a:solidFill>
                <a:latin typeface="Courier New"/>
              </a:rPr>
              <a:t>Price: 10</a:t>
            </a:r>
          </a:p>
          <a:p>
            <a:pPr>
              <a:lnSpc>
                <a:spcPct val="100000"/>
              </a:lnSpc>
            </a:pPr>
            <a:r>
              <a:rPr sz="1300" b="0">
                <a:solidFill>
                  <a:srgbClr val="000000"/>
                </a:solidFill>
                <a:latin typeface="Courier New"/>
              </a:rPr>
              <a:t>Price: 2.75</a:t>
            </a:r>
          </a:p>
          <a:p>
            <a:pPr>
              <a:lnSpc>
                <a:spcPct val="100000"/>
              </a:lnSpc>
            </a:pPr>
            <a:r>
              <a:rPr sz="1300" b="0">
                <a:solidFill>
                  <a:srgbClr val="000000"/>
                </a:solidFill>
                <a:latin typeface="Courier New"/>
              </a:rPr>
              <a:t>Total = 23.5</a:t>
            </a:r>
          </a:p>
          <a:p>
            <a:pPr>
              <a:lnSpc>
                <a:spcPct val="100000"/>
              </a:lnSpc>
            </a:pPr>
            <a:r>
              <a:rPr sz="1300" b="0">
                <a:solidFill>
                  <a:srgbClr val="000000"/>
                </a:solidFill>
                <a:latin typeface="Courier New"/>
              </a:rPr>
              <a:t>Average = 5.875</a:t>
            </a:r>
          </a:p>
        </p:txBody>
      </p:sp>
      <p:sp>
        <p:nvSpPr>
          <p:cNvPr id="13" name="TextBox 12"/>
          <p:cNvSpPr txBox="1"/>
          <p:nvPr/>
        </p:nvSpPr>
        <p:spPr>
          <a:xfrm>
            <a:off x="813816" y="5248656"/>
            <a:ext cx="3886200" cy="1152143"/>
          </a:xfrm>
          <a:prstGeom prst="rect">
            <a:avLst/>
          </a:prstGeom>
          <a:noFill/>
        </p:spPr>
        <p:txBody>
          <a:bodyPr wrap="square" lIns="0" tIns="0" rIns="0" bIns="0" anchor="t">
            <a:spAutoFit/>
          </a:bodyPr>
          <a:lstStyle/>
          <a:p>
            <a:pPr>
              <a:lnSpc>
                <a:spcPct val="100000"/>
              </a:lnSpc>
            </a:pPr>
            <a:r>
              <a:rPr sz="1400" b="1">
                <a:solidFill>
                  <a:srgbClr val="000000"/>
                </a:solidFill>
                <a:latin typeface="Carlito"/>
              </a:rPr>
              <a:t>Key idea: </a:t>
            </a:r>
            <a:r>
              <a:rPr sz="1400" b="0">
                <a:solidFill>
                  <a:srgbClr val="000000"/>
                </a:solidFill>
                <a:latin typeface="Carlito"/>
              </a:rPr>
              <a:t>Read into a double. An int would read 3 and then get stuck at .5</a:t>
            </a:r>
          </a:p>
        </p:txBody>
      </p:sp>
      <p:sp>
        <p:nvSpPr>
          <p:cNvPr id="14" name="Rounded Rectangle 13"/>
          <p:cNvSpPr/>
          <p:nvPr/>
        </p:nvSpPr>
        <p:spPr>
          <a:xfrm>
            <a:off x="4974336" y="1627632"/>
            <a:ext cx="6400800" cy="4773168"/>
          </a:xfrm>
          <a:prstGeom prst="roundRect">
            <a:avLst>
              <a:gd name="adj" fmla="val 4000"/>
            </a:avLst>
          </a:prstGeom>
          <a:solidFill>
            <a:srgbClr val="F2F2F2"/>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202936" y="1783080"/>
            <a:ext cx="594360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2  The program</a:t>
            </a:r>
          </a:p>
        </p:txBody>
      </p:sp>
      <p:sp>
        <p:nvSpPr>
          <p:cNvPr id="16" name="TextBox 15"/>
          <p:cNvSpPr txBox="1"/>
          <p:nvPr/>
        </p:nvSpPr>
        <p:spPr>
          <a:xfrm>
            <a:off x="5202936" y="2130552"/>
            <a:ext cx="5943600" cy="4069079"/>
          </a:xfrm>
          <a:prstGeom prst="rect">
            <a:avLst/>
          </a:prstGeom>
          <a:noFill/>
        </p:spPr>
        <p:txBody>
          <a:bodyPr wrap="square" lIns="0" tIns="0" rIns="0" bIns="0" anchor="t">
            <a:spAutoFit/>
          </a:bodyPr>
          <a:lstStyle/>
          <a:p>
            <a:pPr>
              <a:lnSpc>
                <a:spcPct val="100000"/>
              </a:lnSpc>
            </a:pPr>
            <a:r>
              <a:rPr sz="1250" b="0">
                <a:solidFill>
                  <a:srgbClr val="000000"/>
                </a:solidFill>
                <a:latin typeface="Courier New"/>
              </a:rPr>
              <a:t>#include &lt;iostream&gt;</a:t>
            </a:r>
          </a:p>
          <a:p>
            <a:pPr>
              <a:lnSpc>
                <a:spcPct val="100000"/>
              </a:lnSpc>
            </a:pPr>
            <a:r>
              <a:rPr sz="1250" b="0">
                <a:solidFill>
                  <a:srgbClr val="000000"/>
                </a:solidFill>
                <a:latin typeface="Courier New"/>
              </a:rPr>
              <a:t>#include &lt;fstream&gt;</a:t>
            </a:r>
          </a:p>
          <a:p>
            <a:pPr>
              <a:lnSpc>
                <a:spcPct val="100000"/>
              </a:lnSpc>
            </a:pPr>
            <a:r>
              <a:rPr sz="1250" b="0">
                <a:solidFill>
                  <a:srgbClr val="000000"/>
                </a:solidFill>
                <a:latin typeface="Courier New"/>
              </a:rPr>
              <a:t>using namespace std;</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int main() {</a:t>
            </a:r>
          </a:p>
          <a:p>
            <a:pPr>
              <a:lnSpc>
                <a:spcPct val="100000"/>
              </a:lnSpc>
            </a:pPr>
            <a:r>
              <a:rPr sz="1250" b="0">
                <a:solidFill>
                  <a:srgbClr val="000000"/>
                </a:solidFill>
                <a:latin typeface="Courier New"/>
              </a:rPr>
              <a:t>    ifstream inFile("prices.txt");</a:t>
            </a:r>
          </a:p>
          <a:p>
            <a:pPr>
              <a:lnSpc>
                <a:spcPct val="100000"/>
              </a:lnSpc>
            </a:pPr>
            <a:r>
              <a:rPr sz="1250" b="0">
                <a:solidFill>
                  <a:srgbClr val="000000"/>
                </a:solidFill>
                <a:latin typeface="Courier New"/>
              </a:rPr>
              <a:t>    if (!inFile) { cout &lt;&lt; "File not found"; return 1; }</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    double price, total = 0;</a:t>
            </a:r>
          </a:p>
          <a:p>
            <a:pPr>
              <a:lnSpc>
                <a:spcPct val="100000"/>
              </a:lnSpc>
            </a:pPr>
            <a:r>
              <a:rPr sz="1250" b="0">
                <a:solidFill>
                  <a:srgbClr val="000000"/>
                </a:solidFill>
                <a:latin typeface="Courier New"/>
              </a:rPr>
              <a:t>    int count = 0;</a:t>
            </a:r>
          </a:p>
          <a:p>
            <a:pPr>
              <a:lnSpc>
                <a:spcPct val="100000"/>
              </a:lnSpc>
            </a:pPr>
            <a:r>
              <a:rPr sz="1250" b="0">
                <a:solidFill>
                  <a:srgbClr val="000000"/>
                </a:solidFill>
                <a:latin typeface="Courier New"/>
              </a:rPr>
              <a:t>    while (inFile &gt;&gt; price) {</a:t>
            </a:r>
          </a:p>
          <a:p>
            <a:pPr>
              <a:lnSpc>
                <a:spcPct val="100000"/>
              </a:lnSpc>
            </a:pPr>
            <a:r>
              <a:rPr sz="1250" b="0">
                <a:solidFill>
                  <a:srgbClr val="000000"/>
                </a:solidFill>
                <a:latin typeface="Courier New"/>
              </a:rPr>
              <a:t>        cout &lt;&lt; "Price: " &lt;&lt; price &lt;&lt; endl;</a:t>
            </a:r>
          </a:p>
          <a:p>
            <a:pPr>
              <a:lnSpc>
                <a:spcPct val="100000"/>
              </a:lnSpc>
            </a:pPr>
            <a:r>
              <a:rPr sz="1250" b="0">
                <a:solidFill>
                  <a:srgbClr val="000000"/>
                </a:solidFill>
                <a:latin typeface="Courier New"/>
              </a:rPr>
              <a:t>        total += price;</a:t>
            </a:r>
          </a:p>
          <a:p>
            <a:pPr>
              <a:lnSpc>
                <a:spcPct val="100000"/>
              </a:lnSpc>
            </a:pPr>
            <a:r>
              <a:rPr sz="1250" b="0">
                <a:solidFill>
                  <a:srgbClr val="000000"/>
                </a:solidFill>
                <a:latin typeface="Courier New"/>
              </a:rPr>
              <a:t>        count++;</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    cout &lt;&lt; "Total = " &lt;&lt; total &lt;&lt; endl;</a:t>
            </a:r>
          </a:p>
          <a:p>
            <a:pPr>
              <a:lnSpc>
                <a:spcPct val="100000"/>
              </a:lnSpc>
            </a:pPr>
            <a:r>
              <a:rPr sz="1250" b="0">
                <a:solidFill>
                  <a:srgbClr val="000000"/>
                </a:solidFill>
                <a:latin typeface="Courier New"/>
              </a:rPr>
              <a:t>    cout &lt;&lt; "Average = " &lt;&lt; total / count &lt;&lt; endl;</a:t>
            </a:r>
          </a:p>
          <a:p>
            <a:pPr>
              <a:lnSpc>
                <a:spcPct val="100000"/>
              </a:lnSpc>
            </a:pPr>
            <a:r>
              <a:rPr sz="1250" b="0">
                <a:solidFill>
                  <a:srgbClr val="000000"/>
                </a:solidFill>
                <a:latin typeface="Courier New"/>
              </a:rPr>
              <a:t>    inFile.close();</a:t>
            </a:r>
          </a:p>
          <a:p>
            <a:pPr>
              <a:lnSpc>
                <a:spcPct val="100000"/>
              </a:lnSpc>
            </a:pPr>
            <a:r>
              <a:rPr sz="1250" b="0">
                <a:solidFill>
                  <a:srgbClr val="000000"/>
                </a:solidFill>
                <a:latin typeface="Courier New"/>
              </a:rPr>
              <a:t>    return 0;</a:t>
            </a:r>
          </a:p>
          <a:p>
            <a:pPr>
              <a:lnSpc>
                <a:spcPct val="100000"/>
              </a:lnSpc>
            </a:pPr>
            <a:r>
              <a:rPr sz="1250" b="0">
                <a:solidFill>
                  <a:srgbClr val="000000"/>
                </a:solidFill>
                <a:latin typeface="Courier New"/>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WORKED EXAMPLE · FORMAT 3 OF 15</a:t>
            </a:r>
            <a:endParaRPr lang="en-US" sz="1200" dirty="0"/>
          </a:p>
        </p:txBody>
      </p:sp>
      <p:sp>
        <p:nvSpPr>
          <p:cNvPr id="3" name="Text 1"/>
          <p:cNvSpPr>
            <a:spLocks noGrp="1"/>
          </p:cNvSpPr>
          <p:nvPr>
            <p:ph type="title"/>
          </p:nvPr>
        </p:nvSpPr>
        <p:spPr>
          <a:xfrm>
            <a:off x="812800" y="924520"/>
            <a:ext cx="67665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Comma-separated numbers</a:t>
            </a:r>
            <a:endParaRPr lang="en-US" sz="3200" dirty="0"/>
          </a:p>
        </p:txBody>
      </p:sp>
      <p:sp>
        <p:nvSpPr>
          <p:cNvPr id="4" name="Rounded Rectangle 3"/>
          <p:cNvSpPr/>
          <p:nvPr/>
        </p:nvSpPr>
        <p:spPr>
          <a:xfrm>
            <a:off x="7808975" y="786384"/>
            <a:ext cx="3566160" cy="658368"/>
          </a:xfrm>
          <a:prstGeom prst="roundRect">
            <a:avLst>
              <a:gd name="adj" fmla="val 4000"/>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991855" y="850392"/>
            <a:ext cx="3200400" cy="201168"/>
          </a:xfrm>
          <a:prstGeom prst="rect">
            <a:avLst/>
          </a:prstGeom>
          <a:noFill/>
        </p:spPr>
        <p:txBody>
          <a:bodyPr wrap="square" lIns="0" tIns="0" rIns="0" bIns="0" anchor="t">
            <a:spAutoFit/>
          </a:bodyPr>
          <a:lstStyle/>
          <a:p>
            <a:pPr>
              <a:lnSpc>
                <a:spcPct val="100000"/>
              </a:lnSpc>
            </a:pPr>
            <a:r>
              <a:rPr sz="1000" b="1">
                <a:solidFill>
                  <a:srgbClr val="595959"/>
                </a:solidFill>
                <a:latin typeface="Carlito"/>
              </a:rPr>
              <a:t>FORMAT LOOKS LIKE</a:t>
            </a:r>
          </a:p>
        </p:txBody>
      </p:sp>
      <p:sp>
        <p:nvSpPr>
          <p:cNvPr id="6" name="TextBox 5"/>
          <p:cNvSpPr txBox="1"/>
          <p:nvPr/>
        </p:nvSpPr>
        <p:spPr>
          <a:xfrm>
            <a:off x="7991855" y="1069848"/>
            <a:ext cx="3200400" cy="274320"/>
          </a:xfrm>
          <a:prstGeom prst="rect">
            <a:avLst/>
          </a:prstGeom>
          <a:noFill/>
        </p:spPr>
        <p:txBody>
          <a:bodyPr wrap="square" lIns="0" tIns="0" rIns="0" bIns="0" anchor="t">
            <a:spAutoFit/>
          </a:bodyPr>
          <a:lstStyle/>
          <a:p>
            <a:pPr>
              <a:lnSpc>
                <a:spcPct val="100000"/>
              </a:lnSpc>
            </a:pPr>
            <a:r>
              <a:rPr sz="1500" b="1">
                <a:solidFill>
                  <a:srgbClr val="000000"/>
                </a:solidFill>
                <a:latin typeface="Courier New"/>
              </a:rPr>
              <a:t>85,90,78,92,88</a:t>
            </a:r>
          </a:p>
        </p:txBody>
      </p:sp>
      <p:sp>
        <p:nvSpPr>
          <p:cNvPr id="7" name="Rounded Rectangle 6"/>
          <p:cNvSpPr/>
          <p:nvPr/>
        </p:nvSpPr>
        <p:spPr>
          <a:xfrm>
            <a:off x="813816" y="1627632"/>
            <a:ext cx="3886200" cy="896112"/>
          </a:xfrm>
          <a:prstGeom prst="roundRect">
            <a:avLst>
              <a:gd name="adj" fmla="val 4000"/>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14984" y="1783080"/>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1  The text file:  marks.txt</a:t>
            </a:r>
          </a:p>
        </p:txBody>
      </p:sp>
      <p:sp>
        <p:nvSpPr>
          <p:cNvPr id="9" name="TextBox 8"/>
          <p:cNvSpPr txBox="1"/>
          <p:nvPr/>
        </p:nvSpPr>
        <p:spPr>
          <a:xfrm>
            <a:off x="1014984" y="2103120"/>
            <a:ext cx="3520440" cy="256032"/>
          </a:xfrm>
          <a:prstGeom prst="rect">
            <a:avLst/>
          </a:prstGeom>
          <a:noFill/>
        </p:spPr>
        <p:txBody>
          <a:bodyPr wrap="square" lIns="0" tIns="0" rIns="0" bIns="0" anchor="t">
            <a:spAutoFit/>
          </a:bodyPr>
          <a:lstStyle/>
          <a:p>
            <a:pPr>
              <a:lnSpc>
                <a:spcPct val="100000"/>
              </a:lnSpc>
            </a:pPr>
            <a:r>
              <a:rPr sz="1500" b="0">
                <a:solidFill>
                  <a:srgbClr val="000000"/>
                </a:solidFill>
                <a:latin typeface="Courier New"/>
              </a:rPr>
              <a:t>85,90,78,92,88</a:t>
            </a:r>
          </a:p>
        </p:txBody>
      </p:sp>
      <p:sp>
        <p:nvSpPr>
          <p:cNvPr id="10" name="Rounded Rectangle 9"/>
          <p:cNvSpPr/>
          <p:nvPr/>
        </p:nvSpPr>
        <p:spPr>
          <a:xfrm>
            <a:off x="813816" y="2752344"/>
            <a:ext cx="3886200" cy="1097280"/>
          </a:xfrm>
          <a:prstGeom prst="roundRect">
            <a:avLst>
              <a:gd name="adj" fmla="val 4000"/>
            </a:avLst>
          </a:prstGeom>
          <a:solidFill>
            <a:srgbClr val="FFFFFF"/>
          </a:solidFill>
          <a:ln w="1905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14984" y="2907791"/>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3  Output on the screen</a:t>
            </a:r>
          </a:p>
        </p:txBody>
      </p:sp>
      <p:sp>
        <p:nvSpPr>
          <p:cNvPr id="12" name="TextBox 11"/>
          <p:cNvSpPr txBox="1"/>
          <p:nvPr/>
        </p:nvSpPr>
        <p:spPr>
          <a:xfrm>
            <a:off x="1014984" y="3227832"/>
            <a:ext cx="3520440" cy="457200"/>
          </a:xfrm>
          <a:prstGeom prst="rect">
            <a:avLst/>
          </a:prstGeom>
          <a:noFill/>
        </p:spPr>
        <p:txBody>
          <a:bodyPr wrap="square" lIns="0" tIns="0" rIns="0" bIns="0" anchor="t">
            <a:spAutoFit/>
          </a:bodyPr>
          <a:lstStyle/>
          <a:p>
            <a:pPr>
              <a:lnSpc>
                <a:spcPct val="100000"/>
              </a:lnSpc>
            </a:pPr>
            <a:r>
              <a:rPr sz="1300" b="0">
                <a:solidFill>
                  <a:srgbClr val="000000"/>
                </a:solidFill>
                <a:latin typeface="Courier New"/>
              </a:rPr>
              <a:t>count = 5</a:t>
            </a:r>
          </a:p>
          <a:p>
            <a:pPr>
              <a:lnSpc>
                <a:spcPct val="100000"/>
              </a:lnSpc>
            </a:pPr>
            <a:r>
              <a:rPr sz="1300" b="0">
                <a:solidFill>
                  <a:srgbClr val="000000"/>
                </a:solidFill>
                <a:latin typeface="Courier New"/>
              </a:rPr>
              <a:t>85 90 78 92 88 </a:t>
            </a:r>
          </a:p>
        </p:txBody>
      </p:sp>
      <p:sp>
        <p:nvSpPr>
          <p:cNvPr id="13" name="TextBox 12"/>
          <p:cNvSpPr txBox="1"/>
          <p:nvPr/>
        </p:nvSpPr>
        <p:spPr>
          <a:xfrm>
            <a:off x="813816" y="4078224"/>
            <a:ext cx="3886200" cy="2322576"/>
          </a:xfrm>
          <a:prstGeom prst="rect">
            <a:avLst/>
          </a:prstGeom>
          <a:noFill/>
        </p:spPr>
        <p:txBody>
          <a:bodyPr wrap="square" lIns="0" tIns="0" rIns="0" bIns="0" anchor="t">
            <a:spAutoFit/>
          </a:bodyPr>
          <a:lstStyle/>
          <a:p>
            <a:pPr>
              <a:lnSpc>
                <a:spcPct val="100000"/>
              </a:lnSpc>
            </a:pPr>
            <a:r>
              <a:rPr sz="1400" b="1">
                <a:solidFill>
                  <a:srgbClr val="000000"/>
                </a:solidFill>
                <a:latin typeface="Carlito"/>
              </a:rPr>
              <a:t>Key idea: </a:t>
            </a:r>
            <a:r>
              <a:rPr sz="1400" b="0">
                <a:solidFill>
                  <a:srgbClr val="000000"/>
                </a:solidFill>
                <a:latin typeface="Carlito"/>
              </a:rPr>
              <a:t>Read the comma into a char, or skip it with inFile.ignore(1, ','); in place of inFile &gt;&gt; comma;. Same output. Works the same for ; or |</a:t>
            </a:r>
          </a:p>
        </p:txBody>
      </p:sp>
      <p:sp>
        <p:nvSpPr>
          <p:cNvPr id="14" name="Rounded Rectangle 13"/>
          <p:cNvSpPr/>
          <p:nvPr/>
        </p:nvSpPr>
        <p:spPr>
          <a:xfrm>
            <a:off x="4974336" y="1627632"/>
            <a:ext cx="6400800" cy="4773168"/>
          </a:xfrm>
          <a:prstGeom prst="roundRect">
            <a:avLst>
              <a:gd name="adj" fmla="val 4000"/>
            </a:avLst>
          </a:prstGeom>
          <a:solidFill>
            <a:srgbClr val="F2F2F2"/>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202936" y="1783080"/>
            <a:ext cx="594360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2  The program</a:t>
            </a:r>
          </a:p>
        </p:txBody>
      </p:sp>
      <p:sp>
        <p:nvSpPr>
          <p:cNvPr id="16" name="TextBox 15"/>
          <p:cNvSpPr txBox="1"/>
          <p:nvPr/>
        </p:nvSpPr>
        <p:spPr>
          <a:xfrm>
            <a:off x="5202936" y="2130552"/>
            <a:ext cx="5943600" cy="4069079"/>
          </a:xfrm>
          <a:prstGeom prst="rect">
            <a:avLst/>
          </a:prstGeom>
          <a:noFill/>
        </p:spPr>
        <p:txBody>
          <a:bodyPr wrap="square" lIns="0" tIns="0" rIns="0" bIns="0" anchor="t">
            <a:spAutoFit/>
          </a:bodyPr>
          <a:lstStyle/>
          <a:p>
            <a:pPr>
              <a:lnSpc>
                <a:spcPct val="100000"/>
              </a:lnSpc>
            </a:pPr>
            <a:r>
              <a:rPr sz="1200" b="0">
                <a:solidFill>
                  <a:srgbClr val="000000"/>
                </a:solidFill>
                <a:latin typeface="Courier New"/>
              </a:rPr>
              <a:t>#include &lt;iostream&gt;</a:t>
            </a:r>
          </a:p>
          <a:p>
            <a:pPr>
              <a:lnSpc>
                <a:spcPct val="100000"/>
              </a:lnSpc>
            </a:pPr>
            <a:r>
              <a:rPr sz="1200" b="0">
                <a:solidFill>
                  <a:srgbClr val="000000"/>
                </a:solidFill>
                <a:latin typeface="Courier New"/>
              </a:rPr>
              <a:t>#include &lt;fstream&gt;</a:t>
            </a:r>
          </a:p>
          <a:p>
            <a:pPr>
              <a:lnSpc>
                <a:spcPct val="100000"/>
              </a:lnSpc>
            </a:pPr>
            <a:r>
              <a:rPr sz="1200" b="0">
                <a:solidFill>
                  <a:srgbClr val="000000"/>
                </a:solidFill>
                <a:latin typeface="Courier New"/>
              </a:rPr>
              <a:t>using namespace std;</a:t>
            </a:r>
          </a:p>
          <a:p>
            <a:pPr>
              <a:lnSpc>
                <a:spcPct val="100000"/>
              </a:lnSpc>
            </a:pPr>
            <a:r>
              <a:rPr sz="1200" b="0">
                <a:solidFill>
                  <a:srgbClr val="000000"/>
                </a:solidFill>
                <a:latin typeface="Courier New"/>
              </a:rPr>
              <a:t> </a:t>
            </a:r>
          </a:p>
          <a:p>
            <a:pPr>
              <a:lnSpc>
                <a:spcPct val="100000"/>
              </a:lnSpc>
            </a:pPr>
            <a:r>
              <a:rPr sz="1200" b="0">
                <a:solidFill>
                  <a:srgbClr val="000000"/>
                </a:solidFill>
                <a:latin typeface="Courier New"/>
              </a:rPr>
              <a:t>int main() {</a:t>
            </a:r>
          </a:p>
          <a:p>
            <a:pPr>
              <a:lnSpc>
                <a:spcPct val="100000"/>
              </a:lnSpc>
            </a:pPr>
            <a:r>
              <a:rPr sz="1200" b="0">
                <a:solidFill>
                  <a:srgbClr val="000000"/>
                </a:solidFill>
                <a:latin typeface="Courier New"/>
              </a:rPr>
              <a:t>    ifstream inFile("marks.txt");</a:t>
            </a:r>
          </a:p>
          <a:p>
            <a:pPr>
              <a:lnSpc>
                <a:spcPct val="100000"/>
              </a:lnSpc>
            </a:pPr>
            <a:r>
              <a:rPr sz="1200" b="0">
                <a:solidFill>
                  <a:srgbClr val="000000"/>
                </a:solidFill>
                <a:latin typeface="Courier New"/>
              </a:rPr>
              <a:t>    if (!inFile) { cout &lt;&lt; "File not found"; return 1; }</a:t>
            </a:r>
          </a:p>
          <a:p>
            <a:pPr>
              <a:lnSpc>
                <a:spcPct val="100000"/>
              </a:lnSpc>
            </a:pPr>
            <a:r>
              <a:rPr sz="1200" b="0">
                <a:solidFill>
                  <a:srgbClr val="000000"/>
                </a:solidFill>
                <a:latin typeface="Courier New"/>
              </a:rPr>
              <a:t> </a:t>
            </a:r>
          </a:p>
          <a:p>
            <a:pPr>
              <a:lnSpc>
                <a:spcPct val="100000"/>
              </a:lnSpc>
            </a:pPr>
            <a:r>
              <a:rPr sz="1200" b="0">
                <a:solidFill>
                  <a:srgbClr val="000000"/>
                </a:solidFill>
                <a:latin typeface="Courier New"/>
              </a:rPr>
              <a:t>    int marks[10], count = 0;</a:t>
            </a:r>
          </a:p>
          <a:p>
            <a:pPr>
              <a:lnSpc>
                <a:spcPct val="100000"/>
              </a:lnSpc>
            </a:pPr>
            <a:r>
              <a:rPr sz="1200" b="0">
                <a:solidFill>
                  <a:srgbClr val="000000"/>
                </a:solidFill>
                <a:latin typeface="Courier New"/>
              </a:rPr>
              <a:t>    char comma;</a:t>
            </a:r>
          </a:p>
          <a:p>
            <a:pPr>
              <a:lnSpc>
                <a:spcPct val="100000"/>
              </a:lnSpc>
            </a:pPr>
            <a:r>
              <a:rPr sz="1200" b="0">
                <a:solidFill>
                  <a:srgbClr val="000000"/>
                </a:solidFill>
                <a:latin typeface="Courier New"/>
              </a:rPr>
              <a:t> </a:t>
            </a:r>
          </a:p>
          <a:p>
            <a:pPr>
              <a:lnSpc>
                <a:spcPct val="100000"/>
              </a:lnSpc>
            </a:pPr>
            <a:r>
              <a:rPr sz="1200" b="0">
                <a:solidFill>
                  <a:srgbClr val="000000"/>
                </a:solidFill>
                <a:latin typeface="Courier New"/>
              </a:rPr>
              <a:t>    while (count &lt; 10 &amp;&amp; inFile &gt;&gt; marks[count]) {</a:t>
            </a:r>
          </a:p>
          <a:p>
            <a:pPr>
              <a:lnSpc>
                <a:spcPct val="100000"/>
              </a:lnSpc>
            </a:pPr>
            <a:r>
              <a:rPr sz="1200" b="0">
                <a:solidFill>
                  <a:srgbClr val="000000"/>
                </a:solidFill>
                <a:latin typeface="Courier New"/>
              </a:rPr>
              <a:t>        count++;</a:t>
            </a:r>
          </a:p>
          <a:p>
            <a:pPr>
              <a:lnSpc>
                <a:spcPct val="100000"/>
              </a:lnSpc>
            </a:pPr>
            <a:r>
              <a:rPr sz="1200" b="0">
                <a:solidFill>
                  <a:srgbClr val="000000"/>
                </a:solidFill>
                <a:latin typeface="Courier New"/>
              </a:rPr>
              <a:t>        inFile &gt;&gt; comma;      </a:t>
            </a:r>
            <a:r>
              <a:rPr sz="1200" b="0">
                <a:solidFill>
                  <a:srgbClr val="595959"/>
                </a:solidFill>
                <a:latin typeface="Courier New"/>
              </a:rPr>
              <a:t>// or: inFile.ignore(1, ',');</a:t>
            </a:r>
          </a:p>
          <a:p>
            <a:pPr>
              <a:lnSpc>
                <a:spcPct val="100000"/>
              </a:lnSpc>
            </a:pPr>
            <a:r>
              <a:rPr sz="1200" b="0">
                <a:solidFill>
                  <a:srgbClr val="000000"/>
                </a:solidFill>
                <a:latin typeface="Courier New"/>
              </a:rPr>
              <a:t>    }</a:t>
            </a:r>
          </a:p>
          <a:p>
            <a:pPr>
              <a:lnSpc>
                <a:spcPct val="100000"/>
              </a:lnSpc>
            </a:pPr>
            <a:r>
              <a:rPr sz="1200" b="0">
                <a:solidFill>
                  <a:srgbClr val="000000"/>
                </a:solidFill>
                <a:latin typeface="Courier New"/>
              </a:rPr>
              <a:t> </a:t>
            </a:r>
          </a:p>
          <a:p>
            <a:pPr>
              <a:lnSpc>
                <a:spcPct val="100000"/>
              </a:lnSpc>
            </a:pPr>
            <a:r>
              <a:rPr sz="1200" b="0">
                <a:solidFill>
                  <a:srgbClr val="000000"/>
                </a:solidFill>
                <a:latin typeface="Courier New"/>
              </a:rPr>
              <a:t>    cout &lt;&lt; "count = " &lt;&lt; count &lt;&lt; endl;</a:t>
            </a:r>
          </a:p>
          <a:p>
            <a:pPr>
              <a:lnSpc>
                <a:spcPct val="100000"/>
              </a:lnSpc>
            </a:pPr>
            <a:r>
              <a:rPr sz="1200" b="0">
                <a:solidFill>
                  <a:srgbClr val="000000"/>
                </a:solidFill>
                <a:latin typeface="Courier New"/>
              </a:rPr>
              <a:t>    for (int i = 0; i &lt; count; i++)</a:t>
            </a:r>
          </a:p>
          <a:p>
            <a:pPr>
              <a:lnSpc>
                <a:spcPct val="100000"/>
              </a:lnSpc>
            </a:pPr>
            <a:r>
              <a:rPr sz="1200" b="0">
                <a:solidFill>
                  <a:srgbClr val="000000"/>
                </a:solidFill>
                <a:latin typeface="Courier New"/>
              </a:rPr>
              <a:t>        cout &lt;&lt; marks[i] &lt;&lt; " ";</a:t>
            </a:r>
          </a:p>
          <a:p>
            <a:pPr>
              <a:lnSpc>
                <a:spcPct val="100000"/>
              </a:lnSpc>
            </a:pPr>
            <a:r>
              <a:rPr sz="1200" b="0">
                <a:solidFill>
                  <a:srgbClr val="000000"/>
                </a:solidFill>
                <a:latin typeface="Courier New"/>
              </a:rPr>
              <a:t>    cout &lt;&lt; endl;</a:t>
            </a:r>
          </a:p>
          <a:p>
            <a:pPr>
              <a:lnSpc>
                <a:spcPct val="100000"/>
              </a:lnSpc>
            </a:pPr>
            <a:r>
              <a:rPr sz="1200" b="0">
                <a:solidFill>
                  <a:srgbClr val="000000"/>
                </a:solidFill>
                <a:latin typeface="Courier New"/>
              </a:rPr>
              <a:t>    inFile.close();</a:t>
            </a:r>
          </a:p>
          <a:p>
            <a:pPr>
              <a:lnSpc>
                <a:spcPct val="100000"/>
              </a:lnSpc>
            </a:pPr>
            <a:r>
              <a:rPr sz="1200" b="0">
                <a:solidFill>
                  <a:srgbClr val="000000"/>
                </a:solidFill>
                <a:latin typeface="Courier New"/>
              </a:rPr>
              <a:t>    return 0;</a:t>
            </a:r>
          </a:p>
          <a:p>
            <a:pPr>
              <a:lnSpc>
                <a:spcPct val="100000"/>
              </a:lnSpc>
            </a:pPr>
            <a:r>
              <a:rPr sz="1200" b="0">
                <a:solidFill>
                  <a:srgbClr val="000000"/>
                </a:solidFill>
                <a:latin typeface="Courier New"/>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WORKED EXAMPLE · FORMAT 4 OF 15</a:t>
            </a:r>
            <a:endParaRPr lang="en-US" sz="1200" dirty="0"/>
          </a:p>
        </p:txBody>
      </p:sp>
      <p:sp>
        <p:nvSpPr>
          <p:cNvPr id="3" name="Text 1"/>
          <p:cNvSpPr>
            <a:spLocks noGrp="1"/>
          </p:cNvSpPr>
          <p:nvPr>
            <p:ph type="title"/>
          </p:nvPr>
        </p:nvSpPr>
        <p:spPr>
          <a:xfrm>
            <a:off x="812800" y="924520"/>
            <a:ext cx="67665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Dates</a:t>
            </a:r>
            <a:endParaRPr lang="en-US" sz="3200" dirty="0"/>
          </a:p>
        </p:txBody>
      </p:sp>
      <p:sp>
        <p:nvSpPr>
          <p:cNvPr id="4" name="Rounded Rectangle 3"/>
          <p:cNvSpPr/>
          <p:nvPr/>
        </p:nvSpPr>
        <p:spPr>
          <a:xfrm>
            <a:off x="7808975" y="786384"/>
            <a:ext cx="3566160" cy="658368"/>
          </a:xfrm>
          <a:prstGeom prst="roundRect">
            <a:avLst>
              <a:gd name="adj" fmla="val 4000"/>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991855" y="850392"/>
            <a:ext cx="3200400" cy="201168"/>
          </a:xfrm>
          <a:prstGeom prst="rect">
            <a:avLst/>
          </a:prstGeom>
          <a:noFill/>
        </p:spPr>
        <p:txBody>
          <a:bodyPr wrap="square" lIns="0" tIns="0" rIns="0" bIns="0" anchor="t">
            <a:spAutoFit/>
          </a:bodyPr>
          <a:lstStyle/>
          <a:p>
            <a:pPr>
              <a:lnSpc>
                <a:spcPct val="100000"/>
              </a:lnSpc>
            </a:pPr>
            <a:r>
              <a:rPr sz="1000" b="1">
                <a:solidFill>
                  <a:srgbClr val="595959"/>
                </a:solidFill>
                <a:latin typeface="Carlito"/>
              </a:rPr>
              <a:t>FORMAT LOOKS LIKE</a:t>
            </a:r>
          </a:p>
        </p:txBody>
      </p:sp>
      <p:sp>
        <p:nvSpPr>
          <p:cNvPr id="6" name="TextBox 5"/>
          <p:cNvSpPr txBox="1"/>
          <p:nvPr/>
        </p:nvSpPr>
        <p:spPr>
          <a:xfrm>
            <a:off x="7991855" y="1069848"/>
            <a:ext cx="3200400" cy="274320"/>
          </a:xfrm>
          <a:prstGeom prst="rect">
            <a:avLst/>
          </a:prstGeom>
          <a:noFill/>
        </p:spPr>
        <p:txBody>
          <a:bodyPr wrap="square" lIns="0" tIns="0" rIns="0" bIns="0" anchor="t">
            <a:spAutoFit/>
          </a:bodyPr>
          <a:lstStyle/>
          <a:p>
            <a:pPr>
              <a:lnSpc>
                <a:spcPct val="100000"/>
              </a:lnSpc>
            </a:pPr>
            <a:r>
              <a:rPr sz="1500" b="1">
                <a:solidFill>
                  <a:srgbClr val="000000"/>
                </a:solidFill>
                <a:latin typeface="Courier New"/>
              </a:rPr>
              <a:t>12/05/2026</a:t>
            </a:r>
          </a:p>
        </p:txBody>
      </p:sp>
      <p:sp>
        <p:nvSpPr>
          <p:cNvPr id="7" name="Rounded Rectangle 6"/>
          <p:cNvSpPr/>
          <p:nvPr/>
        </p:nvSpPr>
        <p:spPr>
          <a:xfrm>
            <a:off x="813816" y="1627632"/>
            <a:ext cx="3886200" cy="1408176"/>
          </a:xfrm>
          <a:prstGeom prst="roundRect">
            <a:avLst>
              <a:gd name="adj" fmla="val 4000"/>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14984" y="1783080"/>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1  The text file:  dates.txt</a:t>
            </a:r>
          </a:p>
        </p:txBody>
      </p:sp>
      <p:sp>
        <p:nvSpPr>
          <p:cNvPr id="9" name="TextBox 8"/>
          <p:cNvSpPr txBox="1"/>
          <p:nvPr/>
        </p:nvSpPr>
        <p:spPr>
          <a:xfrm>
            <a:off x="1014984" y="2103120"/>
            <a:ext cx="3520440" cy="768096"/>
          </a:xfrm>
          <a:prstGeom prst="rect">
            <a:avLst/>
          </a:prstGeom>
          <a:noFill/>
        </p:spPr>
        <p:txBody>
          <a:bodyPr wrap="square" lIns="0" tIns="0" rIns="0" bIns="0" anchor="t">
            <a:spAutoFit/>
          </a:bodyPr>
          <a:lstStyle/>
          <a:p>
            <a:pPr>
              <a:lnSpc>
                <a:spcPct val="100000"/>
              </a:lnSpc>
            </a:pPr>
            <a:r>
              <a:rPr sz="1500" b="0">
                <a:solidFill>
                  <a:srgbClr val="000000"/>
                </a:solidFill>
                <a:latin typeface="Courier New"/>
              </a:rPr>
              <a:t>12/05/2026</a:t>
            </a:r>
          </a:p>
          <a:p>
            <a:pPr>
              <a:lnSpc>
                <a:spcPct val="100000"/>
              </a:lnSpc>
            </a:pPr>
            <a:r>
              <a:rPr sz="1500" b="0">
                <a:solidFill>
                  <a:srgbClr val="000000"/>
                </a:solidFill>
                <a:latin typeface="Courier New"/>
              </a:rPr>
              <a:t>03/11/2025</a:t>
            </a:r>
          </a:p>
          <a:p>
            <a:pPr>
              <a:lnSpc>
                <a:spcPct val="100000"/>
              </a:lnSpc>
            </a:pPr>
            <a:r>
              <a:rPr sz="1500" b="0">
                <a:solidFill>
                  <a:srgbClr val="000000"/>
                </a:solidFill>
                <a:latin typeface="Courier New"/>
              </a:rPr>
              <a:t>25/12/2026</a:t>
            </a:r>
          </a:p>
        </p:txBody>
      </p:sp>
      <p:sp>
        <p:nvSpPr>
          <p:cNvPr id="10" name="Rounded Rectangle 9"/>
          <p:cNvSpPr/>
          <p:nvPr/>
        </p:nvSpPr>
        <p:spPr>
          <a:xfrm>
            <a:off x="813816" y="3264408"/>
            <a:ext cx="3886200" cy="1325880"/>
          </a:xfrm>
          <a:prstGeom prst="roundRect">
            <a:avLst>
              <a:gd name="adj" fmla="val 4000"/>
            </a:avLst>
          </a:prstGeom>
          <a:solidFill>
            <a:srgbClr val="FFFFFF"/>
          </a:solidFill>
          <a:ln w="1905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14984" y="3419856"/>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3  Output on the screen</a:t>
            </a:r>
          </a:p>
        </p:txBody>
      </p:sp>
      <p:sp>
        <p:nvSpPr>
          <p:cNvPr id="12" name="TextBox 11"/>
          <p:cNvSpPr txBox="1"/>
          <p:nvPr/>
        </p:nvSpPr>
        <p:spPr>
          <a:xfrm>
            <a:off x="1014984" y="3739896"/>
            <a:ext cx="3520440" cy="685800"/>
          </a:xfrm>
          <a:prstGeom prst="rect">
            <a:avLst/>
          </a:prstGeom>
          <a:noFill/>
        </p:spPr>
        <p:txBody>
          <a:bodyPr wrap="square" lIns="0" tIns="0" rIns="0" bIns="0" anchor="t">
            <a:spAutoFit/>
          </a:bodyPr>
          <a:lstStyle/>
          <a:p>
            <a:pPr>
              <a:lnSpc>
                <a:spcPct val="100000"/>
              </a:lnSpc>
            </a:pPr>
            <a:r>
              <a:rPr sz="1300" b="0">
                <a:solidFill>
                  <a:srgbClr val="000000"/>
                </a:solidFill>
                <a:latin typeface="Courier New"/>
              </a:rPr>
              <a:t>Day 12, Month 5, Year 2026</a:t>
            </a:r>
          </a:p>
          <a:p>
            <a:pPr>
              <a:lnSpc>
                <a:spcPct val="100000"/>
              </a:lnSpc>
            </a:pPr>
            <a:r>
              <a:rPr sz="1300" b="0">
                <a:solidFill>
                  <a:srgbClr val="000000"/>
                </a:solidFill>
                <a:latin typeface="Courier New"/>
              </a:rPr>
              <a:t>Day 3, Month 11, Year 2025</a:t>
            </a:r>
          </a:p>
          <a:p>
            <a:pPr>
              <a:lnSpc>
                <a:spcPct val="100000"/>
              </a:lnSpc>
            </a:pPr>
            <a:r>
              <a:rPr sz="1300" b="0">
                <a:solidFill>
                  <a:srgbClr val="000000"/>
                </a:solidFill>
                <a:latin typeface="Courier New"/>
              </a:rPr>
              <a:t>Day 25, Month 12, Year 2026</a:t>
            </a:r>
          </a:p>
        </p:txBody>
      </p:sp>
      <p:sp>
        <p:nvSpPr>
          <p:cNvPr id="13" name="TextBox 12"/>
          <p:cNvSpPr txBox="1"/>
          <p:nvPr/>
        </p:nvSpPr>
        <p:spPr>
          <a:xfrm>
            <a:off x="813816" y="4818888"/>
            <a:ext cx="3886200" cy="1581911"/>
          </a:xfrm>
          <a:prstGeom prst="rect">
            <a:avLst/>
          </a:prstGeom>
          <a:noFill/>
        </p:spPr>
        <p:txBody>
          <a:bodyPr wrap="square" lIns="0" tIns="0" rIns="0" bIns="0" anchor="t">
            <a:spAutoFit/>
          </a:bodyPr>
          <a:lstStyle/>
          <a:p>
            <a:pPr>
              <a:lnSpc>
                <a:spcPct val="100000"/>
              </a:lnSpc>
            </a:pPr>
            <a:r>
              <a:rPr sz="1400" b="1">
                <a:solidFill>
                  <a:srgbClr val="000000"/>
                </a:solidFill>
                <a:latin typeface="Carlito"/>
              </a:rPr>
              <a:t>Key idea: </a:t>
            </a:r>
            <a:r>
              <a:rPr sz="1400" b="0">
                <a:solidFill>
                  <a:srgbClr val="000000"/>
                </a:solidFill>
                <a:latin typeface="Carlito"/>
              </a:rPr>
              <a:t>int, char, int, char, int. Leading zeros are lost: 05 is read as 5. Or skip each slash: inFile &gt;&gt; d; inFile.ignore(1, '/'); inFile &gt;&gt; m; and so on.</a:t>
            </a:r>
          </a:p>
        </p:txBody>
      </p:sp>
      <p:sp>
        <p:nvSpPr>
          <p:cNvPr id="14" name="Rounded Rectangle 13"/>
          <p:cNvSpPr/>
          <p:nvPr/>
        </p:nvSpPr>
        <p:spPr>
          <a:xfrm>
            <a:off x="4974336" y="1627632"/>
            <a:ext cx="6400800" cy="4773168"/>
          </a:xfrm>
          <a:prstGeom prst="roundRect">
            <a:avLst>
              <a:gd name="adj" fmla="val 4000"/>
            </a:avLst>
          </a:prstGeom>
          <a:solidFill>
            <a:srgbClr val="F2F2F2"/>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202936" y="1783080"/>
            <a:ext cx="594360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2  The program</a:t>
            </a:r>
          </a:p>
        </p:txBody>
      </p:sp>
      <p:sp>
        <p:nvSpPr>
          <p:cNvPr id="16" name="TextBox 15"/>
          <p:cNvSpPr txBox="1"/>
          <p:nvPr/>
        </p:nvSpPr>
        <p:spPr>
          <a:xfrm>
            <a:off x="5202936" y="2130552"/>
            <a:ext cx="5943600" cy="4069079"/>
          </a:xfrm>
          <a:prstGeom prst="rect">
            <a:avLst/>
          </a:prstGeom>
          <a:noFill/>
        </p:spPr>
        <p:txBody>
          <a:bodyPr wrap="square" lIns="0" tIns="0" rIns="0" bIns="0" anchor="t">
            <a:spAutoFit/>
          </a:bodyPr>
          <a:lstStyle/>
          <a:p>
            <a:pPr>
              <a:lnSpc>
                <a:spcPct val="100000"/>
              </a:lnSpc>
            </a:pPr>
            <a:r>
              <a:rPr sz="1250" b="0">
                <a:solidFill>
                  <a:srgbClr val="000000"/>
                </a:solidFill>
                <a:latin typeface="Courier New"/>
              </a:rPr>
              <a:t>#include &lt;iostream&gt;</a:t>
            </a:r>
          </a:p>
          <a:p>
            <a:pPr>
              <a:lnSpc>
                <a:spcPct val="100000"/>
              </a:lnSpc>
            </a:pPr>
            <a:r>
              <a:rPr sz="1250" b="0">
                <a:solidFill>
                  <a:srgbClr val="000000"/>
                </a:solidFill>
                <a:latin typeface="Courier New"/>
              </a:rPr>
              <a:t>#include &lt;fstream&gt;</a:t>
            </a:r>
          </a:p>
          <a:p>
            <a:pPr>
              <a:lnSpc>
                <a:spcPct val="100000"/>
              </a:lnSpc>
            </a:pPr>
            <a:r>
              <a:rPr sz="1250" b="0">
                <a:solidFill>
                  <a:srgbClr val="000000"/>
                </a:solidFill>
                <a:latin typeface="Courier New"/>
              </a:rPr>
              <a:t>using namespace std;</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int main() {</a:t>
            </a:r>
          </a:p>
          <a:p>
            <a:pPr>
              <a:lnSpc>
                <a:spcPct val="100000"/>
              </a:lnSpc>
            </a:pPr>
            <a:r>
              <a:rPr sz="1250" b="0">
                <a:solidFill>
                  <a:srgbClr val="000000"/>
                </a:solidFill>
                <a:latin typeface="Courier New"/>
              </a:rPr>
              <a:t>    ifstream inFile("dates.txt");</a:t>
            </a:r>
          </a:p>
          <a:p>
            <a:pPr>
              <a:lnSpc>
                <a:spcPct val="100000"/>
              </a:lnSpc>
            </a:pPr>
            <a:r>
              <a:rPr sz="1250" b="0">
                <a:solidFill>
                  <a:srgbClr val="000000"/>
                </a:solidFill>
                <a:latin typeface="Courier New"/>
              </a:rPr>
              <a:t>    if (!inFile) { cout &lt;&lt; "File not found"; return 1; }</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    int d, m, y;</a:t>
            </a:r>
          </a:p>
          <a:p>
            <a:pPr>
              <a:lnSpc>
                <a:spcPct val="100000"/>
              </a:lnSpc>
            </a:pPr>
            <a:r>
              <a:rPr sz="1250" b="0">
                <a:solidFill>
                  <a:srgbClr val="000000"/>
                </a:solidFill>
                <a:latin typeface="Courier New"/>
              </a:rPr>
              <a:t>    char slash;</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    while (inFile &gt;&gt; d &gt;&gt; slash &gt;&gt; m &gt;&gt; slash &gt;&gt; y) {</a:t>
            </a:r>
          </a:p>
          <a:p>
            <a:pPr>
              <a:lnSpc>
                <a:spcPct val="100000"/>
              </a:lnSpc>
            </a:pPr>
            <a:r>
              <a:rPr sz="1250" b="0">
                <a:solidFill>
                  <a:srgbClr val="000000"/>
                </a:solidFill>
                <a:latin typeface="Courier New"/>
              </a:rPr>
              <a:t>        cout &lt;&lt; "Day " &lt;&lt; d &lt;&lt; ", Month " &lt;&lt; m</a:t>
            </a:r>
          </a:p>
          <a:p>
            <a:pPr>
              <a:lnSpc>
                <a:spcPct val="100000"/>
              </a:lnSpc>
            </a:pPr>
            <a:r>
              <a:rPr sz="1250" b="0">
                <a:solidFill>
                  <a:srgbClr val="000000"/>
                </a:solidFill>
                <a:latin typeface="Courier New"/>
              </a:rPr>
              <a:t>             &lt;&lt; ", Year " &lt;&lt; y &lt;&lt; endl;</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    inFile.close();</a:t>
            </a:r>
          </a:p>
          <a:p>
            <a:pPr>
              <a:lnSpc>
                <a:spcPct val="100000"/>
              </a:lnSpc>
            </a:pPr>
            <a:r>
              <a:rPr sz="1250" b="0">
                <a:solidFill>
                  <a:srgbClr val="000000"/>
                </a:solidFill>
                <a:latin typeface="Courier New"/>
              </a:rPr>
              <a:t>    return 0;</a:t>
            </a:r>
          </a:p>
          <a:p>
            <a:pPr>
              <a:lnSpc>
                <a:spcPct val="100000"/>
              </a:lnSpc>
            </a:pPr>
            <a:r>
              <a:rPr sz="1250" b="0">
                <a:solidFill>
                  <a:srgbClr val="000000"/>
                </a:solidFill>
                <a:latin typeface="Courier New"/>
              </a:rPr>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WORKED EXAMPLE · FORMAT 5 OF 15</a:t>
            </a:r>
            <a:endParaRPr lang="en-US" sz="1200" dirty="0"/>
          </a:p>
        </p:txBody>
      </p:sp>
      <p:sp>
        <p:nvSpPr>
          <p:cNvPr id="3" name="Text 1"/>
          <p:cNvSpPr>
            <a:spLocks noGrp="1"/>
          </p:cNvSpPr>
          <p:nvPr>
            <p:ph type="title"/>
          </p:nvPr>
        </p:nvSpPr>
        <p:spPr>
          <a:xfrm>
            <a:off x="812800" y="924520"/>
            <a:ext cx="67665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Times</a:t>
            </a:r>
            <a:endParaRPr lang="en-US" sz="3200" dirty="0"/>
          </a:p>
        </p:txBody>
      </p:sp>
      <p:sp>
        <p:nvSpPr>
          <p:cNvPr id="4" name="Rounded Rectangle 3"/>
          <p:cNvSpPr/>
          <p:nvPr/>
        </p:nvSpPr>
        <p:spPr>
          <a:xfrm>
            <a:off x="7808975" y="786384"/>
            <a:ext cx="3566160" cy="658368"/>
          </a:xfrm>
          <a:prstGeom prst="roundRect">
            <a:avLst>
              <a:gd name="adj" fmla="val 4000"/>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991855" y="850392"/>
            <a:ext cx="3200400" cy="201168"/>
          </a:xfrm>
          <a:prstGeom prst="rect">
            <a:avLst/>
          </a:prstGeom>
          <a:noFill/>
        </p:spPr>
        <p:txBody>
          <a:bodyPr wrap="square" lIns="0" tIns="0" rIns="0" bIns="0" anchor="t">
            <a:spAutoFit/>
          </a:bodyPr>
          <a:lstStyle/>
          <a:p>
            <a:pPr>
              <a:lnSpc>
                <a:spcPct val="100000"/>
              </a:lnSpc>
            </a:pPr>
            <a:r>
              <a:rPr sz="1000" b="1">
                <a:solidFill>
                  <a:srgbClr val="595959"/>
                </a:solidFill>
                <a:latin typeface="Carlito"/>
              </a:rPr>
              <a:t>FORMAT LOOKS LIKE</a:t>
            </a:r>
          </a:p>
        </p:txBody>
      </p:sp>
      <p:sp>
        <p:nvSpPr>
          <p:cNvPr id="6" name="TextBox 5"/>
          <p:cNvSpPr txBox="1"/>
          <p:nvPr/>
        </p:nvSpPr>
        <p:spPr>
          <a:xfrm>
            <a:off x="7991855" y="1069848"/>
            <a:ext cx="3200400" cy="274320"/>
          </a:xfrm>
          <a:prstGeom prst="rect">
            <a:avLst/>
          </a:prstGeom>
          <a:noFill/>
        </p:spPr>
        <p:txBody>
          <a:bodyPr wrap="square" lIns="0" tIns="0" rIns="0" bIns="0" anchor="t">
            <a:spAutoFit/>
          </a:bodyPr>
          <a:lstStyle/>
          <a:p>
            <a:pPr>
              <a:lnSpc>
                <a:spcPct val="100000"/>
              </a:lnSpc>
            </a:pPr>
            <a:r>
              <a:rPr sz="1500" b="1">
                <a:solidFill>
                  <a:srgbClr val="000000"/>
                </a:solidFill>
                <a:latin typeface="Courier New"/>
              </a:rPr>
              <a:t>09:30</a:t>
            </a:r>
          </a:p>
        </p:txBody>
      </p:sp>
      <p:sp>
        <p:nvSpPr>
          <p:cNvPr id="7" name="Rounded Rectangle 6"/>
          <p:cNvSpPr/>
          <p:nvPr/>
        </p:nvSpPr>
        <p:spPr>
          <a:xfrm>
            <a:off x="813816" y="1627632"/>
            <a:ext cx="3886200" cy="1408176"/>
          </a:xfrm>
          <a:prstGeom prst="roundRect">
            <a:avLst>
              <a:gd name="adj" fmla="val 4000"/>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14984" y="1783080"/>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1  The text file:  times.txt</a:t>
            </a:r>
          </a:p>
        </p:txBody>
      </p:sp>
      <p:sp>
        <p:nvSpPr>
          <p:cNvPr id="9" name="TextBox 8"/>
          <p:cNvSpPr txBox="1"/>
          <p:nvPr/>
        </p:nvSpPr>
        <p:spPr>
          <a:xfrm>
            <a:off x="1014984" y="2103120"/>
            <a:ext cx="3520440" cy="768096"/>
          </a:xfrm>
          <a:prstGeom prst="rect">
            <a:avLst/>
          </a:prstGeom>
          <a:noFill/>
        </p:spPr>
        <p:txBody>
          <a:bodyPr wrap="square" lIns="0" tIns="0" rIns="0" bIns="0" anchor="t">
            <a:spAutoFit/>
          </a:bodyPr>
          <a:lstStyle/>
          <a:p>
            <a:pPr>
              <a:lnSpc>
                <a:spcPct val="100000"/>
              </a:lnSpc>
            </a:pPr>
            <a:r>
              <a:rPr sz="1500" b="0">
                <a:solidFill>
                  <a:srgbClr val="000000"/>
                </a:solidFill>
                <a:latin typeface="Courier New"/>
              </a:rPr>
              <a:t>09:30</a:t>
            </a:r>
          </a:p>
          <a:p>
            <a:pPr>
              <a:lnSpc>
                <a:spcPct val="100000"/>
              </a:lnSpc>
            </a:pPr>
            <a:r>
              <a:rPr sz="1500" b="0">
                <a:solidFill>
                  <a:srgbClr val="000000"/>
                </a:solidFill>
                <a:latin typeface="Courier New"/>
              </a:rPr>
              <a:t>14:05</a:t>
            </a:r>
          </a:p>
          <a:p>
            <a:pPr>
              <a:lnSpc>
                <a:spcPct val="100000"/>
              </a:lnSpc>
            </a:pPr>
            <a:r>
              <a:rPr sz="1500" b="0">
                <a:solidFill>
                  <a:srgbClr val="000000"/>
                </a:solidFill>
                <a:latin typeface="Courier New"/>
              </a:rPr>
              <a:t>23:45</a:t>
            </a:r>
          </a:p>
        </p:txBody>
      </p:sp>
      <p:sp>
        <p:nvSpPr>
          <p:cNvPr id="10" name="Rounded Rectangle 9"/>
          <p:cNvSpPr/>
          <p:nvPr/>
        </p:nvSpPr>
        <p:spPr>
          <a:xfrm>
            <a:off x="813816" y="3264408"/>
            <a:ext cx="3886200" cy="1325880"/>
          </a:xfrm>
          <a:prstGeom prst="roundRect">
            <a:avLst>
              <a:gd name="adj" fmla="val 4000"/>
            </a:avLst>
          </a:prstGeom>
          <a:solidFill>
            <a:srgbClr val="FFFFFF"/>
          </a:solidFill>
          <a:ln w="1905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14984" y="3419856"/>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3  Output on the screen</a:t>
            </a:r>
          </a:p>
        </p:txBody>
      </p:sp>
      <p:sp>
        <p:nvSpPr>
          <p:cNvPr id="12" name="TextBox 11"/>
          <p:cNvSpPr txBox="1"/>
          <p:nvPr/>
        </p:nvSpPr>
        <p:spPr>
          <a:xfrm>
            <a:off x="1014984" y="3739896"/>
            <a:ext cx="3520440" cy="685800"/>
          </a:xfrm>
          <a:prstGeom prst="rect">
            <a:avLst/>
          </a:prstGeom>
          <a:noFill/>
        </p:spPr>
        <p:txBody>
          <a:bodyPr wrap="square" lIns="0" tIns="0" rIns="0" bIns="0" anchor="t">
            <a:spAutoFit/>
          </a:bodyPr>
          <a:lstStyle/>
          <a:p>
            <a:pPr>
              <a:lnSpc>
                <a:spcPct val="100000"/>
              </a:lnSpc>
            </a:pPr>
            <a:r>
              <a:rPr sz="1300" b="0">
                <a:solidFill>
                  <a:srgbClr val="000000"/>
                </a:solidFill>
                <a:latin typeface="Courier New"/>
              </a:rPr>
              <a:t>9 h 30 min = 570 minutes</a:t>
            </a:r>
          </a:p>
          <a:p>
            <a:pPr>
              <a:lnSpc>
                <a:spcPct val="100000"/>
              </a:lnSpc>
            </a:pPr>
            <a:r>
              <a:rPr sz="1300" b="0">
                <a:solidFill>
                  <a:srgbClr val="000000"/>
                </a:solidFill>
                <a:latin typeface="Courier New"/>
              </a:rPr>
              <a:t>14 h 5 min = 845 minutes</a:t>
            </a:r>
          </a:p>
          <a:p>
            <a:pPr>
              <a:lnSpc>
                <a:spcPct val="100000"/>
              </a:lnSpc>
            </a:pPr>
            <a:r>
              <a:rPr sz="1300" b="0">
                <a:solidFill>
                  <a:srgbClr val="000000"/>
                </a:solidFill>
                <a:latin typeface="Courier New"/>
              </a:rPr>
              <a:t>23 h 45 min = 1425 minutes</a:t>
            </a:r>
          </a:p>
        </p:txBody>
      </p:sp>
      <p:sp>
        <p:nvSpPr>
          <p:cNvPr id="13" name="TextBox 12"/>
          <p:cNvSpPr txBox="1"/>
          <p:nvPr/>
        </p:nvSpPr>
        <p:spPr>
          <a:xfrm>
            <a:off x="813816" y="4818888"/>
            <a:ext cx="3886200" cy="1581911"/>
          </a:xfrm>
          <a:prstGeom prst="rect">
            <a:avLst/>
          </a:prstGeom>
          <a:noFill/>
        </p:spPr>
        <p:txBody>
          <a:bodyPr wrap="square" lIns="0" tIns="0" rIns="0" bIns="0" anchor="t">
            <a:spAutoFit/>
          </a:bodyPr>
          <a:lstStyle/>
          <a:p>
            <a:pPr>
              <a:lnSpc>
                <a:spcPct val="100000"/>
              </a:lnSpc>
            </a:pPr>
            <a:r>
              <a:rPr sz="1400" b="1">
                <a:solidFill>
                  <a:srgbClr val="000000"/>
                </a:solidFill>
                <a:latin typeface="Carlito"/>
              </a:rPr>
              <a:t>Key idea: </a:t>
            </a:r>
            <a:r>
              <a:rPr sz="1400" b="0">
                <a:solidFill>
                  <a:srgbClr val="000000"/>
                </a:solidFill>
                <a:latin typeface="Carlito"/>
              </a:rPr>
              <a:t>Same trick as dates: read the : into a char, or skip it: inFile &gt;&gt; h; inFile.ignore(1, ':'); inFile &gt;&gt; mi;</a:t>
            </a:r>
          </a:p>
        </p:txBody>
      </p:sp>
      <p:sp>
        <p:nvSpPr>
          <p:cNvPr id="14" name="Rounded Rectangle 13"/>
          <p:cNvSpPr/>
          <p:nvPr/>
        </p:nvSpPr>
        <p:spPr>
          <a:xfrm>
            <a:off x="4974336" y="1627632"/>
            <a:ext cx="6400800" cy="4773168"/>
          </a:xfrm>
          <a:prstGeom prst="roundRect">
            <a:avLst>
              <a:gd name="adj" fmla="val 4000"/>
            </a:avLst>
          </a:prstGeom>
          <a:solidFill>
            <a:srgbClr val="F2F2F2"/>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202936" y="1783080"/>
            <a:ext cx="594360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2  The program</a:t>
            </a:r>
          </a:p>
        </p:txBody>
      </p:sp>
      <p:sp>
        <p:nvSpPr>
          <p:cNvPr id="16" name="TextBox 15"/>
          <p:cNvSpPr txBox="1"/>
          <p:nvPr/>
        </p:nvSpPr>
        <p:spPr>
          <a:xfrm>
            <a:off x="5202936" y="2130552"/>
            <a:ext cx="5943600" cy="4069079"/>
          </a:xfrm>
          <a:prstGeom prst="rect">
            <a:avLst/>
          </a:prstGeom>
          <a:noFill/>
        </p:spPr>
        <p:txBody>
          <a:bodyPr wrap="square" lIns="0" tIns="0" rIns="0" bIns="0" anchor="t">
            <a:spAutoFit/>
          </a:bodyPr>
          <a:lstStyle/>
          <a:p>
            <a:pPr>
              <a:lnSpc>
                <a:spcPct val="100000"/>
              </a:lnSpc>
            </a:pPr>
            <a:r>
              <a:rPr sz="1250" b="0">
                <a:solidFill>
                  <a:srgbClr val="000000"/>
                </a:solidFill>
                <a:latin typeface="Courier New"/>
              </a:rPr>
              <a:t>#include &lt;iostream&gt;</a:t>
            </a:r>
          </a:p>
          <a:p>
            <a:pPr>
              <a:lnSpc>
                <a:spcPct val="100000"/>
              </a:lnSpc>
            </a:pPr>
            <a:r>
              <a:rPr sz="1250" b="0">
                <a:solidFill>
                  <a:srgbClr val="000000"/>
                </a:solidFill>
                <a:latin typeface="Courier New"/>
              </a:rPr>
              <a:t>#include &lt;fstream&gt;</a:t>
            </a:r>
          </a:p>
          <a:p>
            <a:pPr>
              <a:lnSpc>
                <a:spcPct val="100000"/>
              </a:lnSpc>
            </a:pPr>
            <a:r>
              <a:rPr sz="1250" b="0">
                <a:solidFill>
                  <a:srgbClr val="000000"/>
                </a:solidFill>
                <a:latin typeface="Courier New"/>
              </a:rPr>
              <a:t>using namespace std;</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int main() {</a:t>
            </a:r>
          </a:p>
          <a:p>
            <a:pPr>
              <a:lnSpc>
                <a:spcPct val="100000"/>
              </a:lnSpc>
            </a:pPr>
            <a:r>
              <a:rPr sz="1250" b="0">
                <a:solidFill>
                  <a:srgbClr val="000000"/>
                </a:solidFill>
                <a:latin typeface="Courier New"/>
              </a:rPr>
              <a:t>    ifstream inFile("times.txt");</a:t>
            </a:r>
          </a:p>
          <a:p>
            <a:pPr>
              <a:lnSpc>
                <a:spcPct val="100000"/>
              </a:lnSpc>
            </a:pPr>
            <a:r>
              <a:rPr sz="1250" b="0">
                <a:solidFill>
                  <a:srgbClr val="000000"/>
                </a:solidFill>
                <a:latin typeface="Courier New"/>
              </a:rPr>
              <a:t>    if (!inFile) { cout &lt;&lt; "File not found"; return 1; }</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    int h, mi;</a:t>
            </a:r>
          </a:p>
          <a:p>
            <a:pPr>
              <a:lnSpc>
                <a:spcPct val="100000"/>
              </a:lnSpc>
            </a:pPr>
            <a:r>
              <a:rPr sz="1250" b="0">
                <a:solidFill>
                  <a:srgbClr val="000000"/>
                </a:solidFill>
                <a:latin typeface="Courier New"/>
              </a:rPr>
              <a:t>    char colon;</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    while (inFile &gt;&gt; h &gt;&gt; colon &gt;&gt; mi) {</a:t>
            </a:r>
          </a:p>
          <a:p>
            <a:pPr>
              <a:lnSpc>
                <a:spcPct val="100000"/>
              </a:lnSpc>
            </a:pPr>
            <a:r>
              <a:rPr sz="1250" b="0">
                <a:solidFill>
                  <a:srgbClr val="000000"/>
                </a:solidFill>
                <a:latin typeface="Courier New"/>
              </a:rPr>
              <a:t>        int minutes = h * 60 + mi;</a:t>
            </a:r>
          </a:p>
          <a:p>
            <a:pPr>
              <a:lnSpc>
                <a:spcPct val="100000"/>
              </a:lnSpc>
            </a:pPr>
            <a:r>
              <a:rPr sz="1250" b="0">
                <a:solidFill>
                  <a:srgbClr val="000000"/>
                </a:solidFill>
                <a:latin typeface="Courier New"/>
              </a:rPr>
              <a:t>        cout &lt;&lt; h &lt;&lt; " h " &lt;&lt; mi &lt;&lt; " min = "</a:t>
            </a:r>
          </a:p>
          <a:p>
            <a:pPr>
              <a:lnSpc>
                <a:spcPct val="100000"/>
              </a:lnSpc>
            </a:pPr>
            <a:r>
              <a:rPr sz="1250" b="0">
                <a:solidFill>
                  <a:srgbClr val="000000"/>
                </a:solidFill>
                <a:latin typeface="Courier New"/>
              </a:rPr>
              <a:t>             &lt;&lt; minutes &lt;&lt; " minutes" &lt;&lt; endl;</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    inFile.close();</a:t>
            </a:r>
          </a:p>
          <a:p>
            <a:pPr>
              <a:lnSpc>
                <a:spcPct val="100000"/>
              </a:lnSpc>
            </a:pPr>
            <a:r>
              <a:rPr sz="1250" b="0">
                <a:solidFill>
                  <a:srgbClr val="000000"/>
                </a:solidFill>
                <a:latin typeface="Courier New"/>
              </a:rPr>
              <a:t>    return 0;</a:t>
            </a:r>
          </a:p>
          <a:p>
            <a:pPr>
              <a:lnSpc>
                <a:spcPct val="100000"/>
              </a:lnSpc>
            </a:pPr>
            <a:r>
              <a:rPr sz="1250" b="0">
                <a:solidFill>
                  <a:srgbClr val="000000"/>
                </a:solidFill>
                <a:latin typeface="Courier New"/>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WORKED EXAMPLE · FORMAT 6 OF 15</a:t>
            </a:r>
            <a:endParaRPr lang="en-US" sz="1200" dirty="0"/>
          </a:p>
        </p:txBody>
      </p:sp>
      <p:sp>
        <p:nvSpPr>
          <p:cNvPr id="3" name="Text 1"/>
          <p:cNvSpPr>
            <a:spLocks noGrp="1"/>
          </p:cNvSpPr>
          <p:nvPr>
            <p:ph type="title"/>
          </p:nvPr>
        </p:nvSpPr>
        <p:spPr>
          <a:xfrm>
            <a:off x="812800" y="924520"/>
            <a:ext cx="67665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Expressions</a:t>
            </a:r>
            <a:endParaRPr lang="en-US" sz="3200" dirty="0"/>
          </a:p>
        </p:txBody>
      </p:sp>
      <p:sp>
        <p:nvSpPr>
          <p:cNvPr id="4" name="Rounded Rectangle 3"/>
          <p:cNvSpPr/>
          <p:nvPr/>
        </p:nvSpPr>
        <p:spPr>
          <a:xfrm>
            <a:off x="7808975" y="786384"/>
            <a:ext cx="3566160" cy="658368"/>
          </a:xfrm>
          <a:prstGeom prst="roundRect">
            <a:avLst>
              <a:gd name="adj" fmla="val 4000"/>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991855" y="850392"/>
            <a:ext cx="3200400" cy="201168"/>
          </a:xfrm>
          <a:prstGeom prst="rect">
            <a:avLst/>
          </a:prstGeom>
          <a:noFill/>
        </p:spPr>
        <p:txBody>
          <a:bodyPr wrap="square" lIns="0" tIns="0" rIns="0" bIns="0" anchor="t">
            <a:spAutoFit/>
          </a:bodyPr>
          <a:lstStyle/>
          <a:p>
            <a:pPr>
              <a:lnSpc>
                <a:spcPct val="100000"/>
              </a:lnSpc>
            </a:pPr>
            <a:r>
              <a:rPr sz="1000" b="1">
                <a:solidFill>
                  <a:srgbClr val="595959"/>
                </a:solidFill>
                <a:latin typeface="Carlito"/>
              </a:rPr>
              <a:t>FORMAT LOOKS LIKE</a:t>
            </a:r>
          </a:p>
        </p:txBody>
      </p:sp>
      <p:sp>
        <p:nvSpPr>
          <p:cNvPr id="6" name="TextBox 5"/>
          <p:cNvSpPr txBox="1"/>
          <p:nvPr/>
        </p:nvSpPr>
        <p:spPr>
          <a:xfrm>
            <a:off x="7991855" y="1069848"/>
            <a:ext cx="3200400" cy="274320"/>
          </a:xfrm>
          <a:prstGeom prst="rect">
            <a:avLst/>
          </a:prstGeom>
          <a:noFill/>
        </p:spPr>
        <p:txBody>
          <a:bodyPr wrap="square" lIns="0" tIns="0" rIns="0" bIns="0" anchor="t">
            <a:spAutoFit/>
          </a:bodyPr>
          <a:lstStyle/>
          <a:p>
            <a:pPr>
              <a:lnSpc>
                <a:spcPct val="100000"/>
              </a:lnSpc>
            </a:pPr>
            <a:r>
              <a:rPr sz="1500" b="1">
                <a:solidFill>
                  <a:srgbClr val="000000"/>
                </a:solidFill>
                <a:latin typeface="Courier New"/>
              </a:rPr>
              <a:t>12 + 7</a:t>
            </a:r>
          </a:p>
        </p:txBody>
      </p:sp>
      <p:sp>
        <p:nvSpPr>
          <p:cNvPr id="7" name="Rounded Rectangle 6"/>
          <p:cNvSpPr/>
          <p:nvPr/>
        </p:nvSpPr>
        <p:spPr>
          <a:xfrm>
            <a:off x="813816" y="1627632"/>
            <a:ext cx="3886200" cy="1664208"/>
          </a:xfrm>
          <a:prstGeom prst="roundRect">
            <a:avLst>
              <a:gd name="adj" fmla="val 4000"/>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14984" y="1783080"/>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1  The text file:  sums.txt</a:t>
            </a:r>
          </a:p>
        </p:txBody>
      </p:sp>
      <p:sp>
        <p:nvSpPr>
          <p:cNvPr id="9" name="TextBox 8"/>
          <p:cNvSpPr txBox="1"/>
          <p:nvPr/>
        </p:nvSpPr>
        <p:spPr>
          <a:xfrm>
            <a:off x="1014984" y="2103120"/>
            <a:ext cx="3520440" cy="1024128"/>
          </a:xfrm>
          <a:prstGeom prst="rect">
            <a:avLst/>
          </a:prstGeom>
          <a:noFill/>
        </p:spPr>
        <p:txBody>
          <a:bodyPr wrap="square" lIns="0" tIns="0" rIns="0" bIns="0" anchor="t">
            <a:spAutoFit/>
          </a:bodyPr>
          <a:lstStyle/>
          <a:p>
            <a:pPr>
              <a:lnSpc>
                <a:spcPct val="100000"/>
              </a:lnSpc>
            </a:pPr>
            <a:r>
              <a:rPr sz="1500" b="0">
                <a:solidFill>
                  <a:srgbClr val="000000"/>
                </a:solidFill>
                <a:latin typeface="Courier New"/>
              </a:rPr>
              <a:t>12 + 7</a:t>
            </a:r>
          </a:p>
          <a:p>
            <a:pPr>
              <a:lnSpc>
                <a:spcPct val="100000"/>
              </a:lnSpc>
            </a:pPr>
            <a:r>
              <a:rPr sz="1500" b="0">
                <a:solidFill>
                  <a:srgbClr val="000000"/>
                </a:solidFill>
                <a:latin typeface="Courier New"/>
              </a:rPr>
              <a:t>20 * 3</a:t>
            </a:r>
          </a:p>
          <a:p>
            <a:pPr>
              <a:lnSpc>
                <a:spcPct val="100000"/>
              </a:lnSpc>
            </a:pPr>
            <a:r>
              <a:rPr sz="1500" b="0">
                <a:solidFill>
                  <a:srgbClr val="000000"/>
                </a:solidFill>
                <a:latin typeface="Courier New"/>
              </a:rPr>
              <a:t>15 - 4</a:t>
            </a:r>
          </a:p>
          <a:p>
            <a:pPr>
              <a:lnSpc>
                <a:spcPct val="100000"/>
              </a:lnSpc>
            </a:pPr>
            <a:r>
              <a:rPr sz="1500" b="0">
                <a:solidFill>
                  <a:srgbClr val="000000"/>
                </a:solidFill>
                <a:latin typeface="Courier New"/>
              </a:rPr>
              <a:t>18 / 6</a:t>
            </a:r>
          </a:p>
        </p:txBody>
      </p:sp>
      <p:sp>
        <p:nvSpPr>
          <p:cNvPr id="10" name="Rounded Rectangle 9"/>
          <p:cNvSpPr/>
          <p:nvPr/>
        </p:nvSpPr>
        <p:spPr>
          <a:xfrm>
            <a:off x="813816" y="3520440"/>
            <a:ext cx="3886200" cy="1554480"/>
          </a:xfrm>
          <a:prstGeom prst="roundRect">
            <a:avLst>
              <a:gd name="adj" fmla="val 4000"/>
            </a:avLst>
          </a:prstGeom>
          <a:solidFill>
            <a:srgbClr val="FFFFFF"/>
          </a:solidFill>
          <a:ln w="1905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14984" y="3675888"/>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3  Output on the screen</a:t>
            </a:r>
          </a:p>
        </p:txBody>
      </p:sp>
      <p:sp>
        <p:nvSpPr>
          <p:cNvPr id="12" name="TextBox 11"/>
          <p:cNvSpPr txBox="1"/>
          <p:nvPr/>
        </p:nvSpPr>
        <p:spPr>
          <a:xfrm>
            <a:off x="1014984" y="3995928"/>
            <a:ext cx="3520440" cy="914400"/>
          </a:xfrm>
          <a:prstGeom prst="rect">
            <a:avLst/>
          </a:prstGeom>
          <a:noFill/>
        </p:spPr>
        <p:txBody>
          <a:bodyPr wrap="square" lIns="0" tIns="0" rIns="0" bIns="0" anchor="t">
            <a:spAutoFit/>
          </a:bodyPr>
          <a:lstStyle/>
          <a:p>
            <a:pPr>
              <a:lnSpc>
                <a:spcPct val="100000"/>
              </a:lnSpc>
            </a:pPr>
            <a:r>
              <a:rPr sz="1300" b="0">
                <a:solidFill>
                  <a:srgbClr val="000000"/>
                </a:solidFill>
                <a:latin typeface="Courier New"/>
              </a:rPr>
              <a:t>12 + 7 = 19</a:t>
            </a:r>
          </a:p>
          <a:p>
            <a:pPr>
              <a:lnSpc>
                <a:spcPct val="100000"/>
              </a:lnSpc>
            </a:pPr>
            <a:r>
              <a:rPr sz="1300" b="0">
                <a:solidFill>
                  <a:srgbClr val="000000"/>
                </a:solidFill>
                <a:latin typeface="Courier New"/>
              </a:rPr>
              <a:t>20 * 3 = 60</a:t>
            </a:r>
          </a:p>
          <a:p>
            <a:pPr>
              <a:lnSpc>
                <a:spcPct val="100000"/>
              </a:lnSpc>
            </a:pPr>
            <a:r>
              <a:rPr sz="1300" b="0">
                <a:solidFill>
                  <a:srgbClr val="000000"/>
                </a:solidFill>
                <a:latin typeface="Courier New"/>
              </a:rPr>
              <a:t>15 - 4 = 11</a:t>
            </a:r>
          </a:p>
          <a:p>
            <a:pPr>
              <a:lnSpc>
                <a:spcPct val="100000"/>
              </a:lnSpc>
            </a:pPr>
            <a:r>
              <a:rPr sz="1300" b="0">
                <a:solidFill>
                  <a:srgbClr val="000000"/>
                </a:solidFill>
                <a:latin typeface="Courier New"/>
              </a:rPr>
              <a:t>18 / 6 = 3</a:t>
            </a:r>
          </a:p>
        </p:txBody>
      </p:sp>
      <p:sp>
        <p:nvSpPr>
          <p:cNvPr id="13" name="TextBox 12"/>
          <p:cNvSpPr txBox="1"/>
          <p:nvPr/>
        </p:nvSpPr>
        <p:spPr>
          <a:xfrm>
            <a:off x="813816" y="5303520"/>
            <a:ext cx="3886200" cy="1097279"/>
          </a:xfrm>
          <a:prstGeom prst="rect">
            <a:avLst/>
          </a:prstGeom>
          <a:noFill/>
        </p:spPr>
        <p:txBody>
          <a:bodyPr wrap="square" lIns="0" tIns="0" rIns="0" bIns="0" anchor="t">
            <a:spAutoFit/>
          </a:bodyPr>
          <a:lstStyle/>
          <a:p>
            <a:pPr>
              <a:lnSpc>
                <a:spcPct val="100000"/>
              </a:lnSpc>
            </a:pPr>
            <a:r>
              <a:rPr sz="1400" b="1">
                <a:solidFill>
                  <a:srgbClr val="000000"/>
                </a:solidFill>
                <a:latin typeface="Carlito"/>
              </a:rPr>
              <a:t>Key idea: </a:t>
            </a:r>
            <a:r>
              <a:rPr sz="1400" b="0">
                <a:solidFill>
                  <a:srgbClr val="000000"/>
                </a:solidFill>
                <a:latin typeface="Carlito"/>
              </a:rPr>
              <a:t>Number, char, number. The char op decides what to do.</a:t>
            </a:r>
          </a:p>
        </p:txBody>
      </p:sp>
      <p:sp>
        <p:nvSpPr>
          <p:cNvPr id="14" name="Rounded Rectangle 13"/>
          <p:cNvSpPr/>
          <p:nvPr/>
        </p:nvSpPr>
        <p:spPr>
          <a:xfrm>
            <a:off x="4974336" y="1627632"/>
            <a:ext cx="6400800" cy="4773168"/>
          </a:xfrm>
          <a:prstGeom prst="roundRect">
            <a:avLst>
              <a:gd name="adj" fmla="val 4000"/>
            </a:avLst>
          </a:prstGeom>
          <a:solidFill>
            <a:srgbClr val="F2F2F2"/>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202936" y="1783080"/>
            <a:ext cx="594360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2  The program</a:t>
            </a:r>
          </a:p>
        </p:txBody>
      </p:sp>
      <p:sp>
        <p:nvSpPr>
          <p:cNvPr id="16" name="TextBox 15"/>
          <p:cNvSpPr txBox="1"/>
          <p:nvPr/>
        </p:nvSpPr>
        <p:spPr>
          <a:xfrm>
            <a:off x="5202936" y="2130552"/>
            <a:ext cx="5943600" cy="4069079"/>
          </a:xfrm>
          <a:prstGeom prst="rect">
            <a:avLst/>
          </a:prstGeom>
          <a:noFill/>
        </p:spPr>
        <p:txBody>
          <a:bodyPr wrap="square" lIns="0" tIns="0" rIns="0" bIns="0" anchor="t">
            <a:spAutoFit/>
          </a:bodyPr>
          <a:lstStyle/>
          <a:p>
            <a:pPr>
              <a:lnSpc>
                <a:spcPct val="100000"/>
              </a:lnSpc>
            </a:pPr>
            <a:r>
              <a:rPr sz="1150" b="0">
                <a:solidFill>
                  <a:srgbClr val="000000"/>
                </a:solidFill>
                <a:latin typeface="Courier New"/>
              </a:rPr>
              <a:t>#include &lt;iostream&gt;</a:t>
            </a:r>
          </a:p>
          <a:p>
            <a:pPr>
              <a:lnSpc>
                <a:spcPct val="100000"/>
              </a:lnSpc>
            </a:pPr>
            <a:r>
              <a:rPr sz="1150" b="0">
                <a:solidFill>
                  <a:srgbClr val="000000"/>
                </a:solidFill>
                <a:latin typeface="Courier New"/>
              </a:rPr>
              <a:t>#include &lt;fstream&gt;</a:t>
            </a:r>
          </a:p>
          <a:p>
            <a:pPr>
              <a:lnSpc>
                <a:spcPct val="100000"/>
              </a:lnSpc>
            </a:pPr>
            <a:r>
              <a:rPr sz="1150" b="0">
                <a:solidFill>
                  <a:srgbClr val="000000"/>
                </a:solidFill>
                <a:latin typeface="Courier New"/>
              </a:rPr>
              <a:t>using namespace std;</a:t>
            </a:r>
          </a:p>
          <a:p>
            <a:pPr>
              <a:lnSpc>
                <a:spcPct val="100000"/>
              </a:lnSpc>
            </a:pPr>
            <a:r>
              <a:rPr sz="1150" b="0">
                <a:solidFill>
                  <a:srgbClr val="000000"/>
                </a:solidFill>
                <a:latin typeface="Courier New"/>
              </a:rPr>
              <a:t> </a:t>
            </a:r>
          </a:p>
          <a:p>
            <a:pPr>
              <a:lnSpc>
                <a:spcPct val="100000"/>
              </a:lnSpc>
            </a:pPr>
            <a:r>
              <a:rPr sz="1150" b="0">
                <a:solidFill>
                  <a:srgbClr val="000000"/>
                </a:solidFill>
                <a:latin typeface="Courier New"/>
              </a:rPr>
              <a:t>int main() {</a:t>
            </a:r>
          </a:p>
          <a:p>
            <a:pPr>
              <a:lnSpc>
                <a:spcPct val="100000"/>
              </a:lnSpc>
            </a:pPr>
            <a:r>
              <a:rPr sz="1150" b="0">
                <a:solidFill>
                  <a:srgbClr val="000000"/>
                </a:solidFill>
                <a:latin typeface="Courier New"/>
              </a:rPr>
              <a:t>    ifstream inFile("sums.txt");</a:t>
            </a:r>
          </a:p>
          <a:p>
            <a:pPr>
              <a:lnSpc>
                <a:spcPct val="100000"/>
              </a:lnSpc>
            </a:pPr>
            <a:r>
              <a:rPr sz="1150" b="0">
                <a:solidFill>
                  <a:srgbClr val="000000"/>
                </a:solidFill>
                <a:latin typeface="Courier New"/>
              </a:rPr>
              <a:t>    if (!inFile) { cout &lt;&lt; "File not found"; return 1; }</a:t>
            </a:r>
          </a:p>
          <a:p>
            <a:pPr>
              <a:lnSpc>
                <a:spcPct val="100000"/>
              </a:lnSpc>
            </a:pPr>
            <a:r>
              <a:rPr sz="1150" b="0">
                <a:solidFill>
                  <a:srgbClr val="000000"/>
                </a:solidFill>
                <a:latin typeface="Courier New"/>
              </a:rPr>
              <a:t> </a:t>
            </a:r>
          </a:p>
          <a:p>
            <a:pPr>
              <a:lnSpc>
                <a:spcPct val="100000"/>
              </a:lnSpc>
            </a:pPr>
            <a:r>
              <a:rPr sz="1150" b="0">
                <a:solidFill>
                  <a:srgbClr val="000000"/>
                </a:solidFill>
                <a:latin typeface="Courier New"/>
              </a:rPr>
              <a:t>    int a, b;</a:t>
            </a:r>
          </a:p>
          <a:p>
            <a:pPr>
              <a:lnSpc>
                <a:spcPct val="100000"/>
              </a:lnSpc>
            </a:pPr>
            <a:r>
              <a:rPr sz="1150" b="0">
                <a:solidFill>
                  <a:srgbClr val="000000"/>
                </a:solidFill>
                <a:latin typeface="Courier New"/>
              </a:rPr>
              <a:t>    char op;</a:t>
            </a:r>
          </a:p>
          <a:p>
            <a:pPr>
              <a:lnSpc>
                <a:spcPct val="100000"/>
              </a:lnSpc>
            </a:pPr>
            <a:r>
              <a:rPr sz="1150" b="0">
                <a:solidFill>
                  <a:srgbClr val="000000"/>
                </a:solidFill>
                <a:latin typeface="Courier New"/>
              </a:rPr>
              <a:t> </a:t>
            </a:r>
          </a:p>
          <a:p>
            <a:pPr>
              <a:lnSpc>
                <a:spcPct val="100000"/>
              </a:lnSpc>
            </a:pPr>
            <a:r>
              <a:rPr sz="1150" b="0">
                <a:solidFill>
                  <a:srgbClr val="000000"/>
                </a:solidFill>
                <a:latin typeface="Courier New"/>
              </a:rPr>
              <a:t>    while (inFile &gt;&gt; a &gt;&gt; op &gt;&gt; b) {</a:t>
            </a:r>
          </a:p>
          <a:p>
            <a:pPr>
              <a:lnSpc>
                <a:spcPct val="100000"/>
              </a:lnSpc>
            </a:pPr>
            <a:r>
              <a:rPr sz="1150" b="0">
                <a:solidFill>
                  <a:srgbClr val="000000"/>
                </a:solidFill>
                <a:latin typeface="Courier New"/>
              </a:rPr>
              <a:t>        cout &lt;&lt; a &lt;&lt; " " &lt;&lt; op &lt;&lt; " " &lt;&lt; b &lt;&lt; " = ";</a:t>
            </a:r>
          </a:p>
          <a:p>
            <a:pPr>
              <a:lnSpc>
                <a:spcPct val="100000"/>
              </a:lnSpc>
            </a:pPr>
            <a:r>
              <a:rPr sz="1150" b="0">
                <a:solidFill>
                  <a:srgbClr val="000000"/>
                </a:solidFill>
                <a:latin typeface="Courier New"/>
              </a:rPr>
              <a:t>        switch (op) {</a:t>
            </a:r>
          </a:p>
          <a:p>
            <a:pPr>
              <a:lnSpc>
                <a:spcPct val="100000"/>
              </a:lnSpc>
            </a:pPr>
            <a:r>
              <a:rPr sz="1150" b="0">
                <a:solidFill>
                  <a:srgbClr val="000000"/>
                </a:solidFill>
                <a:latin typeface="Courier New"/>
              </a:rPr>
              <a:t>            case '+': cout &lt;&lt; a + b; break;</a:t>
            </a:r>
          </a:p>
          <a:p>
            <a:pPr>
              <a:lnSpc>
                <a:spcPct val="100000"/>
              </a:lnSpc>
            </a:pPr>
            <a:r>
              <a:rPr sz="1150" b="0">
                <a:solidFill>
                  <a:srgbClr val="000000"/>
                </a:solidFill>
                <a:latin typeface="Courier New"/>
              </a:rPr>
              <a:t>            case '-': cout &lt;&lt; a - b; break;</a:t>
            </a:r>
          </a:p>
          <a:p>
            <a:pPr>
              <a:lnSpc>
                <a:spcPct val="100000"/>
              </a:lnSpc>
            </a:pPr>
            <a:r>
              <a:rPr sz="1150" b="0">
                <a:solidFill>
                  <a:srgbClr val="000000"/>
                </a:solidFill>
                <a:latin typeface="Courier New"/>
              </a:rPr>
              <a:t>            case '*': cout &lt;&lt; a * b; break;</a:t>
            </a:r>
          </a:p>
          <a:p>
            <a:pPr>
              <a:lnSpc>
                <a:spcPct val="100000"/>
              </a:lnSpc>
            </a:pPr>
            <a:r>
              <a:rPr sz="1150" b="0">
                <a:solidFill>
                  <a:srgbClr val="000000"/>
                </a:solidFill>
                <a:latin typeface="Courier New"/>
              </a:rPr>
              <a:t>            case '/': cout &lt;&lt; a / b; break;</a:t>
            </a:r>
          </a:p>
          <a:p>
            <a:pPr>
              <a:lnSpc>
                <a:spcPct val="100000"/>
              </a:lnSpc>
            </a:pPr>
            <a:r>
              <a:rPr sz="1150" b="0">
                <a:solidFill>
                  <a:srgbClr val="000000"/>
                </a:solidFill>
                <a:latin typeface="Courier New"/>
              </a:rPr>
              <a:t>        }</a:t>
            </a:r>
          </a:p>
          <a:p>
            <a:pPr>
              <a:lnSpc>
                <a:spcPct val="100000"/>
              </a:lnSpc>
            </a:pPr>
            <a:r>
              <a:rPr sz="1150" b="0">
                <a:solidFill>
                  <a:srgbClr val="000000"/>
                </a:solidFill>
                <a:latin typeface="Courier New"/>
              </a:rPr>
              <a:t>        cout &lt;&lt; endl;</a:t>
            </a:r>
          </a:p>
          <a:p>
            <a:pPr>
              <a:lnSpc>
                <a:spcPct val="100000"/>
              </a:lnSpc>
            </a:pPr>
            <a:r>
              <a:rPr sz="1150" b="0">
                <a:solidFill>
                  <a:srgbClr val="000000"/>
                </a:solidFill>
                <a:latin typeface="Courier New"/>
              </a:rPr>
              <a:t>    }</a:t>
            </a:r>
          </a:p>
          <a:p>
            <a:pPr>
              <a:lnSpc>
                <a:spcPct val="100000"/>
              </a:lnSpc>
            </a:pPr>
            <a:r>
              <a:rPr sz="1150" b="0">
                <a:solidFill>
                  <a:srgbClr val="000000"/>
                </a:solidFill>
                <a:latin typeface="Courier New"/>
              </a:rPr>
              <a:t>    inFile.close();</a:t>
            </a:r>
          </a:p>
          <a:p>
            <a:pPr>
              <a:lnSpc>
                <a:spcPct val="100000"/>
              </a:lnSpc>
            </a:pPr>
            <a:r>
              <a:rPr sz="1150" b="0">
                <a:solidFill>
                  <a:srgbClr val="000000"/>
                </a:solidFill>
                <a:latin typeface="Courier New"/>
              </a:rPr>
              <a:t>    return 0;</a:t>
            </a:r>
          </a:p>
          <a:p>
            <a:pPr>
              <a:lnSpc>
                <a:spcPct val="100000"/>
              </a:lnSpc>
            </a:pPr>
            <a:r>
              <a:rPr sz="1150" b="0">
                <a:solidFill>
                  <a:srgbClr val="000000"/>
                </a:solidFill>
                <a:latin typeface="Courier New"/>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WORKED EXAMPLE · FORMAT 7 OF 15</a:t>
            </a:r>
            <a:endParaRPr lang="en-US" sz="1200" dirty="0"/>
          </a:p>
        </p:txBody>
      </p:sp>
      <p:sp>
        <p:nvSpPr>
          <p:cNvPr id="3" name="Text 1"/>
          <p:cNvSpPr>
            <a:spLocks noGrp="1"/>
          </p:cNvSpPr>
          <p:nvPr>
            <p:ph type="title"/>
          </p:nvPr>
        </p:nvSpPr>
        <p:spPr>
          <a:xfrm>
            <a:off x="812800" y="924520"/>
            <a:ext cx="67665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Number, letter, number</a:t>
            </a:r>
            <a:endParaRPr lang="en-US" sz="3200" dirty="0"/>
          </a:p>
        </p:txBody>
      </p:sp>
      <p:sp>
        <p:nvSpPr>
          <p:cNvPr id="4" name="Rounded Rectangle 3"/>
          <p:cNvSpPr/>
          <p:nvPr/>
        </p:nvSpPr>
        <p:spPr>
          <a:xfrm>
            <a:off x="7808975" y="786384"/>
            <a:ext cx="3566160" cy="658368"/>
          </a:xfrm>
          <a:prstGeom prst="roundRect">
            <a:avLst>
              <a:gd name="adj" fmla="val 4000"/>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991855" y="850392"/>
            <a:ext cx="3200400" cy="201168"/>
          </a:xfrm>
          <a:prstGeom prst="rect">
            <a:avLst/>
          </a:prstGeom>
          <a:noFill/>
        </p:spPr>
        <p:txBody>
          <a:bodyPr wrap="square" lIns="0" tIns="0" rIns="0" bIns="0" anchor="t">
            <a:spAutoFit/>
          </a:bodyPr>
          <a:lstStyle/>
          <a:p>
            <a:pPr>
              <a:lnSpc>
                <a:spcPct val="100000"/>
              </a:lnSpc>
            </a:pPr>
            <a:r>
              <a:rPr sz="1000" b="1">
                <a:solidFill>
                  <a:srgbClr val="595959"/>
                </a:solidFill>
                <a:latin typeface="Carlito"/>
              </a:rPr>
              <a:t>FORMAT LOOKS LIKE</a:t>
            </a:r>
          </a:p>
        </p:txBody>
      </p:sp>
      <p:sp>
        <p:nvSpPr>
          <p:cNvPr id="6" name="TextBox 5"/>
          <p:cNvSpPr txBox="1"/>
          <p:nvPr/>
        </p:nvSpPr>
        <p:spPr>
          <a:xfrm>
            <a:off x="7991855" y="1069848"/>
            <a:ext cx="3200400" cy="274320"/>
          </a:xfrm>
          <a:prstGeom prst="rect">
            <a:avLst/>
          </a:prstGeom>
          <a:noFill/>
        </p:spPr>
        <p:txBody>
          <a:bodyPr wrap="square" lIns="0" tIns="0" rIns="0" bIns="0" anchor="t">
            <a:spAutoFit/>
          </a:bodyPr>
          <a:lstStyle/>
          <a:p>
            <a:pPr>
              <a:lnSpc>
                <a:spcPct val="100000"/>
              </a:lnSpc>
            </a:pPr>
            <a:r>
              <a:rPr sz="1500" b="1">
                <a:solidFill>
                  <a:srgbClr val="000000"/>
                </a:solidFill>
                <a:latin typeface="Courier New"/>
              </a:rPr>
              <a:t>101 A 85</a:t>
            </a:r>
          </a:p>
        </p:txBody>
      </p:sp>
      <p:sp>
        <p:nvSpPr>
          <p:cNvPr id="7" name="Rounded Rectangle 6"/>
          <p:cNvSpPr/>
          <p:nvPr/>
        </p:nvSpPr>
        <p:spPr>
          <a:xfrm>
            <a:off x="813816" y="1627632"/>
            <a:ext cx="3886200" cy="1408176"/>
          </a:xfrm>
          <a:prstGeom prst="roundRect">
            <a:avLst>
              <a:gd name="adj" fmla="val 4000"/>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14984" y="1783080"/>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1  The text file:  results.txt</a:t>
            </a:r>
          </a:p>
        </p:txBody>
      </p:sp>
      <p:sp>
        <p:nvSpPr>
          <p:cNvPr id="9" name="TextBox 8"/>
          <p:cNvSpPr txBox="1"/>
          <p:nvPr/>
        </p:nvSpPr>
        <p:spPr>
          <a:xfrm>
            <a:off x="1014984" y="2103120"/>
            <a:ext cx="3520440" cy="768096"/>
          </a:xfrm>
          <a:prstGeom prst="rect">
            <a:avLst/>
          </a:prstGeom>
          <a:noFill/>
        </p:spPr>
        <p:txBody>
          <a:bodyPr wrap="square" lIns="0" tIns="0" rIns="0" bIns="0" anchor="t">
            <a:spAutoFit/>
          </a:bodyPr>
          <a:lstStyle/>
          <a:p>
            <a:pPr>
              <a:lnSpc>
                <a:spcPct val="100000"/>
              </a:lnSpc>
            </a:pPr>
            <a:r>
              <a:rPr sz="1500" b="0">
                <a:solidFill>
                  <a:srgbClr val="000000"/>
                </a:solidFill>
                <a:latin typeface="Courier New"/>
              </a:rPr>
              <a:t>101 A 85</a:t>
            </a:r>
          </a:p>
          <a:p>
            <a:pPr>
              <a:lnSpc>
                <a:spcPct val="100000"/>
              </a:lnSpc>
            </a:pPr>
            <a:r>
              <a:rPr sz="1500" b="0">
                <a:solidFill>
                  <a:srgbClr val="000000"/>
                </a:solidFill>
                <a:latin typeface="Courier New"/>
              </a:rPr>
              <a:t>102 B 72</a:t>
            </a:r>
          </a:p>
          <a:p>
            <a:pPr>
              <a:lnSpc>
                <a:spcPct val="100000"/>
              </a:lnSpc>
            </a:pPr>
            <a:r>
              <a:rPr sz="1500" b="0">
                <a:solidFill>
                  <a:srgbClr val="000000"/>
                </a:solidFill>
                <a:latin typeface="Courier New"/>
              </a:rPr>
              <a:t>103 A 91</a:t>
            </a:r>
          </a:p>
        </p:txBody>
      </p:sp>
      <p:sp>
        <p:nvSpPr>
          <p:cNvPr id="10" name="Rounded Rectangle 9"/>
          <p:cNvSpPr/>
          <p:nvPr/>
        </p:nvSpPr>
        <p:spPr>
          <a:xfrm>
            <a:off x="813816" y="3264408"/>
            <a:ext cx="3886200" cy="1783080"/>
          </a:xfrm>
          <a:prstGeom prst="roundRect">
            <a:avLst>
              <a:gd name="adj" fmla="val 4000"/>
            </a:avLst>
          </a:prstGeom>
          <a:solidFill>
            <a:srgbClr val="FFFFFF"/>
          </a:solidFill>
          <a:ln w="1905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14984" y="3419856"/>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3  Output on the screen</a:t>
            </a:r>
          </a:p>
        </p:txBody>
      </p:sp>
      <p:sp>
        <p:nvSpPr>
          <p:cNvPr id="12" name="TextBox 11"/>
          <p:cNvSpPr txBox="1"/>
          <p:nvPr/>
        </p:nvSpPr>
        <p:spPr>
          <a:xfrm>
            <a:off x="1014984" y="3739896"/>
            <a:ext cx="3520440" cy="1143000"/>
          </a:xfrm>
          <a:prstGeom prst="rect">
            <a:avLst/>
          </a:prstGeom>
          <a:noFill/>
        </p:spPr>
        <p:txBody>
          <a:bodyPr wrap="square" lIns="0" tIns="0" rIns="0" bIns="0" anchor="t">
            <a:spAutoFit/>
          </a:bodyPr>
          <a:lstStyle/>
          <a:p>
            <a:pPr>
              <a:lnSpc>
                <a:spcPct val="100000"/>
              </a:lnSpc>
            </a:pPr>
            <a:r>
              <a:rPr sz="1300" b="0">
                <a:solidFill>
                  <a:srgbClr val="000000"/>
                </a:solidFill>
                <a:latin typeface="Courier New"/>
              </a:rPr>
              <a:t>Roll  Grade  Marks</a:t>
            </a:r>
          </a:p>
          <a:p>
            <a:pPr>
              <a:lnSpc>
                <a:spcPct val="100000"/>
              </a:lnSpc>
            </a:pPr>
            <a:r>
              <a:rPr sz="1300" b="0">
                <a:solidFill>
                  <a:srgbClr val="000000"/>
                </a:solidFill>
                <a:latin typeface="Courier New"/>
              </a:rPr>
              <a:t>101    A      85</a:t>
            </a:r>
          </a:p>
          <a:p>
            <a:pPr>
              <a:lnSpc>
                <a:spcPct val="100000"/>
              </a:lnSpc>
            </a:pPr>
            <a:r>
              <a:rPr sz="1300" b="0">
                <a:solidFill>
                  <a:srgbClr val="000000"/>
                </a:solidFill>
                <a:latin typeface="Courier New"/>
              </a:rPr>
              <a:t>102    B      72</a:t>
            </a:r>
          </a:p>
          <a:p>
            <a:pPr>
              <a:lnSpc>
                <a:spcPct val="100000"/>
              </a:lnSpc>
            </a:pPr>
            <a:r>
              <a:rPr sz="1300" b="0">
                <a:solidFill>
                  <a:srgbClr val="000000"/>
                </a:solidFill>
                <a:latin typeface="Courier New"/>
              </a:rPr>
              <a:t>103    A      91</a:t>
            </a:r>
          </a:p>
          <a:p>
            <a:pPr>
              <a:lnSpc>
                <a:spcPct val="100000"/>
              </a:lnSpc>
            </a:pPr>
            <a:r>
              <a:rPr sz="1300" b="0">
                <a:solidFill>
                  <a:srgbClr val="000000"/>
                </a:solidFill>
                <a:latin typeface="Courier New"/>
              </a:rPr>
              <a:t>Students with A: 2</a:t>
            </a:r>
          </a:p>
        </p:txBody>
      </p:sp>
      <p:sp>
        <p:nvSpPr>
          <p:cNvPr id="13" name="TextBox 12"/>
          <p:cNvSpPr txBox="1"/>
          <p:nvPr/>
        </p:nvSpPr>
        <p:spPr>
          <a:xfrm>
            <a:off x="813816" y="5276088"/>
            <a:ext cx="3886200" cy="1124711"/>
          </a:xfrm>
          <a:prstGeom prst="rect">
            <a:avLst/>
          </a:prstGeom>
          <a:noFill/>
        </p:spPr>
        <p:txBody>
          <a:bodyPr wrap="square" lIns="0" tIns="0" rIns="0" bIns="0" anchor="t">
            <a:spAutoFit/>
          </a:bodyPr>
          <a:lstStyle/>
          <a:p>
            <a:pPr>
              <a:lnSpc>
                <a:spcPct val="100000"/>
              </a:lnSpc>
            </a:pPr>
            <a:r>
              <a:rPr sz="1400" b="1">
                <a:solidFill>
                  <a:srgbClr val="000000"/>
                </a:solidFill>
                <a:latin typeface="Carlito"/>
              </a:rPr>
              <a:t>Key idea: </a:t>
            </a:r>
            <a:r>
              <a:rPr sz="1400" b="0">
                <a:solidFill>
                  <a:srgbClr val="000000"/>
                </a:solidFill>
                <a:latin typeface="Carlito"/>
              </a:rPr>
              <a:t>Parallel arrays: the same index belongs to the same student.</a:t>
            </a:r>
          </a:p>
        </p:txBody>
      </p:sp>
      <p:sp>
        <p:nvSpPr>
          <p:cNvPr id="14" name="Rounded Rectangle 13"/>
          <p:cNvSpPr/>
          <p:nvPr/>
        </p:nvSpPr>
        <p:spPr>
          <a:xfrm>
            <a:off x="4974336" y="1627632"/>
            <a:ext cx="6400800" cy="4773168"/>
          </a:xfrm>
          <a:prstGeom prst="roundRect">
            <a:avLst>
              <a:gd name="adj" fmla="val 4000"/>
            </a:avLst>
          </a:prstGeom>
          <a:solidFill>
            <a:srgbClr val="F2F2F2"/>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202936" y="1783080"/>
            <a:ext cx="594360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2  The program</a:t>
            </a:r>
          </a:p>
        </p:txBody>
      </p:sp>
      <p:sp>
        <p:nvSpPr>
          <p:cNvPr id="16" name="TextBox 15"/>
          <p:cNvSpPr txBox="1"/>
          <p:nvPr/>
        </p:nvSpPr>
        <p:spPr>
          <a:xfrm>
            <a:off x="5202936" y="2130552"/>
            <a:ext cx="5943600" cy="4069079"/>
          </a:xfrm>
          <a:prstGeom prst="rect">
            <a:avLst/>
          </a:prstGeom>
          <a:noFill/>
        </p:spPr>
        <p:txBody>
          <a:bodyPr wrap="square" lIns="0" tIns="0" rIns="0" bIns="0" anchor="t">
            <a:spAutoFit/>
          </a:bodyPr>
          <a:lstStyle/>
          <a:p>
            <a:pPr>
              <a:lnSpc>
                <a:spcPct val="100000"/>
              </a:lnSpc>
            </a:pPr>
            <a:r>
              <a:rPr sz="1150" b="0">
                <a:solidFill>
                  <a:srgbClr val="000000"/>
                </a:solidFill>
                <a:latin typeface="Courier New"/>
              </a:rPr>
              <a:t>#include &lt;iostream&gt;</a:t>
            </a:r>
          </a:p>
          <a:p>
            <a:pPr>
              <a:lnSpc>
                <a:spcPct val="100000"/>
              </a:lnSpc>
            </a:pPr>
            <a:r>
              <a:rPr sz="1150" b="0">
                <a:solidFill>
                  <a:srgbClr val="000000"/>
                </a:solidFill>
                <a:latin typeface="Courier New"/>
              </a:rPr>
              <a:t>#include &lt;fstream&gt;</a:t>
            </a:r>
          </a:p>
          <a:p>
            <a:pPr>
              <a:lnSpc>
                <a:spcPct val="100000"/>
              </a:lnSpc>
            </a:pPr>
            <a:r>
              <a:rPr sz="1150" b="0">
                <a:solidFill>
                  <a:srgbClr val="000000"/>
                </a:solidFill>
                <a:latin typeface="Courier New"/>
              </a:rPr>
              <a:t>using namespace std;</a:t>
            </a:r>
          </a:p>
          <a:p>
            <a:pPr>
              <a:lnSpc>
                <a:spcPct val="100000"/>
              </a:lnSpc>
            </a:pPr>
            <a:r>
              <a:rPr sz="1150" b="0">
                <a:solidFill>
                  <a:srgbClr val="000000"/>
                </a:solidFill>
                <a:latin typeface="Courier New"/>
              </a:rPr>
              <a:t> </a:t>
            </a:r>
          </a:p>
          <a:p>
            <a:pPr>
              <a:lnSpc>
                <a:spcPct val="100000"/>
              </a:lnSpc>
            </a:pPr>
            <a:r>
              <a:rPr sz="1150" b="0">
                <a:solidFill>
                  <a:srgbClr val="000000"/>
                </a:solidFill>
                <a:latin typeface="Courier New"/>
              </a:rPr>
              <a:t>int main() {</a:t>
            </a:r>
          </a:p>
          <a:p>
            <a:pPr>
              <a:lnSpc>
                <a:spcPct val="100000"/>
              </a:lnSpc>
            </a:pPr>
            <a:r>
              <a:rPr sz="1150" b="0">
                <a:solidFill>
                  <a:srgbClr val="000000"/>
                </a:solidFill>
                <a:latin typeface="Courier New"/>
              </a:rPr>
              <a:t>    ifstream inFile("results.txt");</a:t>
            </a:r>
          </a:p>
          <a:p>
            <a:pPr>
              <a:lnSpc>
                <a:spcPct val="100000"/>
              </a:lnSpc>
            </a:pPr>
            <a:r>
              <a:rPr sz="1150" b="0">
                <a:solidFill>
                  <a:srgbClr val="000000"/>
                </a:solidFill>
                <a:latin typeface="Courier New"/>
              </a:rPr>
              <a:t>    if (!inFile) { cout &lt;&lt; "File not found"; return 1; }</a:t>
            </a:r>
          </a:p>
          <a:p>
            <a:pPr>
              <a:lnSpc>
                <a:spcPct val="100000"/>
              </a:lnSpc>
            </a:pPr>
            <a:r>
              <a:rPr sz="1150" b="0">
                <a:solidFill>
                  <a:srgbClr val="000000"/>
                </a:solidFill>
                <a:latin typeface="Courier New"/>
              </a:rPr>
              <a:t> </a:t>
            </a:r>
          </a:p>
          <a:p>
            <a:pPr>
              <a:lnSpc>
                <a:spcPct val="100000"/>
              </a:lnSpc>
            </a:pPr>
            <a:r>
              <a:rPr sz="1150" b="0">
                <a:solidFill>
                  <a:srgbClr val="000000"/>
                </a:solidFill>
                <a:latin typeface="Courier New"/>
              </a:rPr>
              <a:t>    int roll[30], marks[30], n = 0, countA = 0;</a:t>
            </a:r>
          </a:p>
          <a:p>
            <a:pPr>
              <a:lnSpc>
                <a:spcPct val="100000"/>
              </a:lnSpc>
            </a:pPr>
            <a:r>
              <a:rPr sz="1150" b="0">
                <a:solidFill>
                  <a:srgbClr val="000000"/>
                </a:solidFill>
                <a:latin typeface="Courier New"/>
              </a:rPr>
              <a:t>    char grade[30];</a:t>
            </a:r>
          </a:p>
          <a:p>
            <a:pPr>
              <a:lnSpc>
                <a:spcPct val="100000"/>
              </a:lnSpc>
            </a:pPr>
            <a:r>
              <a:rPr sz="1150" b="0">
                <a:solidFill>
                  <a:srgbClr val="000000"/>
                </a:solidFill>
                <a:latin typeface="Courier New"/>
              </a:rPr>
              <a:t> </a:t>
            </a:r>
          </a:p>
          <a:p>
            <a:pPr>
              <a:lnSpc>
                <a:spcPct val="100000"/>
              </a:lnSpc>
            </a:pPr>
            <a:r>
              <a:rPr sz="1150" b="0">
                <a:solidFill>
                  <a:srgbClr val="000000"/>
                </a:solidFill>
                <a:latin typeface="Courier New"/>
              </a:rPr>
              <a:t>    while (n &lt; 30 &amp;&amp; inFile &gt;&gt; roll[n] &gt;&gt; grade[n] &gt;&gt; marks[n])</a:t>
            </a:r>
          </a:p>
          <a:p>
            <a:pPr>
              <a:lnSpc>
                <a:spcPct val="100000"/>
              </a:lnSpc>
            </a:pPr>
            <a:r>
              <a:rPr sz="1150" b="0">
                <a:solidFill>
                  <a:srgbClr val="000000"/>
                </a:solidFill>
                <a:latin typeface="Courier New"/>
              </a:rPr>
              <a:t>        n++;</a:t>
            </a:r>
          </a:p>
          <a:p>
            <a:pPr>
              <a:lnSpc>
                <a:spcPct val="100000"/>
              </a:lnSpc>
            </a:pPr>
            <a:r>
              <a:rPr sz="1150" b="0">
                <a:solidFill>
                  <a:srgbClr val="000000"/>
                </a:solidFill>
                <a:latin typeface="Courier New"/>
              </a:rPr>
              <a:t> </a:t>
            </a:r>
          </a:p>
          <a:p>
            <a:pPr>
              <a:lnSpc>
                <a:spcPct val="100000"/>
              </a:lnSpc>
            </a:pPr>
            <a:r>
              <a:rPr sz="1150" b="0">
                <a:solidFill>
                  <a:srgbClr val="000000"/>
                </a:solidFill>
                <a:latin typeface="Courier New"/>
              </a:rPr>
              <a:t>    cout &lt;&lt; "Roll  Grade  Marks" &lt;&lt; endl;</a:t>
            </a:r>
          </a:p>
          <a:p>
            <a:pPr>
              <a:lnSpc>
                <a:spcPct val="100000"/>
              </a:lnSpc>
            </a:pPr>
            <a:r>
              <a:rPr sz="1150" b="0">
                <a:solidFill>
                  <a:srgbClr val="000000"/>
                </a:solidFill>
                <a:latin typeface="Courier New"/>
              </a:rPr>
              <a:t>    for (int i = 0; i &lt; n; i++) {</a:t>
            </a:r>
          </a:p>
          <a:p>
            <a:pPr>
              <a:lnSpc>
                <a:spcPct val="100000"/>
              </a:lnSpc>
            </a:pPr>
            <a:r>
              <a:rPr sz="1150" b="0">
                <a:solidFill>
                  <a:srgbClr val="000000"/>
                </a:solidFill>
                <a:latin typeface="Courier New"/>
              </a:rPr>
              <a:t>        cout &lt;&lt; roll[i] &lt;&lt; "    " &lt;&lt; grade[i]</a:t>
            </a:r>
          </a:p>
          <a:p>
            <a:pPr>
              <a:lnSpc>
                <a:spcPct val="100000"/>
              </a:lnSpc>
            </a:pPr>
            <a:r>
              <a:rPr sz="1150" b="0">
                <a:solidFill>
                  <a:srgbClr val="000000"/>
                </a:solidFill>
                <a:latin typeface="Courier New"/>
              </a:rPr>
              <a:t>             &lt;&lt; "      " &lt;&lt; marks[i] &lt;&lt; endl;</a:t>
            </a:r>
          </a:p>
          <a:p>
            <a:pPr>
              <a:lnSpc>
                <a:spcPct val="100000"/>
              </a:lnSpc>
            </a:pPr>
            <a:r>
              <a:rPr sz="1150" b="0">
                <a:solidFill>
                  <a:srgbClr val="000000"/>
                </a:solidFill>
                <a:latin typeface="Courier New"/>
              </a:rPr>
              <a:t>        if (grade[i] == 'A') countA++;</a:t>
            </a:r>
          </a:p>
          <a:p>
            <a:pPr>
              <a:lnSpc>
                <a:spcPct val="100000"/>
              </a:lnSpc>
            </a:pPr>
            <a:r>
              <a:rPr sz="1150" b="0">
                <a:solidFill>
                  <a:srgbClr val="000000"/>
                </a:solidFill>
                <a:latin typeface="Courier New"/>
              </a:rPr>
              <a:t>    }</a:t>
            </a:r>
          </a:p>
          <a:p>
            <a:pPr>
              <a:lnSpc>
                <a:spcPct val="100000"/>
              </a:lnSpc>
            </a:pPr>
            <a:r>
              <a:rPr sz="1150" b="0">
                <a:solidFill>
                  <a:srgbClr val="000000"/>
                </a:solidFill>
                <a:latin typeface="Courier New"/>
              </a:rPr>
              <a:t>    cout &lt;&lt; "Students with A: " &lt;&lt; countA &lt;&lt; endl;</a:t>
            </a:r>
          </a:p>
          <a:p>
            <a:pPr>
              <a:lnSpc>
                <a:spcPct val="100000"/>
              </a:lnSpc>
            </a:pPr>
            <a:r>
              <a:rPr sz="1150" b="0">
                <a:solidFill>
                  <a:srgbClr val="000000"/>
                </a:solidFill>
                <a:latin typeface="Courier New"/>
              </a:rPr>
              <a:t>    inFile.close();</a:t>
            </a:r>
          </a:p>
          <a:p>
            <a:pPr>
              <a:lnSpc>
                <a:spcPct val="100000"/>
              </a:lnSpc>
            </a:pPr>
            <a:r>
              <a:rPr sz="1150" b="0">
                <a:solidFill>
                  <a:srgbClr val="000000"/>
                </a:solidFill>
                <a:latin typeface="Courier New"/>
              </a:rPr>
              <a:t>    return 0;</a:t>
            </a:r>
          </a:p>
          <a:p>
            <a:pPr>
              <a:lnSpc>
                <a:spcPct val="100000"/>
              </a:lnSpc>
            </a:pPr>
            <a:r>
              <a:rPr sz="1150" b="0">
                <a:solidFill>
                  <a:srgbClr val="000000"/>
                </a:solidFill>
                <a:latin typeface="Courier New"/>
              </a:rPr>
              <a: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WORKED EXAMPLE · FORMAT 8 OF 15</a:t>
            </a:r>
            <a:endParaRPr lang="en-US" sz="1200" dirty="0"/>
          </a:p>
        </p:txBody>
      </p:sp>
      <p:sp>
        <p:nvSpPr>
          <p:cNvPr id="3" name="Text 1"/>
          <p:cNvSpPr>
            <a:spLocks noGrp="1"/>
          </p:cNvSpPr>
          <p:nvPr>
            <p:ph type="title"/>
          </p:nvPr>
        </p:nvSpPr>
        <p:spPr>
          <a:xfrm>
            <a:off x="812800" y="924520"/>
            <a:ext cx="67665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Letters only</a:t>
            </a:r>
            <a:endParaRPr lang="en-US" sz="3200" dirty="0"/>
          </a:p>
        </p:txBody>
      </p:sp>
      <p:sp>
        <p:nvSpPr>
          <p:cNvPr id="4" name="Rounded Rectangle 3"/>
          <p:cNvSpPr/>
          <p:nvPr/>
        </p:nvSpPr>
        <p:spPr>
          <a:xfrm>
            <a:off x="7808975" y="786384"/>
            <a:ext cx="3566160" cy="658368"/>
          </a:xfrm>
          <a:prstGeom prst="roundRect">
            <a:avLst>
              <a:gd name="adj" fmla="val 4000"/>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991855" y="850392"/>
            <a:ext cx="3200400" cy="201168"/>
          </a:xfrm>
          <a:prstGeom prst="rect">
            <a:avLst/>
          </a:prstGeom>
          <a:noFill/>
        </p:spPr>
        <p:txBody>
          <a:bodyPr wrap="square" lIns="0" tIns="0" rIns="0" bIns="0" anchor="t">
            <a:spAutoFit/>
          </a:bodyPr>
          <a:lstStyle/>
          <a:p>
            <a:pPr>
              <a:lnSpc>
                <a:spcPct val="100000"/>
              </a:lnSpc>
            </a:pPr>
            <a:r>
              <a:rPr sz="1000" b="1">
                <a:solidFill>
                  <a:srgbClr val="595959"/>
                </a:solidFill>
                <a:latin typeface="Carlito"/>
              </a:rPr>
              <a:t>FORMAT LOOKS LIKE</a:t>
            </a:r>
          </a:p>
        </p:txBody>
      </p:sp>
      <p:sp>
        <p:nvSpPr>
          <p:cNvPr id="6" name="TextBox 5"/>
          <p:cNvSpPr txBox="1"/>
          <p:nvPr/>
        </p:nvSpPr>
        <p:spPr>
          <a:xfrm>
            <a:off x="7991855" y="1069848"/>
            <a:ext cx="3200400" cy="274320"/>
          </a:xfrm>
          <a:prstGeom prst="rect">
            <a:avLst/>
          </a:prstGeom>
          <a:noFill/>
        </p:spPr>
        <p:txBody>
          <a:bodyPr wrap="square" lIns="0" tIns="0" rIns="0" bIns="0" anchor="t">
            <a:spAutoFit/>
          </a:bodyPr>
          <a:lstStyle/>
          <a:p>
            <a:pPr>
              <a:lnSpc>
                <a:spcPct val="100000"/>
              </a:lnSpc>
            </a:pPr>
            <a:r>
              <a:rPr sz="1500" b="1">
                <a:solidFill>
                  <a:srgbClr val="000000"/>
                </a:solidFill>
                <a:latin typeface="Courier New"/>
              </a:rPr>
              <a:t>ABACB</a:t>
            </a:r>
          </a:p>
        </p:txBody>
      </p:sp>
      <p:sp>
        <p:nvSpPr>
          <p:cNvPr id="7" name="Rounded Rectangle 6"/>
          <p:cNvSpPr/>
          <p:nvPr/>
        </p:nvSpPr>
        <p:spPr>
          <a:xfrm>
            <a:off x="813816" y="1627632"/>
            <a:ext cx="3886200" cy="1152144"/>
          </a:xfrm>
          <a:prstGeom prst="roundRect">
            <a:avLst>
              <a:gd name="adj" fmla="val 4000"/>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14984" y="1783080"/>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1  The text file:  grades.txt</a:t>
            </a:r>
          </a:p>
        </p:txBody>
      </p:sp>
      <p:sp>
        <p:nvSpPr>
          <p:cNvPr id="9" name="TextBox 8"/>
          <p:cNvSpPr txBox="1"/>
          <p:nvPr/>
        </p:nvSpPr>
        <p:spPr>
          <a:xfrm>
            <a:off x="1014984" y="2103120"/>
            <a:ext cx="3520440" cy="512064"/>
          </a:xfrm>
          <a:prstGeom prst="rect">
            <a:avLst/>
          </a:prstGeom>
          <a:noFill/>
        </p:spPr>
        <p:txBody>
          <a:bodyPr wrap="square" lIns="0" tIns="0" rIns="0" bIns="0" anchor="t">
            <a:spAutoFit/>
          </a:bodyPr>
          <a:lstStyle/>
          <a:p>
            <a:pPr>
              <a:lnSpc>
                <a:spcPct val="100000"/>
              </a:lnSpc>
            </a:pPr>
            <a:r>
              <a:rPr sz="1500" b="0">
                <a:solidFill>
                  <a:srgbClr val="000000"/>
                </a:solidFill>
                <a:latin typeface="Courier New"/>
              </a:rPr>
              <a:t>ABACB</a:t>
            </a:r>
          </a:p>
          <a:p>
            <a:pPr>
              <a:lnSpc>
                <a:spcPct val="100000"/>
              </a:lnSpc>
            </a:pPr>
            <a:r>
              <a:rPr sz="1500" b="0">
                <a:solidFill>
                  <a:srgbClr val="000000"/>
                </a:solidFill>
                <a:latin typeface="Courier New"/>
              </a:rPr>
              <a:t>C A B</a:t>
            </a:r>
          </a:p>
        </p:txBody>
      </p:sp>
      <p:sp>
        <p:nvSpPr>
          <p:cNvPr id="10" name="Rounded Rectangle 9"/>
          <p:cNvSpPr/>
          <p:nvPr/>
        </p:nvSpPr>
        <p:spPr>
          <a:xfrm>
            <a:off x="813816" y="3008376"/>
            <a:ext cx="3886200" cy="1325880"/>
          </a:xfrm>
          <a:prstGeom prst="roundRect">
            <a:avLst>
              <a:gd name="adj" fmla="val 4000"/>
            </a:avLst>
          </a:prstGeom>
          <a:solidFill>
            <a:srgbClr val="FFFFFF"/>
          </a:solidFill>
          <a:ln w="1905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14984" y="3163824"/>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3  Output on the screen</a:t>
            </a:r>
          </a:p>
        </p:txBody>
      </p:sp>
      <p:sp>
        <p:nvSpPr>
          <p:cNvPr id="12" name="TextBox 11"/>
          <p:cNvSpPr txBox="1"/>
          <p:nvPr/>
        </p:nvSpPr>
        <p:spPr>
          <a:xfrm>
            <a:off x="1014984" y="3483864"/>
            <a:ext cx="3520440" cy="685800"/>
          </a:xfrm>
          <a:prstGeom prst="rect">
            <a:avLst/>
          </a:prstGeom>
          <a:noFill/>
        </p:spPr>
        <p:txBody>
          <a:bodyPr wrap="square" lIns="0" tIns="0" rIns="0" bIns="0" anchor="t">
            <a:spAutoFit/>
          </a:bodyPr>
          <a:lstStyle/>
          <a:p>
            <a:pPr>
              <a:lnSpc>
                <a:spcPct val="100000"/>
              </a:lnSpc>
            </a:pPr>
            <a:r>
              <a:rPr sz="1300" b="0">
                <a:solidFill>
                  <a:srgbClr val="000000"/>
                </a:solidFill>
                <a:latin typeface="Courier New"/>
              </a:rPr>
              <a:t>A: 3</a:t>
            </a:r>
          </a:p>
          <a:p>
            <a:pPr>
              <a:lnSpc>
                <a:spcPct val="100000"/>
              </a:lnSpc>
            </a:pPr>
            <a:r>
              <a:rPr sz="1300" b="0">
                <a:solidFill>
                  <a:srgbClr val="000000"/>
                </a:solidFill>
                <a:latin typeface="Courier New"/>
              </a:rPr>
              <a:t>B: 3</a:t>
            </a:r>
          </a:p>
          <a:p>
            <a:pPr>
              <a:lnSpc>
                <a:spcPct val="100000"/>
              </a:lnSpc>
            </a:pPr>
            <a:r>
              <a:rPr sz="1300" b="0">
                <a:solidFill>
                  <a:srgbClr val="000000"/>
                </a:solidFill>
                <a:latin typeface="Courier New"/>
              </a:rPr>
              <a:t>C: 2</a:t>
            </a:r>
          </a:p>
        </p:txBody>
      </p:sp>
      <p:sp>
        <p:nvSpPr>
          <p:cNvPr id="13" name="TextBox 12"/>
          <p:cNvSpPr txBox="1"/>
          <p:nvPr/>
        </p:nvSpPr>
        <p:spPr>
          <a:xfrm>
            <a:off x="813816" y="4562856"/>
            <a:ext cx="3886200" cy="1837943"/>
          </a:xfrm>
          <a:prstGeom prst="rect">
            <a:avLst/>
          </a:prstGeom>
          <a:noFill/>
        </p:spPr>
        <p:txBody>
          <a:bodyPr wrap="square" lIns="0" tIns="0" rIns="0" bIns="0" anchor="t">
            <a:spAutoFit/>
          </a:bodyPr>
          <a:lstStyle/>
          <a:p>
            <a:pPr>
              <a:lnSpc>
                <a:spcPct val="100000"/>
              </a:lnSpc>
            </a:pPr>
            <a:r>
              <a:rPr sz="1400" b="1">
                <a:solidFill>
                  <a:srgbClr val="000000"/>
                </a:solidFill>
                <a:latin typeface="Carlito"/>
              </a:rPr>
              <a:t>Key idea: </a:t>
            </a:r>
            <a:r>
              <a:rPr sz="1400" b="0">
                <a:solidFill>
                  <a:srgbClr val="000000"/>
                </a:solidFill>
                <a:latin typeface="Carlito"/>
              </a:rPr>
              <a:t>Read one char at a time. &gt;&gt; skips the spaces, so C A B works too.</a:t>
            </a:r>
          </a:p>
        </p:txBody>
      </p:sp>
      <p:sp>
        <p:nvSpPr>
          <p:cNvPr id="14" name="Rounded Rectangle 13"/>
          <p:cNvSpPr/>
          <p:nvPr/>
        </p:nvSpPr>
        <p:spPr>
          <a:xfrm>
            <a:off x="4974336" y="1627632"/>
            <a:ext cx="6400800" cy="4773168"/>
          </a:xfrm>
          <a:prstGeom prst="roundRect">
            <a:avLst>
              <a:gd name="adj" fmla="val 4000"/>
            </a:avLst>
          </a:prstGeom>
          <a:solidFill>
            <a:srgbClr val="F2F2F2"/>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202936" y="1783080"/>
            <a:ext cx="594360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2  The program</a:t>
            </a:r>
          </a:p>
        </p:txBody>
      </p:sp>
      <p:sp>
        <p:nvSpPr>
          <p:cNvPr id="16" name="TextBox 15"/>
          <p:cNvSpPr txBox="1"/>
          <p:nvPr/>
        </p:nvSpPr>
        <p:spPr>
          <a:xfrm>
            <a:off x="5202936" y="2130552"/>
            <a:ext cx="5943600" cy="4069079"/>
          </a:xfrm>
          <a:prstGeom prst="rect">
            <a:avLst/>
          </a:prstGeom>
          <a:noFill/>
        </p:spPr>
        <p:txBody>
          <a:bodyPr wrap="square" lIns="0" tIns="0" rIns="0" bIns="0" anchor="t">
            <a:spAutoFit/>
          </a:bodyPr>
          <a:lstStyle/>
          <a:p>
            <a:pPr>
              <a:lnSpc>
                <a:spcPct val="100000"/>
              </a:lnSpc>
            </a:pPr>
            <a:r>
              <a:rPr sz="1200" b="0">
                <a:solidFill>
                  <a:srgbClr val="000000"/>
                </a:solidFill>
                <a:latin typeface="Courier New"/>
              </a:rPr>
              <a:t>#include &lt;iostream&gt;</a:t>
            </a:r>
          </a:p>
          <a:p>
            <a:pPr>
              <a:lnSpc>
                <a:spcPct val="100000"/>
              </a:lnSpc>
            </a:pPr>
            <a:r>
              <a:rPr sz="1200" b="0">
                <a:solidFill>
                  <a:srgbClr val="000000"/>
                </a:solidFill>
                <a:latin typeface="Courier New"/>
              </a:rPr>
              <a:t>#include &lt;fstream&gt;</a:t>
            </a:r>
          </a:p>
          <a:p>
            <a:pPr>
              <a:lnSpc>
                <a:spcPct val="100000"/>
              </a:lnSpc>
            </a:pPr>
            <a:r>
              <a:rPr sz="1200" b="0">
                <a:solidFill>
                  <a:srgbClr val="000000"/>
                </a:solidFill>
                <a:latin typeface="Courier New"/>
              </a:rPr>
              <a:t>using namespace std;</a:t>
            </a:r>
          </a:p>
          <a:p>
            <a:pPr>
              <a:lnSpc>
                <a:spcPct val="100000"/>
              </a:lnSpc>
            </a:pPr>
            <a:r>
              <a:rPr sz="1200" b="0">
                <a:solidFill>
                  <a:srgbClr val="000000"/>
                </a:solidFill>
                <a:latin typeface="Courier New"/>
              </a:rPr>
              <a:t> </a:t>
            </a:r>
          </a:p>
          <a:p>
            <a:pPr>
              <a:lnSpc>
                <a:spcPct val="100000"/>
              </a:lnSpc>
            </a:pPr>
            <a:r>
              <a:rPr sz="1200" b="0">
                <a:solidFill>
                  <a:srgbClr val="000000"/>
                </a:solidFill>
                <a:latin typeface="Courier New"/>
              </a:rPr>
              <a:t>int main() {</a:t>
            </a:r>
          </a:p>
          <a:p>
            <a:pPr>
              <a:lnSpc>
                <a:spcPct val="100000"/>
              </a:lnSpc>
            </a:pPr>
            <a:r>
              <a:rPr sz="1200" b="0">
                <a:solidFill>
                  <a:srgbClr val="000000"/>
                </a:solidFill>
                <a:latin typeface="Courier New"/>
              </a:rPr>
              <a:t>    ifstream inFile("grades.txt");</a:t>
            </a:r>
          </a:p>
          <a:p>
            <a:pPr>
              <a:lnSpc>
                <a:spcPct val="100000"/>
              </a:lnSpc>
            </a:pPr>
            <a:r>
              <a:rPr sz="1200" b="0">
                <a:solidFill>
                  <a:srgbClr val="000000"/>
                </a:solidFill>
                <a:latin typeface="Courier New"/>
              </a:rPr>
              <a:t>    if (!inFile) { cout &lt;&lt; "File not found"; return 1; }</a:t>
            </a:r>
          </a:p>
          <a:p>
            <a:pPr>
              <a:lnSpc>
                <a:spcPct val="100000"/>
              </a:lnSpc>
            </a:pPr>
            <a:r>
              <a:rPr sz="1200" b="0">
                <a:solidFill>
                  <a:srgbClr val="000000"/>
                </a:solidFill>
                <a:latin typeface="Courier New"/>
              </a:rPr>
              <a:t> </a:t>
            </a:r>
          </a:p>
          <a:p>
            <a:pPr>
              <a:lnSpc>
                <a:spcPct val="100000"/>
              </a:lnSpc>
            </a:pPr>
            <a:r>
              <a:rPr sz="1200" b="0">
                <a:solidFill>
                  <a:srgbClr val="000000"/>
                </a:solidFill>
                <a:latin typeface="Courier New"/>
              </a:rPr>
              <a:t>    char g;</a:t>
            </a:r>
          </a:p>
          <a:p>
            <a:pPr>
              <a:lnSpc>
                <a:spcPct val="100000"/>
              </a:lnSpc>
            </a:pPr>
            <a:r>
              <a:rPr sz="1200" b="0">
                <a:solidFill>
                  <a:srgbClr val="000000"/>
                </a:solidFill>
                <a:latin typeface="Courier New"/>
              </a:rPr>
              <a:t>    int countA = 0, countB = 0, countC = 0;</a:t>
            </a:r>
          </a:p>
          <a:p>
            <a:pPr>
              <a:lnSpc>
                <a:spcPct val="100000"/>
              </a:lnSpc>
            </a:pPr>
            <a:r>
              <a:rPr sz="1200" b="0">
                <a:solidFill>
                  <a:srgbClr val="000000"/>
                </a:solidFill>
                <a:latin typeface="Courier New"/>
              </a:rPr>
              <a:t> </a:t>
            </a:r>
          </a:p>
          <a:p>
            <a:pPr>
              <a:lnSpc>
                <a:spcPct val="100000"/>
              </a:lnSpc>
            </a:pPr>
            <a:r>
              <a:rPr sz="1200" b="0">
                <a:solidFill>
                  <a:srgbClr val="000000"/>
                </a:solidFill>
                <a:latin typeface="Courier New"/>
              </a:rPr>
              <a:t>    while (inFile &gt;&gt; g) {</a:t>
            </a:r>
          </a:p>
          <a:p>
            <a:pPr>
              <a:lnSpc>
                <a:spcPct val="100000"/>
              </a:lnSpc>
            </a:pPr>
            <a:r>
              <a:rPr sz="1200" b="0">
                <a:solidFill>
                  <a:srgbClr val="000000"/>
                </a:solidFill>
                <a:latin typeface="Courier New"/>
              </a:rPr>
              <a:t>        if (g == 'A') countA++;</a:t>
            </a:r>
          </a:p>
          <a:p>
            <a:pPr>
              <a:lnSpc>
                <a:spcPct val="100000"/>
              </a:lnSpc>
            </a:pPr>
            <a:r>
              <a:rPr sz="1200" b="0">
                <a:solidFill>
                  <a:srgbClr val="000000"/>
                </a:solidFill>
                <a:latin typeface="Courier New"/>
              </a:rPr>
              <a:t>        else if (g == 'B') countB++;</a:t>
            </a:r>
          </a:p>
          <a:p>
            <a:pPr>
              <a:lnSpc>
                <a:spcPct val="100000"/>
              </a:lnSpc>
            </a:pPr>
            <a:r>
              <a:rPr sz="1200" b="0">
                <a:solidFill>
                  <a:srgbClr val="000000"/>
                </a:solidFill>
                <a:latin typeface="Courier New"/>
              </a:rPr>
              <a:t>        else if (g == 'C') countC++;</a:t>
            </a:r>
          </a:p>
          <a:p>
            <a:pPr>
              <a:lnSpc>
                <a:spcPct val="100000"/>
              </a:lnSpc>
            </a:pPr>
            <a:r>
              <a:rPr sz="1200" b="0">
                <a:solidFill>
                  <a:srgbClr val="000000"/>
                </a:solidFill>
                <a:latin typeface="Courier New"/>
              </a:rPr>
              <a:t>    }</a:t>
            </a:r>
          </a:p>
          <a:p>
            <a:pPr>
              <a:lnSpc>
                <a:spcPct val="100000"/>
              </a:lnSpc>
            </a:pPr>
            <a:r>
              <a:rPr sz="1200" b="0">
                <a:solidFill>
                  <a:srgbClr val="000000"/>
                </a:solidFill>
                <a:latin typeface="Courier New"/>
              </a:rPr>
              <a:t> </a:t>
            </a:r>
          </a:p>
          <a:p>
            <a:pPr>
              <a:lnSpc>
                <a:spcPct val="100000"/>
              </a:lnSpc>
            </a:pPr>
            <a:r>
              <a:rPr sz="1200" b="0">
                <a:solidFill>
                  <a:srgbClr val="000000"/>
                </a:solidFill>
                <a:latin typeface="Courier New"/>
              </a:rPr>
              <a:t>    cout &lt;&lt; "A: " &lt;&lt; countA &lt;&lt; endl;</a:t>
            </a:r>
          </a:p>
          <a:p>
            <a:pPr>
              <a:lnSpc>
                <a:spcPct val="100000"/>
              </a:lnSpc>
            </a:pPr>
            <a:r>
              <a:rPr sz="1200" b="0">
                <a:solidFill>
                  <a:srgbClr val="000000"/>
                </a:solidFill>
                <a:latin typeface="Courier New"/>
              </a:rPr>
              <a:t>    cout &lt;&lt; "B: " &lt;&lt; countB &lt;&lt; endl;</a:t>
            </a:r>
          </a:p>
          <a:p>
            <a:pPr>
              <a:lnSpc>
                <a:spcPct val="100000"/>
              </a:lnSpc>
            </a:pPr>
            <a:r>
              <a:rPr sz="1200" b="0">
                <a:solidFill>
                  <a:srgbClr val="000000"/>
                </a:solidFill>
                <a:latin typeface="Courier New"/>
              </a:rPr>
              <a:t>    cout &lt;&lt; "C: " &lt;&lt; countC &lt;&lt; endl;</a:t>
            </a:r>
          </a:p>
          <a:p>
            <a:pPr>
              <a:lnSpc>
                <a:spcPct val="100000"/>
              </a:lnSpc>
            </a:pPr>
            <a:r>
              <a:rPr sz="1200" b="0">
                <a:solidFill>
                  <a:srgbClr val="000000"/>
                </a:solidFill>
                <a:latin typeface="Courier New"/>
              </a:rPr>
              <a:t>    inFile.close();</a:t>
            </a:r>
          </a:p>
          <a:p>
            <a:pPr>
              <a:lnSpc>
                <a:spcPct val="100000"/>
              </a:lnSpc>
            </a:pPr>
            <a:r>
              <a:rPr sz="1200" b="0">
                <a:solidFill>
                  <a:srgbClr val="000000"/>
                </a:solidFill>
                <a:latin typeface="Courier New"/>
              </a:rPr>
              <a:t>    return 0;</a:t>
            </a:r>
          </a:p>
          <a:p>
            <a:pPr>
              <a:lnSpc>
                <a:spcPct val="100000"/>
              </a:lnSpc>
            </a:pPr>
            <a:r>
              <a:rPr sz="1200" b="0">
                <a:solidFill>
                  <a:srgbClr val="000000"/>
                </a:solidFill>
                <a:latin typeface="Courier New"/>
              </a:rPr>
              <a: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WORKED EXAMPLE · FORMAT 9 OF 15</a:t>
            </a:r>
            <a:endParaRPr lang="en-US" sz="1200" dirty="0"/>
          </a:p>
        </p:txBody>
      </p:sp>
      <p:sp>
        <p:nvSpPr>
          <p:cNvPr id="3" name="Text 1"/>
          <p:cNvSpPr>
            <a:spLocks noGrp="1"/>
          </p:cNvSpPr>
          <p:nvPr>
            <p:ph type="title"/>
          </p:nvPr>
        </p:nvSpPr>
        <p:spPr>
          <a:xfrm>
            <a:off x="812800" y="924520"/>
            <a:ext cx="67665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One-word name + number</a:t>
            </a:r>
            <a:endParaRPr lang="en-US" sz="3200" dirty="0"/>
          </a:p>
        </p:txBody>
      </p:sp>
      <p:sp>
        <p:nvSpPr>
          <p:cNvPr id="4" name="Rounded Rectangle 3"/>
          <p:cNvSpPr/>
          <p:nvPr/>
        </p:nvSpPr>
        <p:spPr>
          <a:xfrm>
            <a:off x="7808975" y="786384"/>
            <a:ext cx="3566160" cy="658368"/>
          </a:xfrm>
          <a:prstGeom prst="roundRect">
            <a:avLst>
              <a:gd name="adj" fmla="val 4000"/>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991855" y="850392"/>
            <a:ext cx="3200400" cy="201168"/>
          </a:xfrm>
          <a:prstGeom prst="rect">
            <a:avLst/>
          </a:prstGeom>
          <a:noFill/>
        </p:spPr>
        <p:txBody>
          <a:bodyPr wrap="square" lIns="0" tIns="0" rIns="0" bIns="0" anchor="t">
            <a:spAutoFit/>
          </a:bodyPr>
          <a:lstStyle/>
          <a:p>
            <a:pPr>
              <a:lnSpc>
                <a:spcPct val="100000"/>
              </a:lnSpc>
            </a:pPr>
            <a:r>
              <a:rPr sz="1000" b="1">
                <a:solidFill>
                  <a:srgbClr val="595959"/>
                </a:solidFill>
                <a:latin typeface="Carlito"/>
              </a:rPr>
              <a:t>FORMAT LOOKS LIKE</a:t>
            </a:r>
          </a:p>
        </p:txBody>
      </p:sp>
      <p:sp>
        <p:nvSpPr>
          <p:cNvPr id="6" name="TextBox 5"/>
          <p:cNvSpPr txBox="1"/>
          <p:nvPr/>
        </p:nvSpPr>
        <p:spPr>
          <a:xfrm>
            <a:off x="7991855" y="1069848"/>
            <a:ext cx="3200400" cy="274320"/>
          </a:xfrm>
          <a:prstGeom prst="rect">
            <a:avLst/>
          </a:prstGeom>
          <a:noFill/>
        </p:spPr>
        <p:txBody>
          <a:bodyPr wrap="square" lIns="0" tIns="0" rIns="0" bIns="0" anchor="t">
            <a:spAutoFit/>
          </a:bodyPr>
          <a:lstStyle/>
          <a:p>
            <a:pPr>
              <a:lnSpc>
                <a:spcPct val="100000"/>
              </a:lnSpc>
            </a:pPr>
            <a:r>
              <a:rPr sz="1500" b="1">
                <a:solidFill>
                  <a:srgbClr val="000000"/>
                </a:solidFill>
                <a:latin typeface="Courier New"/>
              </a:rPr>
              <a:t>Ali 85</a:t>
            </a:r>
          </a:p>
        </p:txBody>
      </p:sp>
      <p:sp>
        <p:nvSpPr>
          <p:cNvPr id="7" name="Rounded Rectangle 6"/>
          <p:cNvSpPr/>
          <p:nvPr/>
        </p:nvSpPr>
        <p:spPr>
          <a:xfrm>
            <a:off x="813816" y="1627632"/>
            <a:ext cx="3886200" cy="1408176"/>
          </a:xfrm>
          <a:prstGeom prst="roundRect">
            <a:avLst>
              <a:gd name="adj" fmla="val 4000"/>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14984" y="1783080"/>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1  The text file:  students.txt</a:t>
            </a:r>
          </a:p>
        </p:txBody>
      </p:sp>
      <p:sp>
        <p:nvSpPr>
          <p:cNvPr id="9" name="TextBox 8"/>
          <p:cNvSpPr txBox="1"/>
          <p:nvPr/>
        </p:nvSpPr>
        <p:spPr>
          <a:xfrm>
            <a:off x="1014984" y="2103120"/>
            <a:ext cx="3520440" cy="768096"/>
          </a:xfrm>
          <a:prstGeom prst="rect">
            <a:avLst/>
          </a:prstGeom>
          <a:noFill/>
        </p:spPr>
        <p:txBody>
          <a:bodyPr wrap="square" lIns="0" tIns="0" rIns="0" bIns="0" anchor="t">
            <a:spAutoFit/>
          </a:bodyPr>
          <a:lstStyle/>
          <a:p>
            <a:pPr>
              <a:lnSpc>
                <a:spcPct val="100000"/>
              </a:lnSpc>
            </a:pPr>
            <a:r>
              <a:rPr sz="1500" b="0">
                <a:solidFill>
                  <a:srgbClr val="000000"/>
                </a:solidFill>
                <a:latin typeface="Courier New"/>
              </a:rPr>
              <a:t>Ali 85</a:t>
            </a:r>
          </a:p>
          <a:p>
            <a:pPr>
              <a:lnSpc>
                <a:spcPct val="100000"/>
              </a:lnSpc>
            </a:pPr>
            <a:r>
              <a:rPr sz="1500" b="0">
                <a:solidFill>
                  <a:srgbClr val="000000"/>
                </a:solidFill>
                <a:latin typeface="Courier New"/>
              </a:rPr>
              <a:t>Sara 92</a:t>
            </a:r>
          </a:p>
          <a:p>
            <a:pPr>
              <a:lnSpc>
                <a:spcPct val="100000"/>
              </a:lnSpc>
            </a:pPr>
            <a:r>
              <a:rPr sz="1500" b="0">
                <a:solidFill>
                  <a:srgbClr val="000000"/>
                </a:solidFill>
                <a:latin typeface="Courier New"/>
              </a:rPr>
              <a:t>Usman 78</a:t>
            </a:r>
          </a:p>
        </p:txBody>
      </p:sp>
      <p:sp>
        <p:nvSpPr>
          <p:cNvPr id="10" name="Rounded Rectangle 9"/>
          <p:cNvSpPr/>
          <p:nvPr/>
        </p:nvSpPr>
        <p:spPr>
          <a:xfrm>
            <a:off x="813816" y="3264408"/>
            <a:ext cx="3886200" cy="1554480"/>
          </a:xfrm>
          <a:prstGeom prst="roundRect">
            <a:avLst>
              <a:gd name="adj" fmla="val 4000"/>
            </a:avLst>
          </a:prstGeom>
          <a:solidFill>
            <a:srgbClr val="FFFFFF"/>
          </a:solidFill>
          <a:ln w="1905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14984" y="3419856"/>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3  Output on the screen</a:t>
            </a:r>
          </a:p>
        </p:txBody>
      </p:sp>
      <p:sp>
        <p:nvSpPr>
          <p:cNvPr id="12" name="TextBox 11"/>
          <p:cNvSpPr txBox="1"/>
          <p:nvPr/>
        </p:nvSpPr>
        <p:spPr>
          <a:xfrm>
            <a:off x="1014984" y="3739896"/>
            <a:ext cx="3520440" cy="914400"/>
          </a:xfrm>
          <a:prstGeom prst="rect">
            <a:avLst/>
          </a:prstGeom>
          <a:noFill/>
        </p:spPr>
        <p:txBody>
          <a:bodyPr wrap="square" lIns="0" tIns="0" rIns="0" bIns="0" anchor="t">
            <a:spAutoFit/>
          </a:bodyPr>
          <a:lstStyle/>
          <a:p>
            <a:pPr>
              <a:lnSpc>
                <a:spcPct val="100000"/>
              </a:lnSpc>
            </a:pPr>
            <a:r>
              <a:rPr sz="1300" b="0">
                <a:solidFill>
                  <a:srgbClr val="000000"/>
                </a:solidFill>
                <a:latin typeface="Courier New"/>
              </a:rPr>
              <a:t>Ali got 85</a:t>
            </a:r>
          </a:p>
          <a:p>
            <a:pPr>
              <a:lnSpc>
                <a:spcPct val="100000"/>
              </a:lnSpc>
            </a:pPr>
            <a:r>
              <a:rPr sz="1300" b="0">
                <a:solidFill>
                  <a:srgbClr val="000000"/>
                </a:solidFill>
                <a:latin typeface="Courier New"/>
              </a:rPr>
              <a:t>Sara got 92</a:t>
            </a:r>
          </a:p>
          <a:p>
            <a:pPr>
              <a:lnSpc>
                <a:spcPct val="100000"/>
              </a:lnSpc>
            </a:pPr>
            <a:r>
              <a:rPr sz="1300" b="0">
                <a:solidFill>
                  <a:srgbClr val="000000"/>
                </a:solidFill>
                <a:latin typeface="Courier New"/>
              </a:rPr>
              <a:t>Usman got 78</a:t>
            </a:r>
          </a:p>
          <a:p>
            <a:pPr>
              <a:lnSpc>
                <a:spcPct val="100000"/>
              </a:lnSpc>
            </a:pPr>
            <a:r>
              <a:rPr sz="1300" b="0">
                <a:solidFill>
                  <a:srgbClr val="000000"/>
                </a:solidFill>
                <a:latin typeface="Courier New"/>
              </a:rPr>
              <a:t>Top student: Sara</a:t>
            </a:r>
          </a:p>
        </p:txBody>
      </p:sp>
      <p:sp>
        <p:nvSpPr>
          <p:cNvPr id="13" name="TextBox 12"/>
          <p:cNvSpPr txBox="1"/>
          <p:nvPr/>
        </p:nvSpPr>
        <p:spPr>
          <a:xfrm>
            <a:off x="813816" y="5047488"/>
            <a:ext cx="3886200" cy="1353311"/>
          </a:xfrm>
          <a:prstGeom prst="rect">
            <a:avLst/>
          </a:prstGeom>
          <a:noFill/>
        </p:spPr>
        <p:txBody>
          <a:bodyPr wrap="square" lIns="0" tIns="0" rIns="0" bIns="0" anchor="t">
            <a:spAutoFit/>
          </a:bodyPr>
          <a:lstStyle/>
          <a:p>
            <a:pPr>
              <a:lnSpc>
                <a:spcPct val="100000"/>
              </a:lnSpc>
            </a:pPr>
            <a:r>
              <a:rPr sz="1400" b="1">
                <a:solidFill>
                  <a:srgbClr val="000000"/>
                </a:solidFill>
                <a:latin typeface="Carlito"/>
              </a:rPr>
              <a:t>Key idea: </a:t>
            </a:r>
            <a:r>
              <a:rPr sz="1400" b="0">
                <a:solidFill>
                  <a:srgbClr val="000000"/>
                </a:solidFill>
                <a:latin typeface="Carlito"/>
              </a:rPr>
              <a:t>&gt;&gt; into a char array reads one word. Needs #include &lt;cstring&gt; for strcpy.</a:t>
            </a:r>
          </a:p>
        </p:txBody>
      </p:sp>
      <p:sp>
        <p:nvSpPr>
          <p:cNvPr id="14" name="Rounded Rectangle 13"/>
          <p:cNvSpPr/>
          <p:nvPr/>
        </p:nvSpPr>
        <p:spPr>
          <a:xfrm>
            <a:off x="4974336" y="1627632"/>
            <a:ext cx="6400800" cy="4773168"/>
          </a:xfrm>
          <a:prstGeom prst="roundRect">
            <a:avLst>
              <a:gd name="adj" fmla="val 4000"/>
            </a:avLst>
          </a:prstGeom>
          <a:solidFill>
            <a:srgbClr val="F2F2F2"/>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202936" y="1783080"/>
            <a:ext cx="594360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2  The program</a:t>
            </a:r>
          </a:p>
        </p:txBody>
      </p:sp>
      <p:sp>
        <p:nvSpPr>
          <p:cNvPr id="16" name="TextBox 15"/>
          <p:cNvSpPr txBox="1"/>
          <p:nvPr/>
        </p:nvSpPr>
        <p:spPr>
          <a:xfrm>
            <a:off x="5202936" y="2130552"/>
            <a:ext cx="5943600" cy="4069079"/>
          </a:xfrm>
          <a:prstGeom prst="rect">
            <a:avLst/>
          </a:prstGeom>
          <a:noFill/>
        </p:spPr>
        <p:txBody>
          <a:bodyPr wrap="square" lIns="0" tIns="0" rIns="0" bIns="0" anchor="t">
            <a:spAutoFit/>
          </a:bodyPr>
          <a:lstStyle/>
          <a:p>
            <a:pPr>
              <a:lnSpc>
                <a:spcPct val="100000"/>
              </a:lnSpc>
            </a:pPr>
            <a:r>
              <a:rPr sz="1200" b="0">
                <a:solidFill>
                  <a:srgbClr val="000000"/>
                </a:solidFill>
                <a:latin typeface="Courier New"/>
              </a:rPr>
              <a:t>#include &lt;iostream&gt;</a:t>
            </a:r>
          </a:p>
          <a:p>
            <a:pPr>
              <a:lnSpc>
                <a:spcPct val="100000"/>
              </a:lnSpc>
            </a:pPr>
            <a:r>
              <a:rPr sz="1200" b="0">
                <a:solidFill>
                  <a:srgbClr val="000000"/>
                </a:solidFill>
                <a:latin typeface="Courier New"/>
              </a:rPr>
              <a:t>#include &lt;fstream&gt;</a:t>
            </a:r>
          </a:p>
          <a:p>
            <a:pPr>
              <a:lnSpc>
                <a:spcPct val="100000"/>
              </a:lnSpc>
            </a:pPr>
            <a:r>
              <a:rPr sz="1200" b="0">
                <a:solidFill>
                  <a:srgbClr val="000000"/>
                </a:solidFill>
                <a:latin typeface="Courier New"/>
              </a:rPr>
              <a:t>#include &lt;cstring&gt;</a:t>
            </a:r>
          </a:p>
          <a:p>
            <a:pPr>
              <a:lnSpc>
                <a:spcPct val="100000"/>
              </a:lnSpc>
            </a:pPr>
            <a:r>
              <a:rPr sz="1200" b="0">
                <a:solidFill>
                  <a:srgbClr val="000000"/>
                </a:solidFill>
                <a:latin typeface="Courier New"/>
              </a:rPr>
              <a:t>using namespace std;</a:t>
            </a:r>
          </a:p>
          <a:p>
            <a:pPr>
              <a:lnSpc>
                <a:spcPct val="100000"/>
              </a:lnSpc>
            </a:pPr>
            <a:r>
              <a:rPr sz="1200" b="0">
                <a:solidFill>
                  <a:srgbClr val="000000"/>
                </a:solidFill>
                <a:latin typeface="Courier New"/>
              </a:rPr>
              <a:t> </a:t>
            </a:r>
          </a:p>
          <a:p>
            <a:pPr>
              <a:lnSpc>
                <a:spcPct val="100000"/>
              </a:lnSpc>
            </a:pPr>
            <a:r>
              <a:rPr sz="1200" b="0">
                <a:solidFill>
                  <a:srgbClr val="000000"/>
                </a:solidFill>
                <a:latin typeface="Courier New"/>
              </a:rPr>
              <a:t>int main() {</a:t>
            </a:r>
          </a:p>
          <a:p>
            <a:pPr>
              <a:lnSpc>
                <a:spcPct val="100000"/>
              </a:lnSpc>
            </a:pPr>
            <a:r>
              <a:rPr sz="1200" b="0">
                <a:solidFill>
                  <a:srgbClr val="000000"/>
                </a:solidFill>
                <a:latin typeface="Courier New"/>
              </a:rPr>
              <a:t>    ifstream inFile("students.txt");</a:t>
            </a:r>
          </a:p>
          <a:p>
            <a:pPr>
              <a:lnSpc>
                <a:spcPct val="100000"/>
              </a:lnSpc>
            </a:pPr>
            <a:r>
              <a:rPr sz="1200" b="0">
                <a:solidFill>
                  <a:srgbClr val="000000"/>
                </a:solidFill>
                <a:latin typeface="Courier New"/>
              </a:rPr>
              <a:t>    if (!inFile) { cout &lt;&lt; "File not found"; return 1; }</a:t>
            </a:r>
          </a:p>
          <a:p>
            <a:pPr>
              <a:lnSpc>
                <a:spcPct val="100000"/>
              </a:lnSpc>
            </a:pPr>
            <a:r>
              <a:rPr sz="1200" b="0">
                <a:solidFill>
                  <a:srgbClr val="000000"/>
                </a:solidFill>
                <a:latin typeface="Courier New"/>
              </a:rPr>
              <a:t> </a:t>
            </a:r>
          </a:p>
          <a:p>
            <a:pPr>
              <a:lnSpc>
                <a:spcPct val="100000"/>
              </a:lnSpc>
            </a:pPr>
            <a:r>
              <a:rPr sz="1200" b="0">
                <a:solidFill>
                  <a:srgbClr val="000000"/>
                </a:solidFill>
                <a:latin typeface="Courier New"/>
              </a:rPr>
              <a:t>    char name[20], topName[20];</a:t>
            </a:r>
          </a:p>
          <a:p>
            <a:pPr>
              <a:lnSpc>
                <a:spcPct val="100000"/>
              </a:lnSpc>
            </a:pPr>
            <a:r>
              <a:rPr sz="1200" b="0">
                <a:solidFill>
                  <a:srgbClr val="000000"/>
                </a:solidFill>
                <a:latin typeface="Courier New"/>
              </a:rPr>
              <a:t>    int marks, best = -1;</a:t>
            </a:r>
          </a:p>
          <a:p>
            <a:pPr>
              <a:lnSpc>
                <a:spcPct val="100000"/>
              </a:lnSpc>
            </a:pPr>
            <a:r>
              <a:rPr sz="1200" b="0">
                <a:solidFill>
                  <a:srgbClr val="000000"/>
                </a:solidFill>
                <a:latin typeface="Courier New"/>
              </a:rPr>
              <a:t> </a:t>
            </a:r>
          </a:p>
          <a:p>
            <a:pPr>
              <a:lnSpc>
                <a:spcPct val="100000"/>
              </a:lnSpc>
            </a:pPr>
            <a:r>
              <a:rPr sz="1200" b="0">
                <a:solidFill>
                  <a:srgbClr val="000000"/>
                </a:solidFill>
                <a:latin typeface="Courier New"/>
              </a:rPr>
              <a:t>    while (inFile &gt;&gt; name &gt;&gt; marks) {</a:t>
            </a:r>
          </a:p>
          <a:p>
            <a:pPr>
              <a:lnSpc>
                <a:spcPct val="100000"/>
              </a:lnSpc>
            </a:pPr>
            <a:r>
              <a:rPr sz="1200" b="0">
                <a:solidFill>
                  <a:srgbClr val="000000"/>
                </a:solidFill>
                <a:latin typeface="Courier New"/>
              </a:rPr>
              <a:t>        cout &lt;&lt; name &lt;&lt; " got " &lt;&lt; marks &lt;&lt; endl;</a:t>
            </a:r>
          </a:p>
          <a:p>
            <a:pPr>
              <a:lnSpc>
                <a:spcPct val="100000"/>
              </a:lnSpc>
            </a:pPr>
            <a:r>
              <a:rPr sz="1200" b="0">
                <a:solidFill>
                  <a:srgbClr val="000000"/>
                </a:solidFill>
                <a:latin typeface="Courier New"/>
              </a:rPr>
              <a:t>        if (marks &gt; best) {</a:t>
            </a:r>
          </a:p>
          <a:p>
            <a:pPr>
              <a:lnSpc>
                <a:spcPct val="100000"/>
              </a:lnSpc>
            </a:pPr>
            <a:r>
              <a:rPr sz="1200" b="0">
                <a:solidFill>
                  <a:srgbClr val="000000"/>
                </a:solidFill>
                <a:latin typeface="Courier New"/>
              </a:rPr>
              <a:t>            best = marks;</a:t>
            </a:r>
          </a:p>
          <a:p>
            <a:pPr>
              <a:lnSpc>
                <a:spcPct val="100000"/>
              </a:lnSpc>
            </a:pPr>
            <a:r>
              <a:rPr sz="1200" b="0">
                <a:solidFill>
                  <a:srgbClr val="000000"/>
                </a:solidFill>
                <a:latin typeface="Courier New"/>
              </a:rPr>
              <a:t>            strcpy(topName, name);</a:t>
            </a:r>
          </a:p>
          <a:p>
            <a:pPr>
              <a:lnSpc>
                <a:spcPct val="100000"/>
              </a:lnSpc>
            </a:pPr>
            <a:r>
              <a:rPr sz="1200" b="0">
                <a:solidFill>
                  <a:srgbClr val="000000"/>
                </a:solidFill>
                <a:latin typeface="Courier New"/>
              </a:rPr>
              <a:t>        }</a:t>
            </a:r>
          </a:p>
          <a:p>
            <a:pPr>
              <a:lnSpc>
                <a:spcPct val="100000"/>
              </a:lnSpc>
            </a:pPr>
            <a:r>
              <a:rPr sz="1200" b="0">
                <a:solidFill>
                  <a:srgbClr val="000000"/>
                </a:solidFill>
                <a:latin typeface="Courier New"/>
              </a:rPr>
              <a:t>    }</a:t>
            </a:r>
          </a:p>
          <a:p>
            <a:pPr>
              <a:lnSpc>
                <a:spcPct val="100000"/>
              </a:lnSpc>
            </a:pPr>
            <a:r>
              <a:rPr sz="1200" b="0">
                <a:solidFill>
                  <a:srgbClr val="000000"/>
                </a:solidFill>
                <a:latin typeface="Courier New"/>
              </a:rPr>
              <a:t>    cout &lt;&lt; "Top student: " &lt;&lt; topName &lt;&lt; endl;</a:t>
            </a:r>
          </a:p>
          <a:p>
            <a:pPr>
              <a:lnSpc>
                <a:spcPct val="100000"/>
              </a:lnSpc>
            </a:pPr>
            <a:r>
              <a:rPr sz="1200" b="0">
                <a:solidFill>
                  <a:srgbClr val="000000"/>
                </a:solidFill>
                <a:latin typeface="Courier New"/>
              </a:rPr>
              <a:t>    inFile.close();</a:t>
            </a:r>
          </a:p>
          <a:p>
            <a:pPr>
              <a:lnSpc>
                <a:spcPct val="100000"/>
              </a:lnSpc>
            </a:pPr>
            <a:r>
              <a:rPr sz="1200" b="0">
                <a:solidFill>
                  <a:srgbClr val="000000"/>
                </a:solidFill>
                <a:latin typeface="Courier New"/>
              </a:rPr>
              <a:t>    return 0;</a:t>
            </a:r>
          </a:p>
          <a:p>
            <a:pPr>
              <a:lnSpc>
                <a:spcPct val="100000"/>
              </a:lnSpc>
            </a:pPr>
            <a:r>
              <a:rPr sz="1200" b="0">
                <a:solidFill>
                  <a:srgbClr val="000000"/>
                </a:solidFill>
                <a:latin typeface="Courier New"/>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WORKED EXAMPLE · FORMAT 10 OF 15</a:t>
            </a:r>
            <a:endParaRPr lang="en-US" sz="1200" dirty="0"/>
          </a:p>
        </p:txBody>
      </p:sp>
      <p:sp>
        <p:nvSpPr>
          <p:cNvPr id="3" name="Text 1"/>
          <p:cNvSpPr>
            <a:spLocks noGrp="1"/>
          </p:cNvSpPr>
          <p:nvPr>
            <p:ph type="title"/>
          </p:nvPr>
        </p:nvSpPr>
        <p:spPr>
          <a:xfrm>
            <a:off x="812800" y="924520"/>
            <a:ext cx="67665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Full names with spaces</a:t>
            </a:r>
            <a:endParaRPr lang="en-US" sz="3200" dirty="0"/>
          </a:p>
        </p:txBody>
      </p:sp>
      <p:sp>
        <p:nvSpPr>
          <p:cNvPr id="4" name="Rounded Rectangle 3"/>
          <p:cNvSpPr/>
          <p:nvPr/>
        </p:nvSpPr>
        <p:spPr>
          <a:xfrm>
            <a:off x="7808975" y="786384"/>
            <a:ext cx="3566160" cy="658368"/>
          </a:xfrm>
          <a:prstGeom prst="roundRect">
            <a:avLst>
              <a:gd name="adj" fmla="val 4000"/>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991855" y="850392"/>
            <a:ext cx="3200400" cy="201168"/>
          </a:xfrm>
          <a:prstGeom prst="rect">
            <a:avLst/>
          </a:prstGeom>
          <a:noFill/>
        </p:spPr>
        <p:txBody>
          <a:bodyPr wrap="square" lIns="0" tIns="0" rIns="0" bIns="0" anchor="t">
            <a:spAutoFit/>
          </a:bodyPr>
          <a:lstStyle/>
          <a:p>
            <a:pPr>
              <a:lnSpc>
                <a:spcPct val="100000"/>
              </a:lnSpc>
            </a:pPr>
            <a:r>
              <a:rPr sz="1000" b="1">
                <a:solidFill>
                  <a:srgbClr val="595959"/>
                </a:solidFill>
                <a:latin typeface="Carlito"/>
              </a:rPr>
              <a:t>FORMAT LOOKS LIKE</a:t>
            </a:r>
          </a:p>
        </p:txBody>
      </p:sp>
      <p:sp>
        <p:nvSpPr>
          <p:cNvPr id="6" name="TextBox 5"/>
          <p:cNvSpPr txBox="1"/>
          <p:nvPr/>
        </p:nvSpPr>
        <p:spPr>
          <a:xfrm>
            <a:off x="7991855" y="1069848"/>
            <a:ext cx="3200400" cy="274320"/>
          </a:xfrm>
          <a:prstGeom prst="rect">
            <a:avLst/>
          </a:prstGeom>
          <a:noFill/>
        </p:spPr>
        <p:txBody>
          <a:bodyPr wrap="square" lIns="0" tIns="0" rIns="0" bIns="0" anchor="t">
            <a:spAutoFit/>
          </a:bodyPr>
          <a:lstStyle/>
          <a:p>
            <a:pPr>
              <a:lnSpc>
                <a:spcPct val="100000"/>
              </a:lnSpc>
            </a:pPr>
            <a:r>
              <a:rPr sz="1500" b="1">
                <a:solidFill>
                  <a:srgbClr val="000000"/>
                </a:solidFill>
                <a:latin typeface="Courier New"/>
              </a:rPr>
              <a:t>Ali Khan,85</a:t>
            </a:r>
          </a:p>
        </p:txBody>
      </p:sp>
      <p:sp>
        <p:nvSpPr>
          <p:cNvPr id="7" name="Rounded Rectangle 6"/>
          <p:cNvSpPr/>
          <p:nvPr/>
        </p:nvSpPr>
        <p:spPr>
          <a:xfrm>
            <a:off x="813816" y="1627632"/>
            <a:ext cx="3886200" cy="1408176"/>
          </a:xfrm>
          <a:prstGeom prst="roundRect">
            <a:avLst>
              <a:gd name="adj" fmla="val 4000"/>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14984" y="1783080"/>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1  The text file:  students.txt</a:t>
            </a:r>
          </a:p>
        </p:txBody>
      </p:sp>
      <p:sp>
        <p:nvSpPr>
          <p:cNvPr id="9" name="TextBox 8"/>
          <p:cNvSpPr txBox="1"/>
          <p:nvPr/>
        </p:nvSpPr>
        <p:spPr>
          <a:xfrm>
            <a:off x="1014984" y="2103120"/>
            <a:ext cx="3520440" cy="768096"/>
          </a:xfrm>
          <a:prstGeom prst="rect">
            <a:avLst/>
          </a:prstGeom>
          <a:noFill/>
        </p:spPr>
        <p:txBody>
          <a:bodyPr wrap="square" lIns="0" tIns="0" rIns="0" bIns="0" anchor="t">
            <a:spAutoFit/>
          </a:bodyPr>
          <a:lstStyle/>
          <a:p>
            <a:pPr>
              <a:lnSpc>
                <a:spcPct val="100000"/>
              </a:lnSpc>
            </a:pPr>
            <a:r>
              <a:rPr sz="1500" b="0">
                <a:solidFill>
                  <a:srgbClr val="000000"/>
                </a:solidFill>
                <a:latin typeface="Courier New"/>
              </a:rPr>
              <a:t>Ali Khan,85</a:t>
            </a:r>
          </a:p>
          <a:p>
            <a:pPr>
              <a:lnSpc>
                <a:spcPct val="100000"/>
              </a:lnSpc>
            </a:pPr>
            <a:r>
              <a:rPr sz="1500" b="0">
                <a:solidFill>
                  <a:srgbClr val="000000"/>
                </a:solidFill>
                <a:latin typeface="Courier New"/>
              </a:rPr>
              <a:t>Sara Ahmed,92</a:t>
            </a:r>
          </a:p>
          <a:p>
            <a:pPr>
              <a:lnSpc>
                <a:spcPct val="100000"/>
              </a:lnSpc>
            </a:pPr>
            <a:r>
              <a:rPr sz="1500" b="0">
                <a:solidFill>
                  <a:srgbClr val="000000"/>
                </a:solidFill>
                <a:latin typeface="Courier New"/>
              </a:rPr>
              <a:t>Usman Tariq,78</a:t>
            </a:r>
          </a:p>
        </p:txBody>
      </p:sp>
      <p:sp>
        <p:nvSpPr>
          <p:cNvPr id="10" name="Rounded Rectangle 9"/>
          <p:cNvSpPr/>
          <p:nvPr/>
        </p:nvSpPr>
        <p:spPr>
          <a:xfrm>
            <a:off x="813816" y="3264408"/>
            <a:ext cx="3886200" cy="1325880"/>
          </a:xfrm>
          <a:prstGeom prst="roundRect">
            <a:avLst>
              <a:gd name="adj" fmla="val 4000"/>
            </a:avLst>
          </a:prstGeom>
          <a:solidFill>
            <a:srgbClr val="FFFFFF"/>
          </a:solidFill>
          <a:ln w="1905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14984" y="3419856"/>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3  Output on the screen</a:t>
            </a:r>
          </a:p>
        </p:txBody>
      </p:sp>
      <p:sp>
        <p:nvSpPr>
          <p:cNvPr id="12" name="TextBox 11"/>
          <p:cNvSpPr txBox="1"/>
          <p:nvPr/>
        </p:nvSpPr>
        <p:spPr>
          <a:xfrm>
            <a:off x="1014984" y="3739896"/>
            <a:ext cx="3520440" cy="685800"/>
          </a:xfrm>
          <a:prstGeom prst="rect">
            <a:avLst/>
          </a:prstGeom>
          <a:noFill/>
        </p:spPr>
        <p:txBody>
          <a:bodyPr wrap="square" lIns="0" tIns="0" rIns="0" bIns="0" anchor="t">
            <a:spAutoFit/>
          </a:bodyPr>
          <a:lstStyle/>
          <a:p>
            <a:pPr>
              <a:lnSpc>
                <a:spcPct val="100000"/>
              </a:lnSpc>
            </a:pPr>
            <a:r>
              <a:rPr sz="1300" b="0">
                <a:solidFill>
                  <a:srgbClr val="000000"/>
                </a:solidFill>
                <a:latin typeface="Courier New"/>
              </a:rPr>
              <a:t>Ali Khan = 85</a:t>
            </a:r>
          </a:p>
          <a:p>
            <a:pPr>
              <a:lnSpc>
                <a:spcPct val="100000"/>
              </a:lnSpc>
            </a:pPr>
            <a:r>
              <a:rPr sz="1300" b="0">
                <a:solidFill>
                  <a:srgbClr val="000000"/>
                </a:solidFill>
                <a:latin typeface="Courier New"/>
              </a:rPr>
              <a:t>Sara Ahmed = 92</a:t>
            </a:r>
          </a:p>
          <a:p>
            <a:pPr>
              <a:lnSpc>
                <a:spcPct val="100000"/>
              </a:lnSpc>
            </a:pPr>
            <a:r>
              <a:rPr sz="1300" b="0">
                <a:solidFill>
                  <a:srgbClr val="000000"/>
                </a:solidFill>
                <a:latin typeface="Courier New"/>
              </a:rPr>
              <a:t>Usman Tariq = 78</a:t>
            </a:r>
          </a:p>
        </p:txBody>
      </p:sp>
      <p:sp>
        <p:nvSpPr>
          <p:cNvPr id="13" name="TextBox 12"/>
          <p:cNvSpPr txBox="1"/>
          <p:nvPr/>
        </p:nvSpPr>
        <p:spPr>
          <a:xfrm>
            <a:off x="813816" y="4818888"/>
            <a:ext cx="3886200" cy="1581911"/>
          </a:xfrm>
          <a:prstGeom prst="rect">
            <a:avLst/>
          </a:prstGeom>
          <a:noFill/>
        </p:spPr>
        <p:txBody>
          <a:bodyPr wrap="square" lIns="0" tIns="0" rIns="0" bIns="0" anchor="t">
            <a:spAutoFit/>
          </a:bodyPr>
          <a:lstStyle/>
          <a:p>
            <a:pPr>
              <a:lnSpc>
                <a:spcPct val="100000"/>
              </a:lnSpc>
            </a:pPr>
            <a:r>
              <a:rPr sz="1400" b="1">
                <a:solidFill>
                  <a:srgbClr val="000000"/>
                </a:solidFill>
                <a:latin typeface="Carlito"/>
              </a:rPr>
              <a:t>Key idea: </a:t>
            </a:r>
            <a:r>
              <a:rPr sz="1400" b="0">
                <a:solidFill>
                  <a:srgbClr val="000000"/>
                </a:solidFill>
                <a:latin typeface="Carlito"/>
              </a:rPr>
              <a:t>getline(name, 30, ',') reads up to the comma, spaces included.</a:t>
            </a:r>
          </a:p>
        </p:txBody>
      </p:sp>
      <p:sp>
        <p:nvSpPr>
          <p:cNvPr id="14" name="Rounded Rectangle 13"/>
          <p:cNvSpPr/>
          <p:nvPr/>
        </p:nvSpPr>
        <p:spPr>
          <a:xfrm>
            <a:off x="4974336" y="1627632"/>
            <a:ext cx="6400800" cy="4773168"/>
          </a:xfrm>
          <a:prstGeom prst="roundRect">
            <a:avLst>
              <a:gd name="adj" fmla="val 4000"/>
            </a:avLst>
          </a:prstGeom>
          <a:solidFill>
            <a:srgbClr val="F2F2F2"/>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202936" y="1783080"/>
            <a:ext cx="594360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2  The program</a:t>
            </a:r>
          </a:p>
        </p:txBody>
      </p:sp>
      <p:sp>
        <p:nvSpPr>
          <p:cNvPr id="16" name="TextBox 15"/>
          <p:cNvSpPr txBox="1"/>
          <p:nvPr/>
        </p:nvSpPr>
        <p:spPr>
          <a:xfrm>
            <a:off x="5202936" y="2130552"/>
            <a:ext cx="5943600" cy="4069079"/>
          </a:xfrm>
          <a:prstGeom prst="rect">
            <a:avLst/>
          </a:prstGeom>
          <a:noFill/>
        </p:spPr>
        <p:txBody>
          <a:bodyPr wrap="square" lIns="0" tIns="0" rIns="0" bIns="0" anchor="t">
            <a:spAutoFit/>
          </a:bodyPr>
          <a:lstStyle/>
          <a:p>
            <a:pPr>
              <a:lnSpc>
                <a:spcPct val="100000"/>
              </a:lnSpc>
            </a:pPr>
            <a:r>
              <a:rPr sz="1200" b="0">
                <a:solidFill>
                  <a:srgbClr val="000000"/>
                </a:solidFill>
                <a:latin typeface="Courier New"/>
              </a:rPr>
              <a:t>#include &lt;iostream&gt;</a:t>
            </a:r>
          </a:p>
          <a:p>
            <a:pPr>
              <a:lnSpc>
                <a:spcPct val="100000"/>
              </a:lnSpc>
            </a:pPr>
            <a:r>
              <a:rPr sz="1200" b="0">
                <a:solidFill>
                  <a:srgbClr val="000000"/>
                </a:solidFill>
                <a:latin typeface="Courier New"/>
              </a:rPr>
              <a:t>#include &lt;fstream&gt;</a:t>
            </a:r>
          </a:p>
          <a:p>
            <a:pPr>
              <a:lnSpc>
                <a:spcPct val="100000"/>
              </a:lnSpc>
            </a:pPr>
            <a:r>
              <a:rPr sz="1200" b="0">
                <a:solidFill>
                  <a:srgbClr val="000000"/>
                </a:solidFill>
                <a:latin typeface="Courier New"/>
              </a:rPr>
              <a:t>using namespace std;</a:t>
            </a:r>
          </a:p>
          <a:p>
            <a:pPr>
              <a:lnSpc>
                <a:spcPct val="100000"/>
              </a:lnSpc>
            </a:pPr>
            <a:r>
              <a:rPr sz="1200" b="0">
                <a:solidFill>
                  <a:srgbClr val="000000"/>
                </a:solidFill>
                <a:latin typeface="Courier New"/>
              </a:rPr>
              <a:t> </a:t>
            </a:r>
          </a:p>
          <a:p>
            <a:pPr>
              <a:lnSpc>
                <a:spcPct val="100000"/>
              </a:lnSpc>
            </a:pPr>
            <a:r>
              <a:rPr sz="1200" b="0">
                <a:solidFill>
                  <a:srgbClr val="000000"/>
                </a:solidFill>
                <a:latin typeface="Courier New"/>
              </a:rPr>
              <a:t>int main() {</a:t>
            </a:r>
          </a:p>
          <a:p>
            <a:pPr>
              <a:lnSpc>
                <a:spcPct val="100000"/>
              </a:lnSpc>
            </a:pPr>
            <a:r>
              <a:rPr sz="1200" b="0">
                <a:solidFill>
                  <a:srgbClr val="000000"/>
                </a:solidFill>
                <a:latin typeface="Courier New"/>
              </a:rPr>
              <a:t>    ifstream inFile("students.txt");</a:t>
            </a:r>
          </a:p>
          <a:p>
            <a:pPr>
              <a:lnSpc>
                <a:spcPct val="100000"/>
              </a:lnSpc>
            </a:pPr>
            <a:r>
              <a:rPr sz="1200" b="0">
                <a:solidFill>
                  <a:srgbClr val="000000"/>
                </a:solidFill>
                <a:latin typeface="Courier New"/>
              </a:rPr>
              <a:t>    if (!inFile) { cout &lt;&lt; "File not found"; return 1; }</a:t>
            </a:r>
          </a:p>
          <a:p>
            <a:pPr>
              <a:lnSpc>
                <a:spcPct val="100000"/>
              </a:lnSpc>
            </a:pPr>
            <a:r>
              <a:rPr sz="1200" b="0">
                <a:solidFill>
                  <a:srgbClr val="000000"/>
                </a:solidFill>
                <a:latin typeface="Courier New"/>
              </a:rPr>
              <a:t> </a:t>
            </a:r>
          </a:p>
          <a:p>
            <a:pPr>
              <a:lnSpc>
                <a:spcPct val="100000"/>
              </a:lnSpc>
            </a:pPr>
            <a:r>
              <a:rPr sz="1200" b="0">
                <a:solidFill>
                  <a:srgbClr val="000000"/>
                </a:solidFill>
                <a:latin typeface="Courier New"/>
              </a:rPr>
              <a:t>    char name[30];</a:t>
            </a:r>
          </a:p>
          <a:p>
            <a:pPr>
              <a:lnSpc>
                <a:spcPct val="100000"/>
              </a:lnSpc>
            </a:pPr>
            <a:r>
              <a:rPr sz="1200" b="0">
                <a:solidFill>
                  <a:srgbClr val="000000"/>
                </a:solidFill>
                <a:latin typeface="Courier New"/>
              </a:rPr>
              <a:t>    int marks;</a:t>
            </a:r>
          </a:p>
          <a:p>
            <a:pPr>
              <a:lnSpc>
                <a:spcPct val="100000"/>
              </a:lnSpc>
            </a:pPr>
            <a:r>
              <a:rPr sz="1200" b="0">
                <a:solidFill>
                  <a:srgbClr val="000000"/>
                </a:solidFill>
                <a:latin typeface="Courier New"/>
              </a:rPr>
              <a:t> </a:t>
            </a:r>
          </a:p>
          <a:p>
            <a:pPr>
              <a:lnSpc>
                <a:spcPct val="100000"/>
              </a:lnSpc>
            </a:pPr>
            <a:r>
              <a:rPr sz="1200" b="0">
                <a:solidFill>
                  <a:srgbClr val="000000"/>
                </a:solidFill>
                <a:latin typeface="Courier New"/>
              </a:rPr>
              <a:t>    while (inFile.getline(name, 30, ',') &amp;&amp; inFile &gt;&gt; marks) {</a:t>
            </a:r>
          </a:p>
          <a:p>
            <a:pPr>
              <a:lnSpc>
                <a:spcPct val="100000"/>
              </a:lnSpc>
            </a:pPr>
            <a:r>
              <a:rPr sz="1200" b="0">
                <a:solidFill>
                  <a:srgbClr val="000000"/>
                </a:solidFill>
                <a:latin typeface="Courier New"/>
              </a:rPr>
              <a:t>        inFile.ignore(100, '\n');   </a:t>
            </a:r>
            <a:r>
              <a:rPr sz="1200" b="0">
                <a:solidFill>
                  <a:srgbClr val="595959"/>
                </a:solidFill>
                <a:latin typeface="Courier New"/>
              </a:rPr>
              <a:t>// skip the new line</a:t>
            </a:r>
          </a:p>
          <a:p>
            <a:pPr>
              <a:lnSpc>
                <a:spcPct val="100000"/>
              </a:lnSpc>
            </a:pPr>
            <a:r>
              <a:rPr sz="1200" b="0">
                <a:solidFill>
                  <a:srgbClr val="000000"/>
                </a:solidFill>
                <a:latin typeface="Courier New"/>
              </a:rPr>
              <a:t>        cout &lt;&lt; name &lt;&lt; " = " &lt;&lt; marks &lt;&lt; endl;</a:t>
            </a:r>
          </a:p>
          <a:p>
            <a:pPr>
              <a:lnSpc>
                <a:spcPct val="100000"/>
              </a:lnSpc>
            </a:pPr>
            <a:r>
              <a:rPr sz="1200" b="0">
                <a:solidFill>
                  <a:srgbClr val="000000"/>
                </a:solidFill>
                <a:latin typeface="Courier New"/>
              </a:rPr>
              <a:t>    }</a:t>
            </a:r>
          </a:p>
          <a:p>
            <a:pPr>
              <a:lnSpc>
                <a:spcPct val="100000"/>
              </a:lnSpc>
            </a:pPr>
            <a:r>
              <a:rPr sz="1200" b="0">
                <a:solidFill>
                  <a:srgbClr val="000000"/>
                </a:solidFill>
                <a:latin typeface="Courier New"/>
              </a:rPr>
              <a:t>    inFile.close();</a:t>
            </a:r>
          </a:p>
          <a:p>
            <a:pPr>
              <a:lnSpc>
                <a:spcPct val="100000"/>
              </a:lnSpc>
            </a:pPr>
            <a:r>
              <a:rPr sz="1200" b="0">
                <a:solidFill>
                  <a:srgbClr val="000000"/>
                </a:solidFill>
                <a:latin typeface="Courier New"/>
              </a:rPr>
              <a:t>    return 0;</a:t>
            </a:r>
          </a:p>
          <a:p>
            <a:pPr>
              <a:lnSpc>
                <a:spcPct val="100000"/>
              </a:lnSpc>
            </a:pPr>
            <a:r>
              <a:rPr sz="1200" b="0">
                <a:solidFill>
                  <a:srgbClr val="000000"/>
                </a:solidFill>
                <a:latin typeface="Courier New"/>
              </a:rPr>
              <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WORKED EXAMPLE · FORMAT 11 OF 15</a:t>
            </a:r>
            <a:endParaRPr lang="en-US" sz="1200" dirty="0"/>
          </a:p>
        </p:txBody>
      </p:sp>
      <p:sp>
        <p:nvSpPr>
          <p:cNvPr id="3" name="Text 1"/>
          <p:cNvSpPr>
            <a:spLocks noGrp="1"/>
          </p:cNvSpPr>
          <p:nvPr>
            <p:ph type="title"/>
          </p:nvPr>
        </p:nvSpPr>
        <p:spPr>
          <a:xfrm>
            <a:off x="812800" y="924520"/>
            <a:ext cx="67665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Count on the first line</a:t>
            </a:r>
            <a:endParaRPr lang="en-US" sz="3200" dirty="0"/>
          </a:p>
        </p:txBody>
      </p:sp>
      <p:sp>
        <p:nvSpPr>
          <p:cNvPr id="4" name="Rounded Rectangle 3"/>
          <p:cNvSpPr/>
          <p:nvPr/>
        </p:nvSpPr>
        <p:spPr>
          <a:xfrm>
            <a:off x="7808975" y="786384"/>
            <a:ext cx="3566160" cy="658368"/>
          </a:xfrm>
          <a:prstGeom prst="roundRect">
            <a:avLst>
              <a:gd name="adj" fmla="val 4000"/>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991855" y="850392"/>
            <a:ext cx="3200400" cy="201168"/>
          </a:xfrm>
          <a:prstGeom prst="rect">
            <a:avLst/>
          </a:prstGeom>
          <a:noFill/>
        </p:spPr>
        <p:txBody>
          <a:bodyPr wrap="square" lIns="0" tIns="0" rIns="0" bIns="0" anchor="t">
            <a:spAutoFit/>
          </a:bodyPr>
          <a:lstStyle/>
          <a:p>
            <a:pPr>
              <a:lnSpc>
                <a:spcPct val="100000"/>
              </a:lnSpc>
            </a:pPr>
            <a:r>
              <a:rPr sz="1000" b="1">
                <a:solidFill>
                  <a:srgbClr val="595959"/>
                </a:solidFill>
                <a:latin typeface="Carlito"/>
              </a:rPr>
              <a:t>FORMAT LOOKS LIKE</a:t>
            </a:r>
          </a:p>
        </p:txBody>
      </p:sp>
      <p:sp>
        <p:nvSpPr>
          <p:cNvPr id="6" name="TextBox 5"/>
          <p:cNvSpPr txBox="1"/>
          <p:nvPr/>
        </p:nvSpPr>
        <p:spPr>
          <a:xfrm>
            <a:off x="7991855" y="1069848"/>
            <a:ext cx="3200400" cy="274320"/>
          </a:xfrm>
          <a:prstGeom prst="rect">
            <a:avLst/>
          </a:prstGeom>
          <a:noFill/>
        </p:spPr>
        <p:txBody>
          <a:bodyPr wrap="square" lIns="0" tIns="0" rIns="0" bIns="0" anchor="t">
            <a:spAutoFit/>
          </a:bodyPr>
          <a:lstStyle/>
          <a:p>
            <a:pPr>
              <a:lnSpc>
                <a:spcPct val="100000"/>
              </a:lnSpc>
            </a:pPr>
            <a:r>
              <a:rPr sz="1500" b="1">
                <a:solidFill>
                  <a:srgbClr val="000000"/>
                </a:solidFill>
                <a:latin typeface="Courier New"/>
              </a:rPr>
              <a:t>4 | 10 20 30 40</a:t>
            </a:r>
          </a:p>
        </p:txBody>
      </p:sp>
      <p:sp>
        <p:nvSpPr>
          <p:cNvPr id="7" name="Rounded Rectangle 6"/>
          <p:cNvSpPr/>
          <p:nvPr/>
        </p:nvSpPr>
        <p:spPr>
          <a:xfrm>
            <a:off x="813816" y="1627632"/>
            <a:ext cx="3886200" cy="1152144"/>
          </a:xfrm>
          <a:prstGeom prst="roundRect">
            <a:avLst>
              <a:gd name="adj" fmla="val 4000"/>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14984" y="1783080"/>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1  The text file:  data.txt</a:t>
            </a:r>
          </a:p>
        </p:txBody>
      </p:sp>
      <p:sp>
        <p:nvSpPr>
          <p:cNvPr id="9" name="TextBox 8"/>
          <p:cNvSpPr txBox="1"/>
          <p:nvPr/>
        </p:nvSpPr>
        <p:spPr>
          <a:xfrm>
            <a:off x="1014984" y="2103120"/>
            <a:ext cx="3520440" cy="512064"/>
          </a:xfrm>
          <a:prstGeom prst="rect">
            <a:avLst/>
          </a:prstGeom>
          <a:noFill/>
        </p:spPr>
        <p:txBody>
          <a:bodyPr wrap="square" lIns="0" tIns="0" rIns="0" bIns="0" anchor="t">
            <a:spAutoFit/>
          </a:bodyPr>
          <a:lstStyle/>
          <a:p>
            <a:pPr>
              <a:lnSpc>
                <a:spcPct val="100000"/>
              </a:lnSpc>
            </a:pPr>
            <a:r>
              <a:rPr sz="1500" b="0">
                <a:solidFill>
                  <a:srgbClr val="000000"/>
                </a:solidFill>
                <a:latin typeface="Courier New"/>
              </a:rPr>
              <a:t>4</a:t>
            </a:r>
          </a:p>
          <a:p>
            <a:pPr>
              <a:lnSpc>
                <a:spcPct val="100000"/>
              </a:lnSpc>
            </a:pPr>
            <a:r>
              <a:rPr sz="1500" b="0">
                <a:solidFill>
                  <a:srgbClr val="000000"/>
                </a:solidFill>
                <a:latin typeface="Courier New"/>
              </a:rPr>
              <a:t>10 20 30 40</a:t>
            </a:r>
          </a:p>
        </p:txBody>
      </p:sp>
      <p:sp>
        <p:nvSpPr>
          <p:cNvPr id="10" name="Rounded Rectangle 9"/>
          <p:cNvSpPr/>
          <p:nvPr/>
        </p:nvSpPr>
        <p:spPr>
          <a:xfrm>
            <a:off x="813816" y="3008376"/>
            <a:ext cx="3886200" cy="1325880"/>
          </a:xfrm>
          <a:prstGeom prst="roundRect">
            <a:avLst>
              <a:gd name="adj" fmla="val 4000"/>
            </a:avLst>
          </a:prstGeom>
          <a:solidFill>
            <a:srgbClr val="FFFFFF"/>
          </a:solidFill>
          <a:ln w="1905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14984" y="3163824"/>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3  Output on the screen</a:t>
            </a:r>
          </a:p>
        </p:txBody>
      </p:sp>
      <p:sp>
        <p:nvSpPr>
          <p:cNvPr id="12" name="TextBox 11"/>
          <p:cNvSpPr txBox="1"/>
          <p:nvPr/>
        </p:nvSpPr>
        <p:spPr>
          <a:xfrm>
            <a:off x="1014984" y="3483864"/>
            <a:ext cx="3520440" cy="685800"/>
          </a:xfrm>
          <a:prstGeom prst="rect">
            <a:avLst/>
          </a:prstGeom>
          <a:noFill/>
        </p:spPr>
        <p:txBody>
          <a:bodyPr wrap="square" lIns="0" tIns="0" rIns="0" bIns="0" anchor="t">
            <a:spAutoFit/>
          </a:bodyPr>
          <a:lstStyle/>
          <a:p>
            <a:pPr>
              <a:lnSpc>
                <a:spcPct val="100000"/>
              </a:lnSpc>
            </a:pPr>
            <a:r>
              <a:rPr sz="1300" b="0">
                <a:solidFill>
                  <a:srgbClr val="000000"/>
                </a:solidFill>
                <a:latin typeface="Courier New"/>
              </a:rPr>
              <a:t>n = 4</a:t>
            </a:r>
          </a:p>
          <a:p>
            <a:pPr>
              <a:lnSpc>
                <a:spcPct val="100000"/>
              </a:lnSpc>
            </a:pPr>
            <a:r>
              <a:rPr sz="1300" b="0">
                <a:solidFill>
                  <a:srgbClr val="000000"/>
                </a:solidFill>
                <a:latin typeface="Courier New"/>
              </a:rPr>
              <a:t>10 20 30 40 </a:t>
            </a:r>
          </a:p>
          <a:p>
            <a:pPr>
              <a:lnSpc>
                <a:spcPct val="100000"/>
              </a:lnSpc>
            </a:pPr>
            <a:r>
              <a:rPr sz="1300" b="0">
                <a:solidFill>
                  <a:srgbClr val="000000"/>
                </a:solidFill>
                <a:latin typeface="Courier New"/>
              </a:rPr>
              <a:t>Sum = 100</a:t>
            </a:r>
          </a:p>
        </p:txBody>
      </p:sp>
      <p:sp>
        <p:nvSpPr>
          <p:cNvPr id="13" name="TextBox 12"/>
          <p:cNvSpPr txBox="1"/>
          <p:nvPr/>
        </p:nvSpPr>
        <p:spPr>
          <a:xfrm>
            <a:off x="813816" y="4562856"/>
            <a:ext cx="3886200" cy="1837943"/>
          </a:xfrm>
          <a:prstGeom prst="rect">
            <a:avLst/>
          </a:prstGeom>
          <a:noFill/>
        </p:spPr>
        <p:txBody>
          <a:bodyPr wrap="square" lIns="0" tIns="0" rIns="0" bIns="0" anchor="t">
            <a:spAutoFit/>
          </a:bodyPr>
          <a:lstStyle/>
          <a:p>
            <a:pPr>
              <a:lnSpc>
                <a:spcPct val="100000"/>
              </a:lnSpc>
            </a:pPr>
            <a:r>
              <a:rPr sz="1400" b="1">
                <a:solidFill>
                  <a:srgbClr val="000000"/>
                </a:solidFill>
                <a:latin typeface="Carlito"/>
              </a:rPr>
              <a:t>Key idea: </a:t>
            </a:r>
            <a:r>
              <a:rPr sz="1400" b="0">
                <a:solidFill>
                  <a:srgbClr val="000000"/>
                </a:solidFill>
                <a:latin typeface="Carlito"/>
              </a:rPr>
              <a:t>Read n first, then loop exactly n times. Check n against the array size.</a:t>
            </a:r>
          </a:p>
        </p:txBody>
      </p:sp>
      <p:sp>
        <p:nvSpPr>
          <p:cNvPr id="14" name="Rounded Rectangle 13"/>
          <p:cNvSpPr/>
          <p:nvPr/>
        </p:nvSpPr>
        <p:spPr>
          <a:xfrm>
            <a:off x="4974336" y="1627632"/>
            <a:ext cx="6400800" cy="4773168"/>
          </a:xfrm>
          <a:prstGeom prst="roundRect">
            <a:avLst>
              <a:gd name="adj" fmla="val 4000"/>
            </a:avLst>
          </a:prstGeom>
          <a:solidFill>
            <a:srgbClr val="F2F2F2"/>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202936" y="1783080"/>
            <a:ext cx="594360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2  The program</a:t>
            </a:r>
          </a:p>
        </p:txBody>
      </p:sp>
      <p:sp>
        <p:nvSpPr>
          <p:cNvPr id="16" name="TextBox 15"/>
          <p:cNvSpPr txBox="1"/>
          <p:nvPr/>
        </p:nvSpPr>
        <p:spPr>
          <a:xfrm>
            <a:off x="5202936" y="2130552"/>
            <a:ext cx="5943600" cy="4069079"/>
          </a:xfrm>
          <a:prstGeom prst="rect">
            <a:avLst/>
          </a:prstGeom>
          <a:noFill/>
        </p:spPr>
        <p:txBody>
          <a:bodyPr wrap="square" lIns="0" tIns="0" rIns="0" bIns="0" anchor="t">
            <a:spAutoFit/>
          </a:bodyPr>
          <a:lstStyle/>
          <a:p>
            <a:pPr>
              <a:lnSpc>
                <a:spcPct val="100000"/>
              </a:lnSpc>
            </a:pPr>
            <a:r>
              <a:rPr sz="1150" b="0">
                <a:solidFill>
                  <a:srgbClr val="000000"/>
                </a:solidFill>
                <a:latin typeface="Courier New"/>
              </a:rPr>
              <a:t>#include &lt;iostream&gt;</a:t>
            </a:r>
          </a:p>
          <a:p>
            <a:pPr>
              <a:lnSpc>
                <a:spcPct val="100000"/>
              </a:lnSpc>
            </a:pPr>
            <a:r>
              <a:rPr sz="1150" b="0">
                <a:solidFill>
                  <a:srgbClr val="000000"/>
                </a:solidFill>
                <a:latin typeface="Courier New"/>
              </a:rPr>
              <a:t>#include &lt;fstream&gt;</a:t>
            </a:r>
          </a:p>
          <a:p>
            <a:pPr>
              <a:lnSpc>
                <a:spcPct val="100000"/>
              </a:lnSpc>
            </a:pPr>
            <a:r>
              <a:rPr sz="1150" b="0">
                <a:solidFill>
                  <a:srgbClr val="000000"/>
                </a:solidFill>
                <a:latin typeface="Courier New"/>
              </a:rPr>
              <a:t>using namespace std;</a:t>
            </a:r>
          </a:p>
          <a:p>
            <a:pPr>
              <a:lnSpc>
                <a:spcPct val="100000"/>
              </a:lnSpc>
            </a:pPr>
            <a:r>
              <a:rPr sz="1150" b="0">
                <a:solidFill>
                  <a:srgbClr val="000000"/>
                </a:solidFill>
                <a:latin typeface="Courier New"/>
              </a:rPr>
              <a:t> </a:t>
            </a:r>
          </a:p>
          <a:p>
            <a:pPr>
              <a:lnSpc>
                <a:spcPct val="100000"/>
              </a:lnSpc>
            </a:pPr>
            <a:r>
              <a:rPr sz="1150" b="0">
                <a:solidFill>
                  <a:srgbClr val="000000"/>
                </a:solidFill>
                <a:latin typeface="Courier New"/>
              </a:rPr>
              <a:t>int main() {</a:t>
            </a:r>
          </a:p>
          <a:p>
            <a:pPr>
              <a:lnSpc>
                <a:spcPct val="100000"/>
              </a:lnSpc>
            </a:pPr>
            <a:r>
              <a:rPr sz="1150" b="0">
                <a:solidFill>
                  <a:srgbClr val="000000"/>
                </a:solidFill>
                <a:latin typeface="Courier New"/>
              </a:rPr>
              <a:t>    ifstream inFile("data.txt");</a:t>
            </a:r>
          </a:p>
          <a:p>
            <a:pPr>
              <a:lnSpc>
                <a:spcPct val="100000"/>
              </a:lnSpc>
            </a:pPr>
            <a:r>
              <a:rPr sz="1150" b="0">
                <a:solidFill>
                  <a:srgbClr val="000000"/>
                </a:solidFill>
                <a:latin typeface="Courier New"/>
              </a:rPr>
              <a:t>    if (!inFile) { cout &lt;&lt; "File not found"; return 1; }</a:t>
            </a:r>
          </a:p>
          <a:p>
            <a:pPr>
              <a:lnSpc>
                <a:spcPct val="100000"/>
              </a:lnSpc>
            </a:pPr>
            <a:r>
              <a:rPr sz="1150" b="0">
                <a:solidFill>
                  <a:srgbClr val="000000"/>
                </a:solidFill>
                <a:latin typeface="Courier New"/>
              </a:rPr>
              <a:t> </a:t>
            </a:r>
          </a:p>
          <a:p>
            <a:pPr>
              <a:lnSpc>
                <a:spcPct val="100000"/>
              </a:lnSpc>
            </a:pPr>
            <a:r>
              <a:rPr sz="1150" b="0">
                <a:solidFill>
                  <a:srgbClr val="000000"/>
                </a:solidFill>
                <a:latin typeface="Courier New"/>
              </a:rPr>
              <a:t>    int n, a[10], sum = 0;</a:t>
            </a:r>
          </a:p>
          <a:p>
            <a:pPr>
              <a:lnSpc>
                <a:spcPct val="100000"/>
              </a:lnSpc>
            </a:pPr>
            <a:r>
              <a:rPr sz="1150" b="0">
                <a:solidFill>
                  <a:srgbClr val="000000"/>
                </a:solidFill>
                <a:latin typeface="Courier New"/>
              </a:rPr>
              <a:t>    inFile &gt;&gt; n;</a:t>
            </a:r>
          </a:p>
          <a:p>
            <a:pPr>
              <a:lnSpc>
                <a:spcPct val="100000"/>
              </a:lnSpc>
            </a:pPr>
            <a:r>
              <a:rPr sz="1150" b="0">
                <a:solidFill>
                  <a:srgbClr val="000000"/>
                </a:solidFill>
                <a:latin typeface="Courier New"/>
              </a:rPr>
              <a:t>    if (n &gt; 10) { cout &lt;&lt; "Too many values!"; return 1; }</a:t>
            </a:r>
          </a:p>
          <a:p>
            <a:pPr>
              <a:lnSpc>
                <a:spcPct val="100000"/>
              </a:lnSpc>
            </a:pPr>
            <a:r>
              <a:rPr sz="1150" b="0">
                <a:solidFill>
                  <a:srgbClr val="000000"/>
                </a:solidFill>
                <a:latin typeface="Courier New"/>
              </a:rPr>
              <a:t> </a:t>
            </a:r>
          </a:p>
          <a:p>
            <a:pPr>
              <a:lnSpc>
                <a:spcPct val="100000"/>
              </a:lnSpc>
            </a:pPr>
            <a:r>
              <a:rPr sz="1150" b="0">
                <a:solidFill>
                  <a:srgbClr val="000000"/>
                </a:solidFill>
                <a:latin typeface="Courier New"/>
              </a:rPr>
              <a:t>    for (int i = 0; i &lt; n; i++) {</a:t>
            </a:r>
          </a:p>
          <a:p>
            <a:pPr>
              <a:lnSpc>
                <a:spcPct val="100000"/>
              </a:lnSpc>
            </a:pPr>
            <a:r>
              <a:rPr sz="1150" b="0">
                <a:solidFill>
                  <a:srgbClr val="000000"/>
                </a:solidFill>
                <a:latin typeface="Courier New"/>
              </a:rPr>
              <a:t>        inFile &gt;&gt; a[i];</a:t>
            </a:r>
          </a:p>
          <a:p>
            <a:pPr>
              <a:lnSpc>
                <a:spcPct val="100000"/>
              </a:lnSpc>
            </a:pPr>
            <a:r>
              <a:rPr sz="1150" b="0">
                <a:solidFill>
                  <a:srgbClr val="000000"/>
                </a:solidFill>
                <a:latin typeface="Courier New"/>
              </a:rPr>
              <a:t>        sum += a[i];</a:t>
            </a:r>
          </a:p>
          <a:p>
            <a:pPr>
              <a:lnSpc>
                <a:spcPct val="100000"/>
              </a:lnSpc>
            </a:pPr>
            <a:r>
              <a:rPr sz="1150" b="0">
                <a:solidFill>
                  <a:srgbClr val="000000"/>
                </a:solidFill>
                <a:latin typeface="Courier New"/>
              </a:rPr>
              <a:t>    }</a:t>
            </a:r>
          </a:p>
          <a:p>
            <a:pPr>
              <a:lnSpc>
                <a:spcPct val="100000"/>
              </a:lnSpc>
            </a:pPr>
            <a:r>
              <a:rPr sz="1150" b="0">
                <a:solidFill>
                  <a:srgbClr val="000000"/>
                </a:solidFill>
                <a:latin typeface="Courier New"/>
              </a:rPr>
              <a:t> </a:t>
            </a:r>
          </a:p>
          <a:p>
            <a:pPr>
              <a:lnSpc>
                <a:spcPct val="100000"/>
              </a:lnSpc>
            </a:pPr>
            <a:r>
              <a:rPr sz="1150" b="0">
                <a:solidFill>
                  <a:srgbClr val="000000"/>
                </a:solidFill>
                <a:latin typeface="Courier New"/>
              </a:rPr>
              <a:t>    cout &lt;&lt; "n = " &lt;&lt; n &lt;&lt; endl;</a:t>
            </a:r>
          </a:p>
          <a:p>
            <a:pPr>
              <a:lnSpc>
                <a:spcPct val="100000"/>
              </a:lnSpc>
            </a:pPr>
            <a:r>
              <a:rPr sz="1150" b="0">
                <a:solidFill>
                  <a:srgbClr val="000000"/>
                </a:solidFill>
                <a:latin typeface="Courier New"/>
              </a:rPr>
              <a:t>    for (int i = 0; i &lt; n; i++)</a:t>
            </a:r>
          </a:p>
          <a:p>
            <a:pPr>
              <a:lnSpc>
                <a:spcPct val="100000"/>
              </a:lnSpc>
            </a:pPr>
            <a:r>
              <a:rPr sz="1150" b="0">
                <a:solidFill>
                  <a:srgbClr val="000000"/>
                </a:solidFill>
                <a:latin typeface="Courier New"/>
              </a:rPr>
              <a:t>        cout &lt;&lt; a[i] &lt;&lt; " ";</a:t>
            </a:r>
          </a:p>
          <a:p>
            <a:pPr>
              <a:lnSpc>
                <a:spcPct val="100000"/>
              </a:lnSpc>
            </a:pPr>
            <a:r>
              <a:rPr sz="1150" b="0">
                <a:solidFill>
                  <a:srgbClr val="000000"/>
                </a:solidFill>
                <a:latin typeface="Courier New"/>
              </a:rPr>
              <a:t>    cout &lt;&lt; endl &lt;&lt; "Sum = " &lt;&lt; sum &lt;&lt; endl;</a:t>
            </a:r>
          </a:p>
          <a:p>
            <a:pPr>
              <a:lnSpc>
                <a:spcPct val="100000"/>
              </a:lnSpc>
            </a:pPr>
            <a:r>
              <a:rPr sz="1150" b="0">
                <a:solidFill>
                  <a:srgbClr val="000000"/>
                </a:solidFill>
                <a:latin typeface="Courier New"/>
              </a:rPr>
              <a:t>    inFile.close();</a:t>
            </a:r>
          </a:p>
          <a:p>
            <a:pPr>
              <a:lnSpc>
                <a:spcPct val="100000"/>
              </a:lnSpc>
            </a:pPr>
            <a:r>
              <a:rPr sz="1150" b="0">
                <a:solidFill>
                  <a:srgbClr val="000000"/>
                </a:solidFill>
                <a:latin typeface="Courier New"/>
              </a:rPr>
              <a:t>    return 0;</a:t>
            </a:r>
          </a:p>
          <a:p>
            <a:pPr>
              <a:lnSpc>
                <a:spcPct val="100000"/>
              </a:lnSpc>
            </a:pPr>
            <a:r>
              <a:rPr sz="1150" b="0">
                <a:solidFill>
                  <a:srgbClr val="000000"/>
                </a:solidFill>
                <a:latin typeface="Courier New"/>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WORKED EXAMPLE · FORMAT 12 OF 15</a:t>
            </a:r>
            <a:endParaRPr lang="en-US" sz="1200" dirty="0"/>
          </a:p>
        </p:txBody>
      </p:sp>
      <p:sp>
        <p:nvSpPr>
          <p:cNvPr id="3" name="Text 1"/>
          <p:cNvSpPr>
            <a:spLocks noGrp="1"/>
          </p:cNvSpPr>
          <p:nvPr>
            <p:ph type="title"/>
          </p:nvPr>
        </p:nvSpPr>
        <p:spPr>
          <a:xfrm>
            <a:off x="812800" y="924520"/>
            <a:ext cx="67665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Sentinel value at the end</a:t>
            </a:r>
            <a:endParaRPr lang="en-US" sz="3200" dirty="0"/>
          </a:p>
        </p:txBody>
      </p:sp>
      <p:sp>
        <p:nvSpPr>
          <p:cNvPr id="4" name="Rounded Rectangle 3"/>
          <p:cNvSpPr/>
          <p:nvPr/>
        </p:nvSpPr>
        <p:spPr>
          <a:xfrm>
            <a:off x="7808975" y="786384"/>
            <a:ext cx="3566160" cy="658368"/>
          </a:xfrm>
          <a:prstGeom prst="roundRect">
            <a:avLst>
              <a:gd name="adj" fmla="val 4000"/>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991855" y="850392"/>
            <a:ext cx="3200400" cy="201168"/>
          </a:xfrm>
          <a:prstGeom prst="rect">
            <a:avLst/>
          </a:prstGeom>
          <a:noFill/>
        </p:spPr>
        <p:txBody>
          <a:bodyPr wrap="square" lIns="0" tIns="0" rIns="0" bIns="0" anchor="t">
            <a:spAutoFit/>
          </a:bodyPr>
          <a:lstStyle/>
          <a:p>
            <a:pPr>
              <a:lnSpc>
                <a:spcPct val="100000"/>
              </a:lnSpc>
            </a:pPr>
            <a:r>
              <a:rPr sz="1000" b="1">
                <a:solidFill>
                  <a:srgbClr val="595959"/>
                </a:solidFill>
                <a:latin typeface="Carlito"/>
              </a:rPr>
              <a:t>FORMAT LOOKS LIKE</a:t>
            </a:r>
          </a:p>
        </p:txBody>
      </p:sp>
      <p:sp>
        <p:nvSpPr>
          <p:cNvPr id="6" name="TextBox 5"/>
          <p:cNvSpPr txBox="1"/>
          <p:nvPr/>
        </p:nvSpPr>
        <p:spPr>
          <a:xfrm>
            <a:off x="7991855" y="1069848"/>
            <a:ext cx="3200400" cy="274320"/>
          </a:xfrm>
          <a:prstGeom prst="rect">
            <a:avLst/>
          </a:prstGeom>
          <a:noFill/>
        </p:spPr>
        <p:txBody>
          <a:bodyPr wrap="square" lIns="0" tIns="0" rIns="0" bIns="0" anchor="t">
            <a:spAutoFit/>
          </a:bodyPr>
          <a:lstStyle/>
          <a:p>
            <a:pPr>
              <a:lnSpc>
                <a:spcPct val="100000"/>
              </a:lnSpc>
            </a:pPr>
            <a:r>
              <a:rPr sz="1500" b="1">
                <a:solidFill>
                  <a:srgbClr val="000000"/>
                </a:solidFill>
                <a:latin typeface="Courier New"/>
              </a:rPr>
              <a:t>85 90 78 -1 55</a:t>
            </a:r>
          </a:p>
        </p:txBody>
      </p:sp>
      <p:sp>
        <p:nvSpPr>
          <p:cNvPr id="7" name="Rounded Rectangle 6"/>
          <p:cNvSpPr/>
          <p:nvPr/>
        </p:nvSpPr>
        <p:spPr>
          <a:xfrm>
            <a:off x="813816" y="1627632"/>
            <a:ext cx="3886200" cy="896112"/>
          </a:xfrm>
          <a:prstGeom prst="roundRect">
            <a:avLst>
              <a:gd name="adj" fmla="val 4000"/>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14984" y="1783080"/>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1  The text file:  marks.txt</a:t>
            </a:r>
          </a:p>
        </p:txBody>
      </p:sp>
      <p:sp>
        <p:nvSpPr>
          <p:cNvPr id="9" name="TextBox 8"/>
          <p:cNvSpPr txBox="1"/>
          <p:nvPr/>
        </p:nvSpPr>
        <p:spPr>
          <a:xfrm>
            <a:off x="1014984" y="2103120"/>
            <a:ext cx="3520440" cy="256032"/>
          </a:xfrm>
          <a:prstGeom prst="rect">
            <a:avLst/>
          </a:prstGeom>
          <a:noFill/>
        </p:spPr>
        <p:txBody>
          <a:bodyPr wrap="square" lIns="0" tIns="0" rIns="0" bIns="0" anchor="t">
            <a:spAutoFit/>
          </a:bodyPr>
          <a:lstStyle/>
          <a:p>
            <a:pPr>
              <a:lnSpc>
                <a:spcPct val="100000"/>
              </a:lnSpc>
            </a:pPr>
            <a:r>
              <a:rPr sz="1500" b="0">
                <a:solidFill>
                  <a:srgbClr val="000000"/>
                </a:solidFill>
                <a:latin typeface="Courier New"/>
              </a:rPr>
              <a:t>85 90 78 -1 55</a:t>
            </a:r>
          </a:p>
        </p:txBody>
      </p:sp>
      <p:sp>
        <p:nvSpPr>
          <p:cNvPr id="10" name="Rounded Rectangle 9"/>
          <p:cNvSpPr/>
          <p:nvPr/>
        </p:nvSpPr>
        <p:spPr>
          <a:xfrm>
            <a:off x="813816" y="2752344"/>
            <a:ext cx="3886200" cy="1097280"/>
          </a:xfrm>
          <a:prstGeom prst="roundRect">
            <a:avLst>
              <a:gd name="adj" fmla="val 4000"/>
            </a:avLst>
          </a:prstGeom>
          <a:solidFill>
            <a:srgbClr val="FFFFFF"/>
          </a:solidFill>
          <a:ln w="1905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14984" y="2907791"/>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3  Output on the screen</a:t>
            </a:r>
          </a:p>
        </p:txBody>
      </p:sp>
      <p:sp>
        <p:nvSpPr>
          <p:cNvPr id="12" name="TextBox 11"/>
          <p:cNvSpPr txBox="1"/>
          <p:nvPr/>
        </p:nvSpPr>
        <p:spPr>
          <a:xfrm>
            <a:off x="1014984" y="3227832"/>
            <a:ext cx="3520440" cy="457200"/>
          </a:xfrm>
          <a:prstGeom prst="rect">
            <a:avLst/>
          </a:prstGeom>
          <a:noFill/>
        </p:spPr>
        <p:txBody>
          <a:bodyPr wrap="square" lIns="0" tIns="0" rIns="0" bIns="0" anchor="t">
            <a:spAutoFit/>
          </a:bodyPr>
          <a:lstStyle/>
          <a:p>
            <a:pPr>
              <a:lnSpc>
                <a:spcPct val="100000"/>
              </a:lnSpc>
            </a:pPr>
            <a:r>
              <a:rPr sz="1300" b="0">
                <a:solidFill>
                  <a:srgbClr val="000000"/>
                </a:solidFill>
                <a:latin typeface="Courier New"/>
              </a:rPr>
              <a:t>count = 3</a:t>
            </a:r>
          </a:p>
          <a:p>
            <a:pPr>
              <a:lnSpc>
                <a:spcPct val="100000"/>
              </a:lnSpc>
            </a:pPr>
            <a:r>
              <a:rPr sz="1300" b="0">
                <a:solidFill>
                  <a:srgbClr val="000000"/>
                </a:solidFill>
                <a:latin typeface="Courier New"/>
              </a:rPr>
              <a:t>85 90 78 </a:t>
            </a:r>
          </a:p>
        </p:txBody>
      </p:sp>
      <p:sp>
        <p:nvSpPr>
          <p:cNvPr id="13" name="TextBox 12"/>
          <p:cNvSpPr txBox="1"/>
          <p:nvPr/>
        </p:nvSpPr>
        <p:spPr>
          <a:xfrm>
            <a:off x="813816" y="4078224"/>
            <a:ext cx="3886200" cy="2322576"/>
          </a:xfrm>
          <a:prstGeom prst="rect">
            <a:avLst/>
          </a:prstGeom>
          <a:noFill/>
        </p:spPr>
        <p:txBody>
          <a:bodyPr wrap="square" lIns="0" tIns="0" rIns="0" bIns="0" anchor="t">
            <a:spAutoFit/>
          </a:bodyPr>
          <a:lstStyle/>
          <a:p>
            <a:pPr>
              <a:lnSpc>
                <a:spcPct val="100000"/>
              </a:lnSpc>
            </a:pPr>
            <a:r>
              <a:rPr sz="1400" b="1">
                <a:solidFill>
                  <a:srgbClr val="000000"/>
                </a:solidFill>
                <a:latin typeface="Carlito"/>
              </a:rPr>
              <a:t>Key idea: </a:t>
            </a:r>
            <a:r>
              <a:rPr sz="1400" b="0">
                <a:solidFill>
                  <a:srgbClr val="000000"/>
                </a:solidFill>
                <a:latin typeface="Carlito"/>
              </a:rPr>
              <a:t>-1 marks the end. 55 after it is never read.</a:t>
            </a:r>
          </a:p>
        </p:txBody>
      </p:sp>
      <p:sp>
        <p:nvSpPr>
          <p:cNvPr id="14" name="Rounded Rectangle 13"/>
          <p:cNvSpPr/>
          <p:nvPr/>
        </p:nvSpPr>
        <p:spPr>
          <a:xfrm>
            <a:off x="4974336" y="1627632"/>
            <a:ext cx="6400800" cy="4773168"/>
          </a:xfrm>
          <a:prstGeom prst="roundRect">
            <a:avLst>
              <a:gd name="adj" fmla="val 4000"/>
            </a:avLst>
          </a:prstGeom>
          <a:solidFill>
            <a:srgbClr val="F2F2F2"/>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202936" y="1783080"/>
            <a:ext cx="594360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2  The program</a:t>
            </a:r>
          </a:p>
        </p:txBody>
      </p:sp>
      <p:sp>
        <p:nvSpPr>
          <p:cNvPr id="16" name="TextBox 15"/>
          <p:cNvSpPr txBox="1"/>
          <p:nvPr/>
        </p:nvSpPr>
        <p:spPr>
          <a:xfrm>
            <a:off x="5202936" y="2130552"/>
            <a:ext cx="5943600" cy="4069079"/>
          </a:xfrm>
          <a:prstGeom prst="rect">
            <a:avLst/>
          </a:prstGeom>
          <a:noFill/>
        </p:spPr>
        <p:txBody>
          <a:bodyPr wrap="square" lIns="0" tIns="0" rIns="0" bIns="0" anchor="t">
            <a:spAutoFit/>
          </a:bodyPr>
          <a:lstStyle/>
          <a:p>
            <a:pPr>
              <a:lnSpc>
                <a:spcPct val="100000"/>
              </a:lnSpc>
            </a:pPr>
            <a:r>
              <a:rPr sz="1250" b="0">
                <a:solidFill>
                  <a:srgbClr val="000000"/>
                </a:solidFill>
                <a:latin typeface="Courier New"/>
              </a:rPr>
              <a:t>#include &lt;iostream&gt;</a:t>
            </a:r>
          </a:p>
          <a:p>
            <a:pPr>
              <a:lnSpc>
                <a:spcPct val="100000"/>
              </a:lnSpc>
            </a:pPr>
            <a:r>
              <a:rPr sz="1250" b="0">
                <a:solidFill>
                  <a:srgbClr val="000000"/>
                </a:solidFill>
                <a:latin typeface="Courier New"/>
              </a:rPr>
              <a:t>#include &lt;fstream&gt;</a:t>
            </a:r>
          </a:p>
          <a:p>
            <a:pPr>
              <a:lnSpc>
                <a:spcPct val="100000"/>
              </a:lnSpc>
            </a:pPr>
            <a:r>
              <a:rPr sz="1250" b="0">
                <a:solidFill>
                  <a:srgbClr val="000000"/>
                </a:solidFill>
                <a:latin typeface="Courier New"/>
              </a:rPr>
              <a:t>using namespace std;</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int main() {</a:t>
            </a:r>
          </a:p>
          <a:p>
            <a:pPr>
              <a:lnSpc>
                <a:spcPct val="100000"/>
              </a:lnSpc>
            </a:pPr>
            <a:r>
              <a:rPr sz="1250" b="0">
                <a:solidFill>
                  <a:srgbClr val="000000"/>
                </a:solidFill>
                <a:latin typeface="Courier New"/>
              </a:rPr>
              <a:t>    ifstream inFile("marks.txt");</a:t>
            </a:r>
          </a:p>
          <a:p>
            <a:pPr>
              <a:lnSpc>
                <a:spcPct val="100000"/>
              </a:lnSpc>
            </a:pPr>
            <a:r>
              <a:rPr sz="1250" b="0">
                <a:solidFill>
                  <a:srgbClr val="000000"/>
                </a:solidFill>
                <a:latin typeface="Courier New"/>
              </a:rPr>
              <a:t>    if (!inFile) { cout &lt;&lt; "File not found"; return 1; }</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    int x, a[10], count = 0;</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    while (count &lt; 10 &amp;&amp; inFile &gt;&gt; x &amp;&amp; x != -1)</a:t>
            </a:r>
          </a:p>
          <a:p>
            <a:pPr>
              <a:lnSpc>
                <a:spcPct val="100000"/>
              </a:lnSpc>
            </a:pPr>
            <a:r>
              <a:rPr sz="1250" b="0">
                <a:solidFill>
                  <a:srgbClr val="000000"/>
                </a:solidFill>
                <a:latin typeface="Courier New"/>
              </a:rPr>
              <a:t>        a[count++] = x;</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    cout &lt;&lt; "count = " &lt;&lt; count &lt;&lt; endl;</a:t>
            </a:r>
          </a:p>
          <a:p>
            <a:pPr>
              <a:lnSpc>
                <a:spcPct val="100000"/>
              </a:lnSpc>
            </a:pPr>
            <a:r>
              <a:rPr sz="1250" b="0">
                <a:solidFill>
                  <a:srgbClr val="000000"/>
                </a:solidFill>
                <a:latin typeface="Courier New"/>
              </a:rPr>
              <a:t>    for (int i = 0; i &lt; count; i++)</a:t>
            </a:r>
          </a:p>
          <a:p>
            <a:pPr>
              <a:lnSpc>
                <a:spcPct val="100000"/>
              </a:lnSpc>
            </a:pPr>
            <a:r>
              <a:rPr sz="1250" b="0">
                <a:solidFill>
                  <a:srgbClr val="000000"/>
                </a:solidFill>
                <a:latin typeface="Courier New"/>
              </a:rPr>
              <a:t>        cout &lt;&lt; a[i] &lt;&lt; " ";</a:t>
            </a:r>
          </a:p>
          <a:p>
            <a:pPr>
              <a:lnSpc>
                <a:spcPct val="100000"/>
              </a:lnSpc>
            </a:pPr>
            <a:r>
              <a:rPr sz="1250" b="0">
                <a:solidFill>
                  <a:srgbClr val="000000"/>
                </a:solidFill>
                <a:latin typeface="Courier New"/>
              </a:rPr>
              <a:t>    cout &lt;&lt; endl;</a:t>
            </a:r>
          </a:p>
          <a:p>
            <a:pPr>
              <a:lnSpc>
                <a:spcPct val="100000"/>
              </a:lnSpc>
            </a:pPr>
            <a:r>
              <a:rPr sz="1250" b="0">
                <a:solidFill>
                  <a:srgbClr val="000000"/>
                </a:solidFill>
                <a:latin typeface="Courier New"/>
              </a:rPr>
              <a:t>    inFile.close();</a:t>
            </a:r>
          </a:p>
          <a:p>
            <a:pPr>
              <a:lnSpc>
                <a:spcPct val="100000"/>
              </a:lnSpc>
            </a:pPr>
            <a:r>
              <a:rPr sz="1250" b="0">
                <a:solidFill>
                  <a:srgbClr val="000000"/>
                </a:solidFill>
                <a:latin typeface="Courier New"/>
              </a:rPr>
              <a:t>    return 0;</a:t>
            </a:r>
          </a:p>
          <a:p>
            <a:pPr>
              <a:lnSpc>
                <a:spcPct val="100000"/>
              </a:lnSpc>
            </a:pPr>
            <a:r>
              <a:rPr sz="1250" b="0">
                <a:solidFill>
                  <a:srgbClr val="000000"/>
                </a:solidFill>
                <a:latin typeface="Courier New"/>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WORKED EXAMPLE · FORMAT 13 OF 15</a:t>
            </a:r>
            <a:endParaRPr lang="en-US" sz="1200" dirty="0"/>
          </a:p>
        </p:txBody>
      </p:sp>
      <p:sp>
        <p:nvSpPr>
          <p:cNvPr id="3" name="Text 1"/>
          <p:cNvSpPr>
            <a:spLocks noGrp="1"/>
          </p:cNvSpPr>
          <p:nvPr>
            <p:ph type="title"/>
          </p:nvPr>
        </p:nvSpPr>
        <p:spPr>
          <a:xfrm>
            <a:off x="812800" y="924520"/>
            <a:ext cx="67665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Header line</a:t>
            </a:r>
            <a:endParaRPr lang="en-US" sz="3200" dirty="0"/>
          </a:p>
        </p:txBody>
      </p:sp>
      <p:sp>
        <p:nvSpPr>
          <p:cNvPr id="4" name="Rounded Rectangle 3"/>
          <p:cNvSpPr/>
          <p:nvPr/>
        </p:nvSpPr>
        <p:spPr>
          <a:xfrm>
            <a:off x="7808975" y="786384"/>
            <a:ext cx="3566160" cy="658368"/>
          </a:xfrm>
          <a:prstGeom prst="roundRect">
            <a:avLst>
              <a:gd name="adj" fmla="val 4000"/>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991855" y="850392"/>
            <a:ext cx="3200400" cy="201168"/>
          </a:xfrm>
          <a:prstGeom prst="rect">
            <a:avLst/>
          </a:prstGeom>
          <a:noFill/>
        </p:spPr>
        <p:txBody>
          <a:bodyPr wrap="square" lIns="0" tIns="0" rIns="0" bIns="0" anchor="t">
            <a:spAutoFit/>
          </a:bodyPr>
          <a:lstStyle/>
          <a:p>
            <a:pPr>
              <a:lnSpc>
                <a:spcPct val="100000"/>
              </a:lnSpc>
            </a:pPr>
            <a:r>
              <a:rPr sz="1000" b="1">
                <a:solidFill>
                  <a:srgbClr val="595959"/>
                </a:solidFill>
                <a:latin typeface="Carlito"/>
              </a:rPr>
              <a:t>FORMAT LOOKS LIKE</a:t>
            </a:r>
          </a:p>
        </p:txBody>
      </p:sp>
      <p:sp>
        <p:nvSpPr>
          <p:cNvPr id="6" name="TextBox 5"/>
          <p:cNvSpPr txBox="1"/>
          <p:nvPr/>
        </p:nvSpPr>
        <p:spPr>
          <a:xfrm>
            <a:off x="7991855" y="1069848"/>
            <a:ext cx="3200400" cy="274320"/>
          </a:xfrm>
          <a:prstGeom prst="rect">
            <a:avLst/>
          </a:prstGeom>
          <a:noFill/>
        </p:spPr>
        <p:txBody>
          <a:bodyPr wrap="square" lIns="0" tIns="0" rIns="0" bIns="0" anchor="t">
            <a:spAutoFit/>
          </a:bodyPr>
          <a:lstStyle/>
          <a:p>
            <a:pPr>
              <a:lnSpc>
                <a:spcPct val="100000"/>
              </a:lnSpc>
            </a:pPr>
            <a:r>
              <a:rPr sz="1500" b="1">
                <a:solidFill>
                  <a:srgbClr val="000000"/>
                </a:solidFill>
                <a:latin typeface="Courier New"/>
              </a:rPr>
              <a:t>Roll Marks | 101 85</a:t>
            </a:r>
          </a:p>
        </p:txBody>
      </p:sp>
      <p:sp>
        <p:nvSpPr>
          <p:cNvPr id="7" name="Rounded Rectangle 6"/>
          <p:cNvSpPr/>
          <p:nvPr/>
        </p:nvSpPr>
        <p:spPr>
          <a:xfrm>
            <a:off x="813816" y="1627632"/>
            <a:ext cx="3886200" cy="1664208"/>
          </a:xfrm>
          <a:prstGeom prst="roundRect">
            <a:avLst>
              <a:gd name="adj" fmla="val 4000"/>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14984" y="1783080"/>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1  The text file:  results.txt</a:t>
            </a:r>
          </a:p>
        </p:txBody>
      </p:sp>
      <p:sp>
        <p:nvSpPr>
          <p:cNvPr id="9" name="TextBox 8"/>
          <p:cNvSpPr txBox="1"/>
          <p:nvPr/>
        </p:nvSpPr>
        <p:spPr>
          <a:xfrm>
            <a:off x="1014984" y="2103120"/>
            <a:ext cx="3520440" cy="1024128"/>
          </a:xfrm>
          <a:prstGeom prst="rect">
            <a:avLst/>
          </a:prstGeom>
          <a:noFill/>
        </p:spPr>
        <p:txBody>
          <a:bodyPr wrap="square" lIns="0" tIns="0" rIns="0" bIns="0" anchor="t">
            <a:spAutoFit/>
          </a:bodyPr>
          <a:lstStyle/>
          <a:p>
            <a:pPr>
              <a:lnSpc>
                <a:spcPct val="100000"/>
              </a:lnSpc>
            </a:pPr>
            <a:r>
              <a:rPr sz="1500" b="0">
                <a:solidFill>
                  <a:srgbClr val="000000"/>
                </a:solidFill>
                <a:latin typeface="Courier New"/>
              </a:rPr>
              <a:t>Roll Marks</a:t>
            </a:r>
          </a:p>
          <a:p>
            <a:pPr>
              <a:lnSpc>
                <a:spcPct val="100000"/>
              </a:lnSpc>
            </a:pPr>
            <a:r>
              <a:rPr sz="1500" b="0">
                <a:solidFill>
                  <a:srgbClr val="000000"/>
                </a:solidFill>
                <a:latin typeface="Courier New"/>
              </a:rPr>
              <a:t>101 85</a:t>
            </a:r>
          </a:p>
          <a:p>
            <a:pPr>
              <a:lnSpc>
                <a:spcPct val="100000"/>
              </a:lnSpc>
            </a:pPr>
            <a:r>
              <a:rPr sz="1500" b="0">
                <a:solidFill>
                  <a:srgbClr val="000000"/>
                </a:solidFill>
                <a:latin typeface="Courier New"/>
              </a:rPr>
              <a:t>102 72</a:t>
            </a:r>
          </a:p>
          <a:p>
            <a:pPr>
              <a:lnSpc>
                <a:spcPct val="100000"/>
              </a:lnSpc>
            </a:pPr>
            <a:r>
              <a:rPr sz="1500" b="0">
                <a:solidFill>
                  <a:srgbClr val="000000"/>
                </a:solidFill>
                <a:latin typeface="Courier New"/>
              </a:rPr>
              <a:t>103 91</a:t>
            </a:r>
          </a:p>
        </p:txBody>
      </p:sp>
      <p:sp>
        <p:nvSpPr>
          <p:cNvPr id="10" name="Rounded Rectangle 9"/>
          <p:cNvSpPr/>
          <p:nvPr/>
        </p:nvSpPr>
        <p:spPr>
          <a:xfrm>
            <a:off x="813816" y="3520440"/>
            <a:ext cx="3886200" cy="1325880"/>
          </a:xfrm>
          <a:prstGeom prst="roundRect">
            <a:avLst>
              <a:gd name="adj" fmla="val 4000"/>
            </a:avLst>
          </a:prstGeom>
          <a:solidFill>
            <a:srgbClr val="FFFFFF"/>
          </a:solidFill>
          <a:ln w="1905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14984" y="3675888"/>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3  Output on the screen</a:t>
            </a:r>
          </a:p>
        </p:txBody>
      </p:sp>
      <p:sp>
        <p:nvSpPr>
          <p:cNvPr id="12" name="TextBox 11"/>
          <p:cNvSpPr txBox="1"/>
          <p:nvPr/>
        </p:nvSpPr>
        <p:spPr>
          <a:xfrm>
            <a:off x="1014984" y="3995928"/>
            <a:ext cx="3520440" cy="685800"/>
          </a:xfrm>
          <a:prstGeom prst="rect">
            <a:avLst/>
          </a:prstGeom>
          <a:noFill/>
        </p:spPr>
        <p:txBody>
          <a:bodyPr wrap="square" lIns="0" tIns="0" rIns="0" bIns="0" anchor="t">
            <a:spAutoFit/>
          </a:bodyPr>
          <a:lstStyle/>
          <a:p>
            <a:pPr>
              <a:lnSpc>
                <a:spcPct val="100000"/>
              </a:lnSpc>
            </a:pPr>
            <a:r>
              <a:rPr sz="1300" b="0">
                <a:solidFill>
                  <a:srgbClr val="000000"/>
                </a:solidFill>
                <a:latin typeface="Courier New"/>
              </a:rPr>
              <a:t>Roll 101: 85</a:t>
            </a:r>
          </a:p>
          <a:p>
            <a:pPr>
              <a:lnSpc>
                <a:spcPct val="100000"/>
              </a:lnSpc>
            </a:pPr>
            <a:r>
              <a:rPr sz="1300" b="0">
                <a:solidFill>
                  <a:srgbClr val="000000"/>
                </a:solidFill>
                <a:latin typeface="Courier New"/>
              </a:rPr>
              <a:t>Roll 102: 72</a:t>
            </a:r>
          </a:p>
          <a:p>
            <a:pPr>
              <a:lnSpc>
                <a:spcPct val="100000"/>
              </a:lnSpc>
            </a:pPr>
            <a:r>
              <a:rPr sz="1300" b="0">
                <a:solidFill>
                  <a:srgbClr val="000000"/>
                </a:solidFill>
                <a:latin typeface="Courier New"/>
              </a:rPr>
              <a:t>Roll 103: 91</a:t>
            </a:r>
          </a:p>
        </p:txBody>
      </p:sp>
      <p:sp>
        <p:nvSpPr>
          <p:cNvPr id="13" name="TextBox 12"/>
          <p:cNvSpPr txBox="1"/>
          <p:nvPr/>
        </p:nvSpPr>
        <p:spPr>
          <a:xfrm>
            <a:off x="813816" y="5074920"/>
            <a:ext cx="3886200" cy="1325879"/>
          </a:xfrm>
          <a:prstGeom prst="rect">
            <a:avLst/>
          </a:prstGeom>
          <a:noFill/>
        </p:spPr>
        <p:txBody>
          <a:bodyPr wrap="square" lIns="0" tIns="0" rIns="0" bIns="0" anchor="t">
            <a:spAutoFit/>
          </a:bodyPr>
          <a:lstStyle/>
          <a:p>
            <a:pPr>
              <a:lnSpc>
                <a:spcPct val="100000"/>
              </a:lnSpc>
            </a:pPr>
            <a:r>
              <a:rPr sz="1400" b="1">
                <a:solidFill>
                  <a:srgbClr val="000000"/>
                </a:solidFill>
                <a:latin typeface="Carlito"/>
              </a:rPr>
              <a:t>Key idea: </a:t>
            </a:r>
            <a:r>
              <a:rPr sz="1400" b="0">
                <a:solidFill>
                  <a:srgbClr val="000000"/>
                </a:solidFill>
                <a:latin typeface="Carlito"/>
              </a:rPr>
              <a:t>Without ignore(), &gt;&gt; fails on the word Roll and nothing is read.</a:t>
            </a:r>
          </a:p>
        </p:txBody>
      </p:sp>
      <p:sp>
        <p:nvSpPr>
          <p:cNvPr id="14" name="Rounded Rectangle 13"/>
          <p:cNvSpPr/>
          <p:nvPr/>
        </p:nvSpPr>
        <p:spPr>
          <a:xfrm>
            <a:off x="4974336" y="1627632"/>
            <a:ext cx="6400800" cy="4773168"/>
          </a:xfrm>
          <a:prstGeom prst="roundRect">
            <a:avLst>
              <a:gd name="adj" fmla="val 4000"/>
            </a:avLst>
          </a:prstGeom>
          <a:solidFill>
            <a:srgbClr val="F2F2F2"/>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202936" y="1783080"/>
            <a:ext cx="594360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2  The program</a:t>
            </a:r>
          </a:p>
        </p:txBody>
      </p:sp>
      <p:sp>
        <p:nvSpPr>
          <p:cNvPr id="16" name="TextBox 15"/>
          <p:cNvSpPr txBox="1"/>
          <p:nvPr/>
        </p:nvSpPr>
        <p:spPr>
          <a:xfrm>
            <a:off x="5202936" y="2130552"/>
            <a:ext cx="5943600" cy="4069079"/>
          </a:xfrm>
          <a:prstGeom prst="rect">
            <a:avLst/>
          </a:prstGeom>
          <a:noFill/>
        </p:spPr>
        <p:txBody>
          <a:bodyPr wrap="square" lIns="0" tIns="0" rIns="0" bIns="0" anchor="t">
            <a:spAutoFit/>
          </a:bodyPr>
          <a:lstStyle/>
          <a:p>
            <a:pPr>
              <a:lnSpc>
                <a:spcPct val="100000"/>
              </a:lnSpc>
            </a:pPr>
            <a:r>
              <a:rPr sz="1250" b="0">
                <a:solidFill>
                  <a:srgbClr val="000000"/>
                </a:solidFill>
                <a:latin typeface="Courier New"/>
              </a:rPr>
              <a:t>#include &lt;iostream&gt;</a:t>
            </a:r>
          </a:p>
          <a:p>
            <a:pPr>
              <a:lnSpc>
                <a:spcPct val="100000"/>
              </a:lnSpc>
            </a:pPr>
            <a:r>
              <a:rPr sz="1250" b="0">
                <a:solidFill>
                  <a:srgbClr val="000000"/>
                </a:solidFill>
                <a:latin typeface="Courier New"/>
              </a:rPr>
              <a:t>#include &lt;fstream&gt;</a:t>
            </a:r>
          </a:p>
          <a:p>
            <a:pPr>
              <a:lnSpc>
                <a:spcPct val="100000"/>
              </a:lnSpc>
            </a:pPr>
            <a:r>
              <a:rPr sz="1250" b="0">
                <a:solidFill>
                  <a:srgbClr val="000000"/>
                </a:solidFill>
                <a:latin typeface="Courier New"/>
              </a:rPr>
              <a:t>using namespace std;</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int main() {</a:t>
            </a:r>
          </a:p>
          <a:p>
            <a:pPr>
              <a:lnSpc>
                <a:spcPct val="100000"/>
              </a:lnSpc>
            </a:pPr>
            <a:r>
              <a:rPr sz="1250" b="0">
                <a:solidFill>
                  <a:srgbClr val="000000"/>
                </a:solidFill>
                <a:latin typeface="Courier New"/>
              </a:rPr>
              <a:t>    ifstream inFile("results.txt");</a:t>
            </a:r>
          </a:p>
          <a:p>
            <a:pPr>
              <a:lnSpc>
                <a:spcPct val="100000"/>
              </a:lnSpc>
            </a:pPr>
            <a:r>
              <a:rPr sz="1250" b="0">
                <a:solidFill>
                  <a:srgbClr val="000000"/>
                </a:solidFill>
                <a:latin typeface="Courier New"/>
              </a:rPr>
              <a:t>    if (!inFile) { cout &lt;&lt; "File not found"; return 1; }</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    int roll, marks;</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    inFile.ignore(100, '\n');   </a:t>
            </a:r>
            <a:r>
              <a:rPr sz="1250" b="0">
                <a:solidFill>
                  <a:srgbClr val="595959"/>
                </a:solidFill>
                <a:latin typeface="Courier New"/>
              </a:rPr>
              <a:t>// skip the header line</a:t>
            </a:r>
          </a:p>
          <a:p>
            <a:pPr>
              <a:lnSpc>
                <a:spcPct val="100000"/>
              </a:lnSpc>
            </a:pPr>
            <a:r>
              <a:rPr sz="1250" b="0">
                <a:solidFill>
                  <a:srgbClr val="000000"/>
                </a:solidFill>
                <a:latin typeface="Courier New"/>
              </a:rPr>
              <a:t> </a:t>
            </a:r>
          </a:p>
          <a:p>
            <a:pPr>
              <a:lnSpc>
                <a:spcPct val="100000"/>
              </a:lnSpc>
            </a:pPr>
            <a:r>
              <a:rPr sz="1250" b="0">
                <a:solidFill>
                  <a:srgbClr val="000000"/>
                </a:solidFill>
                <a:latin typeface="Courier New"/>
              </a:rPr>
              <a:t>    while (inFile &gt;&gt; roll &gt;&gt; marks)</a:t>
            </a:r>
          </a:p>
          <a:p>
            <a:pPr>
              <a:lnSpc>
                <a:spcPct val="100000"/>
              </a:lnSpc>
            </a:pPr>
            <a:r>
              <a:rPr sz="1250" b="0">
                <a:solidFill>
                  <a:srgbClr val="000000"/>
                </a:solidFill>
                <a:latin typeface="Courier New"/>
              </a:rPr>
              <a:t>        cout &lt;&lt; "Roll " &lt;&lt; roll &lt;&lt; ": " &lt;&lt; marks &lt;&lt; endl;</a:t>
            </a:r>
          </a:p>
          <a:p>
            <a:pPr>
              <a:lnSpc>
                <a:spcPct val="100000"/>
              </a:lnSpc>
            </a:pPr>
            <a:r>
              <a:rPr sz="1250" b="0">
                <a:solidFill>
                  <a:srgbClr val="000000"/>
                </a:solidFill>
                <a:latin typeface="Courier New"/>
              </a:rPr>
              <a:t>    inFile.close();</a:t>
            </a:r>
          </a:p>
          <a:p>
            <a:pPr>
              <a:lnSpc>
                <a:spcPct val="100000"/>
              </a:lnSpc>
            </a:pPr>
            <a:r>
              <a:rPr sz="1250" b="0">
                <a:solidFill>
                  <a:srgbClr val="000000"/>
                </a:solidFill>
                <a:latin typeface="Courier New"/>
              </a:rPr>
              <a:t>    return 0;</a:t>
            </a:r>
          </a:p>
          <a:p>
            <a:pPr>
              <a:lnSpc>
                <a:spcPct val="100000"/>
              </a:lnSpc>
            </a:pPr>
            <a:r>
              <a:rPr sz="1250" b="0">
                <a:solidFill>
                  <a:srgbClr val="000000"/>
                </a:solidFill>
                <a:latin typeface="Courier New"/>
              </a:rPr>
              <a: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WORKED EXAMPLE · FORMAT 14 OF 15</a:t>
            </a:r>
            <a:endParaRPr lang="en-US" sz="1200" dirty="0"/>
          </a:p>
        </p:txBody>
      </p:sp>
      <p:sp>
        <p:nvSpPr>
          <p:cNvPr id="3" name="Text 1"/>
          <p:cNvSpPr>
            <a:spLocks noGrp="1"/>
          </p:cNvSpPr>
          <p:nvPr>
            <p:ph type="title"/>
          </p:nvPr>
        </p:nvSpPr>
        <p:spPr>
          <a:xfrm>
            <a:off x="812800" y="924520"/>
            <a:ext cx="6766560" cy="472380"/>
          </a:xfrm>
          <a:prstGeom prst="rect">
            <a:avLst/>
          </a:prstGeom>
          <a:noFill/>
          <a:ln/>
        </p:spPr>
        <p:txBody>
          <a:bodyPr wrap="square" lIns="0" tIns="0" rIns="0" bIns="0" rtlCol="0" anchor="t">
            <a:normAutofit/>
          </a:bodyPr>
          <a:lstStyle/>
          <a:p>
            <a:pPr marL="0" indent="0" algn="l">
              <a:lnSpc>
                <a:spcPts val="3520"/>
              </a:lnSpc>
              <a:buNone/>
            </a:pPr>
            <a:r>
              <a:rPr lang="en-US" sz="1800" b="1" i="0" strike="sngStrike" dirty="0">
                <a:solidFill>
                  <a:srgbClr val="000000"/>
                </a:solidFill>
                <a:latin typeface="Source Serif 4" pitchFamily="18" charset="0"/>
                <a:ea typeface="Source Serif 4" pitchFamily="18" charset="-122"/>
                <a:cs typeface="Source Serif 4" pitchFamily="18" charset="-120"/>
              </a:rPr>
              <a:t>Grid into a 2D array(Skip it Will discuss later in your course)</a:t>
            </a:r>
            <a:endParaRPr lang="en-US" sz="1800" strike="sngStrike" dirty="0"/>
          </a:p>
        </p:txBody>
      </p:sp>
      <p:sp>
        <p:nvSpPr>
          <p:cNvPr id="4" name="Rounded Rectangle 3"/>
          <p:cNvSpPr/>
          <p:nvPr/>
        </p:nvSpPr>
        <p:spPr>
          <a:xfrm>
            <a:off x="7808975" y="786384"/>
            <a:ext cx="3566160" cy="658368"/>
          </a:xfrm>
          <a:prstGeom prst="roundRect">
            <a:avLst>
              <a:gd name="adj" fmla="val 4000"/>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991855" y="850392"/>
            <a:ext cx="3200400" cy="201168"/>
          </a:xfrm>
          <a:prstGeom prst="rect">
            <a:avLst/>
          </a:prstGeom>
          <a:noFill/>
        </p:spPr>
        <p:txBody>
          <a:bodyPr wrap="square" lIns="0" tIns="0" rIns="0" bIns="0" anchor="t">
            <a:spAutoFit/>
          </a:bodyPr>
          <a:lstStyle/>
          <a:p>
            <a:pPr>
              <a:lnSpc>
                <a:spcPct val="100000"/>
              </a:lnSpc>
            </a:pPr>
            <a:r>
              <a:rPr sz="1000" b="1">
                <a:solidFill>
                  <a:srgbClr val="595959"/>
                </a:solidFill>
                <a:latin typeface="Carlito"/>
              </a:rPr>
              <a:t>FORMAT LOOKS LIKE</a:t>
            </a:r>
          </a:p>
        </p:txBody>
      </p:sp>
      <p:sp>
        <p:nvSpPr>
          <p:cNvPr id="6" name="TextBox 5"/>
          <p:cNvSpPr txBox="1"/>
          <p:nvPr/>
        </p:nvSpPr>
        <p:spPr>
          <a:xfrm>
            <a:off x="7991855" y="1069848"/>
            <a:ext cx="3200400" cy="274320"/>
          </a:xfrm>
          <a:prstGeom prst="rect">
            <a:avLst/>
          </a:prstGeom>
          <a:noFill/>
        </p:spPr>
        <p:txBody>
          <a:bodyPr wrap="square" lIns="0" tIns="0" rIns="0" bIns="0" anchor="t">
            <a:spAutoFit/>
          </a:bodyPr>
          <a:lstStyle/>
          <a:p>
            <a:pPr>
              <a:lnSpc>
                <a:spcPct val="100000"/>
              </a:lnSpc>
            </a:pPr>
            <a:r>
              <a:rPr sz="1500" b="1">
                <a:solidFill>
                  <a:srgbClr val="000000"/>
                </a:solidFill>
                <a:latin typeface="Courier New"/>
              </a:rPr>
              <a:t>2 3 | 1 2 3 | 4 5 6</a:t>
            </a:r>
          </a:p>
        </p:txBody>
      </p:sp>
      <p:sp>
        <p:nvSpPr>
          <p:cNvPr id="7" name="Rounded Rectangle 6"/>
          <p:cNvSpPr/>
          <p:nvPr/>
        </p:nvSpPr>
        <p:spPr>
          <a:xfrm>
            <a:off x="813816" y="1627632"/>
            <a:ext cx="3886200" cy="1408176"/>
          </a:xfrm>
          <a:prstGeom prst="roundRect">
            <a:avLst>
              <a:gd name="adj" fmla="val 4000"/>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14984" y="1783080"/>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1  The text file:  grid.txt</a:t>
            </a:r>
          </a:p>
        </p:txBody>
      </p:sp>
      <p:sp>
        <p:nvSpPr>
          <p:cNvPr id="9" name="TextBox 8"/>
          <p:cNvSpPr txBox="1"/>
          <p:nvPr/>
        </p:nvSpPr>
        <p:spPr>
          <a:xfrm>
            <a:off x="1014984" y="2103120"/>
            <a:ext cx="3520440" cy="768096"/>
          </a:xfrm>
          <a:prstGeom prst="rect">
            <a:avLst/>
          </a:prstGeom>
          <a:noFill/>
        </p:spPr>
        <p:txBody>
          <a:bodyPr wrap="square" lIns="0" tIns="0" rIns="0" bIns="0" anchor="t">
            <a:spAutoFit/>
          </a:bodyPr>
          <a:lstStyle/>
          <a:p>
            <a:pPr>
              <a:lnSpc>
                <a:spcPct val="100000"/>
              </a:lnSpc>
            </a:pPr>
            <a:r>
              <a:rPr sz="1500" b="0">
                <a:solidFill>
                  <a:srgbClr val="000000"/>
                </a:solidFill>
                <a:latin typeface="Courier New"/>
              </a:rPr>
              <a:t>2 3</a:t>
            </a:r>
          </a:p>
          <a:p>
            <a:pPr>
              <a:lnSpc>
                <a:spcPct val="100000"/>
              </a:lnSpc>
            </a:pPr>
            <a:r>
              <a:rPr sz="1500" b="0">
                <a:solidFill>
                  <a:srgbClr val="000000"/>
                </a:solidFill>
                <a:latin typeface="Courier New"/>
              </a:rPr>
              <a:t>1 2 3</a:t>
            </a:r>
          </a:p>
          <a:p>
            <a:pPr>
              <a:lnSpc>
                <a:spcPct val="100000"/>
              </a:lnSpc>
            </a:pPr>
            <a:r>
              <a:rPr sz="1500" b="0">
                <a:solidFill>
                  <a:srgbClr val="000000"/>
                </a:solidFill>
                <a:latin typeface="Courier New"/>
              </a:rPr>
              <a:t>4 5 6</a:t>
            </a:r>
          </a:p>
        </p:txBody>
      </p:sp>
      <p:sp>
        <p:nvSpPr>
          <p:cNvPr id="10" name="Rounded Rectangle 9"/>
          <p:cNvSpPr/>
          <p:nvPr/>
        </p:nvSpPr>
        <p:spPr>
          <a:xfrm>
            <a:off x="813816" y="3264408"/>
            <a:ext cx="3886200" cy="1097280"/>
          </a:xfrm>
          <a:prstGeom prst="roundRect">
            <a:avLst>
              <a:gd name="adj" fmla="val 4000"/>
            </a:avLst>
          </a:prstGeom>
          <a:solidFill>
            <a:srgbClr val="FFFFFF"/>
          </a:solidFill>
          <a:ln w="1905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14984" y="3419856"/>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3  Output on the screen</a:t>
            </a:r>
          </a:p>
        </p:txBody>
      </p:sp>
      <p:sp>
        <p:nvSpPr>
          <p:cNvPr id="12" name="TextBox 11"/>
          <p:cNvSpPr txBox="1"/>
          <p:nvPr/>
        </p:nvSpPr>
        <p:spPr>
          <a:xfrm>
            <a:off x="1014984" y="3739896"/>
            <a:ext cx="3520440" cy="457200"/>
          </a:xfrm>
          <a:prstGeom prst="rect">
            <a:avLst/>
          </a:prstGeom>
          <a:noFill/>
        </p:spPr>
        <p:txBody>
          <a:bodyPr wrap="square" lIns="0" tIns="0" rIns="0" bIns="0" anchor="t">
            <a:spAutoFit/>
          </a:bodyPr>
          <a:lstStyle/>
          <a:p>
            <a:pPr>
              <a:lnSpc>
                <a:spcPct val="100000"/>
              </a:lnSpc>
            </a:pPr>
            <a:r>
              <a:rPr sz="1300" b="0">
                <a:solidFill>
                  <a:srgbClr val="000000"/>
                </a:solidFill>
                <a:latin typeface="Courier New"/>
              </a:rPr>
              <a:t>1 2 3   row sum = 6</a:t>
            </a:r>
          </a:p>
          <a:p>
            <a:pPr>
              <a:lnSpc>
                <a:spcPct val="100000"/>
              </a:lnSpc>
            </a:pPr>
            <a:r>
              <a:rPr sz="1300" b="0">
                <a:solidFill>
                  <a:srgbClr val="000000"/>
                </a:solidFill>
                <a:latin typeface="Courier New"/>
              </a:rPr>
              <a:t>4 5 6   row sum = 15</a:t>
            </a:r>
          </a:p>
        </p:txBody>
      </p:sp>
      <p:sp>
        <p:nvSpPr>
          <p:cNvPr id="13" name="TextBox 12"/>
          <p:cNvSpPr txBox="1"/>
          <p:nvPr/>
        </p:nvSpPr>
        <p:spPr>
          <a:xfrm>
            <a:off x="813816" y="4590288"/>
            <a:ext cx="3886200" cy="1810511"/>
          </a:xfrm>
          <a:prstGeom prst="rect">
            <a:avLst/>
          </a:prstGeom>
          <a:noFill/>
        </p:spPr>
        <p:txBody>
          <a:bodyPr wrap="square" lIns="0" tIns="0" rIns="0" bIns="0" anchor="t">
            <a:spAutoFit/>
          </a:bodyPr>
          <a:lstStyle/>
          <a:p>
            <a:pPr>
              <a:lnSpc>
                <a:spcPct val="100000"/>
              </a:lnSpc>
            </a:pPr>
            <a:r>
              <a:rPr sz="1400" b="1">
                <a:solidFill>
                  <a:srgbClr val="000000"/>
                </a:solidFill>
                <a:latin typeface="Carlito"/>
              </a:rPr>
              <a:t>Key idea: </a:t>
            </a:r>
            <a:r>
              <a:rPr sz="1400" b="0">
                <a:solidFill>
                  <a:srgbClr val="000000"/>
                </a:solidFill>
                <a:latin typeface="Carlito"/>
              </a:rPr>
              <a:t>Rows and columns come first, then nested loops fill m[i][j].</a:t>
            </a:r>
          </a:p>
        </p:txBody>
      </p:sp>
      <p:sp>
        <p:nvSpPr>
          <p:cNvPr id="14" name="Rounded Rectangle 13"/>
          <p:cNvSpPr/>
          <p:nvPr/>
        </p:nvSpPr>
        <p:spPr>
          <a:xfrm>
            <a:off x="4974336" y="1627632"/>
            <a:ext cx="6400800" cy="4773168"/>
          </a:xfrm>
          <a:prstGeom prst="roundRect">
            <a:avLst>
              <a:gd name="adj" fmla="val 4000"/>
            </a:avLst>
          </a:prstGeom>
          <a:solidFill>
            <a:srgbClr val="F2F2F2"/>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202936" y="1783080"/>
            <a:ext cx="594360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2  The program</a:t>
            </a:r>
          </a:p>
        </p:txBody>
      </p:sp>
      <p:sp>
        <p:nvSpPr>
          <p:cNvPr id="16" name="TextBox 15"/>
          <p:cNvSpPr txBox="1"/>
          <p:nvPr/>
        </p:nvSpPr>
        <p:spPr>
          <a:xfrm>
            <a:off x="5202936" y="2130552"/>
            <a:ext cx="5943600" cy="4069079"/>
          </a:xfrm>
          <a:prstGeom prst="rect">
            <a:avLst/>
          </a:prstGeom>
          <a:noFill/>
        </p:spPr>
        <p:txBody>
          <a:bodyPr wrap="square" lIns="0" tIns="0" rIns="0" bIns="0" anchor="t">
            <a:spAutoFit/>
          </a:bodyPr>
          <a:lstStyle/>
          <a:p>
            <a:pPr>
              <a:lnSpc>
                <a:spcPct val="100000"/>
              </a:lnSpc>
            </a:pPr>
            <a:r>
              <a:rPr sz="1050" b="0">
                <a:solidFill>
                  <a:srgbClr val="000000"/>
                </a:solidFill>
                <a:latin typeface="Courier New"/>
              </a:rPr>
              <a:t>#include &lt;iostream&gt;</a:t>
            </a:r>
          </a:p>
          <a:p>
            <a:pPr>
              <a:lnSpc>
                <a:spcPct val="100000"/>
              </a:lnSpc>
            </a:pPr>
            <a:r>
              <a:rPr sz="1050" b="0">
                <a:solidFill>
                  <a:srgbClr val="000000"/>
                </a:solidFill>
                <a:latin typeface="Courier New"/>
              </a:rPr>
              <a:t>#include &lt;fstream&gt;</a:t>
            </a:r>
          </a:p>
          <a:p>
            <a:pPr>
              <a:lnSpc>
                <a:spcPct val="100000"/>
              </a:lnSpc>
            </a:pPr>
            <a:r>
              <a:rPr sz="1050" b="0">
                <a:solidFill>
                  <a:srgbClr val="000000"/>
                </a:solidFill>
                <a:latin typeface="Courier New"/>
              </a:rPr>
              <a:t>using namespace std;</a:t>
            </a:r>
          </a:p>
          <a:p>
            <a:pPr>
              <a:lnSpc>
                <a:spcPct val="100000"/>
              </a:lnSpc>
            </a:pPr>
            <a:r>
              <a:rPr sz="1050" b="0">
                <a:solidFill>
                  <a:srgbClr val="000000"/>
                </a:solidFill>
                <a:latin typeface="Courier New"/>
              </a:rPr>
              <a:t> </a:t>
            </a:r>
          </a:p>
          <a:p>
            <a:pPr>
              <a:lnSpc>
                <a:spcPct val="100000"/>
              </a:lnSpc>
            </a:pPr>
            <a:r>
              <a:rPr sz="1050" b="0">
                <a:solidFill>
                  <a:srgbClr val="000000"/>
                </a:solidFill>
                <a:latin typeface="Courier New"/>
              </a:rPr>
              <a:t>int main() {</a:t>
            </a:r>
          </a:p>
          <a:p>
            <a:pPr>
              <a:lnSpc>
                <a:spcPct val="100000"/>
              </a:lnSpc>
            </a:pPr>
            <a:r>
              <a:rPr sz="1050" b="0">
                <a:solidFill>
                  <a:srgbClr val="000000"/>
                </a:solidFill>
                <a:latin typeface="Courier New"/>
              </a:rPr>
              <a:t>    ifstream inFile("grid.txt");</a:t>
            </a:r>
          </a:p>
          <a:p>
            <a:pPr>
              <a:lnSpc>
                <a:spcPct val="100000"/>
              </a:lnSpc>
            </a:pPr>
            <a:r>
              <a:rPr sz="1050" b="0">
                <a:solidFill>
                  <a:srgbClr val="000000"/>
                </a:solidFill>
                <a:latin typeface="Courier New"/>
              </a:rPr>
              <a:t>    if (!inFile) { cout &lt;&lt; "File not found"; return 1; }</a:t>
            </a:r>
          </a:p>
          <a:p>
            <a:pPr>
              <a:lnSpc>
                <a:spcPct val="100000"/>
              </a:lnSpc>
            </a:pPr>
            <a:r>
              <a:rPr sz="1050" b="0">
                <a:solidFill>
                  <a:srgbClr val="000000"/>
                </a:solidFill>
                <a:latin typeface="Courier New"/>
              </a:rPr>
              <a:t> </a:t>
            </a:r>
          </a:p>
          <a:p>
            <a:pPr>
              <a:lnSpc>
                <a:spcPct val="100000"/>
              </a:lnSpc>
            </a:pPr>
            <a:r>
              <a:rPr sz="1050" b="0">
                <a:solidFill>
                  <a:srgbClr val="000000"/>
                </a:solidFill>
                <a:latin typeface="Courier New"/>
              </a:rPr>
              <a:t>    int r, c, m[5][5];</a:t>
            </a:r>
          </a:p>
          <a:p>
            <a:pPr>
              <a:lnSpc>
                <a:spcPct val="100000"/>
              </a:lnSpc>
            </a:pPr>
            <a:r>
              <a:rPr sz="1050" b="0">
                <a:solidFill>
                  <a:srgbClr val="000000"/>
                </a:solidFill>
                <a:latin typeface="Courier New"/>
              </a:rPr>
              <a:t>    inFile &gt;&gt; r &gt;&gt; c;</a:t>
            </a:r>
          </a:p>
          <a:p>
            <a:pPr>
              <a:lnSpc>
                <a:spcPct val="100000"/>
              </a:lnSpc>
            </a:pPr>
            <a:r>
              <a:rPr sz="1050" b="0">
                <a:solidFill>
                  <a:srgbClr val="000000"/>
                </a:solidFill>
                <a:latin typeface="Courier New"/>
              </a:rPr>
              <a:t> </a:t>
            </a:r>
          </a:p>
          <a:p>
            <a:pPr>
              <a:lnSpc>
                <a:spcPct val="100000"/>
              </a:lnSpc>
            </a:pPr>
            <a:r>
              <a:rPr sz="1050" b="0">
                <a:solidFill>
                  <a:srgbClr val="000000"/>
                </a:solidFill>
                <a:latin typeface="Courier New"/>
              </a:rPr>
              <a:t>    for (int i = 0; i &lt; r; i++)</a:t>
            </a:r>
          </a:p>
          <a:p>
            <a:pPr>
              <a:lnSpc>
                <a:spcPct val="100000"/>
              </a:lnSpc>
            </a:pPr>
            <a:r>
              <a:rPr sz="1050" b="0">
                <a:solidFill>
                  <a:srgbClr val="000000"/>
                </a:solidFill>
                <a:latin typeface="Courier New"/>
              </a:rPr>
              <a:t>        for (int j = 0; j &lt; c; j++)</a:t>
            </a:r>
          </a:p>
          <a:p>
            <a:pPr>
              <a:lnSpc>
                <a:spcPct val="100000"/>
              </a:lnSpc>
            </a:pPr>
            <a:r>
              <a:rPr sz="1050" b="0">
                <a:solidFill>
                  <a:srgbClr val="000000"/>
                </a:solidFill>
                <a:latin typeface="Courier New"/>
              </a:rPr>
              <a:t>            inFile &gt;&gt; m[i][j];</a:t>
            </a:r>
          </a:p>
          <a:p>
            <a:pPr>
              <a:lnSpc>
                <a:spcPct val="100000"/>
              </a:lnSpc>
            </a:pPr>
            <a:r>
              <a:rPr sz="1050" b="0">
                <a:solidFill>
                  <a:srgbClr val="000000"/>
                </a:solidFill>
                <a:latin typeface="Courier New"/>
              </a:rPr>
              <a:t> </a:t>
            </a:r>
          </a:p>
          <a:p>
            <a:pPr>
              <a:lnSpc>
                <a:spcPct val="100000"/>
              </a:lnSpc>
            </a:pPr>
            <a:r>
              <a:rPr sz="1050" b="0">
                <a:solidFill>
                  <a:srgbClr val="000000"/>
                </a:solidFill>
                <a:latin typeface="Courier New"/>
              </a:rPr>
              <a:t>    for (int i = 0; i &lt; r; i++) {</a:t>
            </a:r>
          </a:p>
          <a:p>
            <a:pPr>
              <a:lnSpc>
                <a:spcPct val="100000"/>
              </a:lnSpc>
            </a:pPr>
            <a:r>
              <a:rPr sz="1050" b="0">
                <a:solidFill>
                  <a:srgbClr val="000000"/>
                </a:solidFill>
                <a:latin typeface="Courier New"/>
              </a:rPr>
              <a:t>        int rowSum = 0;</a:t>
            </a:r>
          </a:p>
          <a:p>
            <a:pPr>
              <a:lnSpc>
                <a:spcPct val="100000"/>
              </a:lnSpc>
            </a:pPr>
            <a:r>
              <a:rPr sz="1050" b="0">
                <a:solidFill>
                  <a:srgbClr val="000000"/>
                </a:solidFill>
                <a:latin typeface="Courier New"/>
              </a:rPr>
              <a:t>        for (int j = 0; j &lt; c; j++) {</a:t>
            </a:r>
          </a:p>
          <a:p>
            <a:pPr>
              <a:lnSpc>
                <a:spcPct val="100000"/>
              </a:lnSpc>
            </a:pPr>
            <a:r>
              <a:rPr sz="1050" b="0">
                <a:solidFill>
                  <a:srgbClr val="000000"/>
                </a:solidFill>
                <a:latin typeface="Courier New"/>
              </a:rPr>
              <a:t>            cout &lt;&lt; m[i][j] &lt;&lt; " ";</a:t>
            </a:r>
          </a:p>
          <a:p>
            <a:pPr>
              <a:lnSpc>
                <a:spcPct val="100000"/>
              </a:lnSpc>
            </a:pPr>
            <a:r>
              <a:rPr sz="1050" b="0">
                <a:solidFill>
                  <a:srgbClr val="000000"/>
                </a:solidFill>
                <a:latin typeface="Courier New"/>
              </a:rPr>
              <a:t>            rowSum += m[i][j];</a:t>
            </a:r>
          </a:p>
          <a:p>
            <a:pPr>
              <a:lnSpc>
                <a:spcPct val="100000"/>
              </a:lnSpc>
            </a:pPr>
            <a:r>
              <a:rPr sz="1050" b="0">
                <a:solidFill>
                  <a:srgbClr val="000000"/>
                </a:solidFill>
                <a:latin typeface="Courier New"/>
              </a:rPr>
              <a:t>        }</a:t>
            </a:r>
          </a:p>
          <a:p>
            <a:pPr>
              <a:lnSpc>
                <a:spcPct val="100000"/>
              </a:lnSpc>
            </a:pPr>
            <a:r>
              <a:rPr sz="1050" b="0">
                <a:solidFill>
                  <a:srgbClr val="000000"/>
                </a:solidFill>
                <a:latin typeface="Courier New"/>
              </a:rPr>
              <a:t>        cout &lt;&lt; "  row sum = " &lt;&lt; rowSum &lt;&lt; endl;</a:t>
            </a:r>
          </a:p>
          <a:p>
            <a:pPr>
              <a:lnSpc>
                <a:spcPct val="100000"/>
              </a:lnSpc>
            </a:pPr>
            <a:r>
              <a:rPr sz="1050" b="0">
                <a:solidFill>
                  <a:srgbClr val="000000"/>
                </a:solidFill>
                <a:latin typeface="Courier New"/>
              </a:rPr>
              <a:t>    }</a:t>
            </a:r>
          </a:p>
          <a:p>
            <a:pPr>
              <a:lnSpc>
                <a:spcPct val="100000"/>
              </a:lnSpc>
            </a:pPr>
            <a:r>
              <a:rPr sz="1050" b="0">
                <a:solidFill>
                  <a:srgbClr val="000000"/>
                </a:solidFill>
                <a:latin typeface="Courier New"/>
              </a:rPr>
              <a:t>    inFile.close();</a:t>
            </a:r>
          </a:p>
          <a:p>
            <a:pPr>
              <a:lnSpc>
                <a:spcPct val="100000"/>
              </a:lnSpc>
            </a:pPr>
            <a:r>
              <a:rPr sz="1050" b="0">
                <a:solidFill>
                  <a:srgbClr val="000000"/>
                </a:solidFill>
                <a:latin typeface="Courier New"/>
              </a:rPr>
              <a:t>    return 0;</a:t>
            </a:r>
          </a:p>
          <a:p>
            <a:pPr>
              <a:lnSpc>
                <a:spcPct val="100000"/>
              </a:lnSpc>
            </a:pPr>
            <a:r>
              <a:rPr sz="1050" b="0">
                <a:solidFill>
                  <a:srgbClr val="000000"/>
                </a:solidFill>
                <a:latin typeface="Courier New"/>
              </a:rPr>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WORKED EXAMPLE · FORMAT 15 OF 15</a:t>
            </a:r>
            <a:endParaRPr lang="en-US" sz="1200" dirty="0"/>
          </a:p>
        </p:txBody>
      </p:sp>
      <p:sp>
        <p:nvSpPr>
          <p:cNvPr id="3" name="Text 1"/>
          <p:cNvSpPr>
            <a:spLocks noGrp="1"/>
          </p:cNvSpPr>
          <p:nvPr>
            <p:ph type="title"/>
          </p:nvPr>
        </p:nvSpPr>
        <p:spPr>
          <a:xfrm>
            <a:off x="812800" y="924520"/>
            <a:ext cx="6766560"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Numbers mixed with junk</a:t>
            </a:r>
            <a:endParaRPr lang="en-US" sz="3200" dirty="0"/>
          </a:p>
        </p:txBody>
      </p:sp>
      <p:sp>
        <p:nvSpPr>
          <p:cNvPr id="4" name="Rounded Rectangle 3"/>
          <p:cNvSpPr/>
          <p:nvPr/>
        </p:nvSpPr>
        <p:spPr>
          <a:xfrm>
            <a:off x="7808975" y="786384"/>
            <a:ext cx="3566160" cy="658368"/>
          </a:xfrm>
          <a:prstGeom prst="roundRect">
            <a:avLst>
              <a:gd name="adj" fmla="val 4000"/>
            </a:avLst>
          </a:prstGeom>
          <a:solidFill>
            <a:srgbClr val="FFFFFF"/>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TextBox 4"/>
          <p:cNvSpPr txBox="1"/>
          <p:nvPr/>
        </p:nvSpPr>
        <p:spPr>
          <a:xfrm>
            <a:off x="7991855" y="850392"/>
            <a:ext cx="3200400" cy="201168"/>
          </a:xfrm>
          <a:prstGeom prst="rect">
            <a:avLst/>
          </a:prstGeom>
          <a:noFill/>
        </p:spPr>
        <p:txBody>
          <a:bodyPr wrap="square" lIns="0" tIns="0" rIns="0" bIns="0" anchor="t">
            <a:spAutoFit/>
          </a:bodyPr>
          <a:lstStyle/>
          <a:p>
            <a:pPr>
              <a:lnSpc>
                <a:spcPct val="100000"/>
              </a:lnSpc>
            </a:pPr>
            <a:r>
              <a:rPr sz="1000" b="1">
                <a:solidFill>
                  <a:srgbClr val="595959"/>
                </a:solidFill>
                <a:latin typeface="Carlito"/>
              </a:rPr>
              <a:t>FORMAT LOOKS LIKE</a:t>
            </a:r>
          </a:p>
        </p:txBody>
      </p:sp>
      <p:sp>
        <p:nvSpPr>
          <p:cNvPr id="6" name="TextBox 5"/>
          <p:cNvSpPr txBox="1"/>
          <p:nvPr/>
        </p:nvSpPr>
        <p:spPr>
          <a:xfrm>
            <a:off x="7991855" y="1069848"/>
            <a:ext cx="3200400" cy="274320"/>
          </a:xfrm>
          <a:prstGeom prst="rect">
            <a:avLst/>
          </a:prstGeom>
          <a:noFill/>
        </p:spPr>
        <p:txBody>
          <a:bodyPr wrap="square" lIns="0" tIns="0" rIns="0" bIns="0" anchor="t">
            <a:spAutoFit/>
          </a:bodyPr>
          <a:lstStyle/>
          <a:p>
            <a:pPr>
              <a:lnSpc>
                <a:spcPct val="100000"/>
              </a:lnSpc>
            </a:pPr>
            <a:r>
              <a:rPr sz="1500" b="1">
                <a:solidFill>
                  <a:srgbClr val="000000"/>
                </a:solidFill>
                <a:latin typeface="Courier New"/>
              </a:rPr>
              <a:t>10 20 abc 40 x 50</a:t>
            </a:r>
          </a:p>
        </p:txBody>
      </p:sp>
      <p:sp>
        <p:nvSpPr>
          <p:cNvPr id="7" name="Rounded Rectangle 6"/>
          <p:cNvSpPr/>
          <p:nvPr/>
        </p:nvSpPr>
        <p:spPr>
          <a:xfrm>
            <a:off x="813816" y="1627632"/>
            <a:ext cx="3886200" cy="896112"/>
          </a:xfrm>
          <a:prstGeom prst="roundRect">
            <a:avLst>
              <a:gd name="adj" fmla="val 4000"/>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014984" y="1783080"/>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1  The text file:  readings.txt</a:t>
            </a:r>
          </a:p>
        </p:txBody>
      </p:sp>
      <p:sp>
        <p:nvSpPr>
          <p:cNvPr id="9" name="TextBox 8"/>
          <p:cNvSpPr txBox="1"/>
          <p:nvPr/>
        </p:nvSpPr>
        <p:spPr>
          <a:xfrm>
            <a:off x="1014984" y="2103120"/>
            <a:ext cx="3520440" cy="256032"/>
          </a:xfrm>
          <a:prstGeom prst="rect">
            <a:avLst/>
          </a:prstGeom>
          <a:noFill/>
        </p:spPr>
        <p:txBody>
          <a:bodyPr wrap="square" lIns="0" tIns="0" rIns="0" bIns="0" anchor="t">
            <a:spAutoFit/>
          </a:bodyPr>
          <a:lstStyle/>
          <a:p>
            <a:pPr>
              <a:lnSpc>
                <a:spcPct val="100000"/>
              </a:lnSpc>
            </a:pPr>
            <a:r>
              <a:rPr sz="1500" b="0">
                <a:solidFill>
                  <a:srgbClr val="000000"/>
                </a:solidFill>
                <a:latin typeface="Courier New"/>
              </a:rPr>
              <a:t>10 20 abc 40 x 50</a:t>
            </a:r>
          </a:p>
        </p:txBody>
      </p:sp>
      <p:sp>
        <p:nvSpPr>
          <p:cNvPr id="10" name="Rounded Rectangle 9"/>
          <p:cNvSpPr/>
          <p:nvPr/>
        </p:nvSpPr>
        <p:spPr>
          <a:xfrm>
            <a:off x="813816" y="2752344"/>
            <a:ext cx="3886200" cy="1097280"/>
          </a:xfrm>
          <a:prstGeom prst="roundRect">
            <a:avLst>
              <a:gd name="adj" fmla="val 4000"/>
            </a:avLst>
          </a:prstGeom>
          <a:solidFill>
            <a:srgbClr val="FFFFFF"/>
          </a:solidFill>
          <a:ln w="1905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014984" y="2907791"/>
            <a:ext cx="352044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3  Output on the screen</a:t>
            </a:r>
          </a:p>
        </p:txBody>
      </p:sp>
      <p:sp>
        <p:nvSpPr>
          <p:cNvPr id="12" name="TextBox 11"/>
          <p:cNvSpPr txBox="1"/>
          <p:nvPr/>
        </p:nvSpPr>
        <p:spPr>
          <a:xfrm>
            <a:off x="1014984" y="3227832"/>
            <a:ext cx="3520440" cy="457200"/>
          </a:xfrm>
          <a:prstGeom prst="rect">
            <a:avLst/>
          </a:prstGeom>
          <a:noFill/>
        </p:spPr>
        <p:txBody>
          <a:bodyPr wrap="square" lIns="0" tIns="0" rIns="0" bIns="0" anchor="t">
            <a:spAutoFit/>
          </a:bodyPr>
          <a:lstStyle/>
          <a:p>
            <a:pPr>
              <a:lnSpc>
                <a:spcPct val="100000"/>
              </a:lnSpc>
            </a:pPr>
            <a:r>
              <a:rPr sz="1300" b="0">
                <a:solidFill>
                  <a:srgbClr val="000000"/>
                </a:solidFill>
                <a:latin typeface="Courier New"/>
              </a:rPr>
              <a:t>Kept: 10 20 40 50 </a:t>
            </a:r>
          </a:p>
          <a:p>
            <a:pPr>
              <a:lnSpc>
                <a:spcPct val="100000"/>
              </a:lnSpc>
            </a:pPr>
            <a:r>
              <a:rPr sz="1300" b="0">
                <a:solidFill>
                  <a:srgbClr val="000000"/>
                </a:solidFill>
                <a:latin typeface="Courier New"/>
              </a:rPr>
              <a:t>Skipped: 2</a:t>
            </a:r>
          </a:p>
        </p:txBody>
      </p:sp>
      <p:sp>
        <p:nvSpPr>
          <p:cNvPr id="13" name="TextBox 12"/>
          <p:cNvSpPr txBox="1"/>
          <p:nvPr/>
        </p:nvSpPr>
        <p:spPr>
          <a:xfrm>
            <a:off x="813816" y="4078224"/>
            <a:ext cx="3886200" cy="2322576"/>
          </a:xfrm>
          <a:prstGeom prst="rect">
            <a:avLst/>
          </a:prstGeom>
          <a:noFill/>
        </p:spPr>
        <p:txBody>
          <a:bodyPr wrap="square" lIns="0" tIns="0" rIns="0" bIns="0" anchor="t">
            <a:spAutoFit/>
          </a:bodyPr>
          <a:lstStyle/>
          <a:p>
            <a:pPr>
              <a:lnSpc>
                <a:spcPct val="100000"/>
              </a:lnSpc>
            </a:pPr>
            <a:r>
              <a:rPr sz="1400" b="1">
                <a:solidFill>
                  <a:srgbClr val="000000"/>
                </a:solidFill>
                <a:latin typeface="Carlito"/>
              </a:rPr>
              <a:t>Key idea: </a:t>
            </a:r>
            <a:r>
              <a:rPr sz="1400" b="0">
                <a:solidFill>
                  <a:srgbClr val="000000"/>
                </a:solidFill>
                <a:latin typeface="Carlito"/>
              </a:rPr>
              <a:t>Each pass asks: number, end of file, or junk? clear() then skip the junk.</a:t>
            </a:r>
          </a:p>
        </p:txBody>
      </p:sp>
      <p:sp>
        <p:nvSpPr>
          <p:cNvPr id="14" name="Rounded Rectangle 13"/>
          <p:cNvSpPr/>
          <p:nvPr/>
        </p:nvSpPr>
        <p:spPr>
          <a:xfrm>
            <a:off x="4974336" y="1627632"/>
            <a:ext cx="6400800" cy="4773168"/>
          </a:xfrm>
          <a:prstGeom prst="roundRect">
            <a:avLst>
              <a:gd name="adj" fmla="val 4000"/>
            </a:avLst>
          </a:prstGeom>
          <a:solidFill>
            <a:srgbClr val="F2F2F2"/>
          </a:solidFill>
          <a:ln w="15875">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5202936" y="1783080"/>
            <a:ext cx="5943600" cy="228600"/>
          </a:xfrm>
          <a:prstGeom prst="rect">
            <a:avLst/>
          </a:prstGeom>
          <a:noFill/>
        </p:spPr>
        <p:txBody>
          <a:bodyPr wrap="square" lIns="0" tIns="0" rIns="0" bIns="0" anchor="t">
            <a:spAutoFit/>
          </a:bodyPr>
          <a:lstStyle/>
          <a:p>
            <a:pPr>
              <a:lnSpc>
                <a:spcPct val="100000"/>
              </a:lnSpc>
            </a:pPr>
            <a:r>
              <a:rPr sz="1300" b="1">
                <a:solidFill>
                  <a:srgbClr val="000000"/>
                </a:solidFill>
                <a:latin typeface="Carlito"/>
              </a:rPr>
              <a:t>2  The program</a:t>
            </a:r>
          </a:p>
        </p:txBody>
      </p:sp>
      <p:sp>
        <p:nvSpPr>
          <p:cNvPr id="16" name="TextBox 15"/>
          <p:cNvSpPr txBox="1"/>
          <p:nvPr/>
        </p:nvSpPr>
        <p:spPr>
          <a:xfrm>
            <a:off x="5202936" y="2130552"/>
            <a:ext cx="5943600" cy="4069079"/>
          </a:xfrm>
          <a:prstGeom prst="rect">
            <a:avLst/>
          </a:prstGeom>
          <a:noFill/>
        </p:spPr>
        <p:txBody>
          <a:bodyPr wrap="square" lIns="0" tIns="0" rIns="0" bIns="0" anchor="t">
            <a:spAutoFit/>
          </a:bodyPr>
          <a:lstStyle/>
          <a:p>
            <a:pPr>
              <a:lnSpc>
                <a:spcPct val="100000"/>
              </a:lnSpc>
            </a:pPr>
            <a:r>
              <a:rPr sz="1000" b="0">
                <a:solidFill>
                  <a:srgbClr val="000000"/>
                </a:solidFill>
                <a:latin typeface="Courier New"/>
              </a:rPr>
              <a:t>#include &lt;iostream&gt;</a:t>
            </a:r>
          </a:p>
          <a:p>
            <a:pPr>
              <a:lnSpc>
                <a:spcPct val="100000"/>
              </a:lnSpc>
            </a:pPr>
            <a:r>
              <a:rPr sz="1000" b="0">
                <a:solidFill>
                  <a:srgbClr val="000000"/>
                </a:solidFill>
                <a:latin typeface="Courier New"/>
              </a:rPr>
              <a:t>#include &lt;fstream&gt;</a:t>
            </a:r>
          </a:p>
          <a:p>
            <a:pPr>
              <a:lnSpc>
                <a:spcPct val="100000"/>
              </a:lnSpc>
            </a:pPr>
            <a:r>
              <a:rPr sz="1000" b="0">
                <a:solidFill>
                  <a:srgbClr val="000000"/>
                </a:solidFill>
                <a:latin typeface="Courier New"/>
              </a:rPr>
              <a:t>using namespace std;</a:t>
            </a:r>
          </a:p>
          <a:p>
            <a:pPr>
              <a:lnSpc>
                <a:spcPct val="100000"/>
              </a:lnSpc>
            </a:pPr>
            <a:r>
              <a:rPr sz="1000" b="0">
                <a:solidFill>
                  <a:srgbClr val="000000"/>
                </a:solidFill>
                <a:latin typeface="Courier New"/>
              </a:rPr>
              <a:t> </a:t>
            </a:r>
          </a:p>
          <a:p>
            <a:pPr>
              <a:lnSpc>
                <a:spcPct val="100000"/>
              </a:lnSpc>
            </a:pPr>
            <a:r>
              <a:rPr sz="1000" b="0">
                <a:solidFill>
                  <a:srgbClr val="000000"/>
                </a:solidFill>
                <a:latin typeface="Courier New"/>
              </a:rPr>
              <a:t>int main() {</a:t>
            </a:r>
          </a:p>
          <a:p>
            <a:pPr>
              <a:lnSpc>
                <a:spcPct val="100000"/>
              </a:lnSpc>
            </a:pPr>
            <a:r>
              <a:rPr sz="1000" b="0">
                <a:solidFill>
                  <a:srgbClr val="000000"/>
                </a:solidFill>
                <a:latin typeface="Courier New"/>
              </a:rPr>
              <a:t>    ifstream inFile("readings.txt");</a:t>
            </a:r>
          </a:p>
          <a:p>
            <a:pPr>
              <a:lnSpc>
                <a:spcPct val="100000"/>
              </a:lnSpc>
            </a:pPr>
            <a:r>
              <a:rPr sz="1000" b="0">
                <a:solidFill>
                  <a:srgbClr val="000000"/>
                </a:solidFill>
                <a:latin typeface="Courier New"/>
              </a:rPr>
              <a:t>    if (!inFile) { cout &lt;&lt; "File not found"; return 1; }</a:t>
            </a:r>
          </a:p>
          <a:p>
            <a:pPr>
              <a:lnSpc>
                <a:spcPct val="100000"/>
              </a:lnSpc>
            </a:pPr>
            <a:r>
              <a:rPr sz="1000" b="0">
                <a:solidFill>
                  <a:srgbClr val="000000"/>
                </a:solidFill>
                <a:latin typeface="Courier New"/>
              </a:rPr>
              <a:t> </a:t>
            </a:r>
          </a:p>
          <a:p>
            <a:pPr>
              <a:lnSpc>
                <a:spcPct val="100000"/>
              </a:lnSpc>
            </a:pPr>
            <a:r>
              <a:rPr sz="1000" b="0">
                <a:solidFill>
                  <a:srgbClr val="000000"/>
                </a:solidFill>
                <a:latin typeface="Courier New"/>
              </a:rPr>
              <a:t>    int a[10], count = 0, bad = 0;</a:t>
            </a:r>
          </a:p>
          <a:p>
            <a:pPr>
              <a:lnSpc>
                <a:spcPct val="100000"/>
              </a:lnSpc>
            </a:pPr>
            <a:r>
              <a:rPr sz="1000" b="0">
                <a:solidFill>
                  <a:srgbClr val="000000"/>
                </a:solidFill>
                <a:latin typeface="Courier New"/>
              </a:rPr>
              <a:t>    char junk[50];</a:t>
            </a:r>
          </a:p>
          <a:p>
            <a:pPr>
              <a:lnSpc>
                <a:spcPct val="100000"/>
              </a:lnSpc>
            </a:pPr>
            <a:r>
              <a:rPr sz="1000" b="0">
                <a:solidFill>
                  <a:srgbClr val="000000"/>
                </a:solidFill>
                <a:latin typeface="Courier New"/>
              </a:rPr>
              <a:t>    while (count &lt; 10) {</a:t>
            </a:r>
          </a:p>
          <a:p>
            <a:pPr>
              <a:lnSpc>
                <a:spcPct val="100000"/>
              </a:lnSpc>
            </a:pPr>
            <a:r>
              <a:rPr sz="1000" b="0">
                <a:solidFill>
                  <a:srgbClr val="000000"/>
                </a:solidFill>
                <a:latin typeface="Courier New"/>
              </a:rPr>
              <a:t>        if (inFile &gt;&gt; a[count])          </a:t>
            </a:r>
            <a:r>
              <a:rPr sz="1000" b="0">
                <a:solidFill>
                  <a:srgbClr val="595959"/>
                </a:solidFill>
                <a:latin typeface="Courier New"/>
              </a:rPr>
              <a:t>// a number</a:t>
            </a:r>
          </a:p>
          <a:p>
            <a:pPr>
              <a:lnSpc>
                <a:spcPct val="100000"/>
              </a:lnSpc>
            </a:pPr>
            <a:r>
              <a:rPr sz="1000" b="0">
                <a:solidFill>
                  <a:srgbClr val="000000"/>
                </a:solidFill>
                <a:latin typeface="Courier New"/>
              </a:rPr>
              <a:t>            count++;</a:t>
            </a:r>
          </a:p>
          <a:p>
            <a:pPr>
              <a:lnSpc>
                <a:spcPct val="100000"/>
              </a:lnSpc>
            </a:pPr>
            <a:r>
              <a:rPr sz="1000" b="0">
                <a:solidFill>
                  <a:srgbClr val="000000"/>
                </a:solidFill>
                <a:latin typeface="Courier New"/>
              </a:rPr>
              <a:t>        else if (inFile.eof())           </a:t>
            </a:r>
            <a:r>
              <a:rPr sz="1000" b="0">
                <a:solidFill>
                  <a:srgbClr val="595959"/>
                </a:solidFill>
                <a:latin typeface="Courier New"/>
              </a:rPr>
              <a:t>// the end</a:t>
            </a:r>
          </a:p>
          <a:p>
            <a:pPr>
              <a:lnSpc>
                <a:spcPct val="100000"/>
              </a:lnSpc>
            </a:pPr>
            <a:r>
              <a:rPr sz="1000" b="0">
                <a:solidFill>
                  <a:srgbClr val="000000"/>
                </a:solidFill>
                <a:latin typeface="Courier New"/>
              </a:rPr>
              <a:t>            break;</a:t>
            </a:r>
          </a:p>
          <a:p>
            <a:pPr>
              <a:lnSpc>
                <a:spcPct val="100000"/>
              </a:lnSpc>
            </a:pPr>
            <a:r>
              <a:rPr sz="1000" b="0">
                <a:solidFill>
                  <a:srgbClr val="000000"/>
                </a:solidFill>
                <a:latin typeface="Courier New"/>
              </a:rPr>
              <a:t>        else {                           </a:t>
            </a:r>
            <a:r>
              <a:rPr sz="1000" b="0">
                <a:solidFill>
                  <a:srgbClr val="595959"/>
                </a:solidFill>
                <a:latin typeface="Courier New"/>
              </a:rPr>
              <a:t>// junk</a:t>
            </a:r>
          </a:p>
          <a:p>
            <a:pPr>
              <a:lnSpc>
                <a:spcPct val="100000"/>
              </a:lnSpc>
            </a:pPr>
            <a:r>
              <a:rPr sz="1000" b="0">
                <a:solidFill>
                  <a:srgbClr val="000000"/>
                </a:solidFill>
                <a:latin typeface="Courier New"/>
              </a:rPr>
              <a:t>            inFile.clear();</a:t>
            </a:r>
          </a:p>
          <a:p>
            <a:pPr>
              <a:lnSpc>
                <a:spcPct val="100000"/>
              </a:lnSpc>
            </a:pPr>
            <a:r>
              <a:rPr sz="1000" b="0">
                <a:solidFill>
                  <a:srgbClr val="000000"/>
                </a:solidFill>
                <a:latin typeface="Courier New"/>
              </a:rPr>
              <a:t>            inFile &gt;&gt; junk;</a:t>
            </a:r>
          </a:p>
          <a:p>
            <a:pPr>
              <a:lnSpc>
                <a:spcPct val="100000"/>
              </a:lnSpc>
            </a:pPr>
            <a:r>
              <a:rPr sz="1000" b="0">
                <a:solidFill>
                  <a:srgbClr val="000000"/>
                </a:solidFill>
                <a:latin typeface="Courier New"/>
              </a:rPr>
              <a:t>            bad++;</a:t>
            </a:r>
          </a:p>
          <a:p>
            <a:pPr>
              <a:lnSpc>
                <a:spcPct val="100000"/>
              </a:lnSpc>
            </a:pPr>
            <a:r>
              <a:rPr sz="1000" b="0">
                <a:solidFill>
                  <a:srgbClr val="000000"/>
                </a:solidFill>
                <a:latin typeface="Courier New"/>
              </a:rPr>
              <a:t>        }</a:t>
            </a:r>
          </a:p>
          <a:p>
            <a:pPr>
              <a:lnSpc>
                <a:spcPct val="100000"/>
              </a:lnSpc>
            </a:pPr>
            <a:r>
              <a:rPr sz="1000" b="0">
                <a:solidFill>
                  <a:srgbClr val="000000"/>
                </a:solidFill>
                <a:latin typeface="Courier New"/>
              </a:rPr>
              <a:t>    }</a:t>
            </a:r>
          </a:p>
          <a:p>
            <a:pPr>
              <a:lnSpc>
                <a:spcPct val="100000"/>
              </a:lnSpc>
            </a:pPr>
            <a:r>
              <a:rPr sz="1000" b="0">
                <a:solidFill>
                  <a:srgbClr val="000000"/>
                </a:solidFill>
                <a:latin typeface="Courier New"/>
              </a:rPr>
              <a:t>    cout &lt;&lt; "Kept: ";</a:t>
            </a:r>
          </a:p>
          <a:p>
            <a:pPr>
              <a:lnSpc>
                <a:spcPct val="100000"/>
              </a:lnSpc>
            </a:pPr>
            <a:r>
              <a:rPr sz="1000" b="0">
                <a:solidFill>
                  <a:srgbClr val="000000"/>
                </a:solidFill>
                <a:latin typeface="Courier New"/>
              </a:rPr>
              <a:t>    for (int i = 0; i &lt; count; i++) cout &lt;&lt; a[i] &lt;&lt; " ";</a:t>
            </a:r>
          </a:p>
          <a:p>
            <a:pPr>
              <a:lnSpc>
                <a:spcPct val="100000"/>
              </a:lnSpc>
            </a:pPr>
            <a:r>
              <a:rPr sz="1000" b="0">
                <a:solidFill>
                  <a:srgbClr val="000000"/>
                </a:solidFill>
                <a:latin typeface="Courier New"/>
              </a:rPr>
              <a:t>    cout &lt;&lt; endl &lt;&lt; "Skipped: " &lt;&lt; bad &lt;&lt; endl;</a:t>
            </a:r>
          </a:p>
          <a:p>
            <a:pPr>
              <a:lnSpc>
                <a:spcPct val="100000"/>
              </a:lnSpc>
            </a:pPr>
            <a:r>
              <a:rPr sz="1000" b="0">
                <a:solidFill>
                  <a:srgbClr val="000000"/>
                </a:solidFill>
                <a:latin typeface="Courier New"/>
              </a:rPr>
              <a:t>    inFile.close();</a:t>
            </a:r>
          </a:p>
          <a:p>
            <a:pPr>
              <a:lnSpc>
                <a:spcPct val="100000"/>
              </a:lnSpc>
            </a:pPr>
            <a:r>
              <a:rPr sz="1000" b="0">
                <a:solidFill>
                  <a:srgbClr val="000000"/>
                </a:solidFill>
                <a:latin typeface="Courier New"/>
              </a:rPr>
              <a:t>    return 0;</a:t>
            </a:r>
          </a:p>
          <a:p>
            <a:pPr>
              <a:lnSpc>
                <a:spcPct val="100000"/>
              </a:lnSpc>
            </a:pPr>
            <a:r>
              <a:rPr sz="1000" b="0">
                <a:solidFill>
                  <a:srgbClr val="000000"/>
                </a:solidFill>
                <a:latin typeface="Courier New"/>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54304" y="1171745"/>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kern="0" spc="200" dirty="0">
                <a:solidFill>
                  <a:srgbClr val="000000"/>
                </a:solidFill>
                <a:latin typeface="Carlito" pitchFamily="34" charset="0"/>
                <a:ea typeface="Carlito" pitchFamily="34" charset="-122"/>
                <a:cs typeface="Carlito" pitchFamily="34" charset="-120"/>
              </a:rPr>
              <a:t>PART B</a:t>
            </a:r>
            <a:endParaRPr lang="en-US" sz="1500" dirty="0"/>
          </a:p>
        </p:txBody>
      </p:sp>
      <p:sp>
        <p:nvSpPr>
          <p:cNvPr id="3" name="Text 1"/>
          <p:cNvSpPr>
            <a:spLocks noGrp="1"/>
          </p:cNvSpPr>
          <p:nvPr>
            <p:ph type="title"/>
          </p:nvPr>
        </p:nvSpPr>
        <p:spPr>
          <a:xfrm>
            <a:off x="654304" y="2202543"/>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000000"/>
                </a:solidFill>
                <a:latin typeface="Source Serif 4" pitchFamily="18" charset="0"/>
                <a:ea typeface="Source Serif 4" pitchFamily="18" charset="-122"/>
                <a:cs typeface="Source Serif 4" pitchFamily="18" charset="-120"/>
              </a:rPr>
              <a:t>When the file is wrong</a:t>
            </a:r>
            <a:endParaRPr lang="en-US" sz="6000" dirty="0"/>
          </a:p>
        </p:txBody>
      </p:sp>
      <p:sp>
        <p:nvSpPr>
          <p:cNvPr id="4" name="Text 2"/>
          <p:cNvSpPr/>
          <p:nvPr/>
        </p:nvSpPr>
        <p:spPr>
          <a:xfrm>
            <a:off x="812800" y="3827859"/>
            <a:ext cx="8502650" cy="751681"/>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000000"/>
                </a:solidFill>
                <a:latin typeface="Carlito" pitchFamily="34" charset="0"/>
                <a:ea typeface="Carlito" pitchFamily="34" charset="-122"/>
                <a:cs typeface="Carlito" pitchFamily="34" charset="-120"/>
              </a:rPr>
              <a:t>Junk text, empty files and missing values: how to notice them, and how to recover.</a:t>
            </a:r>
            <a:endParaRPr lang="en-US" sz="2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BAD DATA</a:t>
            </a:r>
            <a:endParaRPr lang="en-US" sz="1200" dirty="0"/>
          </a:p>
        </p:txBody>
      </p:sp>
      <p:sp>
        <p:nvSpPr>
          <p:cNvPr id="3" name="Text 1"/>
          <p:cNvSpPr>
            <a:spLocks noGrp="1"/>
          </p:cNvSpPr>
          <p:nvPr>
            <p:ph type="title"/>
          </p:nvPr>
        </p:nvSpPr>
        <p:spPr>
          <a:xfrm>
            <a:off x="812800" y="924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Why did the loop stop?</a:t>
            </a:r>
            <a:endParaRPr lang="en-US" sz="3200" dirty="0"/>
          </a:p>
        </p:txBody>
      </p:sp>
      <p:sp>
        <p:nvSpPr>
          <p:cNvPr id="4" name="Text 2"/>
          <p:cNvSpPr/>
          <p:nvPr/>
        </p:nvSpPr>
        <p:spPr>
          <a:xfrm>
            <a:off x="812800" y="1600101"/>
            <a:ext cx="5207000" cy="2834878"/>
          </a:xfrm>
          <a:prstGeom prst="roundRect">
            <a:avLst>
              <a:gd name="adj" fmla="val 4480"/>
            </a:avLst>
          </a:prstGeom>
          <a:solidFill>
            <a:srgbClr val="F2F2F2"/>
          </a:solidFill>
          <a:ln w="12700">
            <a:solidFill>
              <a:srgbClr val="404040"/>
            </a:solidFill>
          </a:ln>
        </p:spPr>
        <p:txBody>
          <a:bodyPr wrap="square" lIns="216803" tIns="166003" rIns="75833" bIns="166003" rtlCol="0" anchor="t">
            <a:normAutofit/>
          </a:bodyPr>
          <a:lstStyle/>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while (count &lt; 3 &amp;&amp; inFile &gt;&gt; marks[count])</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    count++;</a:t>
            </a:r>
            <a:endParaRPr lang="en-US" sz="1300" dirty="0"/>
          </a:p>
          <a:p>
            <a:pPr marL="0" indent="0" algn="l">
              <a:lnSpc>
                <a:spcPts val="2015"/>
              </a:lnSpc>
              <a:buNone/>
            </a:pP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if (count == 3 &amp;&amp; inFile)</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    cout &lt;&lt; "Array is full";</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else if (inFile.</a:t>
            </a:r>
            <a:r>
              <a:rPr lang="en-US" sz="1300" b="1" dirty="0">
                <a:solidFill>
                  <a:srgbClr val="000000"/>
                </a:solidFill>
                <a:latin typeface="Courier New" pitchFamily="49" charset="0"/>
                <a:ea typeface="Courier New" pitchFamily="49" charset="-122"/>
                <a:cs typeface="Courier New" pitchFamily="49" charset="-120"/>
              </a:rPr>
              <a:t>eof()</a:t>
            </a:r>
            <a:r>
              <a:rPr lang="en-US" sz="1300" dirty="0">
                <a:solidFill>
                  <a:srgbClr val="000000"/>
                </a:solidFill>
                <a:latin typeface="Courier New" pitchFamily="49" charset="0"/>
                <a:ea typeface="Courier New" pitchFamily="49" charset="-122"/>
                <a:cs typeface="Courier New" pitchFamily="49" charset="-120"/>
              </a:rPr>
              <a:t>)</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    cout &lt;&lt; "End of file: normal";</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else if (inFile.</a:t>
            </a:r>
            <a:r>
              <a:rPr lang="en-US" sz="1300" b="1" dirty="0">
                <a:solidFill>
                  <a:srgbClr val="000000"/>
                </a:solidFill>
                <a:latin typeface="Courier New" pitchFamily="49" charset="0"/>
                <a:ea typeface="Courier New" pitchFamily="49" charset="-122"/>
                <a:cs typeface="Courier New" pitchFamily="49" charset="-120"/>
              </a:rPr>
              <a:t>fail()</a:t>
            </a:r>
            <a:r>
              <a:rPr lang="en-US" sz="1300" dirty="0">
                <a:solidFill>
                  <a:srgbClr val="000000"/>
                </a:solidFill>
                <a:latin typeface="Courier New" pitchFamily="49" charset="0"/>
                <a:ea typeface="Courier New" pitchFamily="49" charset="-122"/>
                <a:cs typeface="Courier New" pitchFamily="49" charset="-120"/>
              </a:rPr>
              <a:t>)</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    cout &lt;&lt; "Bad data found!";</a:t>
            </a:r>
            <a:endParaRPr lang="en-US" sz="1300" dirty="0"/>
          </a:p>
        </p:txBody>
      </p:sp>
      <p:sp>
        <p:nvSpPr>
          <p:cNvPr id="5" name="Text 3"/>
          <p:cNvSpPr/>
          <p:nvPr/>
        </p:nvSpPr>
        <p:spPr>
          <a:xfrm>
            <a:off x="6248400" y="1600101"/>
            <a:ext cx="528472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404040"/>
                </a:solidFill>
                <a:latin typeface="Carlito" pitchFamily="34" charset="0"/>
                <a:ea typeface="Carlito" pitchFamily="34" charset="-122"/>
                <a:cs typeface="Carlito" pitchFamily="34" charset="-120"/>
              </a:rPr>
              <a:t>Tested with int marks[3]</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863917"/>
              </p:ext>
            </p:extLst>
          </p:nvPr>
        </p:nvGraphicFramePr>
        <p:xfrm>
          <a:off x="6261100" y="1920081"/>
          <a:ext cx="5118100" cy="2514897"/>
        </p:xfrm>
        <a:graphic>
          <a:graphicData uri="http://schemas.openxmlformats.org/drawingml/2006/table">
            <a:tbl>
              <a:tblPr/>
              <a:tblGrid>
                <a:gridCol w="2251964">
                  <a:extLst>
                    <a:ext uri="{9D8B030D-6E8A-4147-A177-3AD203B41FA5}">
                      <a16:colId xmlns:a16="http://schemas.microsoft.com/office/drawing/2014/main" val="20000"/>
                    </a:ext>
                  </a:extLst>
                </a:gridCol>
                <a:gridCol w="921258">
                  <a:extLst>
                    <a:ext uri="{9D8B030D-6E8A-4147-A177-3AD203B41FA5}">
                      <a16:colId xmlns:a16="http://schemas.microsoft.com/office/drawing/2014/main" val="20001"/>
                    </a:ext>
                  </a:extLst>
                </a:gridCol>
                <a:gridCol w="1944878">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000000"/>
                          </a:solidFill>
                          <a:latin typeface="Carlito" pitchFamily="34" charset="0"/>
                          <a:ea typeface="Carlito" pitchFamily="34" charset="-122"/>
                          <a:cs typeface="Carlito" pitchFamily="34" charset="-120"/>
                        </a:rPr>
                        <a:t>File</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D9D9D9"/>
                    </a:solidFill>
                  </a:tcPr>
                </a:tc>
                <a:tc>
                  <a:txBody>
                    <a:bodyPr/>
                    <a:lstStyle/>
                    <a:p>
                      <a:pPr marL="0" indent="0">
                        <a:lnSpc>
                          <a:spcPts val="1820"/>
                        </a:lnSpc>
                        <a:buNone/>
                      </a:pPr>
                      <a:r>
                        <a:rPr lang="en-US" sz="1300" b="1" dirty="0">
                          <a:solidFill>
                            <a:srgbClr val="000000"/>
                          </a:solidFill>
                          <a:latin typeface="Carlito" pitchFamily="34" charset="0"/>
                          <a:ea typeface="Carlito" pitchFamily="34" charset="-122"/>
                          <a:cs typeface="Carlito" pitchFamily="34" charset="-120"/>
                        </a:rPr>
                        <a:t>count</a:t>
                      </a:r>
                      <a:endParaRPr lang="en-US" sz="1300" dirty="0">
                        <a:latin typeface="Carlito" charset="0"/>
                        <a:ea typeface="Carlito" charset="0"/>
                        <a:cs typeface="Carlito" charset="0"/>
                      </a:endParaRPr>
                    </a:p>
                  </a:txBody>
                  <a:tcPr marL="57785" marR="57785" marT="57785" marB="57785">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D9D9D9"/>
                    </a:solidFill>
                  </a:tcPr>
                </a:tc>
                <a:tc>
                  <a:txBody>
                    <a:bodyPr/>
                    <a:lstStyle/>
                    <a:p>
                      <a:pPr marL="0" indent="0">
                        <a:lnSpc>
                          <a:spcPts val="1820"/>
                        </a:lnSpc>
                        <a:buNone/>
                      </a:pPr>
                      <a:r>
                        <a:rPr lang="en-US" sz="1300" b="1" dirty="0">
                          <a:solidFill>
                            <a:srgbClr val="000000"/>
                          </a:solidFill>
                          <a:latin typeface="Carlito" pitchFamily="34" charset="0"/>
                          <a:ea typeface="Carlito" pitchFamily="34" charset="-122"/>
                          <a:cs typeface="Carlito" pitchFamily="34" charset="-120"/>
                        </a:rPr>
                        <a:t>Result</a:t>
                      </a:r>
                      <a:endParaRPr lang="en-US" sz="1300" dirty="0">
                        <a:latin typeface="Carlito" charset="0"/>
                        <a:ea typeface="Carlito" charset="0"/>
                        <a:cs typeface="Carlito" charset="0"/>
                      </a:endParaRPr>
                    </a:p>
                  </a:txBody>
                  <a:tcPr marL="57785" marR="57785" marT="57785" marB="57785">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10 20</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2</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end of file</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10 20 new line</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2</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end of file</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(empty file)</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0</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end of file</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10 abc 30</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1</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bad data</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10 20 abc</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2</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bad data</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5"/>
                  </a:ext>
                </a:extLst>
              </a:tr>
              <a:tr h="359271">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10 20 30 40</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3</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array full</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bl>
          </a:graphicData>
        </a:graphic>
      </p:graphicFrame>
      <p:sp>
        <p:nvSpPr>
          <p:cNvPr id="7" name="Text 4"/>
          <p:cNvSpPr/>
          <p:nvPr/>
        </p:nvSpPr>
        <p:spPr>
          <a:xfrm>
            <a:off x="812800" y="4663579"/>
            <a:ext cx="10566400" cy="612775"/>
          </a:xfrm>
          <a:prstGeom prst="roundRect">
            <a:avLst>
              <a:gd name="adj" fmla="val 20725"/>
            </a:avLst>
          </a:prstGeom>
          <a:solidFill>
            <a:srgbClr val="F2F2F2"/>
          </a:solidFill>
          <a:ln w="12700">
            <a:solidFill>
              <a:srgbClr val="404040"/>
            </a:solidFill>
          </a:ln>
        </p:spPr>
        <p:txBody>
          <a:bodyPr wrap="square" lIns="216803" tIns="140603" rIns="0" bIns="115203" rtlCol="0" anchor="t">
            <a:normAutofit/>
          </a:bodyPr>
          <a:lstStyle/>
          <a:p>
            <a:pPr marL="0" indent="0" algn="l">
              <a:lnSpc>
                <a:spcPts val="2025"/>
              </a:lnSpc>
              <a:buNone/>
            </a:pPr>
            <a:r>
              <a:rPr lang="en-US" sz="1500" b="1" dirty="0">
                <a:solidFill>
                  <a:srgbClr val="000000"/>
                </a:solidFill>
                <a:latin typeface="Carlito" pitchFamily="34" charset="0"/>
                <a:ea typeface="Carlito" pitchFamily="34" charset="-122"/>
                <a:cs typeface="Carlito" pitchFamily="34" charset="-120"/>
              </a:rPr>
              <a:t>Check eof() before fail().</a:t>
            </a:r>
            <a:r>
              <a:rPr lang="en-US" sz="1500" dirty="0">
                <a:solidFill>
                  <a:srgbClr val="000000"/>
                </a:solidFill>
                <a:latin typeface="Carlito" pitchFamily="34" charset="0"/>
                <a:ea typeface="Carlito" pitchFamily="34" charset="-122"/>
                <a:cs typeface="Carlito" pitchFamily="34" charset="-120"/>
              </a:rPr>
              <a:t> Reaching the end also sets fail, so fail() alone cannot tell "finished" from "bad data".</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BAD DATA</a:t>
            </a:r>
            <a:endParaRPr lang="en-US" sz="1200" dirty="0"/>
          </a:p>
        </p:txBody>
      </p:sp>
      <p:sp>
        <p:nvSpPr>
          <p:cNvPr id="3" name="Text 1"/>
          <p:cNvSpPr>
            <a:spLocks noGrp="1"/>
          </p:cNvSpPr>
          <p:nvPr>
            <p:ph type="title"/>
          </p:nvPr>
        </p:nvSpPr>
        <p:spPr>
          <a:xfrm>
            <a:off x="812800" y="924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Empty file, or junk at the start?</a:t>
            </a:r>
            <a:endParaRPr lang="en-US" sz="3200" dirty="0"/>
          </a:p>
        </p:txBody>
      </p:sp>
      <p:sp>
        <p:nvSpPr>
          <p:cNvPr id="4" name="Shape 2"/>
          <p:cNvSpPr/>
          <p:nvPr/>
        </p:nvSpPr>
        <p:spPr>
          <a:xfrm>
            <a:off x="812800" y="1625501"/>
            <a:ext cx="5156200" cy="1887141"/>
          </a:xfrm>
          <a:prstGeom prst="roundRect">
            <a:avLst>
              <a:gd name="adj" fmla="val 6730"/>
            </a:avLst>
          </a:prstGeom>
          <a:solidFill>
            <a:srgbClr val="FFFFFF"/>
          </a:solidFill>
          <a:ln w="9525">
            <a:solidFill>
              <a:srgbClr val="808080"/>
            </a:solidFill>
          </a:ln>
        </p:spPr>
        <p:txBody>
          <a:bodyPr/>
          <a:lstStyle/>
          <a:p>
            <a:endParaRPr lang="en-US"/>
          </a:p>
        </p:txBody>
      </p:sp>
      <p:sp>
        <p:nvSpPr>
          <p:cNvPr id="5" name="Text 3"/>
          <p:cNvSpPr/>
          <p:nvPr/>
        </p:nvSpPr>
        <p:spPr>
          <a:xfrm>
            <a:off x="1041400" y="1854101"/>
            <a:ext cx="483997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00"/>
                </a:solidFill>
                <a:latin typeface="Carlito" pitchFamily="34" charset="0"/>
                <a:ea typeface="Carlito" pitchFamily="34" charset="-122"/>
                <a:cs typeface="Carlito" pitchFamily="34" charset="-120"/>
              </a:rPr>
              <a:t>Empty file</a:t>
            </a:r>
            <a:endParaRPr lang="en-US" sz="1800" dirty="0"/>
          </a:p>
        </p:txBody>
      </p:sp>
      <p:sp>
        <p:nvSpPr>
          <p:cNvPr id="6" name="Text 4"/>
          <p:cNvSpPr/>
          <p:nvPr/>
        </p:nvSpPr>
        <p:spPr>
          <a:xfrm>
            <a:off x="1041400" y="2229941"/>
            <a:ext cx="4699000" cy="419100"/>
          </a:xfrm>
          <a:prstGeom prst="roundRect">
            <a:avLst>
              <a:gd name="adj" fmla="val 15152"/>
            </a:avLst>
          </a:prstGeom>
          <a:solidFill>
            <a:srgbClr val="FFFFFF"/>
          </a:solidFill>
          <a:ln w="9525">
            <a:solidFill>
              <a:srgbClr val="808080"/>
            </a:solidFill>
          </a:ln>
        </p:spPr>
        <p:txBody>
          <a:bodyPr wrap="square" lIns="108401" tIns="57601" rIns="0" bIns="32201" rtlCol="0" anchor="t">
            <a:normAutofit/>
          </a:bodyPr>
          <a:lstStyle/>
          <a:p>
            <a:pPr marL="0" indent="0" algn="l">
              <a:lnSpc>
                <a:spcPts val="2100"/>
              </a:lnSpc>
              <a:buNone/>
            </a:pPr>
            <a:r>
              <a:rPr lang="en-US" sz="1500" dirty="0">
                <a:solidFill>
                  <a:srgbClr val="404040"/>
                </a:solidFill>
                <a:latin typeface="Courier New" pitchFamily="49" charset="0"/>
                <a:ea typeface="Courier New" pitchFamily="49" charset="-122"/>
                <a:cs typeface="Courier New" pitchFamily="49" charset="-120"/>
              </a:rPr>
              <a:t>(nothing)</a:t>
            </a:r>
            <a:endParaRPr lang="en-US" sz="1500" dirty="0"/>
          </a:p>
        </p:txBody>
      </p:sp>
      <p:sp>
        <p:nvSpPr>
          <p:cNvPr id="7" name="Text 5"/>
          <p:cNvSpPr/>
          <p:nvPr/>
        </p:nvSpPr>
        <p:spPr>
          <a:xfrm>
            <a:off x="1041400" y="2750641"/>
            <a:ext cx="483997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00000"/>
                </a:solidFill>
                <a:latin typeface="Carlito" pitchFamily="34" charset="0"/>
                <a:ea typeface="Carlito" pitchFamily="34" charset="-122"/>
                <a:cs typeface="Carlito" pitchFamily="34" charset="-120"/>
              </a:rPr>
              <a:t>count = 0</a:t>
            </a:r>
            <a:endParaRPr lang="en-US" sz="1500" dirty="0"/>
          </a:p>
          <a:p>
            <a:pPr marL="0" indent="0" algn="l">
              <a:lnSpc>
                <a:spcPts val="2100"/>
              </a:lnSpc>
              <a:buNone/>
            </a:pPr>
            <a:r>
              <a:rPr lang="en-US" sz="1500" b="1" dirty="0">
                <a:solidFill>
                  <a:srgbClr val="000000"/>
                </a:solidFill>
                <a:latin typeface="Carlito" pitchFamily="34" charset="0"/>
                <a:ea typeface="Carlito" pitchFamily="34" charset="-122"/>
                <a:cs typeface="Carlito" pitchFamily="34" charset="-120"/>
              </a:rPr>
              <a:t>eof() is true</a:t>
            </a:r>
            <a:r>
              <a:rPr lang="en-US" sz="1500" dirty="0">
                <a:solidFill>
                  <a:srgbClr val="000000"/>
                </a:solidFill>
                <a:latin typeface="Carlito" pitchFamily="34" charset="0"/>
                <a:ea typeface="Carlito" pitchFamily="34" charset="-122"/>
                <a:cs typeface="Carlito" pitchFamily="34" charset="-120"/>
              </a:rPr>
              <a:t>: there was nothing to read.</a:t>
            </a:r>
            <a:endParaRPr lang="en-US" sz="1500" dirty="0"/>
          </a:p>
        </p:txBody>
      </p:sp>
      <p:sp>
        <p:nvSpPr>
          <p:cNvPr id="8" name="Shape 6"/>
          <p:cNvSpPr/>
          <p:nvPr/>
        </p:nvSpPr>
        <p:spPr>
          <a:xfrm>
            <a:off x="6223000" y="1625501"/>
            <a:ext cx="5156200" cy="1887141"/>
          </a:xfrm>
          <a:prstGeom prst="roundRect">
            <a:avLst>
              <a:gd name="adj" fmla="val 6730"/>
            </a:avLst>
          </a:prstGeom>
          <a:solidFill>
            <a:srgbClr val="FFFFFF"/>
          </a:solidFill>
          <a:ln w="9525">
            <a:solidFill>
              <a:srgbClr val="808080"/>
            </a:solidFill>
          </a:ln>
        </p:spPr>
        <p:txBody>
          <a:bodyPr/>
          <a:lstStyle/>
          <a:p>
            <a:endParaRPr lang="en-US"/>
          </a:p>
        </p:txBody>
      </p:sp>
      <p:sp>
        <p:nvSpPr>
          <p:cNvPr id="9" name="Text 7"/>
          <p:cNvSpPr/>
          <p:nvPr/>
        </p:nvSpPr>
        <p:spPr>
          <a:xfrm>
            <a:off x="6451600" y="1854101"/>
            <a:ext cx="483997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00"/>
                </a:solidFill>
                <a:latin typeface="Carlito" pitchFamily="34" charset="0"/>
                <a:ea typeface="Carlito" pitchFamily="34" charset="-122"/>
                <a:cs typeface="Carlito" pitchFamily="34" charset="-120"/>
              </a:rPr>
              <a:t>Starts with junk</a:t>
            </a:r>
            <a:endParaRPr lang="en-US" sz="1800" dirty="0"/>
          </a:p>
        </p:txBody>
      </p:sp>
      <p:sp>
        <p:nvSpPr>
          <p:cNvPr id="10" name="Text 8"/>
          <p:cNvSpPr/>
          <p:nvPr/>
        </p:nvSpPr>
        <p:spPr>
          <a:xfrm>
            <a:off x="6451600" y="2229941"/>
            <a:ext cx="4699000" cy="419100"/>
          </a:xfrm>
          <a:prstGeom prst="roundRect">
            <a:avLst>
              <a:gd name="adj" fmla="val 15152"/>
            </a:avLst>
          </a:prstGeom>
          <a:solidFill>
            <a:srgbClr val="FFFFFF"/>
          </a:solidFill>
          <a:ln w="9525">
            <a:solidFill>
              <a:srgbClr val="808080"/>
            </a:solidFill>
          </a:ln>
        </p:spPr>
        <p:txBody>
          <a:bodyPr wrap="square" lIns="108401" tIns="57601" rIns="0" bIns="32201" rtlCol="0" anchor="t">
            <a:normAutofit/>
          </a:bodyPr>
          <a:lstStyle/>
          <a:p>
            <a:pPr marL="0" indent="0" algn="l">
              <a:lnSpc>
                <a:spcPts val="2100"/>
              </a:lnSpc>
              <a:buNone/>
            </a:pPr>
            <a:r>
              <a:rPr lang="en-US" sz="1500" b="1" dirty="0">
                <a:solidFill>
                  <a:srgbClr val="000000"/>
                </a:solidFill>
                <a:latin typeface="Courier New" pitchFamily="49" charset="0"/>
                <a:ea typeface="Courier New" pitchFamily="49" charset="-122"/>
                <a:cs typeface="Courier New" pitchFamily="49" charset="-120"/>
              </a:rPr>
              <a:t>abc</a:t>
            </a:r>
            <a:r>
              <a:rPr lang="en-US" sz="1500" dirty="0">
                <a:solidFill>
                  <a:srgbClr val="000000"/>
                </a:solidFill>
                <a:latin typeface="Courier New" pitchFamily="49" charset="0"/>
                <a:ea typeface="Courier New" pitchFamily="49" charset="-122"/>
                <a:cs typeface="Courier New" pitchFamily="49" charset="-120"/>
              </a:rPr>
              <a:t> 10 20</a:t>
            </a:r>
            <a:endParaRPr lang="en-US" sz="1500" dirty="0"/>
          </a:p>
        </p:txBody>
      </p:sp>
      <p:sp>
        <p:nvSpPr>
          <p:cNvPr id="11" name="Text 9"/>
          <p:cNvSpPr/>
          <p:nvPr/>
        </p:nvSpPr>
        <p:spPr>
          <a:xfrm>
            <a:off x="6451600" y="2750641"/>
            <a:ext cx="483997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00000"/>
                </a:solidFill>
                <a:latin typeface="Carlito" pitchFamily="34" charset="0"/>
                <a:ea typeface="Carlito" pitchFamily="34" charset="-122"/>
                <a:cs typeface="Carlito" pitchFamily="34" charset="-120"/>
              </a:rPr>
              <a:t>count = 0</a:t>
            </a:r>
            <a:endParaRPr lang="en-US" sz="1500" dirty="0"/>
          </a:p>
          <a:p>
            <a:pPr marL="0" indent="0" algn="l">
              <a:lnSpc>
                <a:spcPts val="2100"/>
              </a:lnSpc>
              <a:buNone/>
            </a:pPr>
            <a:r>
              <a:rPr lang="en-US" sz="1500" b="1" dirty="0">
                <a:solidFill>
                  <a:srgbClr val="000000"/>
                </a:solidFill>
                <a:latin typeface="Carlito" pitchFamily="34" charset="0"/>
                <a:ea typeface="Carlito" pitchFamily="34" charset="-122"/>
                <a:cs typeface="Carlito" pitchFamily="34" charset="-120"/>
              </a:rPr>
              <a:t>eof() is false</a:t>
            </a:r>
            <a:r>
              <a:rPr lang="en-US" sz="1500" dirty="0">
                <a:solidFill>
                  <a:srgbClr val="000000"/>
                </a:solidFill>
                <a:latin typeface="Carlito" pitchFamily="34" charset="0"/>
                <a:ea typeface="Carlito" pitchFamily="34" charset="-122"/>
                <a:cs typeface="Carlito" pitchFamily="34" charset="-120"/>
              </a:rPr>
              <a:t>: the very first read failed.</a:t>
            </a:r>
            <a:endParaRPr lang="en-US" sz="1500" dirty="0"/>
          </a:p>
        </p:txBody>
      </p:sp>
      <p:sp>
        <p:nvSpPr>
          <p:cNvPr id="12" name="Text 10"/>
          <p:cNvSpPr/>
          <p:nvPr/>
        </p:nvSpPr>
        <p:spPr>
          <a:xfrm>
            <a:off x="812800" y="3766641"/>
            <a:ext cx="7264400" cy="1685826"/>
          </a:xfrm>
          <a:prstGeom prst="roundRect">
            <a:avLst>
              <a:gd name="adj" fmla="val 7533"/>
            </a:avLst>
          </a:prstGeom>
          <a:solidFill>
            <a:srgbClr val="F2F2F2"/>
          </a:solidFill>
          <a:ln w="12700">
            <a:solidFill>
              <a:srgbClr val="404040"/>
            </a:solidFill>
          </a:ln>
        </p:spPr>
        <p:txBody>
          <a:bodyPr wrap="square" lIns="216803" tIns="166003" rIns="14111" bIns="140603" rtlCol="0" anchor="t">
            <a:normAutofit/>
          </a:bodyPr>
          <a:lstStyle/>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if (count == 0 &amp;&amp; inFile.eof())</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    cout &lt;&lt; "The file is empty!";</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else if (!inFile.eof() &amp;&amp; inFile.fail())</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    cout &lt;&lt; "Bad data after " &lt;&lt; count</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         &lt;&lt; " numbers";</a:t>
            </a:r>
            <a:endParaRPr lang="en-US" sz="1300" dirty="0"/>
          </a:p>
        </p:txBody>
      </p:sp>
      <p:sp>
        <p:nvSpPr>
          <p:cNvPr id="13" name="Text 11"/>
          <p:cNvSpPr/>
          <p:nvPr/>
        </p:nvSpPr>
        <p:spPr>
          <a:xfrm>
            <a:off x="8331200" y="3766641"/>
            <a:ext cx="3048000" cy="1685826"/>
          </a:xfrm>
          <a:prstGeom prst="roundRect">
            <a:avLst>
              <a:gd name="adj" fmla="val 7533"/>
            </a:avLst>
          </a:prstGeom>
          <a:solidFill>
            <a:srgbClr val="F2F2F2"/>
          </a:solidFill>
          <a:ln w="12700">
            <a:solidFill>
              <a:srgbClr val="404040"/>
            </a:solidFill>
          </a:ln>
        </p:spPr>
        <p:txBody>
          <a:bodyPr wrap="square" lIns="191403" tIns="166003" rIns="113679" bIns="166003" rtlCol="0" anchor="ctr">
            <a:normAutofit/>
          </a:bodyPr>
          <a:lstStyle/>
          <a:p>
            <a:pPr marL="0" indent="0" algn="l">
              <a:lnSpc>
                <a:spcPts val="2025"/>
              </a:lnSpc>
              <a:buNone/>
            </a:pPr>
            <a:r>
              <a:rPr lang="en-US" sz="1500" b="1" dirty="0">
                <a:solidFill>
                  <a:srgbClr val="000000"/>
                </a:solidFill>
                <a:latin typeface="Carlito" pitchFamily="34" charset="0"/>
                <a:ea typeface="Carlito" pitchFamily="34" charset="-122"/>
                <a:cs typeface="Carlito" pitchFamily="34" charset="-120"/>
              </a:rPr>
              <a:t>count == 0</a:t>
            </a:r>
            <a:r>
              <a:rPr lang="en-US" sz="1500" dirty="0">
                <a:solidFill>
                  <a:srgbClr val="000000"/>
                </a:solidFill>
                <a:latin typeface="Carlito" pitchFamily="34" charset="0"/>
                <a:ea typeface="Carlito" pitchFamily="34" charset="-122"/>
                <a:cs typeface="Carlito" pitchFamily="34" charset="-120"/>
              </a:rPr>
              <a:t> alone cannot tell these two apart. eof() can.</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RECOVERING</a:t>
            </a:r>
            <a:endParaRPr lang="en-US" sz="1200" dirty="0"/>
          </a:p>
        </p:txBody>
      </p:sp>
      <p:sp>
        <p:nvSpPr>
          <p:cNvPr id="3" name="Text 1"/>
          <p:cNvSpPr>
            <a:spLocks noGrp="1"/>
          </p:cNvSpPr>
          <p:nvPr>
            <p:ph type="title"/>
          </p:nvPr>
        </p:nvSpPr>
        <p:spPr>
          <a:xfrm>
            <a:off x="812800" y="924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Skip bad data and keep going</a:t>
            </a:r>
            <a:endParaRPr lang="en-US" sz="3200" dirty="0"/>
          </a:p>
        </p:txBody>
      </p:sp>
      <p:sp>
        <p:nvSpPr>
          <p:cNvPr id="4" name="Text 2"/>
          <p:cNvSpPr/>
          <p:nvPr/>
        </p:nvSpPr>
        <p:spPr>
          <a:xfrm>
            <a:off x="812800" y="1600101"/>
            <a:ext cx="5207000" cy="4495899"/>
          </a:xfrm>
          <a:prstGeom prst="roundRect">
            <a:avLst>
              <a:gd name="adj" fmla="val 2825"/>
            </a:avLst>
          </a:prstGeom>
          <a:solidFill>
            <a:srgbClr val="F2F2F2"/>
          </a:solidFill>
          <a:ln w="12700">
            <a:solidFill>
              <a:srgbClr val="404040"/>
            </a:solidFill>
          </a:ln>
        </p:spPr>
        <p:txBody>
          <a:bodyPr wrap="square" lIns="216803" tIns="166003" rIns="75833" bIns="166003" rtlCol="0" anchor="t">
            <a:normAutofit/>
          </a:bodyPr>
          <a:lstStyle/>
          <a:p>
            <a:pPr marL="0" indent="0" algn="l">
              <a:lnSpc>
                <a:spcPts val="1875"/>
              </a:lnSpc>
              <a:buNone/>
            </a:pPr>
            <a:r>
              <a:rPr lang="en-US" sz="1250" dirty="0">
                <a:solidFill>
                  <a:srgbClr val="000000"/>
                </a:solidFill>
                <a:latin typeface="Courier New" pitchFamily="49" charset="0"/>
                <a:ea typeface="Courier New" pitchFamily="49" charset="-122"/>
                <a:cs typeface="Courier New" pitchFamily="49" charset="-120"/>
              </a:rPr>
              <a:t>char junk[50];</a:t>
            </a:r>
            <a:endParaRPr lang="en-US" sz="1250" dirty="0"/>
          </a:p>
          <a:p>
            <a:pPr marL="0" indent="0" algn="l">
              <a:lnSpc>
                <a:spcPts val="1875"/>
              </a:lnSpc>
              <a:buNone/>
            </a:pPr>
            <a:r>
              <a:rPr lang="en-US" sz="1250" dirty="0">
                <a:solidFill>
                  <a:srgbClr val="000000"/>
                </a:solidFill>
                <a:latin typeface="Courier New" pitchFamily="49" charset="0"/>
                <a:ea typeface="Courier New" pitchFamily="49" charset="-122"/>
                <a:cs typeface="Courier New" pitchFamily="49" charset="-120"/>
              </a:rPr>
              <a:t>int count = 0, bad = 0;</a:t>
            </a:r>
            <a:endParaRPr lang="en-US" sz="1250" dirty="0"/>
          </a:p>
          <a:p>
            <a:pPr marL="0" indent="0" algn="l">
              <a:lnSpc>
                <a:spcPts val="1875"/>
              </a:lnSpc>
              <a:buNone/>
            </a:pPr>
            <a:r>
              <a:rPr lang="en-US" sz="1250" dirty="0">
                <a:solidFill>
                  <a:srgbClr val="000000"/>
                </a:solidFill>
                <a:latin typeface="Courier New" pitchFamily="49" charset="0"/>
                <a:ea typeface="Courier New" pitchFamily="49" charset="-122"/>
                <a:cs typeface="Courier New" pitchFamily="49" charset="-120"/>
              </a:rPr>
              <a:t>while (count &lt; 10) {</a:t>
            </a:r>
            <a:endParaRPr lang="en-US" sz="1250" dirty="0"/>
          </a:p>
          <a:p>
            <a:pPr marL="0" indent="0" algn="l">
              <a:lnSpc>
                <a:spcPts val="1875"/>
              </a:lnSpc>
              <a:buNone/>
            </a:pPr>
            <a:r>
              <a:rPr lang="en-US" sz="1250" dirty="0">
                <a:solidFill>
                  <a:srgbClr val="000000"/>
                </a:solidFill>
                <a:latin typeface="Courier New" pitchFamily="49" charset="0"/>
                <a:ea typeface="Courier New" pitchFamily="49" charset="-122"/>
                <a:cs typeface="Courier New" pitchFamily="49" charset="-120"/>
              </a:rPr>
              <a:t>    if (inFile &gt;&gt; marks[count])  </a:t>
            </a:r>
            <a:r>
              <a:rPr lang="en-US" sz="1250" dirty="0">
                <a:solidFill>
                  <a:srgbClr val="595959"/>
                </a:solidFill>
                <a:latin typeface="Courier New" pitchFamily="49" charset="0"/>
                <a:ea typeface="Courier New" pitchFamily="49" charset="-122"/>
                <a:cs typeface="Courier New" pitchFamily="49" charset="-120"/>
              </a:rPr>
              <a:t>// a number</a:t>
            </a:r>
            <a:endParaRPr lang="en-US" sz="1250" dirty="0"/>
          </a:p>
          <a:p>
            <a:pPr marL="0" indent="0" algn="l">
              <a:lnSpc>
                <a:spcPts val="1875"/>
              </a:lnSpc>
              <a:buNone/>
            </a:pPr>
            <a:r>
              <a:rPr lang="en-US" sz="1250" dirty="0">
                <a:solidFill>
                  <a:srgbClr val="000000"/>
                </a:solidFill>
                <a:latin typeface="Courier New" pitchFamily="49" charset="0"/>
                <a:ea typeface="Courier New" pitchFamily="49" charset="-122"/>
                <a:cs typeface="Courier New" pitchFamily="49" charset="-120"/>
              </a:rPr>
              <a:t>        count++;</a:t>
            </a:r>
            <a:endParaRPr lang="en-US" sz="1250" dirty="0"/>
          </a:p>
          <a:p>
            <a:pPr marL="0" indent="0" algn="l">
              <a:lnSpc>
                <a:spcPts val="1875"/>
              </a:lnSpc>
              <a:buNone/>
            </a:pPr>
            <a:r>
              <a:rPr lang="en-US" sz="1250" dirty="0">
                <a:solidFill>
                  <a:srgbClr val="000000"/>
                </a:solidFill>
                <a:latin typeface="Courier New" pitchFamily="49" charset="0"/>
                <a:ea typeface="Courier New" pitchFamily="49" charset="-122"/>
                <a:cs typeface="Courier New" pitchFamily="49" charset="-120"/>
              </a:rPr>
              <a:t>    else if (inFile.eof())       </a:t>
            </a:r>
            <a:r>
              <a:rPr lang="en-US" sz="1250" dirty="0">
                <a:solidFill>
                  <a:srgbClr val="595959"/>
                </a:solidFill>
                <a:latin typeface="Courier New" pitchFamily="49" charset="0"/>
                <a:ea typeface="Courier New" pitchFamily="49" charset="-122"/>
                <a:cs typeface="Courier New" pitchFamily="49" charset="-120"/>
              </a:rPr>
              <a:t>// the end</a:t>
            </a:r>
            <a:endParaRPr lang="en-US" sz="1250" dirty="0"/>
          </a:p>
          <a:p>
            <a:pPr marL="0" indent="0" algn="l">
              <a:lnSpc>
                <a:spcPts val="1875"/>
              </a:lnSpc>
              <a:buNone/>
            </a:pPr>
            <a:r>
              <a:rPr lang="en-US" sz="1250" dirty="0">
                <a:solidFill>
                  <a:srgbClr val="000000"/>
                </a:solidFill>
                <a:latin typeface="Courier New" pitchFamily="49" charset="0"/>
                <a:ea typeface="Courier New" pitchFamily="49" charset="-122"/>
                <a:cs typeface="Courier New" pitchFamily="49" charset="-120"/>
              </a:rPr>
              <a:t>        break;</a:t>
            </a:r>
            <a:endParaRPr lang="en-US" sz="1250" dirty="0"/>
          </a:p>
          <a:p>
            <a:pPr marL="0" indent="0" algn="l">
              <a:lnSpc>
                <a:spcPts val="1875"/>
              </a:lnSpc>
              <a:buNone/>
            </a:pPr>
            <a:r>
              <a:rPr lang="en-US" sz="1250" dirty="0">
                <a:solidFill>
                  <a:srgbClr val="000000"/>
                </a:solidFill>
                <a:latin typeface="Courier New" pitchFamily="49" charset="0"/>
                <a:ea typeface="Courier New" pitchFamily="49" charset="-122"/>
                <a:cs typeface="Courier New" pitchFamily="49" charset="-120"/>
              </a:rPr>
              <a:t>    else {                      </a:t>
            </a:r>
            <a:r>
              <a:rPr lang="en-US" sz="1250" dirty="0">
                <a:solidFill>
                  <a:srgbClr val="595959"/>
                </a:solidFill>
                <a:latin typeface="Courier New" pitchFamily="49" charset="0"/>
                <a:ea typeface="Courier New" pitchFamily="49" charset="-122"/>
                <a:cs typeface="Courier New" pitchFamily="49" charset="-120"/>
              </a:rPr>
              <a:t>// junk</a:t>
            </a:r>
            <a:endParaRPr lang="en-US" sz="1250" dirty="0"/>
          </a:p>
          <a:p>
            <a:pPr marL="0" indent="0" algn="l">
              <a:lnSpc>
                <a:spcPts val="1875"/>
              </a:lnSpc>
              <a:buNone/>
            </a:pPr>
            <a:r>
              <a:rPr lang="en-US" sz="1250" dirty="0">
                <a:solidFill>
                  <a:srgbClr val="000000"/>
                </a:solidFill>
                <a:latin typeface="Courier New" pitchFamily="49" charset="0"/>
                <a:ea typeface="Courier New" pitchFamily="49" charset="-122"/>
                <a:cs typeface="Courier New" pitchFamily="49" charset="-120"/>
              </a:rPr>
              <a:t>        </a:t>
            </a:r>
            <a:r>
              <a:rPr lang="en-US" sz="1250" b="1" dirty="0">
                <a:solidFill>
                  <a:srgbClr val="000000"/>
                </a:solidFill>
                <a:latin typeface="Courier New" pitchFamily="49" charset="0"/>
                <a:ea typeface="Courier New" pitchFamily="49" charset="-122"/>
                <a:cs typeface="Courier New" pitchFamily="49" charset="-120"/>
              </a:rPr>
              <a:t>inFile.clear();</a:t>
            </a:r>
            <a:endParaRPr lang="en-US" sz="1250" dirty="0"/>
          </a:p>
          <a:p>
            <a:pPr marL="0" indent="0" algn="l">
              <a:lnSpc>
                <a:spcPts val="1875"/>
              </a:lnSpc>
              <a:buNone/>
            </a:pPr>
            <a:r>
              <a:rPr lang="en-US" sz="1250" dirty="0">
                <a:solidFill>
                  <a:srgbClr val="000000"/>
                </a:solidFill>
                <a:latin typeface="Courier New" pitchFamily="49" charset="0"/>
                <a:ea typeface="Courier New" pitchFamily="49" charset="-122"/>
                <a:cs typeface="Courier New" pitchFamily="49" charset="-120"/>
              </a:rPr>
              <a:t>        </a:t>
            </a:r>
            <a:r>
              <a:rPr lang="en-US" sz="1250" b="1" dirty="0">
                <a:solidFill>
                  <a:srgbClr val="000000"/>
                </a:solidFill>
                <a:latin typeface="Courier New" pitchFamily="49" charset="0"/>
                <a:ea typeface="Courier New" pitchFamily="49" charset="-122"/>
                <a:cs typeface="Courier New" pitchFamily="49" charset="-120"/>
              </a:rPr>
              <a:t>inFile &gt;&gt; junk;</a:t>
            </a:r>
            <a:endParaRPr lang="en-US" sz="1250" dirty="0"/>
          </a:p>
          <a:p>
            <a:pPr marL="0" indent="0" algn="l">
              <a:lnSpc>
                <a:spcPts val="1875"/>
              </a:lnSpc>
              <a:buNone/>
            </a:pPr>
            <a:r>
              <a:rPr lang="en-US" sz="1250" dirty="0">
                <a:solidFill>
                  <a:srgbClr val="000000"/>
                </a:solidFill>
                <a:latin typeface="Courier New" pitchFamily="49" charset="0"/>
                <a:ea typeface="Courier New" pitchFamily="49" charset="-122"/>
                <a:cs typeface="Courier New" pitchFamily="49" charset="-120"/>
              </a:rPr>
              <a:t>        bad++;</a:t>
            </a:r>
            <a:endParaRPr lang="en-US" sz="1250" dirty="0"/>
          </a:p>
          <a:p>
            <a:pPr marL="0" indent="0" algn="l">
              <a:lnSpc>
                <a:spcPts val="1875"/>
              </a:lnSpc>
              <a:buNone/>
            </a:pPr>
            <a:r>
              <a:rPr lang="en-US" sz="1250" dirty="0">
                <a:solidFill>
                  <a:srgbClr val="000000"/>
                </a:solidFill>
                <a:latin typeface="Courier New" pitchFamily="49" charset="0"/>
                <a:ea typeface="Courier New" pitchFamily="49" charset="-122"/>
                <a:cs typeface="Courier New" pitchFamily="49" charset="-120"/>
              </a:rPr>
              <a:t>    }</a:t>
            </a:r>
            <a:endParaRPr lang="en-US" sz="1250" dirty="0"/>
          </a:p>
          <a:p>
            <a:pPr marL="0" indent="0" algn="l">
              <a:lnSpc>
                <a:spcPts val="1875"/>
              </a:lnSpc>
              <a:buNone/>
            </a:pPr>
            <a:r>
              <a:rPr lang="en-US" sz="1250" dirty="0">
                <a:solidFill>
                  <a:srgbClr val="000000"/>
                </a:solidFill>
                <a:latin typeface="Courier New" pitchFamily="49" charset="0"/>
                <a:ea typeface="Courier New" pitchFamily="49" charset="-122"/>
                <a:cs typeface="Courier New" pitchFamily="49" charset="-120"/>
              </a:rPr>
              <a:t>}</a:t>
            </a:r>
            <a:endParaRPr lang="en-US" sz="12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261100" y="1612801"/>
          <a:ext cx="5118100" cy="2155626"/>
        </p:xfrm>
        <a:graphic>
          <a:graphicData uri="http://schemas.openxmlformats.org/drawingml/2006/table">
            <a:tbl>
              <a:tblPr/>
              <a:tblGrid>
                <a:gridCol w="2354326">
                  <a:extLst>
                    <a:ext uri="{9D8B030D-6E8A-4147-A177-3AD203B41FA5}">
                      <a16:colId xmlns:a16="http://schemas.microsoft.com/office/drawing/2014/main" val="20000"/>
                    </a:ext>
                  </a:extLst>
                </a:gridCol>
                <a:gridCol w="1740154">
                  <a:extLst>
                    <a:ext uri="{9D8B030D-6E8A-4147-A177-3AD203B41FA5}">
                      <a16:colId xmlns:a16="http://schemas.microsoft.com/office/drawing/2014/main" val="20001"/>
                    </a:ext>
                  </a:extLst>
                </a:gridCol>
                <a:gridCol w="1023620">
                  <a:extLst>
                    <a:ext uri="{9D8B030D-6E8A-4147-A177-3AD203B41FA5}">
                      <a16:colId xmlns:a16="http://schemas.microsoft.com/office/drawing/2014/main" val="20002"/>
                    </a:ext>
                  </a:extLst>
                </a:gridCol>
              </a:tblGrid>
              <a:tr h="359271">
                <a:tc>
                  <a:txBody>
                    <a:bodyPr/>
                    <a:lstStyle/>
                    <a:p>
                      <a:pPr marL="0" indent="0">
                        <a:lnSpc>
                          <a:spcPts val="1820"/>
                        </a:lnSpc>
                        <a:buNone/>
                      </a:pPr>
                      <a:r>
                        <a:rPr lang="en-US" sz="1300" b="1" dirty="0">
                          <a:solidFill>
                            <a:srgbClr val="000000"/>
                          </a:solidFill>
                          <a:latin typeface="Carlito" pitchFamily="34" charset="0"/>
                          <a:ea typeface="Carlito" pitchFamily="34" charset="-122"/>
                          <a:cs typeface="Carlito" pitchFamily="34" charset="-120"/>
                        </a:rPr>
                        <a:t>File</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D9D9D9"/>
                    </a:solidFill>
                  </a:tcPr>
                </a:tc>
                <a:tc>
                  <a:txBody>
                    <a:bodyPr/>
                    <a:lstStyle/>
                    <a:p>
                      <a:pPr marL="0" indent="0">
                        <a:lnSpc>
                          <a:spcPts val="1820"/>
                        </a:lnSpc>
                        <a:buNone/>
                      </a:pPr>
                      <a:r>
                        <a:rPr lang="en-US" sz="1300" b="1" dirty="0">
                          <a:solidFill>
                            <a:srgbClr val="000000"/>
                          </a:solidFill>
                          <a:latin typeface="Carlito" pitchFamily="34" charset="0"/>
                          <a:ea typeface="Carlito" pitchFamily="34" charset="-122"/>
                          <a:cs typeface="Carlito" pitchFamily="34" charset="-120"/>
                        </a:rPr>
                        <a:t>Kept</a:t>
                      </a:r>
                      <a:endParaRPr lang="en-US" sz="1300" dirty="0">
                        <a:latin typeface="Carlito" charset="0"/>
                        <a:ea typeface="Carlito" charset="0"/>
                        <a:cs typeface="Carlito" charset="0"/>
                      </a:endParaRPr>
                    </a:p>
                  </a:txBody>
                  <a:tcPr marL="57785" marR="57785" marT="57785" marB="57785">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D9D9D9"/>
                    </a:solidFill>
                  </a:tcPr>
                </a:tc>
                <a:tc>
                  <a:txBody>
                    <a:bodyPr/>
                    <a:lstStyle/>
                    <a:p>
                      <a:pPr marL="0" indent="0">
                        <a:lnSpc>
                          <a:spcPts val="1820"/>
                        </a:lnSpc>
                        <a:buNone/>
                      </a:pPr>
                      <a:r>
                        <a:rPr lang="en-US" sz="1300" b="1" dirty="0">
                          <a:solidFill>
                            <a:srgbClr val="000000"/>
                          </a:solidFill>
                          <a:latin typeface="Carlito" pitchFamily="34" charset="0"/>
                          <a:ea typeface="Carlito" pitchFamily="34" charset="-122"/>
                          <a:cs typeface="Carlito" pitchFamily="34" charset="-120"/>
                        </a:rPr>
                        <a:t>Skipped</a:t>
                      </a:r>
                      <a:endParaRPr lang="en-US" sz="1300" dirty="0">
                        <a:latin typeface="Carlito" charset="0"/>
                        <a:ea typeface="Carlito" charset="0"/>
                        <a:cs typeface="Carlito" charset="0"/>
                      </a:endParaRPr>
                    </a:p>
                  </a:txBody>
                  <a:tcPr marL="57785" marR="57785" marT="57785" marB="57785">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abc 10 20</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10 20</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1</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10 20 abc 40 x 50</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10 20 40 50</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2</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abc xyz 30</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30</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2</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3"/>
                  </a:ext>
                </a:extLst>
              </a:tr>
              <a:tr h="359271">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abc</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none</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1</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359271">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(empty file)</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none</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820"/>
                        </a:lnSpc>
                        <a:buNone/>
                      </a:pPr>
                      <a:r>
                        <a:rPr lang="en-US" sz="1300" dirty="0">
                          <a:solidFill>
                            <a:srgbClr val="000000"/>
                          </a:solidFill>
                          <a:latin typeface="Carlito" pitchFamily="34" charset="0"/>
                          <a:ea typeface="Carlito" pitchFamily="34" charset="-122"/>
                          <a:cs typeface="Carlito" pitchFamily="34" charset="-120"/>
                        </a:rPr>
                        <a:t>0</a:t>
                      </a:r>
                      <a:endParaRPr lang="en-US" sz="1300" dirty="0">
                        <a:latin typeface="Carlito" charset="0"/>
                        <a:ea typeface="Carlito" charset="0"/>
                        <a:cs typeface="Carlito" charset="0"/>
                      </a:endParaRPr>
                    </a:p>
                  </a:txBody>
                  <a:tcPr marL="57785" marR="57785" marT="57785" marB="57785">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Text 3"/>
          <p:cNvSpPr/>
          <p:nvPr/>
        </p:nvSpPr>
        <p:spPr>
          <a:xfrm>
            <a:off x="6248400" y="3895427"/>
            <a:ext cx="5130800" cy="784820"/>
          </a:xfrm>
          <a:prstGeom prst="roundRect">
            <a:avLst>
              <a:gd name="adj" fmla="val 16182"/>
            </a:avLst>
          </a:prstGeom>
          <a:solidFill>
            <a:srgbClr val="FFFFFF"/>
          </a:solidFill>
          <a:ln w="9525">
            <a:solidFill>
              <a:srgbClr val="808080"/>
            </a:solidFill>
          </a:ln>
        </p:spPr>
        <p:txBody>
          <a:bodyPr wrap="square" lIns="166003" tIns="115203" rIns="24271" bIns="89803" rtlCol="0" anchor="t">
            <a:normAutofit/>
          </a:bodyPr>
          <a:lstStyle/>
          <a:p>
            <a:pPr marL="0" indent="0" algn="l">
              <a:lnSpc>
                <a:spcPts val="1890"/>
              </a:lnSpc>
              <a:buNone/>
            </a:pPr>
            <a:r>
              <a:rPr lang="en-US" sz="1400" dirty="0">
                <a:solidFill>
                  <a:srgbClr val="000000"/>
                </a:solidFill>
                <a:latin typeface="Carlito" pitchFamily="34" charset="0"/>
                <a:ea typeface="Carlito" pitchFamily="34" charset="-122"/>
                <a:cs typeface="Carlito" pitchFamily="34" charset="-120"/>
              </a:rPr>
              <a:t>Junk at the start, middle or end: each pass only asks </a:t>
            </a:r>
            <a:r>
              <a:rPr lang="en-US" sz="1400" b="1" dirty="0">
                <a:solidFill>
                  <a:srgbClr val="000000"/>
                </a:solidFill>
                <a:latin typeface="Carlito" pitchFamily="34" charset="0"/>
                <a:ea typeface="Carlito" pitchFamily="34" charset="-122"/>
                <a:cs typeface="Carlito" pitchFamily="34" charset="-120"/>
              </a:rPr>
              <a:t>number, end, or junk?</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RECOVERING</a:t>
            </a:r>
            <a:endParaRPr lang="en-US" sz="1200" dirty="0"/>
          </a:p>
        </p:txBody>
      </p:sp>
      <p:sp>
        <p:nvSpPr>
          <p:cNvPr id="3" name="Text 1"/>
          <p:cNvSpPr>
            <a:spLocks noGrp="1"/>
          </p:cNvSpPr>
          <p:nvPr>
            <p:ph type="title"/>
          </p:nvPr>
        </p:nvSpPr>
        <p:spPr>
          <a:xfrm>
            <a:off x="812800" y="924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Two limits of the skip loop</a:t>
            </a:r>
            <a:endParaRPr lang="en-US" sz="3200" dirty="0"/>
          </a:p>
        </p:txBody>
      </p:sp>
      <p:sp>
        <p:nvSpPr>
          <p:cNvPr id="4" name="Shape 2"/>
          <p:cNvSpPr/>
          <p:nvPr/>
        </p:nvSpPr>
        <p:spPr>
          <a:xfrm>
            <a:off x="812800" y="1625501"/>
            <a:ext cx="5156200" cy="3949799"/>
          </a:xfrm>
          <a:prstGeom prst="roundRect">
            <a:avLst>
              <a:gd name="adj" fmla="val 3215"/>
            </a:avLst>
          </a:prstGeom>
          <a:solidFill>
            <a:srgbClr val="FFFFFF"/>
          </a:solidFill>
          <a:ln w="9525">
            <a:solidFill>
              <a:srgbClr val="808080"/>
            </a:solidFill>
          </a:ln>
        </p:spPr>
        <p:txBody>
          <a:bodyPr/>
          <a:lstStyle/>
          <a:p>
            <a:endParaRPr lang="en-US"/>
          </a:p>
        </p:txBody>
      </p:sp>
      <p:sp>
        <p:nvSpPr>
          <p:cNvPr id="5" name="Text 3"/>
          <p:cNvSpPr/>
          <p:nvPr/>
        </p:nvSpPr>
        <p:spPr>
          <a:xfrm>
            <a:off x="1041400" y="1854101"/>
            <a:ext cx="483997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00"/>
                </a:solidFill>
                <a:latin typeface="Carlito" pitchFamily="34" charset="0"/>
                <a:ea typeface="Carlito" pitchFamily="34" charset="-122"/>
                <a:cs typeface="Carlito" pitchFamily="34" charset="-120"/>
              </a:rPr>
              <a:t>1. Very long junk</a:t>
            </a:r>
            <a:endParaRPr lang="en-US" sz="1800" dirty="0"/>
          </a:p>
        </p:txBody>
      </p:sp>
      <p:sp>
        <p:nvSpPr>
          <p:cNvPr id="6" name="Text 4"/>
          <p:cNvSpPr/>
          <p:nvPr/>
        </p:nvSpPr>
        <p:spPr>
          <a:xfrm>
            <a:off x="1041400" y="2255341"/>
            <a:ext cx="4839970"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000000"/>
                </a:solidFill>
                <a:latin typeface="Carlito" pitchFamily="34" charset="0"/>
                <a:ea typeface="Carlito" pitchFamily="34" charset="-122"/>
                <a:cs typeface="Carlito" pitchFamily="34" charset="-120"/>
              </a:rPr>
              <a:t>inFile &gt;&gt; junk does not check the array size. A junk word of 50 or more characters writes past the end of junk[50].</a:t>
            </a:r>
            <a:endParaRPr lang="en-US" sz="1500" dirty="0"/>
          </a:p>
        </p:txBody>
      </p:sp>
      <p:sp>
        <p:nvSpPr>
          <p:cNvPr id="7" name="Text 5"/>
          <p:cNvSpPr/>
          <p:nvPr/>
        </p:nvSpPr>
        <p:spPr>
          <a:xfrm>
            <a:off x="1041400" y="2915741"/>
            <a:ext cx="4839970"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00000"/>
                </a:solidFill>
                <a:latin typeface="Carlito" pitchFamily="34" charset="0"/>
                <a:ea typeface="Carlito" pitchFamily="34" charset="-122"/>
                <a:cs typeface="Carlito" pitchFamily="34" charset="-120"/>
              </a:rPr>
              <a:t>Safer: skip it without storing it</a:t>
            </a:r>
            <a:endParaRPr lang="en-US" sz="1400" dirty="0"/>
          </a:p>
        </p:txBody>
      </p:sp>
      <p:sp>
        <p:nvSpPr>
          <p:cNvPr id="8" name="Text 6"/>
          <p:cNvSpPr/>
          <p:nvPr/>
        </p:nvSpPr>
        <p:spPr>
          <a:xfrm>
            <a:off x="1041400" y="3291582"/>
            <a:ext cx="4699000" cy="1072455"/>
          </a:xfrm>
          <a:prstGeom prst="roundRect">
            <a:avLst>
              <a:gd name="adj" fmla="val 8289"/>
            </a:avLst>
          </a:prstGeom>
          <a:solidFill>
            <a:srgbClr val="F2F2F2"/>
          </a:solidFill>
          <a:ln w="12700">
            <a:solidFill>
              <a:srgbClr val="404040"/>
            </a:solidFill>
          </a:ln>
        </p:spPr>
        <p:txBody>
          <a:bodyPr wrap="square" lIns="151762" tIns="126362" rIns="21460" bIns="100962" rtlCol="0" anchor="t">
            <a:normAutofit/>
          </a:bodyPr>
          <a:lstStyle/>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inFile.clear();</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inFile.ignore(100, ' ');  </a:t>
            </a:r>
            <a:r>
              <a:rPr lang="en-US" sz="1300" dirty="0">
                <a:solidFill>
                  <a:srgbClr val="595959"/>
                </a:solidFill>
                <a:latin typeface="Courier New" pitchFamily="49" charset="0"/>
                <a:ea typeface="Courier New" pitchFamily="49" charset="-122"/>
                <a:cs typeface="Courier New" pitchFamily="49" charset="-120"/>
              </a:rPr>
              <a:t>// up to the next space</a:t>
            </a:r>
            <a:endParaRPr lang="en-US" sz="1300" dirty="0"/>
          </a:p>
        </p:txBody>
      </p:sp>
      <p:sp>
        <p:nvSpPr>
          <p:cNvPr id="9" name="Shape 7"/>
          <p:cNvSpPr/>
          <p:nvPr/>
        </p:nvSpPr>
        <p:spPr>
          <a:xfrm>
            <a:off x="6223000" y="1625501"/>
            <a:ext cx="5156200" cy="3949799"/>
          </a:xfrm>
          <a:prstGeom prst="roundRect">
            <a:avLst>
              <a:gd name="adj" fmla="val 3215"/>
            </a:avLst>
          </a:prstGeom>
          <a:solidFill>
            <a:srgbClr val="FFFFFF"/>
          </a:solidFill>
          <a:ln w="9525">
            <a:solidFill>
              <a:srgbClr val="808080"/>
            </a:solidFill>
          </a:ln>
        </p:spPr>
        <p:txBody>
          <a:bodyPr/>
          <a:lstStyle/>
          <a:p>
            <a:endParaRPr lang="en-US"/>
          </a:p>
        </p:txBody>
      </p:sp>
      <p:sp>
        <p:nvSpPr>
          <p:cNvPr id="10" name="Text 8"/>
          <p:cNvSpPr/>
          <p:nvPr/>
        </p:nvSpPr>
        <p:spPr>
          <a:xfrm>
            <a:off x="6451600" y="1854101"/>
            <a:ext cx="4839970" cy="299641"/>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00000"/>
                </a:solidFill>
                <a:latin typeface="Carlito" pitchFamily="34" charset="0"/>
                <a:ea typeface="Carlito" pitchFamily="34" charset="-122"/>
                <a:cs typeface="Carlito" pitchFamily="34" charset="-120"/>
              </a:rPr>
              <a:t>2. Junk stuck to a number</a:t>
            </a:r>
            <a:endParaRPr lang="en-US"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64300" y="2268041"/>
          <a:ext cx="4686300" cy="1406724"/>
        </p:xfrm>
        <a:graphic>
          <a:graphicData uri="http://schemas.openxmlformats.org/drawingml/2006/table">
            <a:tbl>
              <a:tblPr/>
              <a:tblGrid>
                <a:gridCol w="1405890">
                  <a:extLst>
                    <a:ext uri="{9D8B030D-6E8A-4147-A177-3AD203B41FA5}">
                      <a16:colId xmlns:a16="http://schemas.microsoft.com/office/drawing/2014/main" val="20000"/>
                    </a:ext>
                  </a:extLst>
                </a:gridCol>
                <a:gridCol w="3280410">
                  <a:extLst>
                    <a:ext uri="{9D8B030D-6E8A-4147-A177-3AD203B41FA5}">
                      <a16:colId xmlns:a16="http://schemas.microsoft.com/office/drawing/2014/main" val="20001"/>
                    </a:ext>
                  </a:extLst>
                </a:gridCol>
              </a:tblGrid>
              <a:tr h="385961">
                <a:tc>
                  <a:txBody>
                    <a:bodyPr/>
                    <a:lstStyle/>
                    <a:p>
                      <a:pPr marL="0" indent="0">
                        <a:lnSpc>
                          <a:spcPts val="1960"/>
                        </a:lnSpc>
                        <a:buNone/>
                      </a:pPr>
                      <a:r>
                        <a:rPr lang="en-US" sz="1400" b="1" dirty="0">
                          <a:solidFill>
                            <a:srgbClr val="000000"/>
                          </a:solidFill>
                          <a:latin typeface="Carlito" pitchFamily="34" charset="0"/>
                          <a:ea typeface="Carlito" pitchFamily="34" charset="-122"/>
                          <a:cs typeface="Carlito" pitchFamily="34" charset="-120"/>
                        </a:rPr>
                        <a:t>File</a:t>
                      </a:r>
                      <a:endParaRPr lang="en-US" sz="1400" dirty="0">
                        <a:latin typeface="Carlito" charset="0"/>
                        <a:ea typeface="Carlito" charset="0"/>
                        <a:cs typeface="Carlito" charset="0"/>
                      </a:endParaRPr>
                    </a:p>
                  </a:txBody>
                  <a:tcPr marL="62230" marR="62230" marT="62230" marB="62230">
                    <a:lnL w="12700" cap="flat" cmpd="sng" algn="ctr">
                      <a:solidFill>
                        <a:srgbClr val="80808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D9D9D9"/>
                    </a:solidFill>
                  </a:tcPr>
                </a:tc>
                <a:tc>
                  <a:txBody>
                    <a:bodyPr/>
                    <a:lstStyle/>
                    <a:p>
                      <a:pPr marL="0" indent="0">
                        <a:lnSpc>
                          <a:spcPts val="1960"/>
                        </a:lnSpc>
                        <a:buNone/>
                      </a:pPr>
                      <a:r>
                        <a:rPr lang="en-US" sz="1400" b="1" dirty="0">
                          <a:solidFill>
                            <a:srgbClr val="000000"/>
                          </a:solidFill>
                          <a:latin typeface="Carlito" pitchFamily="34" charset="0"/>
                          <a:ea typeface="Carlito" pitchFamily="34" charset="-122"/>
                          <a:cs typeface="Carlito" pitchFamily="34" charset="-120"/>
                        </a:rPr>
                        <a:t>What happens</a:t>
                      </a:r>
                      <a:endParaRPr lang="en-US" sz="1400" dirty="0">
                        <a:latin typeface="Carlito" charset="0"/>
                        <a:ea typeface="Carlito" charset="0"/>
                        <a:cs typeface="Carlito" charset="0"/>
                      </a:endParaRPr>
                    </a:p>
                  </a:txBody>
                  <a:tcPr marL="62230" marR="62230" marT="62230" marB="62230">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000000"/>
                          </a:solidFill>
                          <a:latin typeface="Carlito" pitchFamily="34" charset="0"/>
                          <a:ea typeface="Carlito" pitchFamily="34" charset="-122"/>
                          <a:cs typeface="Carlito" pitchFamily="34" charset="-120"/>
                        </a:rPr>
                        <a:t>12abc</a:t>
                      </a:r>
                      <a:endParaRPr lang="en-US" sz="1400" dirty="0">
                        <a:latin typeface="Carlito" charset="0"/>
                        <a:ea typeface="Carlito" charset="0"/>
                        <a:cs typeface="Carlito" charset="0"/>
                      </a:endParaRPr>
                    </a:p>
                  </a:txBody>
                  <a:tcPr marL="62230" marR="62230" marT="62230" marB="6223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960"/>
                        </a:lnSpc>
                        <a:buNone/>
                      </a:pPr>
                      <a:r>
                        <a:rPr lang="en-US" sz="1400" dirty="0">
                          <a:solidFill>
                            <a:srgbClr val="000000"/>
                          </a:solidFill>
                          <a:latin typeface="Carlito" pitchFamily="34" charset="0"/>
                          <a:ea typeface="Carlito" pitchFamily="34" charset="-122"/>
                          <a:cs typeface="Carlito" pitchFamily="34" charset="-120"/>
                        </a:rPr>
                        <a:t>12 is kept, then abc is skipped. Fine.</a:t>
                      </a:r>
                      <a:endParaRPr lang="en-US" sz="1400" dirty="0">
                        <a:latin typeface="Carlito" charset="0"/>
                        <a:ea typeface="Carlito" charset="0"/>
                        <a:cs typeface="Carlito" charset="0"/>
                      </a:endParaRPr>
                    </a:p>
                  </a:txBody>
                  <a:tcPr marL="62230" marR="62230" marT="62230" marB="6223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1"/>
                  </a:ext>
                </a:extLst>
              </a:tr>
              <a:tr h="634802">
                <a:tc>
                  <a:txBody>
                    <a:bodyPr/>
                    <a:lstStyle/>
                    <a:p>
                      <a:pPr marL="0" indent="0">
                        <a:lnSpc>
                          <a:spcPts val="1960"/>
                        </a:lnSpc>
                        <a:buNone/>
                      </a:pPr>
                      <a:r>
                        <a:rPr lang="en-US" sz="1400" dirty="0">
                          <a:solidFill>
                            <a:srgbClr val="000000"/>
                          </a:solidFill>
                          <a:latin typeface="Carlito" pitchFamily="34" charset="0"/>
                          <a:ea typeface="Carlito" pitchFamily="34" charset="-122"/>
                          <a:cs typeface="Carlito" pitchFamily="34" charset="-120"/>
                        </a:rPr>
                        <a:t>abc12</a:t>
                      </a:r>
                      <a:endParaRPr lang="en-US" sz="1400" dirty="0">
                        <a:latin typeface="Carlito" charset="0"/>
                        <a:ea typeface="Carlito" charset="0"/>
                        <a:cs typeface="Carlito" charset="0"/>
                      </a:endParaRPr>
                    </a:p>
                  </a:txBody>
                  <a:tcPr marL="62230" marR="62230" marT="62230" marB="6223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960"/>
                        </a:lnSpc>
                        <a:buNone/>
                      </a:pPr>
                      <a:r>
                        <a:rPr lang="en-US" sz="1400" dirty="0">
                          <a:solidFill>
                            <a:srgbClr val="000000"/>
                          </a:solidFill>
                          <a:latin typeface="Carlito" pitchFamily="34" charset="0"/>
                          <a:ea typeface="Carlito" pitchFamily="34" charset="-122"/>
                          <a:cs typeface="Carlito" pitchFamily="34" charset="-120"/>
                        </a:rPr>
                        <a:t>The whole word abc12 is skipped. 12 is lost.</a:t>
                      </a:r>
                      <a:endParaRPr lang="en-US" sz="1400" dirty="0">
                        <a:latin typeface="Carlito" charset="0"/>
                        <a:ea typeface="Carlito" charset="0"/>
                        <a:cs typeface="Carlito" charset="0"/>
                      </a:endParaRPr>
                    </a:p>
                  </a:txBody>
                  <a:tcPr marL="62230" marR="62230" marT="62230" marB="62230">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bl>
          </a:graphicData>
        </a:graphic>
      </p:graphicFrame>
      <p:sp>
        <p:nvSpPr>
          <p:cNvPr id="12" name="Text 9"/>
          <p:cNvSpPr/>
          <p:nvPr/>
        </p:nvSpPr>
        <p:spPr>
          <a:xfrm>
            <a:off x="6451600" y="3801765"/>
            <a:ext cx="4839970" cy="52308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0000"/>
                </a:solidFill>
                <a:latin typeface="Carlito" pitchFamily="34" charset="0"/>
                <a:ea typeface="Carlito" pitchFamily="34" charset="-122"/>
                <a:cs typeface="Carlito" pitchFamily="34" charset="-120"/>
              </a:rPr>
              <a:t>&gt;&gt; into a char array reads up to the next space, so it swallows the digits too.</a:t>
            </a:r>
            <a:endParaRPr lang="en-US" sz="1400" dirty="0"/>
          </a:p>
        </p:txBody>
      </p:sp>
      <p:sp>
        <p:nvSpPr>
          <p:cNvPr id="13" name="Text 10"/>
          <p:cNvSpPr/>
          <p:nvPr/>
        </p:nvSpPr>
        <p:spPr>
          <a:xfrm>
            <a:off x="812800" y="582930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04040"/>
                </a:solidFill>
                <a:latin typeface="Carlito" pitchFamily="34" charset="0"/>
                <a:ea typeface="Carlito" pitchFamily="34" charset="-122"/>
                <a:cs typeface="Carlito" pitchFamily="34" charset="-120"/>
              </a:rPr>
              <a:t>For normal data files both are rare, but students should know where the loop breaks.</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RECOVERING · SLIDE 33 EXPLAINED</a:t>
            </a:r>
            <a:endParaRPr lang="en-US" sz="1200" dirty="0"/>
          </a:p>
        </p:txBody>
      </p:sp>
      <p:sp>
        <p:nvSpPr>
          <p:cNvPr id="3" name="Text 1"/>
          <p:cNvSpPr>
            <a:spLocks noGrp="1"/>
          </p:cNvSpPr>
          <p:nvPr>
            <p:ph type="title"/>
          </p:nvPr>
        </p:nvSpPr>
        <p:spPr>
          <a:xfrm>
            <a:off x="812800" y="924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Why the skip loop can break</a:t>
            </a:r>
            <a:endParaRPr lang="en-US" sz="3200" dirty="0"/>
          </a:p>
        </p:txBody>
      </p:sp>
      <p:sp>
        <p:nvSpPr>
          <p:cNvPr id="4" name="Rounded Rectangle 3"/>
          <p:cNvSpPr/>
          <p:nvPr/>
        </p:nvSpPr>
        <p:spPr>
          <a:xfrm>
            <a:off x="813816" y="1572768"/>
            <a:ext cx="5257800" cy="4160520"/>
          </a:xfrm>
          <a:prstGeom prst="roundRect">
            <a:avLst>
              <a:gd name="adj" fmla="val 4000"/>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24128" y="1737360"/>
            <a:ext cx="4846320" cy="365760"/>
          </a:xfrm>
          <a:prstGeom prst="rect">
            <a:avLst/>
          </a:prstGeom>
          <a:noFill/>
        </p:spPr>
        <p:txBody>
          <a:bodyPr wrap="square" lIns="0" tIns="0" rIns="0" bIns="0" anchor="t">
            <a:spAutoFit/>
          </a:bodyPr>
          <a:lstStyle/>
          <a:p>
            <a:pPr>
              <a:spcAft>
                <a:spcPts val="400"/>
              </a:spcAft>
            </a:pPr>
            <a:r>
              <a:rPr sz="1800" b="1">
                <a:solidFill>
                  <a:srgbClr val="000000"/>
                </a:solidFill>
                <a:latin typeface="Carlito"/>
              </a:rPr>
              <a:t>1. Very long junk</a:t>
            </a:r>
          </a:p>
        </p:txBody>
      </p:sp>
      <p:sp>
        <p:nvSpPr>
          <p:cNvPr id="6" name="TextBox 5"/>
          <p:cNvSpPr txBox="1"/>
          <p:nvPr/>
        </p:nvSpPr>
        <p:spPr>
          <a:xfrm>
            <a:off x="1024128" y="2194560"/>
            <a:ext cx="4846320" cy="548640"/>
          </a:xfrm>
          <a:prstGeom prst="rect">
            <a:avLst/>
          </a:prstGeom>
          <a:noFill/>
        </p:spPr>
        <p:txBody>
          <a:bodyPr wrap="square" lIns="0" tIns="0" rIns="0" bIns="0" anchor="t">
            <a:spAutoFit/>
          </a:bodyPr>
          <a:lstStyle/>
          <a:p>
            <a:pPr>
              <a:spcAft>
                <a:spcPts val="400"/>
              </a:spcAft>
            </a:pPr>
            <a:r>
              <a:rPr sz="1300" b="0">
                <a:solidFill>
                  <a:srgbClr val="000000"/>
                </a:solidFill>
                <a:latin typeface="Courier New"/>
              </a:rPr>
              <a:t>char junk[50]</a:t>
            </a:r>
            <a:r>
              <a:rPr sz="1400" b="0">
                <a:solidFill>
                  <a:srgbClr val="000000"/>
                </a:solidFill>
                <a:latin typeface="Carlito"/>
              </a:rPr>
              <a:t> has 50 boxes. 49 hold letters and the last holds the end mark </a:t>
            </a:r>
            <a:r>
              <a:rPr sz="1300" b="0">
                <a:solidFill>
                  <a:srgbClr val="000000"/>
                </a:solidFill>
                <a:latin typeface="Courier New"/>
              </a:rPr>
              <a:t>\0</a:t>
            </a:r>
            <a:r>
              <a:rPr sz="1400" b="0">
                <a:solidFill>
                  <a:srgbClr val="000000"/>
                </a:solidFill>
                <a:latin typeface="Carlito"/>
              </a:rPr>
              <a:t>.</a:t>
            </a:r>
          </a:p>
        </p:txBody>
      </p:sp>
      <p:sp>
        <p:nvSpPr>
          <p:cNvPr id="7" name="Rectangle 6"/>
          <p:cNvSpPr/>
          <p:nvPr/>
        </p:nvSpPr>
        <p:spPr>
          <a:xfrm>
            <a:off x="1024128" y="2852928"/>
            <a:ext cx="329184" cy="329184"/>
          </a:xfrm>
          <a:prstGeom prst="rect">
            <a:avLst/>
          </a:prstGeom>
          <a:solidFill>
            <a:srgbClr val="F2F2F2"/>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Rectangle 7"/>
          <p:cNvSpPr/>
          <p:nvPr/>
        </p:nvSpPr>
        <p:spPr>
          <a:xfrm>
            <a:off x="1353312" y="2852928"/>
            <a:ext cx="329184" cy="329184"/>
          </a:xfrm>
          <a:prstGeom prst="rect">
            <a:avLst/>
          </a:prstGeom>
          <a:solidFill>
            <a:srgbClr val="F2F2F2"/>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Rectangle 8"/>
          <p:cNvSpPr/>
          <p:nvPr/>
        </p:nvSpPr>
        <p:spPr>
          <a:xfrm>
            <a:off x="1682496" y="2852928"/>
            <a:ext cx="329184" cy="329184"/>
          </a:xfrm>
          <a:prstGeom prst="rect">
            <a:avLst/>
          </a:prstGeom>
          <a:solidFill>
            <a:srgbClr val="F2F2F2"/>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Rectangle 9"/>
          <p:cNvSpPr/>
          <p:nvPr/>
        </p:nvSpPr>
        <p:spPr>
          <a:xfrm>
            <a:off x="2011680" y="2852928"/>
            <a:ext cx="329184" cy="329184"/>
          </a:xfrm>
          <a:prstGeom prst="rect">
            <a:avLst/>
          </a:prstGeom>
          <a:solidFill>
            <a:srgbClr val="F2F2F2"/>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Rectangle 10"/>
          <p:cNvSpPr/>
          <p:nvPr/>
        </p:nvSpPr>
        <p:spPr>
          <a:xfrm>
            <a:off x="2340864" y="2852928"/>
            <a:ext cx="329184" cy="329184"/>
          </a:xfrm>
          <a:prstGeom prst="rect">
            <a:avLst/>
          </a:prstGeom>
          <a:solidFill>
            <a:srgbClr val="F2F2F2"/>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Rectangle 11"/>
          <p:cNvSpPr/>
          <p:nvPr/>
        </p:nvSpPr>
        <p:spPr>
          <a:xfrm>
            <a:off x="2670048" y="2852928"/>
            <a:ext cx="329184" cy="329184"/>
          </a:xfrm>
          <a:prstGeom prst="rect">
            <a:avLst/>
          </a:prstGeom>
          <a:solidFill>
            <a:srgbClr val="F2F2F2"/>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Rectangle 12"/>
          <p:cNvSpPr/>
          <p:nvPr/>
        </p:nvSpPr>
        <p:spPr>
          <a:xfrm>
            <a:off x="2999232" y="2852928"/>
            <a:ext cx="329184" cy="329184"/>
          </a:xfrm>
          <a:prstGeom prst="rect">
            <a:avLst/>
          </a:prstGeom>
          <a:solidFill>
            <a:srgbClr val="F2F2F2"/>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Rectangle 13"/>
          <p:cNvSpPr/>
          <p:nvPr/>
        </p:nvSpPr>
        <p:spPr>
          <a:xfrm>
            <a:off x="3328416" y="2852928"/>
            <a:ext cx="329184" cy="329184"/>
          </a:xfrm>
          <a:prstGeom prst="rect">
            <a:avLst/>
          </a:prstGeom>
          <a:solidFill>
            <a:srgbClr val="F2F2F2"/>
          </a:solidFill>
          <a:ln w="1270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Rectangle 14"/>
          <p:cNvSpPr/>
          <p:nvPr/>
        </p:nvSpPr>
        <p:spPr>
          <a:xfrm>
            <a:off x="3657600" y="2852928"/>
            <a:ext cx="329184" cy="329184"/>
          </a:xfrm>
          <a:prstGeom prst="rect">
            <a:avLst/>
          </a:prstGeom>
          <a:solidFill>
            <a:srgbClr val="FFFFFF"/>
          </a:solidFill>
          <a:ln w="12700">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Rectangle 15"/>
          <p:cNvSpPr/>
          <p:nvPr/>
        </p:nvSpPr>
        <p:spPr>
          <a:xfrm>
            <a:off x="3986783" y="2852928"/>
            <a:ext cx="329184" cy="329184"/>
          </a:xfrm>
          <a:prstGeom prst="rect">
            <a:avLst/>
          </a:prstGeom>
          <a:solidFill>
            <a:srgbClr val="FFFFFF"/>
          </a:solidFill>
          <a:ln w="12700">
            <a:solidFill>
              <a:srgbClr val="A6A6A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024128" y="3236976"/>
            <a:ext cx="2651760" cy="274320"/>
          </a:xfrm>
          <a:prstGeom prst="rect">
            <a:avLst/>
          </a:prstGeom>
          <a:noFill/>
        </p:spPr>
        <p:txBody>
          <a:bodyPr wrap="square" lIns="0" tIns="0" rIns="0" bIns="0" anchor="t">
            <a:spAutoFit/>
          </a:bodyPr>
          <a:lstStyle/>
          <a:p>
            <a:pPr>
              <a:spcAft>
                <a:spcPts val="400"/>
              </a:spcAft>
            </a:pPr>
            <a:r>
              <a:rPr sz="1100" b="0">
                <a:solidFill>
                  <a:srgbClr val="000000"/>
                </a:solidFill>
                <a:latin typeface="Courier New"/>
              </a:rPr>
              <a:t>junk[0] ... junk[49]</a:t>
            </a:r>
          </a:p>
        </p:txBody>
      </p:sp>
      <p:sp>
        <p:nvSpPr>
          <p:cNvPr id="18" name="TextBox 17"/>
          <p:cNvSpPr txBox="1"/>
          <p:nvPr/>
        </p:nvSpPr>
        <p:spPr>
          <a:xfrm>
            <a:off x="3721608" y="3236976"/>
            <a:ext cx="2103120" cy="274320"/>
          </a:xfrm>
          <a:prstGeom prst="rect">
            <a:avLst/>
          </a:prstGeom>
          <a:noFill/>
        </p:spPr>
        <p:txBody>
          <a:bodyPr wrap="square" lIns="0" tIns="0" rIns="0" bIns="0" anchor="t">
            <a:spAutoFit/>
          </a:bodyPr>
          <a:lstStyle/>
          <a:p>
            <a:pPr>
              <a:spcAft>
                <a:spcPts val="400"/>
              </a:spcAft>
            </a:pPr>
            <a:r>
              <a:rPr sz="1200" b="1">
                <a:solidFill>
                  <a:srgbClr val="000000"/>
                </a:solidFill>
                <a:latin typeface="Carlito"/>
              </a:rPr>
              <a:t>letter 51 onwards: outside!</a:t>
            </a:r>
          </a:p>
        </p:txBody>
      </p:sp>
      <p:sp>
        <p:nvSpPr>
          <p:cNvPr id="19" name="TextBox 18"/>
          <p:cNvSpPr txBox="1"/>
          <p:nvPr/>
        </p:nvSpPr>
        <p:spPr>
          <a:xfrm>
            <a:off x="1024128" y="3657600"/>
            <a:ext cx="4846320" cy="822960"/>
          </a:xfrm>
          <a:prstGeom prst="rect">
            <a:avLst/>
          </a:prstGeom>
          <a:noFill/>
        </p:spPr>
        <p:txBody>
          <a:bodyPr wrap="square" lIns="0" tIns="0" rIns="0" bIns="0" anchor="t">
            <a:spAutoFit/>
          </a:bodyPr>
          <a:lstStyle/>
          <a:p>
            <a:pPr>
              <a:spcAft>
                <a:spcPts val="400"/>
              </a:spcAft>
            </a:pPr>
            <a:r>
              <a:rPr sz="1400" b="0">
                <a:solidFill>
                  <a:srgbClr val="000000"/>
                </a:solidFill>
                <a:latin typeface="Carlito"/>
              </a:rPr>
              <a:t>inFile &gt;&gt; junk does not count the boxes. A 60-letter junk word keeps writing past junk[49], into memory that belongs to other variables.</a:t>
            </a:r>
          </a:p>
        </p:txBody>
      </p:sp>
      <p:sp>
        <p:nvSpPr>
          <p:cNvPr id="20" name="TextBox 19"/>
          <p:cNvSpPr txBox="1"/>
          <p:nvPr/>
        </p:nvSpPr>
        <p:spPr>
          <a:xfrm>
            <a:off x="1024128" y="4526280"/>
            <a:ext cx="4846320" cy="1097280"/>
          </a:xfrm>
          <a:prstGeom prst="rect">
            <a:avLst/>
          </a:prstGeom>
          <a:noFill/>
        </p:spPr>
        <p:txBody>
          <a:bodyPr wrap="square" lIns="0" tIns="0" rIns="0" bIns="0" anchor="t">
            <a:spAutoFit/>
          </a:bodyPr>
          <a:lstStyle/>
          <a:p>
            <a:pPr>
              <a:spcAft>
                <a:spcPts val="400"/>
              </a:spcAft>
            </a:pPr>
            <a:r>
              <a:rPr sz="1300" b="1">
                <a:solidFill>
                  <a:srgbClr val="000000"/>
                </a:solidFill>
                <a:latin typeface="Carlito"/>
              </a:rPr>
              <a:t>We tried it: </a:t>
            </a:r>
            <a:r>
              <a:rPr sz="1300" b="0">
                <a:solidFill>
                  <a:srgbClr val="000000"/>
                </a:solidFill>
                <a:latin typeface="Carlito"/>
              </a:rPr>
              <a:t>the program crashed with </a:t>
            </a:r>
            <a:r>
              <a:rPr sz="1200" b="0">
                <a:solidFill>
                  <a:srgbClr val="000000"/>
                </a:solidFill>
                <a:latin typeface="Courier New"/>
              </a:rPr>
              <a:t>*** stack smashing detected ***</a:t>
            </a:r>
            <a:r>
              <a:rPr sz="1300" b="0">
                <a:solidFill>
                  <a:srgbClr val="000000"/>
                </a:solidFill>
                <a:latin typeface="Carlito"/>
              </a:rPr>
              <a:t>. In Visual Studio Debug you may see </a:t>
            </a:r>
            <a:r>
              <a:rPr sz="1200" b="0">
                <a:solidFill>
                  <a:srgbClr val="000000"/>
                </a:solidFill>
                <a:latin typeface="Courier New"/>
              </a:rPr>
              <a:t>Run-Time Check Failure #2</a:t>
            </a:r>
            <a:r>
              <a:rPr sz="1300" b="0">
                <a:solidFill>
                  <a:srgbClr val="000000"/>
                </a:solidFill>
                <a:latin typeface="Carlito"/>
              </a:rPr>
              <a:t>.</a:t>
            </a:r>
          </a:p>
        </p:txBody>
      </p:sp>
      <p:sp>
        <p:nvSpPr>
          <p:cNvPr id="21" name="Rounded Rectangle 20"/>
          <p:cNvSpPr/>
          <p:nvPr/>
        </p:nvSpPr>
        <p:spPr>
          <a:xfrm>
            <a:off x="6254496" y="1572768"/>
            <a:ext cx="5120640" cy="4160520"/>
          </a:xfrm>
          <a:prstGeom prst="roundRect">
            <a:avLst>
              <a:gd name="adj" fmla="val 4000"/>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64808" y="1737360"/>
            <a:ext cx="4754880" cy="365760"/>
          </a:xfrm>
          <a:prstGeom prst="rect">
            <a:avLst/>
          </a:prstGeom>
          <a:noFill/>
        </p:spPr>
        <p:txBody>
          <a:bodyPr wrap="square" lIns="0" tIns="0" rIns="0" bIns="0" anchor="t">
            <a:spAutoFit/>
          </a:bodyPr>
          <a:lstStyle/>
          <a:p>
            <a:pPr>
              <a:spcAft>
                <a:spcPts val="400"/>
              </a:spcAft>
            </a:pPr>
            <a:r>
              <a:rPr sz="1800" b="1">
                <a:solidFill>
                  <a:srgbClr val="000000"/>
                </a:solidFill>
                <a:latin typeface="Carlito"/>
              </a:rPr>
              <a:t>2. Junk stuck to a number: </a:t>
            </a:r>
            <a:r>
              <a:rPr sz="1700" b="1">
                <a:solidFill>
                  <a:srgbClr val="000000"/>
                </a:solidFill>
                <a:latin typeface="Courier New"/>
              </a:rPr>
              <a:t>abc12</a:t>
            </a:r>
          </a:p>
        </p:txBody>
      </p:sp>
      <p:graphicFrame>
        <p:nvGraphicFramePr>
          <p:cNvPr id="23" name="Table 22"/>
          <p:cNvGraphicFramePr>
            <a:graphicFrameLocks noGrp="1"/>
          </p:cNvGraphicFramePr>
          <p:nvPr/>
        </p:nvGraphicFramePr>
        <p:xfrm>
          <a:off x="6464808" y="2212848"/>
          <a:ext cx="4709159" cy="1536192"/>
        </p:xfrm>
        <a:graphic>
          <a:graphicData uri="http://schemas.openxmlformats.org/drawingml/2006/table">
            <a:tbl>
              <a:tblPr firstRow="1" bandRow="1">
                <a:tableStyleId>{5C22544A-7EE6-4342-B048-85BDC9FD1C3A}</a:tableStyleId>
              </a:tblPr>
              <a:tblGrid>
                <a:gridCol w="1874519">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tblGrid>
              <a:tr h="274320">
                <a:tc>
                  <a:txBody>
                    <a:bodyPr/>
                    <a:lstStyle/>
                    <a:p>
                      <a:r>
                        <a:rPr sz="1200" b="1">
                          <a:solidFill>
                            <a:srgbClr val="000000"/>
                          </a:solidFill>
                          <a:latin typeface="Carlito"/>
                        </a:rPr>
                        <a:t>Step</a:t>
                      </a:r>
                    </a:p>
                  </a:txBody>
                  <a:tcPr marL="73152" marR="73152" marT="36576" marB="36576">
                    <a:solidFill>
                      <a:srgbClr val="D9D9D9"/>
                    </a:solidFill>
                  </a:tcPr>
                </a:tc>
                <a:tc>
                  <a:txBody>
                    <a:bodyPr/>
                    <a:lstStyle/>
                    <a:p>
                      <a:r>
                        <a:rPr sz="1200" b="1">
                          <a:solidFill>
                            <a:srgbClr val="000000"/>
                          </a:solidFill>
                          <a:latin typeface="Carlito"/>
                        </a:rPr>
                        <a:t>What happens</a:t>
                      </a:r>
                    </a:p>
                  </a:txBody>
                  <a:tcPr marL="73152" marR="73152" marT="36576" marB="36576">
                    <a:solidFill>
                      <a:srgbClr val="D9D9D9"/>
                    </a:solidFill>
                  </a:tcPr>
                </a:tc>
                <a:extLst>
                  <a:ext uri="{0D108BD9-81ED-4DB2-BD59-A6C34878D82A}">
                    <a16:rowId xmlns:a16="http://schemas.microsoft.com/office/drawing/2014/main" val="10000"/>
                  </a:ext>
                </a:extLst>
              </a:tr>
              <a:tr h="274320">
                <a:tc>
                  <a:txBody>
                    <a:bodyPr/>
                    <a:lstStyle/>
                    <a:p>
                      <a:r>
                        <a:rPr sz="1100" b="0">
                          <a:solidFill>
                            <a:srgbClr val="000000"/>
                          </a:solidFill>
                          <a:latin typeface="Courier New"/>
                        </a:rPr>
                        <a:t>inFile &gt;&gt; a[count]</a:t>
                      </a:r>
                    </a:p>
                  </a:txBody>
                  <a:tcPr marL="73152" marR="73152" marT="36576" marB="36576">
                    <a:solidFill>
                      <a:srgbClr val="FFFFFF"/>
                    </a:solidFill>
                  </a:tcPr>
                </a:tc>
                <a:tc>
                  <a:txBody>
                    <a:bodyPr/>
                    <a:lstStyle/>
                    <a:p>
                      <a:r>
                        <a:rPr sz="1200" b="0">
                          <a:solidFill>
                            <a:srgbClr val="000000"/>
                          </a:solidFill>
                          <a:latin typeface="Carlito"/>
                        </a:rPr>
                        <a:t>Sees a, not a digit. The read fails.</a:t>
                      </a:r>
                    </a:p>
                  </a:txBody>
                  <a:tcPr marL="73152" marR="73152" marT="36576" marB="36576">
                    <a:solidFill>
                      <a:srgbClr val="FFFFFF"/>
                    </a:solidFill>
                  </a:tcPr>
                </a:tc>
                <a:extLst>
                  <a:ext uri="{0D108BD9-81ED-4DB2-BD59-A6C34878D82A}">
                    <a16:rowId xmlns:a16="http://schemas.microsoft.com/office/drawing/2014/main" val="10001"/>
                  </a:ext>
                </a:extLst>
              </a:tr>
              <a:tr h="274320">
                <a:tc>
                  <a:txBody>
                    <a:bodyPr/>
                    <a:lstStyle/>
                    <a:p>
                      <a:r>
                        <a:rPr sz="1100" b="0">
                          <a:solidFill>
                            <a:srgbClr val="000000"/>
                          </a:solidFill>
                          <a:latin typeface="Courier New"/>
                        </a:rPr>
                        <a:t>inFile.clear()</a:t>
                      </a:r>
                    </a:p>
                  </a:txBody>
                  <a:tcPr marL="73152" marR="73152" marT="36576" marB="36576">
                    <a:solidFill>
                      <a:srgbClr val="FFFFFF"/>
                    </a:solidFill>
                  </a:tcPr>
                </a:tc>
                <a:tc>
                  <a:txBody>
                    <a:bodyPr/>
                    <a:lstStyle/>
                    <a:p>
                      <a:r>
                        <a:rPr sz="1200" b="0">
                          <a:solidFill>
                            <a:srgbClr val="000000"/>
                          </a:solidFill>
                          <a:latin typeface="Carlito"/>
                        </a:rPr>
                        <a:t>The stream works again.</a:t>
                      </a:r>
                    </a:p>
                  </a:txBody>
                  <a:tcPr marL="73152" marR="73152" marT="36576" marB="36576">
                    <a:solidFill>
                      <a:srgbClr val="FFFFFF"/>
                    </a:solidFill>
                  </a:tcPr>
                </a:tc>
                <a:extLst>
                  <a:ext uri="{0D108BD9-81ED-4DB2-BD59-A6C34878D82A}">
                    <a16:rowId xmlns:a16="http://schemas.microsoft.com/office/drawing/2014/main" val="10002"/>
                  </a:ext>
                </a:extLst>
              </a:tr>
              <a:tr h="274320">
                <a:tc>
                  <a:txBody>
                    <a:bodyPr/>
                    <a:lstStyle/>
                    <a:p>
                      <a:r>
                        <a:rPr sz="1100" b="0">
                          <a:solidFill>
                            <a:srgbClr val="000000"/>
                          </a:solidFill>
                          <a:latin typeface="Courier New"/>
                        </a:rPr>
                        <a:t>inFile &gt;&gt; junk</a:t>
                      </a:r>
                    </a:p>
                  </a:txBody>
                  <a:tcPr marL="73152" marR="73152" marT="36576" marB="36576">
                    <a:solidFill>
                      <a:srgbClr val="FFFFFF"/>
                    </a:solidFill>
                  </a:tcPr>
                </a:tc>
                <a:tc>
                  <a:txBody>
                    <a:bodyPr/>
                    <a:lstStyle/>
                    <a:p>
                      <a:r>
                        <a:rPr sz="1200" b="0">
                          <a:solidFill>
                            <a:srgbClr val="000000"/>
                          </a:solidFill>
                          <a:latin typeface="Carlito"/>
                        </a:rPr>
                        <a:t>Reads the whole word abc12, up to the space.</a:t>
                      </a:r>
                    </a:p>
                  </a:txBody>
                  <a:tcPr marL="73152" marR="73152" marT="36576" marB="36576">
                    <a:solidFill>
                      <a:srgbClr val="FFFFFF"/>
                    </a:solidFill>
                  </a:tcPr>
                </a:tc>
                <a:extLst>
                  <a:ext uri="{0D108BD9-81ED-4DB2-BD59-A6C34878D82A}">
                    <a16:rowId xmlns:a16="http://schemas.microsoft.com/office/drawing/2014/main" val="10003"/>
                  </a:ext>
                </a:extLst>
              </a:tr>
              <a:tr h="274320">
                <a:tc>
                  <a:txBody>
                    <a:bodyPr/>
                    <a:lstStyle/>
                    <a:p>
                      <a:r>
                        <a:rPr sz="1200" b="0">
                          <a:solidFill>
                            <a:srgbClr val="000000"/>
                          </a:solidFill>
                          <a:latin typeface="Carlito"/>
                        </a:rPr>
                        <a:t>Result</a:t>
                      </a:r>
                    </a:p>
                  </a:txBody>
                  <a:tcPr marL="73152" marR="73152" marT="36576" marB="36576">
                    <a:solidFill>
                      <a:srgbClr val="FFFFFF"/>
                    </a:solidFill>
                  </a:tcPr>
                </a:tc>
                <a:tc>
                  <a:txBody>
                    <a:bodyPr/>
                    <a:lstStyle/>
                    <a:p>
                      <a:r>
                        <a:rPr sz="1200" b="0">
                          <a:solidFill>
                            <a:srgbClr val="000000"/>
                          </a:solidFill>
                          <a:latin typeface="Carlito"/>
                        </a:rPr>
                        <a:t>12 is thrown away with the junk.</a:t>
                      </a:r>
                    </a:p>
                  </a:txBody>
                  <a:tcPr marL="73152" marR="73152" marT="36576" marB="36576">
                    <a:solidFill>
                      <a:srgbClr val="FFFFFF"/>
                    </a:solidFill>
                  </a:tcPr>
                </a:tc>
                <a:extLst>
                  <a:ext uri="{0D108BD9-81ED-4DB2-BD59-A6C34878D82A}">
                    <a16:rowId xmlns:a16="http://schemas.microsoft.com/office/drawing/2014/main" val="10004"/>
                  </a:ext>
                </a:extLst>
              </a:tr>
            </a:tbl>
          </a:graphicData>
        </a:graphic>
      </p:graphicFrame>
      <p:sp>
        <p:nvSpPr>
          <p:cNvPr id="24" name="TextBox 23"/>
          <p:cNvSpPr txBox="1"/>
          <p:nvPr/>
        </p:nvSpPr>
        <p:spPr>
          <a:xfrm>
            <a:off x="6464808" y="4343400"/>
            <a:ext cx="4754880" cy="1280160"/>
          </a:xfrm>
          <a:prstGeom prst="rect">
            <a:avLst/>
          </a:prstGeom>
          <a:noFill/>
        </p:spPr>
        <p:txBody>
          <a:bodyPr wrap="square" lIns="0" tIns="0" rIns="0" bIns="0" anchor="t">
            <a:spAutoFit/>
          </a:bodyPr>
          <a:lstStyle/>
          <a:p>
            <a:pPr>
              <a:spcAft>
                <a:spcPts val="400"/>
              </a:spcAft>
            </a:pPr>
            <a:r>
              <a:rPr sz="1200" b="1">
                <a:solidFill>
                  <a:srgbClr val="000000"/>
                </a:solidFill>
                <a:latin typeface="Courier New"/>
              </a:rPr>
              <a:t>12abc</a:t>
            </a:r>
            <a:r>
              <a:rPr sz="1300" b="0">
                <a:solidFill>
                  <a:srgbClr val="000000"/>
                </a:solidFill>
                <a:latin typeface="Carlito"/>
              </a:rPr>
              <a:t> is fine: the int read takes 12 first, then only abc is left for the junk read.</a:t>
            </a:r>
          </a:p>
          <a:p>
            <a:pPr>
              <a:spcAft>
                <a:spcPts val="400"/>
              </a:spcAft>
            </a:pPr>
            <a:r>
              <a:rPr sz="1300" b="0">
                <a:solidFill>
                  <a:srgbClr val="000000"/>
                </a:solidFill>
                <a:latin typeface="Carlito"/>
              </a:rPr>
              <a:t>The problem is the order: letters first, digits after.</a:t>
            </a:r>
          </a:p>
        </p:txBody>
      </p:sp>
      <p:sp>
        <p:nvSpPr>
          <p:cNvPr id="25" name="TextBox 24"/>
          <p:cNvSpPr txBox="1"/>
          <p:nvPr/>
        </p:nvSpPr>
        <p:spPr>
          <a:xfrm>
            <a:off x="813816" y="5897880"/>
            <a:ext cx="10561320" cy="457200"/>
          </a:xfrm>
          <a:prstGeom prst="rect">
            <a:avLst/>
          </a:prstGeom>
          <a:noFill/>
        </p:spPr>
        <p:txBody>
          <a:bodyPr wrap="square" lIns="0" tIns="0" rIns="0" bIns="0" anchor="t">
            <a:spAutoFit/>
          </a:bodyPr>
          <a:lstStyle/>
          <a:p>
            <a:pPr>
              <a:spcAft>
                <a:spcPts val="400"/>
              </a:spcAft>
            </a:pPr>
            <a:r>
              <a:rPr sz="1500" b="1">
                <a:solidFill>
                  <a:srgbClr val="000000"/>
                </a:solidFill>
                <a:latin typeface="Carlito"/>
              </a:rPr>
              <a:t>Both limits come from one line: </a:t>
            </a:r>
            <a:r>
              <a:rPr sz="1400" b="1">
                <a:solidFill>
                  <a:srgbClr val="000000"/>
                </a:solidFill>
                <a:latin typeface="Courier New"/>
              </a:rPr>
              <a:t>inFile &gt;&gt; junk;</a:t>
            </a:r>
            <a:r>
              <a:rPr sz="1500" b="1">
                <a:solidFill>
                  <a:srgbClr val="000000"/>
                </a:solidFill>
                <a:latin typeface="Carlito"/>
              </a:rPr>
              <a:t> stores a whole word. The next slide skips junk without storing it.</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RECOVERING · SOLUTION FOR SLIDE 33</a:t>
            </a:r>
            <a:endParaRPr lang="en-US" sz="1200" dirty="0"/>
          </a:p>
        </p:txBody>
      </p:sp>
      <p:sp>
        <p:nvSpPr>
          <p:cNvPr id="3" name="Text 1"/>
          <p:cNvSpPr>
            <a:spLocks noGrp="1"/>
          </p:cNvSpPr>
          <p:nvPr>
            <p:ph type="title"/>
          </p:nvPr>
        </p:nvSpPr>
        <p:spPr>
          <a:xfrm>
            <a:off x="812800" y="924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Fix both limits: skip one character at a time</a:t>
            </a:r>
            <a:endParaRPr lang="en-US" sz="3200" dirty="0"/>
          </a:p>
        </p:txBody>
      </p:sp>
      <p:sp>
        <p:nvSpPr>
          <p:cNvPr id="4" name="Rounded Rectangle 3"/>
          <p:cNvSpPr/>
          <p:nvPr/>
        </p:nvSpPr>
        <p:spPr>
          <a:xfrm>
            <a:off x="813816" y="1481328"/>
            <a:ext cx="6172200" cy="4983480"/>
          </a:xfrm>
          <a:prstGeom prst="roundRect">
            <a:avLst>
              <a:gd name="adj" fmla="val 4000"/>
            </a:avLst>
          </a:prstGeom>
          <a:solidFill>
            <a:srgbClr val="F2F2F2"/>
          </a:solidFill>
          <a:ln w="12700">
            <a:solidFill>
              <a:srgbClr val="404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78408" y="1609344"/>
            <a:ext cx="5897880" cy="4754880"/>
          </a:xfrm>
          <a:prstGeom prst="rect">
            <a:avLst/>
          </a:prstGeom>
          <a:noFill/>
        </p:spPr>
        <p:txBody>
          <a:bodyPr wrap="square" lIns="0" tIns="0" rIns="0" bIns="0">
            <a:spAutoFit/>
          </a:bodyPr>
          <a:lstStyle/>
          <a:p>
            <a:r>
              <a:rPr sz="1050" dirty="0">
                <a:solidFill>
                  <a:srgbClr val="000000"/>
                </a:solidFill>
                <a:latin typeface="Courier New"/>
              </a:rPr>
              <a:t>#include &lt;iostream&gt;</a:t>
            </a:r>
          </a:p>
          <a:p>
            <a:r>
              <a:rPr sz="1050" dirty="0">
                <a:solidFill>
                  <a:srgbClr val="000000"/>
                </a:solidFill>
                <a:latin typeface="Courier New"/>
              </a:rPr>
              <a:t>#include &lt;</a:t>
            </a:r>
            <a:r>
              <a:rPr sz="1050" dirty="0" err="1">
                <a:solidFill>
                  <a:srgbClr val="000000"/>
                </a:solidFill>
                <a:latin typeface="Courier New"/>
              </a:rPr>
              <a:t>fstream</a:t>
            </a:r>
            <a:r>
              <a:rPr sz="1050" dirty="0">
                <a:solidFill>
                  <a:srgbClr val="000000"/>
                </a:solidFill>
                <a:latin typeface="Courier New"/>
              </a:rPr>
              <a:t>&gt;</a:t>
            </a:r>
          </a:p>
          <a:p>
            <a:r>
              <a:rPr sz="1050" dirty="0">
                <a:solidFill>
                  <a:srgbClr val="000000"/>
                </a:solidFill>
                <a:latin typeface="Courier New"/>
              </a:rPr>
              <a:t>using namespace std;</a:t>
            </a:r>
          </a:p>
          <a:p>
            <a:r>
              <a:rPr sz="1050" dirty="0">
                <a:solidFill>
                  <a:srgbClr val="000000"/>
                </a:solidFill>
                <a:latin typeface="Courier New"/>
              </a:rPr>
              <a:t> </a:t>
            </a:r>
          </a:p>
          <a:p>
            <a:r>
              <a:rPr sz="1050" dirty="0">
                <a:solidFill>
                  <a:srgbClr val="000000"/>
                </a:solidFill>
                <a:latin typeface="Courier New"/>
              </a:rPr>
              <a:t>int main() {</a:t>
            </a:r>
          </a:p>
          <a:p>
            <a:r>
              <a:rPr sz="1050" dirty="0">
                <a:solidFill>
                  <a:srgbClr val="000000"/>
                </a:solidFill>
                <a:latin typeface="Courier New"/>
              </a:rPr>
              <a:t>    </a:t>
            </a:r>
            <a:r>
              <a:rPr sz="1050" dirty="0" err="1">
                <a:solidFill>
                  <a:srgbClr val="000000"/>
                </a:solidFill>
                <a:latin typeface="Courier New"/>
              </a:rPr>
              <a:t>ifstream</a:t>
            </a:r>
            <a:r>
              <a:rPr sz="1050" dirty="0">
                <a:solidFill>
                  <a:srgbClr val="000000"/>
                </a:solidFill>
                <a:latin typeface="Courier New"/>
              </a:rPr>
              <a:t> </a:t>
            </a:r>
            <a:r>
              <a:rPr sz="1050" dirty="0" err="1">
                <a:solidFill>
                  <a:srgbClr val="000000"/>
                </a:solidFill>
                <a:latin typeface="Courier New"/>
              </a:rPr>
              <a:t>inFile</a:t>
            </a:r>
            <a:r>
              <a:rPr sz="1050" dirty="0">
                <a:solidFill>
                  <a:srgbClr val="000000"/>
                </a:solidFill>
                <a:latin typeface="Courier New"/>
              </a:rPr>
              <a:t>("readings.txt");</a:t>
            </a:r>
          </a:p>
          <a:p>
            <a:r>
              <a:rPr sz="1050" dirty="0">
                <a:solidFill>
                  <a:srgbClr val="000000"/>
                </a:solidFill>
                <a:latin typeface="Courier New"/>
              </a:rPr>
              <a:t>    if (!</a:t>
            </a:r>
            <a:r>
              <a:rPr sz="1050" dirty="0" err="1">
                <a:solidFill>
                  <a:srgbClr val="000000"/>
                </a:solidFill>
                <a:latin typeface="Courier New"/>
              </a:rPr>
              <a:t>inFile</a:t>
            </a:r>
            <a:r>
              <a:rPr sz="1050" dirty="0">
                <a:solidFill>
                  <a:srgbClr val="000000"/>
                </a:solidFill>
                <a:latin typeface="Courier New"/>
              </a:rPr>
              <a:t>) { </a:t>
            </a:r>
            <a:r>
              <a:rPr sz="1050" dirty="0" err="1">
                <a:solidFill>
                  <a:srgbClr val="000000"/>
                </a:solidFill>
                <a:latin typeface="Courier New"/>
              </a:rPr>
              <a:t>cout</a:t>
            </a:r>
            <a:r>
              <a:rPr sz="1050" dirty="0">
                <a:solidFill>
                  <a:srgbClr val="000000"/>
                </a:solidFill>
                <a:latin typeface="Courier New"/>
              </a:rPr>
              <a:t> &lt;&lt; "File not found!"; return 1; }</a:t>
            </a:r>
          </a:p>
          <a:p>
            <a:r>
              <a:rPr sz="1050" dirty="0">
                <a:solidFill>
                  <a:srgbClr val="000000"/>
                </a:solidFill>
                <a:latin typeface="Courier New"/>
              </a:rPr>
              <a:t> </a:t>
            </a:r>
          </a:p>
          <a:p>
            <a:r>
              <a:rPr sz="1050" dirty="0">
                <a:solidFill>
                  <a:srgbClr val="000000"/>
                </a:solidFill>
                <a:latin typeface="Courier New"/>
              </a:rPr>
              <a:t>    int a[10], count = 0, bad = 0;</a:t>
            </a:r>
          </a:p>
          <a:p>
            <a:r>
              <a:rPr sz="1050" dirty="0">
                <a:solidFill>
                  <a:srgbClr val="000000"/>
                </a:solidFill>
                <a:latin typeface="Courier New"/>
              </a:rPr>
              <a:t> </a:t>
            </a:r>
          </a:p>
          <a:p>
            <a:r>
              <a:rPr sz="1050" dirty="0">
                <a:solidFill>
                  <a:srgbClr val="000000"/>
                </a:solidFill>
                <a:latin typeface="Courier New"/>
              </a:rPr>
              <a:t>    while (count &lt; 10) {</a:t>
            </a:r>
          </a:p>
          <a:p>
            <a:r>
              <a:rPr sz="1050" dirty="0">
                <a:solidFill>
                  <a:srgbClr val="000000"/>
                </a:solidFill>
                <a:latin typeface="Courier New"/>
              </a:rPr>
              <a:t>        if (</a:t>
            </a:r>
            <a:r>
              <a:rPr sz="1050" dirty="0" err="1">
                <a:solidFill>
                  <a:srgbClr val="000000"/>
                </a:solidFill>
                <a:latin typeface="Courier New"/>
              </a:rPr>
              <a:t>inFile</a:t>
            </a:r>
            <a:r>
              <a:rPr sz="1050" dirty="0">
                <a:solidFill>
                  <a:srgbClr val="000000"/>
                </a:solidFill>
                <a:latin typeface="Courier New"/>
              </a:rPr>
              <a:t> &gt;&gt; a[count])          </a:t>
            </a:r>
            <a:r>
              <a:rPr sz="1050" dirty="0">
                <a:solidFill>
                  <a:srgbClr val="595959"/>
                </a:solidFill>
                <a:latin typeface="Courier New"/>
              </a:rPr>
              <a:t>// a number</a:t>
            </a:r>
          </a:p>
          <a:p>
            <a:r>
              <a:rPr sz="1050" dirty="0">
                <a:solidFill>
                  <a:srgbClr val="000000"/>
                </a:solidFill>
                <a:latin typeface="Courier New"/>
              </a:rPr>
              <a:t>            count++;</a:t>
            </a:r>
          </a:p>
          <a:p>
            <a:r>
              <a:rPr sz="1050" dirty="0">
                <a:solidFill>
                  <a:srgbClr val="000000"/>
                </a:solidFill>
                <a:latin typeface="Courier New"/>
              </a:rPr>
              <a:t>        else if (</a:t>
            </a:r>
            <a:r>
              <a:rPr sz="1050" dirty="0" err="1">
                <a:solidFill>
                  <a:srgbClr val="000000"/>
                </a:solidFill>
                <a:latin typeface="Courier New"/>
              </a:rPr>
              <a:t>inFile.eof</a:t>
            </a:r>
            <a:r>
              <a:rPr sz="1050" dirty="0">
                <a:solidFill>
                  <a:srgbClr val="000000"/>
                </a:solidFill>
                <a:latin typeface="Courier New"/>
              </a:rPr>
              <a:t>())           </a:t>
            </a:r>
            <a:r>
              <a:rPr sz="1050" dirty="0">
                <a:solidFill>
                  <a:srgbClr val="595959"/>
                </a:solidFill>
                <a:latin typeface="Courier New"/>
              </a:rPr>
              <a:t>// the end</a:t>
            </a:r>
          </a:p>
          <a:p>
            <a:r>
              <a:rPr sz="1050" dirty="0">
                <a:solidFill>
                  <a:srgbClr val="000000"/>
                </a:solidFill>
                <a:latin typeface="Courier New"/>
              </a:rPr>
              <a:t>            break;</a:t>
            </a:r>
          </a:p>
          <a:p>
            <a:r>
              <a:rPr sz="1050" dirty="0">
                <a:solidFill>
                  <a:srgbClr val="000000"/>
                </a:solidFill>
                <a:latin typeface="Courier New"/>
              </a:rPr>
              <a:t>        else {                           </a:t>
            </a:r>
            <a:r>
              <a:rPr sz="1050" dirty="0">
                <a:solidFill>
                  <a:srgbClr val="595959"/>
                </a:solidFill>
                <a:latin typeface="Courier New"/>
              </a:rPr>
              <a:t>// junk</a:t>
            </a:r>
          </a:p>
          <a:p>
            <a:r>
              <a:rPr sz="1050" dirty="0">
                <a:solidFill>
                  <a:srgbClr val="000000"/>
                </a:solidFill>
                <a:latin typeface="Courier New"/>
              </a:rPr>
              <a:t>            </a:t>
            </a:r>
            <a:r>
              <a:rPr sz="1050" dirty="0" err="1">
                <a:solidFill>
                  <a:srgbClr val="000000"/>
                </a:solidFill>
                <a:latin typeface="Courier New"/>
              </a:rPr>
              <a:t>inFile.clear</a:t>
            </a:r>
            <a:r>
              <a:rPr sz="1050" dirty="0">
                <a:solidFill>
                  <a:srgbClr val="000000"/>
                </a:solidFill>
                <a:latin typeface="Courier New"/>
              </a:rPr>
              <a:t>();</a:t>
            </a:r>
          </a:p>
          <a:p>
            <a:r>
              <a:rPr sz="1050" b="1" dirty="0">
                <a:solidFill>
                  <a:srgbClr val="000000"/>
                </a:solidFill>
                <a:latin typeface="Courier New"/>
              </a:rPr>
              <a:t>            </a:t>
            </a:r>
            <a:r>
              <a:rPr sz="1050" b="1" dirty="0" err="1">
                <a:solidFill>
                  <a:srgbClr val="000000"/>
                </a:solidFill>
                <a:latin typeface="Courier New"/>
              </a:rPr>
              <a:t>inFile.ignore</a:t>
            </a:r>
            <a:r>
              <a:rPr sz="1050" b="1" dirty="0">
                <a:solidFill>
                  <a:srgbClr val="000000"/>
                </a:solidFill>
                <a:latin typeface="Courier New"/>
              </a:rPr>
              <a:t>();            </a:t>
            </a:r>
            <a:r>
              <a:rPr sz="1050" dirty="0">
                <a:solidFill>
                  <a:srgbClr val="595959"/>
                </a:solidFill>
                <a:latin typeface="Courier New"/>
              </a:rPr>
              <a:t>// skip ONE character</a:t>
            </a:r>
          </a:p>
          <a:p>
            <a:r>
              <a:rPr sz="1050" dirty="0">
                <a:solidFill>
                  <a:srgbClr val="000000"/>
                </a:solidFill>
                <a:latin typeface="Courier New"/>
              </a:rPr>
              <a:t>            bad++;</a:t>
            </a:r>
          </a:p>
          <a:p>
            <a:r>
              <a:rPr sz="1050" dirty="0">
                <a:solidFill>
                  <a:srgbClr val="000000"/>
                </a:solidFill>
                <a:latin typeface="Courier New"/>
              </a:rPr>
              <a:t>        }</a:t>
            </a:r>
          </a:p>
          <a:p>
            <a:r>
              <a:rPr sz="1050" dirty="0">
                <a:solidFill>
                  <a:srgbClr val="000000"/>
                </a:solidFill>
                <a:latin typeface="Courier New"/>
              </a:rPr>
              <a:t>    }</a:t>
            </a:r>
          </a:p>
          <a:p>
            <a:r>
              <a:rPr sz="1050" dirty="0">
                <a:solidFill>
                  <a:srgbClr val="000000"/>
                </a:solidFill>
                <a:latin typeface="Courier New"/>
              </a:rPr>
              <a:t>    </a:t>
            </a:r>
            <a:r>
              <a:rPr sz="1050" dirty="0" err="1">
                <a:solidFill>
                  <a:srgbClr val="000000"/>
                </a:solidFill>
                <a:latin typeface="Courier New"/>
              </a:rPr>
              <a:t>inFile.close</a:t>
            </a:r>
            <a:r>
              <a:rPr sz="1050" dirty="0">
                <a:solidFill>
                  <a:srgbClr val="000000"/>
                </a:solidFill>
                <a:latin typeface="Courier New"/>
              </a:rPr>
              <a:t>();</a:t>
            </a:r>
          </a:p>
          <a:p>
            <a:r>
              <a:rPr sz="1050" dirty="0">
                <a:solidFill>
                  <a:srgbClr val="000000"/>
                </a:solidFill>
                <a:latin typeface="Courier New"/>
              </a:rPr>
              <a:t> </a:t>
            </a:r>
          </a:p>
          <a:p>
            <a:r>
              <a:rPr sz="1050" dirty="0">
                <a:solidFill>
                  <a:srgbClr val="000000"/>
                </a:solidFill>
                <a:latin typeface="Courier New"/>
              </a:rPr>
              <a:t>    </a:t>
            </a:r>
            <a:r>
              <a:rPr sz="1050" dirty="0" err="1">
                <a:solidFill>
                  <a:srgbClr val="000000"/>
                </a:solidFill>
                <a:latin typeface="Courier New"/>
              </a:rPr>
              <a:t>cout</a:t>
            </a:r>
            <a:r>
              <a:rPr sz="1050" dirty="0">
                <a:solidFill>
                  <a:srgbClr val="000000"/>
                </a:solidFill>
                <a:latin typeface="Courier New"/>
              </a:rPr>
              <a:t> &lt;&lt; "Kept: ";</a:t>
            </a:r>
          </a:p>
          <a:p>
            <a:r>
              <a:rPr sz="1050" dirty="0">
                <a:solidFill>
                  <a:srgbClr val="000000"/>
                </a:solidFill>
                <a:latin typeface="Courier New"/>
              </a:rPr>
              <a:t>    for (int </a:t>
            </a:r>
            <a:r>
              <a:rPr sz="1050" dirty="0" err="1">
                <a:solidFill>
                  <a:srgbClr val="000000"/>
                </a:solidFill>
                <a:latin typeface="Courier New"/>
              </a:rPr>
              <a:t>i</a:t>
            </a:r>
            <a:r>
              <a:rPr sz="1050" dirty="0">
                <a:solidFill>
                  <a:srgbClr val="000000"/>
                </a:solidFill>
                <a:latin typeface="Courier New"/>
              </a:rPr>
              <a:t> = 0; </a:t>
            </a:r>
            <a:r>
              <a:rPr sz="1050" dirty="0" err="1">
                <a:solidFill>
                  <a:srgbClr val="000000"/>
                </a:solidFill>
                <a:latin typeface="Courier New"/>
              </a:rPr>
              <a:t>i</a:t>
            </a:r>
            <a:r>
              <a:rPr sz="1050" dirty="0">
                <a:solidFill>
                  <a:srgbClr val="000000"/>
                </a:solidFill>
                <a:latin typeface="Courier New"/>
              </a:rPr>
              <a:t> &lt; count; </a:t>
            </a:r>
            <a:r>
              <a:rPr sz="1050" dirty="0" err="1">
                <a:solidFill>
                  <a:srgbClr val="000000"/>
                </a:solidFill>
                <a:latin typeface="Courier New"/>
              </a:rPr>
              <a:t>i</a:t>
            </a:r>
            <a:r>
              <a:rPr sz="1050" dirty="0">
                <a:solidFill>
                  <a:srgbClr val="000000"/>
                </a:solidFill>
                <a:latin typeface="Courier New"/>
              </a:rPr>
              <a:t>++)</a:t>
            </a:r>
          </a:p>
          <a:p>
            <a:r>
              <a:rPr sz="1050" dirty="0">
                <a:solidFill>
                  <a:srgbClr val="000000"/>
                </a:solidFill>
                <a:latin typeface="Courier New"/>
              </a:rPr>
              <a:t>        </a:t>
            </a:r>
            <a:r>
              <a:rPr sz="1050" dirty="0" err="1">
                <a:solidFill>
                  <a:srgbClr val="000000"/>
                </a:solidFill>
                <a:latin typeface="Courier New"/>
              </a:rPr>
              <a:t>cout</a:t>
            </a:r>
            <a:r>
              <a:rPr sz="1050" dirty="0">
                <a:solidFill>
                  <a:srgbClr val="000000"/>
                </a:solidFill>
                <a:latin typeface="Courier New"/>
              </a:rPr>
              <a:t> &lt;&lt; a[</a:t>
            </a:r>
            <a:r>
              <a:rPr sz="1050" dirty="0" err="1">
                <a:solidFill>
                  <a:srgbClr val="000000"/>
                </a:solidFill>
                <a:latin typeface="Courier New"/>
              </a:rPr>
              <a:t>i</a:t>
            </a:r>
            <a:r>
              <a:rPr sz="1050" dirty="0">
                <a:solidFill>
                  <a:srgbClr val="000000"/>
                </a:solidFill>
                <a:latin typeface="Courier New"/>
              </a:rPr>
              <a:t>] &lt;&lt; " ";</a:t>
            </a:r>
          </a:p>
          <a:p>
            <a:r>
              <a:rPr sz="1050" dirty="0">
                <a:solidFill>
                  <a:srgbClr val="000000"/>
                </a:solidFill>
                <a:latin typeface="Courier New"/>
              </a:rPr>
              <a:t>    </a:t>
            </a:r>
            <a:r>
              <a:rPr sz="1050" dirty="0" err="1">
                <a:solidFill>
                  <a:srgbClr val="000000"/>
                </a:solidFill>
                <a:latin typeface="Courier New"/>
              </a:rPr>
              <a:t>cout</a:t>
            </a:r>
            <a:r>
              <a:rPr sz="1050" dirty="0">
                <a:solidFill>
                  <a:srgbClr val="000000"/>
                </a:solidFill>
                <a:latin typeface="Courier New"/>
              </a:rPr>
              <a:t> &lt;&lt; </a:t>
            </a:r>
            <a:r>
              <a:rPr sz="1050" dirty="0" err="1">
                <a:solidFill>
                  <a:srgbClr val="000000"/>
                </a:solidFill>
                <a:latin typeface="Courier New"/>
              </a:rPr>
              <a:t>endl</a:t>
            </a:r>
            <a:r>
              <a:rPr sz="1050" dirty="0">
                <a:solidFill>
                  <a:srgbClr val="000000"/>
                </a:solidFill>
                <a:latin typeface="Courier New"/>
              </a:rPr>
              <a:t> &lt;&lt; "Skipped characters: " &lt;&lt; bad &lt;&lt; </a:t>
            </a:r>
            <a:r>
              <a:rPr sz="1050" dirty="0" err="1">
                <a:solidFill>
                  <a:srgbClr val="000000"/>
                </a:solidFill>
                <a:latin typeface="Courier New"/>
              </a:rPr>
              <a:t>endl</a:t>
            </a:r>
            <a:r>
              <a:rPr sz="1050" dirty="0">
                <a:solidFill>
                  <a:srgbClr val="000000"/>
                </a:solidFill>
                <a:latin typeface="Courier New"/>
              </a:rPr>
              <a:t>;</a:t>
            </a:r>
          </a:p>
          <a:p>
            <a:r>
              <a:rPr sz="1050" dirty="0">
                <a:solidFill>
                  <a:srgbClr val="000000"/>
                </a:solidFill>
                <a:latin typeface="Courier New"/>
              </a:rPr>
              <a:t>    return 0;</a:t>
            </a:r>
          </a:p>
          <a:p>
            <a:r>
              <a:rPr sz="1050" dirty="0">
                <a:solidFill>
                  <a:srgbClr val="000000"/>
                </a:solidFill>
                <a:latin typeface="Courier New"/>
              </a:rPr>
              <a:t>}</a:t>
            </a:r>
          </a:p>
        </p:txBody>
      </p:sp>
      <p:sp>
        <p:nvSpPr>
          <p:cNvPr id="6" name="TextBox 5"/>
          <p:cNvSpPr txBox="1"/>
          <p:nvPr/>
        </p:nvSpPr>
        <p:spPr>
          <a:xfrm>
            <a:off x="7269480" y="1481328"/>
            <a:ext cx="4114800" cy="274320"/>
          </a:xfrm>
          <a:prstGeom prst="rect">
            <a:avLst/>
          </a:prstGeom>
          <a:noFill/>
        </p:spPr>
        <p:txBody>
          <a:bodyPr wrap="square" lIns="0" tIns="0" rIns="0" bIns="0" anchor="t">
            <a:spAutoFit/>
          </a:bodyPr>
          <a:lstStyle/>
          <a:p>
            <a:pPr>
              <a:spcAft>
                <a:spcPts val="400"/>
              </a:spcAft>
            </a:pPr>
            <a:r>
              <a:rPr sz="1400" b="1">
                <a:solidFill>
                  <a:srgbClr val="000000"/>
                </a:solidFill>
                <a:latin typeface="Carlito"/>
              </a:rPr>
              <a:t>readings.txt</a:t>
            </a:r>
          </a:p>
        </p:txBody>
      </p:sp>
      <p:sp>
        <p:nvSpPr>
          <p:cNvPr id="7" name="Rounded Rectangle 6"/>
          <p:cNvSpPr/>
          <p:nvPr/>
        </p:nvSpPr>
        <p:spPr>
          <a:xfrm>
            <a:off x="7269480" y="1810512"/>
            <a:ext cx="4114800" cy="457200"/>
          </a:xfrm>
          <a:prstGeom prst="roundRect">
            <a:avLst>
              <a:gd name="adj" fmla="val 4000"/>
            </a:avLst>
          </a:prstGeom>
          <a:solidFill>
            <a:srgbClr val="FFFFFF"/>
          </a:solidFill>
          <a:ln w="9525">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34072" y="1901952"/>
            <a:ext cx="3840480" cy="274320"/>
          </a:xfrm>
          <a:prstGeom prst="rect">
            <a:avLst/>
          </a:prstGeom>
          <a:noFill/>
        </p:spPr>
        <p:txBody>
          <a:bodyPr wrap="square" lIns="0" tIns="0" rIns="0" bIns="0" anchor="t">
            <a:spAutoFit/>
          </a:bodyPr>
          <a:lstStyle/>
          <a:p>
            <a:pPr>
              <a:spcAft>
                <a:spcPts val="400"/>
              </a:spcAft>
            </a:pPr>
            <a:r>
              <a:rPr sz="1500" b="0">
                <a:solidFill>
                  <a:srgbClr val="000000"/>
                </a:solidFill>
                <a:latin typeface="Courier New"/>
              </a:rPr>
              <a:t>10 abc12 20 x 30</a:t>
            </a:r>
          </a:p>
        </p:txBody>
      </p:sp>
      <p:sp>
        <p:nvSpPr>
          <p:cNvPr id="9" name="TextBox 8"/>
          <p:cNvSpPr txBox="1"/>
          <p:nvPr/>
        </p:nvSpPr>
        <p:spPr>
          <a:xfrm>
            <a:off x="7269480" y="2450592"/>
            <a:ext cx="4114800" cy="274320"/>
          </a:xfrm>
          <a:prstGeom prst="rect">
            <a:avLst/>
          </a:prstGeom>
          <a:noFill/>
        </p:spPr>
        <p:txBody>
          <a:bodyPr wrap="square" lIns="0" tIns="0" rIns="0" bIns="0" anchor="t">
            <a:spAutoFit/>
          </a:bodyPr>
          <a:lstStyle/>
          <a:p>
            <a:pPr>
              <a:spcAft>
                <a:spcPts val="400"/>
              </a:spcAft>
            </a:pPr>
            <a:r>
              <a:rPr sz="1400" b="1">
                <a:solidFill>
                  <a:srgbClr val="000000"/>
                </a:solidFill>
                <a:latin typeface="Carlito"/>
              </a:rPr>
              <a:t>Output</a:t>
            </a:r>
          </a:p>
        </p:txBody>
      </p:sp>
      <p:sp>
        <p:nvSpPr>
          <p:cNvPr id="10" name="Rounded Rectangle 9"/>
          <p:cNvSpPr/>
          <p:nvPr/>
        </p:nvSpPr>
        <p:spPr>
          <a:xfrm>
            <a:off x="7269480" y="2779776"/>
            <a:ext cx="4114800" cy="713232"/>
          </a:xfrm>
          <a:prstGeom prst="roundRect">
            <a:avLst>
              <a:gd name="adj" fmla="val 4000"/>
            </a:avLst>
          </a:prstGeom>
          <a:solidFill>
            <a:srgbClr val="FFFFFF"/>
          </a:solidFill>
          <a:ln w="22225">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434072" y="2852928"/>
            <a:ext cx="3840480" cy="594360"/>
          </a:xfrm>
          <a:prstGeom prst="rect">
            <a:avLst/>
          </a:prstGeom>
          <a:noFill/>
        </p:spPr>
        <p:txBody>
          <a:bodyPr wrap="square" lIns="0" tIns="0" rIns="0" bIns="0" anchor="t">
            <a:spAutoFit/>
          </a:bodyPr>
          <a:lstStyle/>
          <a:p>
            <a:pPr>
              <a:spcAft>
                <a:spcPts val="400"/>
              </a:spcAft>
            </a:pPr>
            <a:r>
              <a:rPr sz="1400" b="0">
                <a:solidFill>
                  <a:srgbClr val="000000"/>
                </a:solidFill>
                <a:latin typeface="Courier New"/>
              </a:rPr>
              <a:t>Kept: 10 12 20 30</a:t>
            </a:r>
          </a:p>
          <a:p>
            <a:pPr>
              <a:spcAft>
                <a:spcPts val="400"/>
              </a:spcAft>
            </a:pPr>
            <a:r>
              <a:rPr sz="1400" b="0">
                <a:solidFill>
                  <a:srgbClr val="000000"/>
                </a:solidFill>
                <a:latin typeface="Courier New"/>
              </a:rPr>
              <a:t>Skipped characters: 4</a:t>
            </a:r>
          </a:p>
        </p:txBody>
      </p:sp>
      <p:sp>
        <p:nvSpPr>
          <p:cNvPr id="12" name="TextBox 11"/>
          <p:cNvSpPr txBox="1"/>
          <p:nvPr/>
        </p:nvSpPr>
        <p:spPr>
          <a:xfrm>
            <a:off x="7269480" y="3657600"/>
            <a:ext cx="4114800" cy="274320"/>
          </a:xfrm>
          <a:prstGeom prst="rect">
            <a:avLst/>
          </a:prstGeom>
          <a:noFill/>
        </p:spPr>
        <p:txBody>
          <a:bodyPr wrap="square" lIns="0" tIns="0" rIns="0" bIns="0" anchor="t">
            <a:spAutoFit/>
          </a:bodyPr>
          <a:lstStyle/>
          <a:p>
            <a:pPr>
              <a:spcAft>
                <a:spcPts val="400"/>
              </a:spcAft>
            </a:pPr>
            <a:r>
              <a:rPr sz="1400" b="1">
                <a:solidFill>
                  <a:srgbClr val="000000"/>
                </a:solidFill>
                <a:latin typeface="Carlito"/>
              </a:rPr>
              <a:t>Same file, three ways to skip junk</a:t>
            </a:r>
          </a:p>
        </p:txBody>
      </p:sp>
      <p:graphicFrame>
        <p:nvGraphicFramePr>
          <p:cNvPr id="13" name="Table 12"/>
          <p:cNvGraphicFramePr>
            <a:graphicFrameLocks noGrp="1"/>
          </p:cNvGraphicFramePr>
          <p:nvPr>
            <p:extLst>
              <p:ext uri="{D42A27DB-BD31-4B8C-83A1-F6EECF244321}">
                <p14:modId xmlns:p14="http://schemas.microsoft.com/office/powerpoint/2010/main" val="2849641326"/>
              </p:ext>
            </p:extLst>
          </p:nvPr>
        </p:nvGraphicFramePr>
        <p:xfrm>
          <a:off x="7269480" y="3986784"/>
          <a:ext cx="4114799" cy="1097280"/>
        </p:xfrm>
        <a:graphic>
          <a:graphicData uri="http://schemas.openxmlformats.org/drawingml/2006/table">
            <a:tbl>
              <a:tblPr firstRow="1" bandRow="1">
                <a:tableStyleId>{5C22544A-7EE6-4342-B048-85BDC9FD1C3A}</a:tableStyleId>
              </a:tblPr>
              <a:tblGrid>
                <a:gridCol w="1874519">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tblGrid>
              <a:tr h="274320">
                <a:tc>
                  <a:txBody>
                    <a:bodyPr/>
                    <a:lstStyle/>
                    <a:p>
                      <a:r>
                        <a:rPr sz="1200" b="1">
                          <a:solidFill>
                            <a:srgbClr val="000000"/>
                          </a:solidFill>
                          <a:latin typeface="Carlito"/>
                        </a:rPr>
                        <a:t>Skip with</a:t>
                      </a:r>
                    </a:p>
                  </a:txBody>
                  <a:tcPr marL="73152" marR="73152" marT="36576" marB="36576">
                    <a:solidFill>
                      <a:srgbClr val="D9D9D9"/>
                    </a:solidFill>
                  </a:tcPr>
                </a:tc>
                <a:tc>
                  <a:txBody>
                    <a:bodyPr/>
                    <a:lstStyle/>
                    <a:p>
                      <a:r>
                        <a:rPr sz="1200" b="1" dirty="0">
                          <a:solidFill>
                            <a:srgbClr val="000000"/>
                          </a:solidFill>
                          <a:latin typeface="Carlito"/>
                        </a:rPr>
                        <a:t>Kept</a:t>
                      </a:r>
                    </a:p>
                  </a:txBody>
                  <a:tcPr marL="73152" marR="73152" marT="36576" marB="36576">
                    <a:solidFill>
                      <a:srgbClr val="D9D9D9"/>
                    </a:solidFill>
                  </a:tcPr>
                </a:tc>
                <a:extLst>
                  <a:ext uri="{0D108BD9-81ED-4DB2-BD59-A6C34878D82A}">
                    <a16:rowId xmlns:a16="http://schemas.microsoft.com/office/drawing/2014/main" val="10000"/>
                  </a:ext>
                </a:extLst>
              </a:tr>
              <a:tr h="274320">
                <a:tc>
                  <a:txBody>
                    <a:bodyPr/>
                    <a:lstStyle/>
                    <a:p>
                      <a:r>
                        <a:rPr sz="1100" b="0">
                          <a:solidFill>
                            <a:srgbClr val="000000"/>
                          </a:solidFill>
                          <a:latin typeface="Courier New"/>
                        </a:rPr>
                        <a:t>inFile &gt;&gt; junk</a:t>
                      </a:r>
                    </a:p>
                  </a:txBody>
                  <a:tcPr marL="73152" marR="73152" marT="36576" marB="36576">
                    <a:solidFill>
                      <a:srgbClr val="FFFFFF"/>
                    </a:solidFill>
                  </a:tcPr>
                </a:tc>
                <a:tc>
                  <a:txBody>
                    <a:bodyPr/>
                    <a:lstStyle/>
                    <a:p>
                      <a:r>
                        <a:rPr sz="1200" b="0">
                          <a:solidFill>
                            <a:srgbClr val="000000"/>
                          </a:solidFill>
                          <a:latin typeface="Carlito"/>
                        </a:rPr>
                        <a:t>10 20 30 (12 lost)</a:t>
                      </a:r>
                    </a:p>
                  </a:txBody>
                  <a:tcPr marL="73152" marR="73152" marT="36576" marB="36576">
                    <a:solidFill>
                      <a:srgbClr val="FFFFFF"/>
                    </a:solidFill>
                  </a:tcPr>
                </a:tc>
                <a:extLst>
                  <a:ext uri="{0D108BD9-81ED-4DB2-BD59-A6C34878D82A}">
                    <a16:rowId xmlns:a16="http://schemas.microsoft.com/office/drawing/2014/main" val="10001"/>
                  </a:ext>
                </a:extLst>
              </a:tr>
              <a:tr h="274320">
                <a:tc>
                  <a:txBody>
                    <a:bodyPr/>
                    <a:lstStyle/>
                    <a:p>
                      <a:r>
                        <a:rPr sz="1100" b="0">
                          <a:solidFill>
                            <a:srgbClr val="000000"/>
                          </a:solidFill>
                          <a:latin typeface="Courier New"/>
                        </a:rPr>
                        <a:t>ignore(100, ' ')</a:t>
                      </a:r>
                    </a:p>
                  </a:txBody>
                  <a:tcPr marL="73152" marR="73152" marT="36576" marB="36576">
                    <a:solidFill>
                      <a:srgbClr val="FFFFFF"/>
                    </a:solidFill>
                  </a:tcPr>
                </a:tc>
                <a:tc>
                  <a:txBody>
                    <a:bodyPr/>
                    <a:lstStyle/>
                    <a:p>
                      <a:r>
                        <a:rPr sz="1200" b="0">
                          <a:solidFill>
                            <a:srgbClr val="000000"/>
                          </a:solidFill>
                          <a:latin typeface="Carlito"/>
                        </a:rPr>
                        <a:t>10 20 30 (12 lost)</a:t>
                      </a:r>
                    </a:p>
                  </a:txBody>
                  <a:tcPr marL="73152" marR="73152" marT="36576" marB="36576">
                    <a:solidFill>
                      <a:srgbClr val="FFFFFF"/>
                    </a:solidFill>
                  </a:tcPr>
                </a:tc>
                <a:extLst>
                  <a:ext uri="{0D108BD9-81ED-4DB2-BD59-A6C34878D82A}">
                    <a16:rowId xmlns:a16="http://schemas.microsoft.com/office/drawing/2014/main" val="10002"/>
                  </a:ext>
                </a:extLst>
              </a:tr>
              <a:tr h="274320">
                <a:tc>
                  <a:txBody>
                    <a:bodyPr/>
                    <a:lstStyle/>
                    <a:p>
                      <a:r>
                        <a:rPr sz="1100" b="0" dirty="0">
                          <a:solidFill>
                            <a:srgbClr val="000000"/>
                          </a:solidFill>
                          <a:latin typeface="Courier New"/>
                        </a:rPr>
                        <a:t>ignore()</a:t>
                      </a:r>
                    </a:p>
                  </a:txBody>
                  <a:tcPr marL="73152" marR="73152" marT="36576" marB="36576">
                    <a:solidFill>
                      <a:srgbClr val="FFFFFF"/>
                    </a:solidFill>
                  </a:tcPr>
                </a:tc>
                <a:tc>
                  <a:txBody>
                    <a:bodyPr/>
                    <a:lstStyle/>
                    <a:p>
                      <a:r>
                        <a:rPr sz="1200" b="0" dirty="0">
                          <a:solidFill>
                            <a:srgbClr val="000000"/>
                          </a:solidFill>
                          <a:latin typeface="Carlito"/>
                        </a:rPr>
                        <a:t>10 12 20 30</a:t>
                      </a:r>
                    </a:p>
                  </a:txBody>
                  <a:tcPr marL="73152" marR="73152" marT="36576" marB="36576">
                    <a:solidFill>
                      <a:srgbClr val="FFFFFF"/>
                    </a:solidFill>
                  </a:tcPr>
                </a:tc>
                <a:extLst>
                  <a:ext uri="{0D108BD9-81ED-4DB2-BD59-A6C34878D82A}">
                    <a16:rowId xmlns:a16="http://schemas.microsoft.com/office/drawing/2014/main" val="10003"/>
                  </a:ext>
                </a:extLst>
              </a:tr>
            </a:tbl>
          </a:graphicData>
        </a:graphic>
      </p:graphicFrame>
      <p:sp>
        <p:nvSpPr>
          <p:cNvPr id="14" name="TextBox 13"/>
          <p:cNvSpPr txBox="1"/>
          <p:nvPr/>
        </p:nvSpPr>
        <p:spPr>
          <a:xfrm>
            <a:off x="7269480" y="5257800"/>
            <a:ext cx="4114800" cy="1188720"/>
          </a:xfrm>
          <a:prstGeom prst="rect">
            <a:avLst/>
          </a:prstGeom>
          <a:noFill/>
        </p:spPr>
        <p:txBody>
          <a:bodyPr wrap="square" lIns="0" tIns="0" rIns="0" bIns="0" anchor="t">
            <a:spAutoFit/>
          </a:bodyPr>
          <a:lstStyle/>
          <a:p>
            <a:pPr>
              <a:spcAft>
                <a:spcPts val="400"/>
              </a:spcAft>
            </a:pPr>
            <a:r>
              <a:rPr sz="1200" b="1">
                <a:solidFill>
                  <a:srgbClr val="000000"/>
                </a:solidFill>
                <a:latin typeface="Courier New"/>
              </a:rPr>
              <a:t>ignore(1)</a:t>
            </a:r>
            <a:r>
              <a:rPr sz="1300" b="0">
                <a:solidFill>
                  <a:srgbClr val="000000"/>
                </a:solidFill>
                <a:latin typeface="Carlito"/>
              </a:rPr>
              <a:t> stores nothing, so long junk is safe, and it stops at the first digit, so 12 is kept. </a:t>
            </a:r>
            <a:r>
              <a:rPr sz="1200" b="0">
                <a:solidFill>
                  <a:srgbClr val="000000"/>
                </a:solidFill>
                <a:latin typeface="Courier New"/>
              </a:rPr>
              <a:t>bad</a:t>
            </a:r>
            <a:r>
              <a:rPr sz="1300" b="0">
                <a:solidFill>
                  <a:srgbClr val="000000"/>
                </a:solidFill>
                <a:latin typeface="Carlito"/>
              </a:rPr>
              <a:t> now counts characters: a, b, c and x.</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RECOVERING</a:t>
            </a:r>
            <a:endParaRPr lang="en-US" sz="1200" dirty="0"/>
          </a:p>
        </p:txBody>
      </p:sp>
      <p:sp>
        <p:nvSpPr>
          <p:cNvPr id="3" name="Text 1"/>
          <p:cNvSpPr>
            <a:spLocks noGrp="1"/>
          </p:cNvSpPr>
          <p:nvPr>
            <p:ph type="title"/>
          </p:nvPr>
        </p:nvSpPr>
        <p:spPr>
          <a:xfrm>
            <a:off x="812800" y="924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Reading again after a failure</a:t>
            </a:r>
            <a:endParaRPr lang="en-US" sz="3200" dirty="0"/>
          </a:p>
        </p:txBody>
      </p:sp>
      <p:sp>
        <p:nvSpPr>
          <p:cNvPr id="4" name="Text 2"/>
          <p:cNvSpPr/>
          <p:nvPr/>
        </p:nvSpPr>
        <p:spPr>
          <a:xfrm>
            <a:off x="812800" y="1600101"/>
            <a:ext cx="10566400" cy="612775"/>
          </a:xfrm>
          <a:prstGeom prst="roundRect">
            <a:avLst>
              <a:gd name="adj" fmla="val 20725"/>
            </a:avLst>
          </a:prstGeom>
          <a:solidFill>
            <a:srgbClr val="F2F2F2"/>
          </a:solidFill>
          <a:ln w="12700">
            <a:solidFill>
              <a:srgbClr val="404040"/>
            </a:solidFill>
          </a:ln>
        </p:spPr>
        <p:txBody>
          <a:bodyPr wrap="square" lIns="216803" tIns="140603" rIns="0" bIns="115203" rtlCol="0" anchor="t">
            <a:normAutofit/>
          </a:bodyPr>
          <a:lstStyle/>
          <a:p>
            <a:pPr marL="0" indent="0" algn="l">
              <a:lnSpc>
                <a:spcPts val="2025"/>
              </a:lnSpc>
              <a:buNone/>
            </a:pPr>
            <a:r>
              <a:rPr lang="en-US" sz="1500" b="1" dirty="0">
                <a:solidFill>
                  <a:srgbClr val="000000"/>
                </a:solidFill>
                <a:latin typeface="Carlito" pitchFamily="34" charset="0"/>
                <a:ea typeface="Carlito" pitchFamily="34" charset="-122"/>
                <a:cs typeface="Carlito" pitchFamily="34" charset="-120"/>
              </a:rPr>
              <a:t>A failed stream stays failed:</a:t>
            </a:r>
            <a:r>
              <a:rPr lang="en-US" sz="1500" dirty="0">
                <a:solidFill>
                  <a:srgbClr val="000000"/>
                </a:solidFill>
                <a:latin typeface="Carlito" pitchFamily="34" charset="0"/>
                <a:ea typeface="Carlito" pitchFamily="34" charset="-122"/>
                <a:cs typeface="Carlito" pitchFamily="34" charset="-120"/>
              </a:rPr>
              <a:t> every later read does nothing. flush() does not help: it is for output files.</a:t>
            </a:r>
            <a:endParaRPr lang="en-US" sz="1500" dirty="0"/>
          </a:p>
        </p:txBody>
      </p:sp>
      <p:sp>
        <p:nvSpPr>
          <p:cNvPr id="5" name="Shape 3"/>
          <p:cNvSpPr/>
          <p:nvPr/>
        </p:nvSpPr>
        <p:spPr>
          <a:xfrm>
            <a:off x="812800" y="2441476"/>
            <a:ext cx="5168900" cy="3654524"/>
          </a:xfrm>
          <a:prstGeom prst="roundRect">
            <a:avLst>
              <a:gd name="adj" fmla="val 3475"/>
            </a:avLst>
          </a:prstGeom>
          <a:solidFill>
            <a:srgbClr val="FFFFFF"/>
          </a:solidFill>
          <a:ln w="9525">
            <a:solidFill>
              <a:srgbClr val="808080"/>
            </a:solidFill>
          </a:ln>
        </p:spPr>
        <p:txBody>
          <a:bodyPr/>
          <a:lstStyle/>
          <a:p>
            <a:endParaRPr lang="en-US"/>
          </a:p>
        </p:txBody>
      </p:sp>
      <p:sp>
        <p:nvSpPr>
          <p:cNvPr id="6" name="Text 4"/>
          <p:cNvSpPr/>
          <p:nvPr/>
        </p:nvSpPr>
        <p:spPr>
          <a:xfrm>
            <a:off x="1041400" y="2644676"/>
            <a:ext cx="485305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0000"/>
                </a:solidFill>
                <a:latin typeface="Carlito" pitchFamily="34" charset="0"/>
                <a:ea typeface="Carlito" pitchFamily="34" charset="-122"/>
                <a:cs typeface="Carlito" pitchFamily="34" charset="-120"/>
              </a:rPr>
              <a:t>Stopped at the end of the file</a:t>
            </a:r>
            <a:endParaRPr lang="en-US" sz="1700" dirty="0"/>
          </a:p>
        </p:txBody>
      </p:sp>
      <p:sp>
        <p:nvSpPr>
          <p:cNvPr id="7" name="Text 5"/>
          <p:cNvSpPr/>
          <p:nvPr/>
        </p:nvSpPr>
        <p:spPr>
          <a:xfrm>
            <a:off x="1041400" y="3018036"/>
            <a:ext cx="4853051" cy="26541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000000"/>
                </a:solidFill>
                <a:latin typeface="Carlito" pitchFamily="34" charset="0"/>
                <a:ea typeface="Carlito" pitchFamily="34" charset="-122"/>
                <a:cs typeface="Carlito" pitchFamily="34" charset="-120"/>
              </a:rPr>
              <a:t>clear() alone: still fails. The position is at the end.</a:t>
            </a:r>
            <a:endParaRPr lang="en-US" sz="1400" dirty="0"/>
          </a:p>
        </p:txBody>
      </p:sp>
      <p:sp>
        <p:nvSpPr>
          <p:cNvPr id="8" name="Text 6"/>
          <p:cNvSpPr/>
          <p:nvPr/>
        </p:nvSpPr>
        <p:spPr>
          <a:xfrm>
            <a:off x="1041400" y="3372346"/>
            <a:ext cx="4711700" cy="791170"/>
          </a:xfrm>
          <a:prstGeom prst="roundRect">
            <a:avLst>
              <a:gd name="adj" fmla="val 11237"/>
            </a:avLst>
          </a:prstGeom>
          <a:solidFill>
            <a:srgbClr val="F2F2F2"/>
          </a:solidFill>
          <a:ln w="12700">
            <a:solidFill>
              <a:srgbClr val="404040"/>
            </a:solidFill>
          </a:ln>
        </p:spPr>
        <p:txBody>
          <a:bodyPr wrap="square" lIns="151762" tIns="113662" rIns="21079" bIns="88262" rtlCol="0" anchor="t">
            <a:normAutofit/>
          </a:bodyPr>
          <a:lstStyle/>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inFile.clear();</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inFile.seekg(0);  </a:t>
            </a:r>
            <a:r>
              <a:rPr lang="en-US" sz="1300" dirty="0">
                <a:solidFill>
                  <a:srgbClr val="595959"/>
                </a:solidFill>
                <a:latin typeface="Courier New" pitchFamily="49" charset="0"/>
                <a:ea typeface="Courier New" pitchFamily="49" charset="-122"/>
                <a:cs typeface="Courier New" pitchFamily="49" charset="-120"/>
              </a:rPr>
              <a:t>// back to the start</a:t>
            </a:r>
            <a:endParaRPr lang="en-US" sz="1300" dirty="0"/>
          </a:p>
        </p:txBody>
      </p:sp>
      <p:sp>
        <p:nvSpPr>
          <p:cNvPr id="9" name="Text 7"/>
          <p:cNvSpPr/>
          <p:nvPr/>
        </p:nvSpPr>
        <p:spPr>
          <a:xfrm>
            <a:off x="1041400" y="4277816"/>
            <a:ext cx="4853051" cy="274241"/>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000000"/>
                </a:solidFill>
                <a:latin typeface="Carlito" pitchFamily="34" charset="0"/>
                <a:ea typeface="Carlito" pitchFamily="34" charset="-122"/>
                <a:cs typeface="Carlito" pitchFamily="34" charset="-120"/>
              </a:rPr>
              <a:t>or simply</a:t>
            </a:r>
            <a:r>
              <a:rPr lang="en-US" sz="1400" dirty="0">
                <a:solidFill>
                  <a:srgbClr val="000000"/>
                </a:solidFill>
                <a:latin typeface="Carlito" pitchFamily="34" charset="0"/>
                <a:ea typeface="Carlito" pitchFamily="34" charset="-122"/>
                <a:cs typeface="Carlito" pitchFamily="34" charset="-120"/>
              </a:rPr>
              <a:t> close and open it again:</a:t>
            </a:r>
            <a:endParaRPr lang="en-US" sz="1400" dirty="0"/>
          </a:p>
        </p:txBody>
      </p:sp>
      <p:sp>
        <p:nvSpPr>
          <p:cNvPr id="10" name="Text 8"/>
          <p:cNvSpPr/>
          <p:nvPr/>
        </p:nvSpPr>
        <p:spPr>
          <a:xfrm>
            <a:off x="1041400" y="4640957"/>
            <a:ext cx="4711700" cy="791170"/>
          </a:xfrm>
          <a:prstGeom prst="roundRect">
            <a:avLst>
              <a:gd name="adj" fmla="val 11237"/>
            </a:avLst>
          </a:prstGeom>
          <a:solidFill>
            <a:srgbClr val="F2F2F2"/>
          </a:solidFill>
          <a:ln w="12700">
            <a:solidFill>
              <a:srgbClr val="404040"/>
            </a:solidFill>
          </a:ln>
        </p:spPr>
        <p:txBody>
          <a:bodyPr wrap="square" lIns="151762" tIns="113662" rIns="21079" bIns="88262" rtlCol="0" anchor="t">
            <a:normAutofit/>
          </a:bodyPr>
          <a:lstStyle/>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inFile.close();</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inFile.open("marks.txt");</a:t>
            </a:r>
            <a:endParaRPr lang="en-US" sz="1300" dirty="0"/>
          </a:p>
        </p:txBody>
      </p:sp>
      <p:sp>
        <p:nvSpPr>
          <p:cNvPr id="11" name="Shape 9"/>
          <p:cNvSpPr/>
          <p:nvPr/>
        </p:nvSpPr>
        <p:spPr>
          <a:xfrm>
            <a:off x="6210300" y="2441476"/>
            <a:ext cx="5168900" cy="3654524"/>
          </a:xfrm>
          <a:prstGeom prst="roundRect">
            <a:avLst>
              <a:gd name="adj" fmla="val 3475"/>
            </a:avLst>
          </a:prstGeom>
          <a:solidFill>
            <a:srgbClr val="FFFFFF"/>
          </a:solidFill>
          <a:ln w="9525">
            <a:solidFill>
              <a:srgbClr val="808080"/>
            </a:solidFill>
          </a:ln>
        </p:spPr>
        <p:txBody>
          <a:bodyPr/>
          <a:lstStyle/>
          <a:p>
            <a:endParaRPr lang="en-US"/>
          </a:p>
        </p:txBody>
      </p:sp>
      <p:sp>
        <p:nvSpPr>
          <p:cNvPr id="12" name="Text 10"/>
          <p:cNvSpPr/>
          <p:nvPr/>
        </p:nvSpPr>
        <p:spPr>
          <a:xfrm>
            <a:off x="6438900" y="2644676"/>
            <a:ext cx="4853051"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00000"/>
                </a:solidFill>
                <a:latin typeface="Carlito" pitchFamily="34" charset="0"/>
                <a:ea typeface="Carlito" pitchFamily="34" charset="-122"/>
                <a:cs typeface="Carlito" pitchFamily="34" charset="-120"/>
              </a:rPr>
              <a:t>Stopped at bad data</a:t>
            </a:r>
            <a:endParaRPr lang="en-US" sz="1700" dirty="0"/>
          </a:p>
        </p:txBody>
      </p:sp>
      <p:sp>
        <p:nvSpPr>
          <p:cNvPr id="13" name="Text 11"/>
          <p:cNvSpPr/>
          <p:nvPr/>
        </p:nvSpPr>
        <p:spPr>
          <a:xfrm>
            <a:off x="6438900" y="3018036"/>
            <a:ext cx="4853051" cy="265410"/>
          </a:xfrm>
          <a:prstGeom prst="rect">
            <a:avLst/>
          </a:prstGeom>
          <a:noFill/>
          <a:ln/>
        </p:spPr>
        <p:txBody>
          <a:bodyPr wrap="square" lIns="0" tIns="0" rIns="0" bIns="0" rtlCol="0" anchor="t">
            <a:normAutofit/>
          </a:bodyPr>
          <a:lstStyle/>
          <a:p>
            <a:pPr marL="0" indent="0" algn="l">
              <a:lnSpc>
                <a:spcPts val="1890"/>
              </a:lnSpc>
              <a:buNone/>
            </a:pPr>
            <a:r>
              <a:rPr lang="en-US" sz="1400" b="1" dirty="0">
                <a:solidFill>
                  <a:srgbClr val="000000"/>
                </a:solidFill>
                <a:latin typeface="Carlito" pitchFamily="34" charset="0"/>
                <a:ea typeface="Carlito" pitchFamily="34" charset="-122"/>
                <a:cs typeface="Carlito" pitchFamily="34" charset="-120"/>
              </a:rPr>
              <a:t>clear() alone: reads abc again and fails again.</a:t>
            </a:r>
            <a:endParaRPr lang="en-US" sz="1400" dirty="0"/>
          </a:p>
        </p:txBody>
      </p:sp>
      <p:sp>
        <p:nvSpPr>
          <p:cNvPr id="14" name="Text 12"/>
          <p:cNvSpPr/>
          <p:nvPr/>
        </p:nvSpPr>
        <p:spPr>
          <a:xfrm>
            <a:off x="6438900" y="3372346"/>
            <a:ext cx="4711700" cy="1047055"/>
          </a:xfrm>
          <a:prstGeom prst="roundRect">
            <a:avLst>
              <a:gd name="adj" fmla="val 8490"/>
            </a:avLst>
          </a:prstGeom>
          <a:solidFill>
            <a:srgbClr val="F2F2F2"/>
          </a:solidFill>
          <a:ln w="12700">
            <a:solidFill>
              <a:srgbClr val="404040"/>
            </a:solidFill>
          </a:ln>
        </p:spPr>
        <p:txBody>
          <a:bodyPr wrap="square" lIns="151762" tIns="113662" rIns="21079" bIns="88262" rtlCol="0" anchor="t">
            <a:normAutofit/>
          </a:bodyPr>
          <a:lstStyle/>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inFile.clear();</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inFile &gt;&gt; junk;  </a:t>
            </a:r>
            <a:r>
              <a:rPr lang="en-US" sz="1300" dirty="0">
                <a:solidFill>
                  <a:srgbClr val="595959"/>
                </a:solidFill>
                <a:latin typeface="Courier New" pitchFamily="49" charset="0"/>
                <a:ea typeface="Courier New" pitchFamily="49" charset="-122"/>
                <a:cs typeface="Courier New" pitchFamily="49" charset="-120"/>
              </a:rPr>
              <a:t>// move past abc</a:t>
            </a:r>
            <a:endParaRPr lang="en-US" sz="1300" dirty="0"/>
          </a:p>
          <a:p>
            <a:pPr marL="0" indent="0" algn="l">
              <a:lnSpc>
                <a:spcPts val="2015"/>
              </a:lnSpc>
              <a:buNone/>
            </a:pPr>
            <a:r>
              <a:rPr lang="en-US" sz="1300" dirty="0">
                <a:solidFill>
                  <a:srgbClr val="000000"/>
                </a:solidFill>
                <a:latin typeface="Courier New" pitchFamily="49" charset="0"/>
                <a:ea typeface="Courier New" pitchFamily="49" charset="-122"/>
                <a:cs typeface="Courier New" pitchFamily="49" charset="-120"/>
              </a:rPr>
              <a:t>inFile &gt;&gt; a;     </a:t>
            </a:r>
            <a:r>
              <a:rPr lang="en-US" sz="1300" dirty="0">
                <a:solidFill>
                  <a:srgbClr val="595959"/>
                </a:solidFill>
                <a:latin typeface="Courier New" pitchFamily="49" charset="0"/>
                <a:ea typeface="Courier New" pitchFamily="49" charset="-122"/>
                <a:cs typeface="Courier New" pitchFamily="49" charset="-120"/>
              </a:rPr>
              <a:t>// works: a = 40</a:t>
            </a:r>
            <a:endParaRPr lang="en-US" sz="1300" dirty="0"/>
          </a:p>
        </p:txBody>
      </p:sp>
      <p:sp>
        <p:nvSpPr>
          <p:cNvPr id="15" name="Text 13"/>
          <p:cNvSpPr/>
          <p:nvPr/>
        </p:nvSpPr>
        <p:spPr>
          <a:xfrm>
            <a:off x="6438900" y="4533702"/>
            <a:ext cx="4853051"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04040"/>
                </a:solidFill>
                <a:latin typeface="Carlito" pitchFamily="34" charset="0"/>
                <a:ea typeface="Carlito" pitchFamily="34" charset="-122"/>
                <a:cs typeface="Carlito" pitchFamily="34" charset="-120"/>
              </a:rPr>
              <a:t>Old compilers (before C++11): call clear() after open() too.</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PRACTICE</a:t>
            </a:r>
            <a:endParaRPr lang="en-US" sz="1200" dirty="0"/>
          </a:p>
        </p:txBody>
      </p:sp>
      <p:sp>
        <p:nvSpPr>
          <p:cNvPr id="3" name="Text 1"/>
          <p:cNvSpPr>
            <a:spLocks noGrp="1"/>
          </p:cNvSpPr>
          <p:nvPr>
            <p:ph type="title"/>
          </p:nvPr>
        </p:nvSpPr>
        <p:spPr>
          <a:xfrm>
            <a:off x="812800" y="924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Your turn</a:t>
            </a:r>
            <a:endParaRPr lang="en-US" sz="3200" dirty="0"/>
          </a:p>
        </p:txBody>
      </p:sp>
      <p:sp>
        <p:nvSpPr>
          <p:cNvPr id="4" name="Shape 2"/>
          <p:cNvSpPr/>
          <p:nvPr/>
        </p:nvSpPr>
        <p:spPr>
          <a:xfrm>
            <a:off x="812800" y="1625501"/>
            <a:ext cx="10566400" cy="746720"/>
          </a:xfrm>
          <a:prstGeom prst="roundRect">
            <a:avLst>
              <a:gd name="adj" fmla="val 17008"/>
            </a:avLst>
          </a:prstGeom>
          <a:solidFill>
            <a:srgbClr val="F2F2F2"/>
          </a:solidFill>
          <a:ln w="12700">
            <a:solidFill>
              <a:srgbClr val="404040"/>
            </a:solidFill>
          </a:ln>
        </p:spPr>
        <p:txBody>
          <a:bodyPr/>
          <a:lstStyle/>
          <a:p>
            <a:endParaRPr lang="en-US"/>
          </a:p>
        </p:txBody>
      </p:sp>
      <p:sp>
        <p:nvSpPr>
          <p:cNvPr id="5" name="Text 3"/>
          <p:cNvSpPr/>
          <p:nvPr/>
        </p:nvSpPr>
        <p:spPr>
          <a:xfrm>
            <a:off x="1041400" y="1803301"/>
            <a:ext cx="4318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000000"/>
                </a:solidFill>
                <a:latin typeface="Carlito" pitchFamily="34" charset="0"/>
                <a:ea typeface="Carlito" pitchFamily="34" charset="-122"/>
                <a:cs typeface="Carlito" pitchFamily="34" charset="-120"/>
              </a:rPr>
              <a:t>1</a:t>
            </a:r>
            <a:endParaRPr lang="en-US" sz="2200" dirty="0"/>
          </a:p>
        </p:txBody>
      </p:sp>
      <p:sp>
        <p:nvSpPr>
          <p:cNvPr id="6" name="Text 4"/>
          <p:cNvSpPr/>
          <p:nvPr/>
        </p:nvSpPr>
        <p:spPr>
          <a:xfrm>
            <a:off x="1625600" y="1870273"/>
            <a:ext cx="9810750" cy="28257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000000"/>
                </a:solidFill>
                <a:latin typeface="Carlito" pitchFamily="34" charset="0"/>
                <a:ea typeface="Carlito" pitchFamily="34" charset="-122"/>
                <a:cs typeface="Carlito" pitchFamily="34" charset="-120"/>
              </a:rPr>
              <a:t>results.txt</a:t>
            </a:r>
            <a:r>
              <a:rPr lang="en-US" sz="1500" dirty="0">
                <a:solidFill>
                  <a:srgbClr val="000000"/>
                </a:solidFill>
                <a:latin typeface="Carlito" pitchFamily="34" charset="0"/>
                <a:ea typeface="Carlito" pitchFamily="34" charset="-122"/>
                <a:cs typeface="Carlito" pitchFamily="34" charset="-120"/>
              </a:rPr>
              <a:t> holds lines like 101,A,85. Read them into three parallel arrays and print how many students got an A.</a:t>
            </a:r>
            <a:endParaRPr lang="en-US" sz="1500" dirty="0"/>
          </a:p>
        </p:txBody>
      </p:sp>
      <p:sp>
        <p:nvSpPr>
          <p:cNvPr id="7" name="Shape 5"/>
          <p:cNvSpPr/>
          <p:nvPr/>
        </p:nvSpPr>
        <p:spPr>
          <a:xfrm>
            <a:off x="812800" y="2524621"/>
            <a:ext cx="10566400" cy="869950"/>
          </a:xfrm>
          <a:prstGeom prst="roundRect">
            <a:avLst>
              <a:gd name="adj" fmla="val 14599"/>
            </a:avLst>
          </a:prstGeom>
          <a:solidFill>
            <a:srgbClr val="F2F2F2"/>
          </a:solidFill>
          <a:ln w="12700">
            <a:solidFill>
              <a:srgbClr val="404040"/>
            </a:solidFill>
          </a:ln>
        </p:spPr>
        <p:txBody>
          <a:bodyPr/>
          <a:lstStyle/>
          <a:p>
            <a:endParaRPr lang="en-US"/>
          </a:p>
        </p:txBody>
      </p:sp>
      <p:sp>
        <p:nvSpPr>
          <p:cNvPr id="8" name="Text 6"/>
          <p:cNvSpPr/>
          <p:nvPr/>
        </p:nvSpPr>
        <p:spPr>
          <a:xfrm>
            <a:off x="1041400" y="2764036"/>
            <a:ext cx="4318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000000"/>
                </a:solidFill>
                <a:latin typeface="Carlito" pitchFamily="34" charset="0"/>
                <a:ea typeface="Carlito" pitchFamily="34" charset="-122"/>
                <a:cs typeface="Carlito" pitchFamily="34" charset="-120"/>
              </a:rPr>
              <a:t>2</a:t>
            </a:r>
            <a:endParaRPr lang="en-US" sz="2200" dirty="0"/>
          </a:p>
        </p:txBody>
      </p:sp>
      <p:sp>
        <p:nvSpPr>
          <p:cNvPr id="9" name="Text 7"/>
          <p:cNvSpPr/>
          <p:nvPr/>
        </p:nvSpPr>
        <p:spPr>
          <a:xfrm>
            <a:off x="1625600" y="2702421"/>
            <a:ext cx="9810750" cy="53975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000000"/>
                </a:solidFill>
                <a:latin typeface="Carlito" pitchFamily="34" charset="0"/>
                <a:ea typeface="Carlito" pitchFamily="34" charset="-122"/>
                <a:cs typeface="Carlito" pitchFamily="34" charset="-120"/>
              </a:rPr>
              <a:t>temps.txt</a:t>
            </a:r>
            <a:r>
              <a:rPr lang="en-US" sz="1500" dirty="0">
                <a:solidFill>
                  <a:srgbClr val="000000"/>
                </a:solidFill>
                <a:latin typeface="Carlito" pitchFamily="34" charset="0"/>
                <a:ea typeface="Carlito" pitchFamily="34" charset="-122"/>
                <a:cs typeface="Carlito" pitchFamily="34" charset="-120"/>
              </a:rPr>
              <a:t> holds readings with some junk: 31 34 xx 29 36. Skip the junk, then print the average and how many items were skipped.</a:t>
            </a:r>
            <a:endParaRPr lang="en-US" sz="1500" dirty="0"/>
          </a:p>
        </p:txBody>
      </p:sp>
      <p:sp>
        <p:nvSpPr>
          <p:cNvPr id="10" name="Shape 8"/>
          <p:cNvSpPr/>
          <p:nvPr/>
        </p:nvSpPr>
        <p:spPr>
          <a:xfrm>
            <a:off x="812800" y="3546971"/>
            <a:ext cx="10566400" cy="746720"/>
          </a:xfrm>
          <a:prstGeom prst="roundRect">
            <a:avLst>
              <a:gd name="adj" fmla="val 17008"/>
            </a:avLst>
          </a:prstGeom>
          <a:solidFill>
            <a:srgbClr val="F2F2F2"/>
          </a:solidFill>
          <a:ln w="12700">
            <a:solidFill>
              <a:srgbClr val="404040"/>
            </a:solidFill>
          </a:ln>
        </p:spPr>
        <p:txBody>
          <a:bodyPr/>
          <a:lstStyle/>
          <a:p>
            <a:endParaRPr lang="en-US"/>
          </a:p>
        </p:txBody>
      </p:sp>
      <p:sp>
        <p:nvSpPr>
          <p:cNvPr id="11" name="Text 9"/>
          <p:cNvSpPr/>
          <p:nvPr/>
        </p:nvSpPr>
        <p:spPr>
          <a:xfrm>
            <a:off x="1041400" y="3724771"/>
            <a:ext cx="431800"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000000"/>
                </a:solidFill>
                <a:latin typeface="Carlito" pitchFamily="34" charset="0"/>
                <a:ea typeface="Carlito" pitchFamily="34" charset="-122"/>
                <a:cs typeface="Carlito" pitchFamily="34" charset="-120"/>
              </a:rPr>
              <a:t>3</a:t>
            </a:r>
            <a:endParaRPr lang="en-US" sz="2200" dirty="0"/>
          </a:p>
        </p:txBody>
      </p:sp>
      <p:sp>
        <p:nvSpPr>
          <p:cNvPr id="12" name="Text 10"/>
          <p:cNvSpPr/>
          <p:nvPr/>
        </p:nvSpPr>
        <p:spPr>
          <a:xfrm>
            <a:off x="1625600" y="3791744"/>
            <a:ext cx="9810750" cy="282575"/>
          </a:xfrm>
          <a:prstGeom prst="rect">
            <a:avLst/>
          </a:prstGeom>
          <a:noFill/>
          <a:ln/>
        </p:spPr>
        <p:txBody>
          <a:bodyPr wrap="square" lIns="0" tIns="0" rIns="0" bIns="0" rtlCol="0" anchor="t">
            <a:normAutofit fontScale="92500"/>
          </a:bodyPr>
          <a:lstStyle/>
          <a:p>
            <a:pPr marL="0" indent="0" algn="l">
              <a:lnSpc>
                <a:spcPts val="2025"/>
              </a:lnSpc>
              <a:buNone/>
            </a:pPr>
            <a:r>
              <a:rPr lang="en-US" sz="1500" b="1" dirty="0">
                <a:solidFill>
                  <a:srgbClr val="000000"/>
                </a:solidFill>
                <a:latin typeface="Carlito" pitchFamily="34" charset="0"/>
                <a:ea typeface="Carlito" pitchFamily="34" charset="-122"/>
                <a:cs typeface="Carlito" pitchFamily="34" charset="-120"/>
              </a:rPr>
              <a:t>dates.txt</a:t>
            </a:r>
            <a:r>
              <a:rPr lang="en-US" sz="1500" dirty="0">
                <a:solidFill>
                  <a:srgbClr val="000000"/>
                </a:solidFill>
                <a:latin typeface="Carlito" pitchFamily="34" charset="0"/>
                <a:ea typeface="Carlito" pitchFamily="34" charset="-122"/>
                <a:cs typeface="Carlito" pitchFamily="34" charset="-120"/>
              </a:rPr>
              <a:t> holds dates like 12/05/2026. Print only the dates in May. Then print "The file is empty!" if it has none at all.</a:t>
            </a:r>
            <a:endParaRPr lang="en-US" sz="1500" dirty="0"/>
          </a:p>
        </p:txBody>
      </p:sp>
      <p:sp>
        <p:nvSpPr>
          <p:cNvPr id="13" name="Text 11"/>
          <p:cNvSpPr/>
          <p:nvPr/>
        </p:nvSpPr>
        <p:spPr>
          <a:xfrm>
            <a:off x="812800" y="5847159"/>
            <a:ext cx="10883392"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00000"/>
                </a:solidFill>
                <a:latin typeface="Carlito" pitchFamily="34" charset="0"/>
                <a:ea typeface="Carlito" pitchFamily="34" charset="-122"/>
                <a:cs typeface="Carlito" pitchFamily="34" charset="-120"/>
              </a:rPr>
              <a:t>Hint for 1: read each comma into a char, or skip it with inFile.ignore(1, ','), just like the CSV example.</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12800" y="6604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00000"/>
                </a:solidFill>
                <a:latin typeface="Carlito" pitchFamily="34" charset="0"/>
                <a:ea typeface="Carlito" pitchFamily="34" charset="-122"/>
                <a:cs typeface="Carlito" pitchFamily="34" charset="-120"/>
              </a:rPr>
              <a:t>SUMMARY</a:t>
            </a:r>
            <a:endParaRPr lang="en-US" sz="1200" dirty="0"/>
          </a:p>
        </p:txBody>
      </p:sp>
      <p:sp>
        <p:nvSpPr>
          <p:cNvPr id="3" name="Text 1"/>
          <p:cNvSpPr>
            <a:spLocks noGrp="1"/>
          </p:cNvSpPr>
          <p:nvPr>
            <p:ph type="title"/>
          </p:nvPr>
        </p:nvSpPr>
        <p:spPr>
          <a:xfrm>
            <a:off x="812800" y="924520"/>
            <a:ext cx="10883392" cy="47238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00000"/>
                </a:solidFill>
                <a:latin typeface="Source Serif 4" pitchFamily="18" charset="0"/>
                <a:ea typeface="Source Serif 4" pitchFamily="18" charset="-122"/>
                <a:cs typeface="Source Serif 4" pitchFamily="18" charset="-120"/>
              </a:rPr>
              <a:t>Cheat sheet</a:t>
            </a:r>
            <a:endParaRPr lang="en-US" sz="3200" dirty="0"/>
          </a:p>
        </p:txBody>
      </p:sp>
      <p:sp>
        <p:nvSpPr>
          <p:cNvPr id="4" name="Text 2"/>
          <p:cNvSpPr/>
          <p:nvPr/>
        </p:nvSpPr>
        <p:spPr>
          <a:xfrm>
            <a:off x="812800" y="1600101"/>
            <a:ext cx="531088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00000"/>
                </a:solidFill>
                <a:latin typeface="Carlito" pitchFamily="34" charset="0"/>
                <a:ea typeface="Carlito" pitchFamily="34" charset="-122"/>
                <a:cs typeface="Carlito" pitchFamily="34" charset="-120"/>
              </a:rPr>
              <a:t>Reading each format</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955701"/>
          <a:ext cx="5143500" cy="3114675"/>
        </p:xfrm>
        <a:graphic>
          <a:graphicData uri="http://schemas.openxmlformats.org/drawingml/2006/table">
            <a:tbl>
              <a:tblPr/>
              <a:tblGrid>
                <a:gridCol w="2263140">
                  <a:extLst>
                    <a:ext uri="{9D8B030D-6E8A-4147-A177-3AD203B41FA5}">
                      <a16:colId xmlns:a16="http://schemas.microsoft.com/office/drawing/2014/main" val="20000"/>
                    </a:ext>
                  </a:extLst>
                </a:gridCol>
                <a:gridCol w="2880360">
                  <a:extLst>
                    <a:ext uri="{9D8B030D-6E8A-4147-A177-3AD203B41FA5}">
                      <a16:colId xmlns:a16="http://schemas.microsoft.com/office/drawing/2014/main" val="20001"/>
                    </a:ext>
                  </a:extLst>
                </a:gridCol>
              </a:tblGrid>
              <a:tr h="346075">
                <a:tc>
                  <a:txBody>
                    <a:bodyPr/>
                    <a:lstStyle/>
                    <a:p>
                      <a:pPr marL="0" indent="0">
                        <a:lnSpc>
                          <a:spcPts val="1750"/>
                        </a:lnSpc>
                        <a:buNone/>
                      </a:pPr>
                      <a:r>
                        <a:rPr lang="en-US" sz="1250" b="1" dirty="0">
                          <a:solidFill>
                            <a:srgbClr val="000000"/>
                          </a:solidFill>
                          <a:latin typeface="Carlito" pitchFamily="34" charset="0"/>
                          <a:ea typeface="Carlito" pitchFamily="34" charset="-122"/>
                          <a:cs typeface="Carlito" pitchFamily="34" charset="-120"/>
                        </a:rPr>
                        <a:t>File looks like</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D9D9D9"/>
                    </a:solidFill>
                  </a:tcPr>
                </a:tc>
                <a:tc>
                  <a:txBody>
                    <a:bodyPr/>
                    <a:lstStyle/>
                    <a:p>
                      <a:pPr marL="0" indent="0">
                        <a:lnSpc>
                          <a:spcPts val="1750"/>
                        </a:lnSpc>
                        <a:buNone/>
                      </a:pPr>
                      <a:r>
                        <a:rPr lang="en-US" sz="1250" b="1" dirty="0">
                          <a:solidFill>
                            <a:srgbClr val="000000"/>
                          </a:solidFill>
                          <a:latin typeface="Carlito" pitchFamily="34" charset="0"/>
                          <a:ea typeface="Carlito" pitchFamily="34" charset="-122"/>
                          <a:cs typeface="Carlito" pitchFamily="34" charset="-120"/>
                        </a:rPr>
                        <a:t>How to read it</a:t>
                      </a:r>
                      <a:endParaRPr lang="en-US" sz="1250" dirty="0">
                        <a:latin typeface="Carlito" charset="0"/>
                        <a:ea typeface="Carlito" charset="0"/>
                        <a:cs typeface="Carlito" charset="0"/>
                      </a:endParaRPr>
                    </a:p>
                  </a:txBody>
                  <a:tcPr marL="55563" marR="55563" marT="55563" marB="55563">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46075">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85 90 78</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plain &gt;&gt; (spaces or lines)</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r h="346075">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85,90,78</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&gt;&gt; number, then &gt;&gt; char or ignore(1, ',')</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346075">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12/05/2026</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int, char or ignore(), int, ...</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3"/>
                  </a:ext>
                </a:extLst>
              </a:tr>
              <a:tr h="346075">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101 A 85</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int, char, int: parallel arrays</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346075">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Ali Khan,85</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getline(name, 30, ',') then &gt;&gt;</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5"/>
                  </a:ext>
                </a:extLst>
              </a:tr>
              <a:tr h="346075">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4 | 10 20 ...</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read n, loop n times</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346075">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85 90 -1</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stop at the sentinel</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7"/>
                  </a:ext>
                </a:extLst>
              </a:tr>
              <a:tr h="346075">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Roll Marks</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ignore(100, '\n')</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8"/>
                  </a:ext>
                </a:extLst>
              </a:tr>
            </a:tbl>
          </a:graphicData>
        </a:graphic>
      </p:graphicFrame>
      <p:sp>
        <p:nvSpPr>
          <p:cNvPr id="6" name="Text 3"/>
          <p:cNvSpPr/>
          <p:nvPr/>
        </p:nvSpPr>
        <p:spPr>
          <a:xfrm>
            <a:off x="6223000" y="1600101"/>
            <a:ext cx="5310886"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00000"/>
                </a:solidFill>
                <a:latin typeface="Carlito" pitchFamily="34" charset="0"/>
                <a:ea typeface="Carlito" pitchFamily="34" charset="-122"/>
                <a:cs typeface="Carlito" pitchFamily="34" charset="-120"/>
              </a:rPr>
              <a:t>Checking the stream</a:t>
            </a:r>
            <a:endParaRPr lang="en-US" sz="15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235700" y="1955701"/>
          <a:ext cx="5143500" cy="2768600"/>
        </p:xfrm>
        <a:graphic>
          <a:graphicData uri="http://schemas.openxmlformats.org/drawingml/2006/table">
            <a:tbl>
              <a:tblPr/>
              <a:tblGrid>
                <a:gridCol w="2057400">
                  <a:extLst>
                    <a:ext uri="{9D8B030D-6E8A-4147-A177-3AD203B41FA5}">
                      <a16:colId xmlns:a16="http://schemas.microsoft.com/office/drawing/2014/main" val="20000"/>
                    </a:ext>
                  </a:extLst>
                </a:gridCol>
                <a:gridCol w="3086100">
                  <a:extLst>
                    <a:ext uri="{9D8B030D-6E8A-4147-A177-3AD203B41FA5}">
                      <a16:colId xmlns:a16="http://schemas.microsoft.com/office/drawing/2014/main" val="20001"/>
                    </a:ext>
                  </a:extLst>
                </a:gridCol>
              </a:tblGrid>
              <a:tr h="346075">
                <a:tc>
                  <a:txBody>
                    <a:bodyPr/>
                    <a:lstStyle/>
                    <a:p>
                      <a:pPr marL="0" indent="0">
                        <a:lnSpc>
                          <a:spcPts val="1750"/>
                        </a:lnSpc>
                        <a:buNone/>
                      </a:pPr>
                      <a:r>
                        <a:rPr lang="en-US" sz="1250" b="1" dirty="0">
                          <a:solidFill>
                            <a:srgbClr val="000000"/>
                          </a:solidFill>
                          <a:latin typeface="Carlito" pitchFamily="34" charset="0"/>
                          <a:ea typeface="Carlito" pitchFamily="34" charset="-122"/>
                          <a:cs typeface="Carlito" pitchFamily="34" charset="-120"/>
                        </a:rPr>
                        <a:t>Use</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D9D9D9"/>
                    </a:solidFill>
                  </a:tcPr>
                </a:tc>
                <a:tc>
                  <a:txBody>
                    <a:bodyPr/>
                    <a:lstStyle/>
                    <a:p>
                      <a:pPr marL="0" indent="0">
                        <a:lnSpc>
                          <a:spcPts val="1750"/>
                        </a:lnSpc>
                        <a:buNone/>
                      </a:pPr>
                      <a:r>
                        <a:rPr lang="en-US" sz="1250" b="1" dirty="0">
                          <a:solidFill>
                            <a:srgbClr val="000000"/>
                          </a:solidFill>
                          <a:latin typeface="Carlito" pitchFamily="34" charset="0"/>
                          <a:ea typeface="Carlito" pitchFamily="34" charset="-122"/>
                          <a:cs typeface="Carlito" pitchFamily="34" charset="-120"/>
                        </a:rPr>
                        <a:t>It tells you</a:t>
                      </a:r>
                      <a:endParaRPr lang="en-US" sz="1250" dirty="0">
                        <a:latin typeface="Carlito" charset="0"/>
                        <a:ea typeface="Carlito" charset="0"/>
                        <a:cs typeface="Carlito" charset="0"/>
                      </a:endParaRPr>
                    </a:p>
                  </a:txBody>
                  <a:tcPr marL="55563" marR="55563" marT="55563" marB="55563">
                    <a:lnL w="12700" cap="flat" cmpd="sng" algn="ctr">
                      <a:solidFill>
                        <a:srgbClr val="404040"/>
                      </a:solidFill>
                      <a:prstDash val="solid"/>
                      <a:round/>
                      <a:headEnd type="none" w="med" len="med"/>
                      <a:tailEnd type="none" w="med" len="med"/>
                    </a:lnL>
                    <a:lnR w="12700" cap="flat" cmpd="sng" algn="ctr">
                      <a:solidFill>
                        <a:srgbClr val="40404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404040"/>
                      </a:solidFill>
                      <a:prstDash val="solid"/>
                      <a:round/>
                      <a:headEnd type="none" w="med" len="med"/>
                      <a:tailEnd type="none" w="med" len="med"/>
                    </a:lnB>
                    <a:solidFill>
                      <a:srgbClr val="D9D9D9"/>
                    </a:solidFill>
                  </a:tcPr>
                </a:tc>
                <a:extLst>
                  <a:ext uri="{0D108BD9-81ED-4DB2-BD59-A6C34878D82A}">
                    <a16:rowId xmlns:a16="http://schemas.microsoft.com/office/drawing/2014/main" val="10000"/>
                  </a:ext>
                </a:extLst>
              </a:tr>
              <a:tr h="346075">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!inFile</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the file did not open</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40404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1"/>
                  </a:ext>
                </a:extLst>
              </a:tr>
              <a:tr h="346075">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while (inFile &gt;&gt; x)</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the last read worked</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2"/>
                  </a:ext>
                </a:extLst>
              </a:tr>
              <a:tr h="346075">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inFile.eof()</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it reached the end</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3"/>
                  </a:ext>
                </a:extLst>
              </a:tr>
              <a:tr h="346075">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inFile.fail()</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end or bad data: check eof() first</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4"/>
                  </a:ext>
                </a:extLst>
              </a:tr>
              <a:tr h="346075">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inFile.clear()</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resets a failed stream</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5"/>
                  </a:ext>
                </a:extLst>
              </a:tr>
              <a:tr h="346075">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inFile.seekg(0)</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goes back to the start</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solidFill>
                      <a:srgbClr val="F2F2F2"/>
                    </a:solidFill>
                  </a:tcPr>
                </a:tc>
                <a:extLst>
                  <a:ext uri="{0D108BD9-81ED-4DB2-BD59-A6C34878D82A}">
                    <a16:rowId xmlns:a16="http://schemas.microsoft.com/office/drawing/2014/main" val="10006"/>
                  </a:ext>
                </a:extLst>
              </a:tr>
              <a:tr h="346075">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inFile.ignore(n, c)</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tc>
                  <a:txBody>
                    <a:bodyPr/>
                    <a:lstStyle/>
                    <a:p>
                      <a:pPr marL="0" indent="0">
                        <a:lnSpc>
                          <a:spcPts val="1750"/>
                        </a:lnSpc>
                        <a:buNone/>
                      </a:pPr>
                      <a:r>
                        <a:rPr lang="en-US" sz="1250" dirty="0">
                          <a:solidFill>
                            <a:srgbClr val="000000"/>
                          </a:solidFill>
                          <a:latin typeface="Carlito" pitchFamily="34" charset="0"/>
                          <a:ea typeface="Carlito" pitchFamily="34" charset="-122"/>
                          <a:cs typeface="Carlito" pitchFamily="34" charset="-120"/>
                        </a:rPr>
                        <a:t>skips up to c</a:t>
                      </a:r>
                      <a:endParaRPr lang="en-US" sz="1250" dirty="0">
                        <a:latin typeface="Carlito" charset="0"/>
                        <a:ea typeface="Carlito" charset="0"/>
                        <a:cs typeface="Carlito" charset="0"/>
                      </a:endParaRPr>
                    </a:p>
                  </a:txBody>
                  <a:tcPr marL="55563" marR="55563" marT="55563" marB="55563">
                    <a:lnL w="12700" cap="flat" cmpd="sng" algn="ctr">
                      <a:solidFill>
                        <a:srgbClr val="808080"/>
                      </a:solidFill>
                      <a:prstDash val="solid"/>
                      <a:round/>
                      <a:headEnd type="none" w="med" len="med"/>
                      <a:tailEnd type="none" w="med" len="med"/>
                    </a:lnL>
                    <a:lnR w="12700" cap="flat" cmpd="sng" algn="ctr">
                      <a:solidFill>
                        <a:srgbClr val="808080"/>
                      </a:solidFill>
                      <a:prstDash val="solid"/>
                      <a:round/>
                      <a:headEnd type="none" w="med" len="med"/>
                      <a:tailEnd type="none" w="med" len="med"/>
                    </a:lnR>
                    <a:lnT w="12700" cap="flat" cmpd="sng" algn="ctr">
                      <a:solidFill>
                        <a:srgbClr val="808080"/>
                      </a:solidFill>
                      <a:prstDash val="solid"/>
                      <a:round/>
                      <a:headEnd type="none" w="med" len="med"/>
                      <a:tailEnd type="none" w="med" len="med"/>
                    </a:lnT>
                    <a:lnB w="12700" cap="flat" cmpd="sng" algn="ctr">
                      <a:solidFill>
                        <a:srgbClr val="80808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8" name="Text 4"/>
          <p:cNvSpPr/>
          <p:nvPr/>
        </p:nvSpPr>
        <p:spPr>
          <a:xfrm>
            <a:off x="812800" y="5298976"/>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000000"/>
                </a:solidFill>
                <a:latin typeface="Carlito" pitchFamily="34" charset="0"/>
                <a:ea typeface="Carlito" pitchFamily="34" charset="-122"/>
                <a:cs typeface="Carlito" pitchFamily="34" charset="-120"/>
              </a:rPr>
              <a:t>Whatever sits between the values, read it into a char or skip it with ignore(). Whatever goes wrong, ask the stream why.</a:t>
            </a:r>
            <a:endParaRPr lang="en-US" sz="1500" dirty="0"/>
          </a:p>
        </p:txBody>
      </p:sp>
    </p:spTree>
  </p:cSld>
  <p:clrMapOvr>
    <a:masterClrMapping/>
  </p:clrMapOvr>
</p:sld>
</file>

<file path=ppt/theme/theme1.xml><?xml version="1.0" encoding="utf-8"?>
<a:theme xmlns:a="http://schemas.openxmlformats.org/drawingml/2006/main" name="File Handling in C++ · Part 2">
  <a:themeElements>
    <a:clrScheme name="File Handling in C++ · Part 2">
      <a:dk1>
        <a:srgbClr val="000000"/>
      </a:dk1>
      <a:lt1>
        <a:srgbClr val="FFFFFF"/>
      </a:lt1>
      <a:dk2>
        <a:srgbClr val="535F6F"/>
      </a:dk2>
      <a:lt2>
        <a:srgbClr val="E6E7E8"/>
      </a:lt2>
      <a:accent1>
        <a:srgbClr val="9A6213"/>
      </a:accent1>
      <a:accent2>
        <a:srgbClr val="5A6B85"/>
      </a:accent2>
      <a:accent3>
        <a:srgbClr val="F2A541"/>
      </a:accent3>
      <a:accent4>
        <a:srgbClr val="24365A"/>
      </a:accent4>
      <a:accent5>
        <a:srgbClr val="B3262C"/>
      </a:accent5>
      <a:accent6>
        <a:srgbClr val="E2E8F0"/>
      </a:accent6>
      <a:hlink>
        <a:srgbClr val="0563C1"/>
      </a:hlink>
      <a:folHlink>
        <a:srgbClr val="954F72"/>
      </a:folHlink>
    </a:clrScheme>
    <a:fontScheme name="File Handling in C++ · Part 2">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rl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TotalTime>
  <Words>8804</Words>
  <Application>Microsoft Office PowerPoint</Application>
  <PresentationFormat>Widescreen</PresentationFormat>
  <Paragraphs>1101</Paragraphs>
  <Slides>38</Slides>
  <Notes>38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38</vt:i4>
      </vt:variant>
    </vt:vector>
  </HeadingPairs>
  <TitlesOfParts>
    <vt:vector size="43" baseType="lpstr">
      <vt:lpstr>Arial</vt:lpstr>
      <vt:lpstr>Carlito</vt:lpstr>
      <vt:lpstr>Courier New</vt:lpstr>
      <vt:lpstr>Source Serif 4</vt:lpstr>
      <vt:lpstr>File Handling in C++ · Part 2</vt:lpstr>
      <vt:lpstr>File Handling in C++</vt:lpstr>
      <vt:lpstr>Quick recap from Part 1</vt:lpstr>
      <vt:lpstr>Spaces or new lines: &gt;&gt; does not care</vt:lpstr>
      <vt:lpstr>Files come in many shapes</vt:lpstr>
      <vt:lpstr>Comma-separated numbers</vt:lpstr>
      <vt:lpstr>No comma after 88: how does the loop stop?</vt:lpstr>
      <vt:lpstr>The same trick: dates, times and sums</vt:lpstr>
      <vt:lpstr>Number, letter, number</vt:lpstr>
      <vt:lpstr>Letters and one-word names</vt:lpstr>
      <vt:lpstr>Full names with spaces</vt:lpstr>
      <vt:lpstr>Unknown size: a count first, or a sentinel</vt:lpstr>
      <vt:lpstr>Header lines and grids</vt:lpstr>
      <vt:lpstr>Every format, one complete program</vt:lpstr>
      <vt:lpstr>Numbers only</vt:lpstr>
      <vt:lpstr>Decimal numbers</vt:lpstr>
      <vt:lpstr>Comma-separated numbers</vt:lpstr>
      <vt:lpstr>Dates</vt:lpstr>
      <vt:lpstr>Times</vt:lpstr>
      <vt:lpstr>Expressions</vt:lpstr>
      <vt:lpstr>Number, letter, number</vt:lpstr>
      <vt:lpstr>Letters only</vt:lpstr>
      <vt:lpstr>One-word name + number</vt:lpstr>
      <vt:lpstr>Full names with spaces</vt:lpstr>
      <vt:lpstr>Count on the first line</vt:lpstr>
      <vt:lpstr>Sentinel value at the end</vt:lpstr>
      <vt:lpstr>Header line</vt:lpstr>
      <vt:lpstr>Grid into a 2D array(Skip it Will discuss later in your course)</vt:lpstr>
      <vt:lpstr>Numbers mixed with junk</vt:lpstr>
      <vt:lpstr>When the file is wrong</vt:lpstr>
      <vt:lpstr>Why did the loop stop?</vt:lpstr>
      <vt:lpstr>Empty file, or junk at the start?</vt:lpstr>
      <vt:lpstr>Skip bad data and keep going</vt:lpstr>
      <vt:lpstr>Two limits of the skip loop</vt:lpstr>
      <vt:lpstr>Why the skip loop can break</vt:lpstr>
      <vt:lpstr>Fix both limits: skip one character at a time</vt:lpstr>
      <vt:lpstr>Reading again after a failure</vt:lpstr>
      <vt:lpstr>Your turn</vt:lpstr>
      <vt:lpstr>Cheat sheet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 Handling in C++ · Part 2</dc:title>
  <dc:subject/>
  <dc:creator/>
  <cp:lastModifiedBy>Fareeha Iqbal</cp:lastModifiedBy>
  <cp:revision>9</cp:revision>
  <dcterms:created xsi:type="dcterms:W3CDTF">2026-10-06T05:24:58Z</dcterms:created>
  <dcterms:modified xsi:type="dcterms:W3CDTF">2026-10-12T14:28:51Z</dcterms:modified>
</cp:coreProperties>
</file>