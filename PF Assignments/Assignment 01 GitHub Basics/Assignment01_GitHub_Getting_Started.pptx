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8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529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assignment. Everything in this deck uses the dummy registration number L1F24BSCS0081 as a worked example; each student replaces it with their own UCP registration number.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six things students will complete. Step 1 (Incognito) is highlighted in orange because skipping it is the most common cause of problems in shared labs.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Incognito protects both the student and the next person who sits at the PC. It does not hide activity from the university network — it only stops the browser from keeping logins.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usernames may only contain letters, numbers and single hyphens. If a student's Reg No shows as already taken, they should inform the instructor rather than inventing a different name.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code is accepted GitHub may ask a few optional personalisation questions — students can skip them. They then land on their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version of the file after all commits. The very first upload (commit 2) contains only the #include lines, main(), the loop and the cout statement.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is the minimum. Students who finish early can add more commits, e.g. taking N as input from the user or adding a sample_output.txt file with Add file &gt; Create new file.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screenshot this page for page 2 of their portal submission PDF.</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Invitations to fareeha.iqbal@ucp.edu.pk arrive by email and must be accepted by the instructor; GitHub invitations expire after 7 days, so accept them within the first week. Students see 'Pending Invite' until then — that still counts as shared. Students screenshot this Collaborators page for page 3 of their portal submission PDF.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portal's submission list is the record of who has submitted and who met the deadline. GitHub commit times (shown on the Commits page) let you confirm the work itself was done before the deadline.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0.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hyperlink" Target="mailto:Fareeha.Iqbal@ucp.edu.pk"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731520" y="822960"/>
            <a:ext cx="914400" cy="914400"/>
          </a:xfrm>
          <a:prstGeom prst="ellipse">
            <a:avLst/>
          </a:prstGeom>
          <a:solidFill>
            <a:srgbClr val="1F883D"/>
          </a:solidFill>
          <a:ln w="12700">
            <a:solidFill>
              <a:srgbClr val="1F883D"/>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960120" y="1051560"/>
            <a:ext cx="457200" cy="457200"/>
          </a:xfrm>
          <a:prstGeom prst="rect">
            <a:avLst/>
          </a:prstGeom>
        </p:spPr>
      </p:pic>
      <p:sp>
        <p:nvSpPr>
          <p:cNvPr id="5" name="Text 2"/>
          <p:cNvSpPr txBox="1"/>
          <p:nvPr/>
        </p:nvSpPr>
        <p:spPr>
          <a:xfrm>
            <a:off x="731520" y="2514600"/>
            <a:ext cx="10515600" cy="1005840"/>
          </a:xfrm>
          <a:prstGeom prst="rect">
            <a:avLst/>
          </a:prstGeom>
          <a:noFill/>
          <a:ln/>
        </p:spPr>
        <p:txBody>
          <a:bodyPr wrap="square" lIns="0" tIns="0" rIns="0" bIns="0" rtlCol="0" anchor="ctr"/>
          <a:lstStyle/>
          <a:p>
            <a:pPr marL="0" indent="0">
              <a:buNone/>
            </a:pPr>
            <a:r>
              <a:rPr lang="en-US" sz="4800" b="1" dirty="0">
                <a:solidFill>
                  <a:srgbClr val="FFFFFF"/>
                </a:solidFill>
                <a:latin typeface="Arial" pitchFamily="34" charset="0"/>
                <a:ea typeface="Arial" pitchFamily="34" charset="-122"/>
                <a:cs typeface="Arial" pitchFamily="34" charset="-120"/>
              </a:rPr>
              <a:t>Getting Started with GitHub</a:t>
            </a:r>
            <a:endParaRPr lang="en-US" sz="4800" dirty="0"/>
          </a:p>
        </p:txBody>
      </p:sp>
      <p:sp>
        <p:nvSpPr>
          <p:cNvPr id="6" name="Text 3"/>
          <p:cNvSpPr txBox="1"/>
          <p:nvPr/>
        </p:nvSpPr>
        <p:spPr>
          <a:xfrm>
            <a:off x="731520" y="3566160"/>
            <a:ext cx="10058400" cy="548640"/>
          </a:xfrm>
          <a:prstGeom prst="rect">
            <a:avLst/>
          </a:prstGeom>
          <a:noFill/>
          <a:ln/>
        </p:spPr>
        <p:txBody>
          <a:bodyPr wrap="square" lIns="0" tIns="0" rIns="0" bIns="0" rtlCol="0" anchor="ctr"/>
          <a:lstStyle/>
          <a:p>
            <a:pPr marL="0" indent="0">
              <a:buNone/>
            </a:pPr>
            <a:r>
              <a:rPr lang="en-US" sz="2000" dirty="0">
                <a:solidFill>
                  <a:srgbClr val="C9D1D9"/>
                </a:solidFill>
                <a:latin typeface="Calibri" pitchFamily="34" charset="0"/>
                <a:ea typeface="Calibri" pitchFamily="34" charset="-122"/>
                <a:cs typeface="Calibri" pitchFamily="34" charset="-120"/>
              </a:rPr>
              <a:t>Create your account, your first repository, upload a C++ program and make 5 commits</a:t>
            </a:r>
            <a:endParaRPr lang="en-US" sz="2000" dirty="0"/>
          </a:p>
        </p:txBody>
      </p:sp>
      <p:sp>
        <p:nvSpPr>
          <p:cNvPr id="7" name="Shape 4"/>
          <p:cNvSpPr/>
          <p:nvPr/>
        </p:nvSpPr>
        <p:spPr>
          <a:xfrm>
            <a:off x="731520" y="4754880"/>
            <a:ext cx="5852160" cy="1097280"/>
          </a:xfrm>
          <a:prstGeom prst="roundRect">
            <a:avLst>
              <a:gd name="adj" fmla="val 10000"/>
            </a:avLst>
          </a:prstGeom>
          <a:solidFill>
            <a:srgbClr val="161B22"/>
          </a:solidFill>
          <a:ln w="12700">
            <a:solidFill>
              <a:srgbClr val="30363D"/>
            </a:solidFill>
            <a:prstDash val="solid"/>
          </a:ln>
        </p:spPr>
        <p:txBody>
          <a:bodyPr/>
          <a:lstStyle/>
          <a:p>
            <a:endParaRPr lang="en-US"/>
          </a:p>
        </p:txBody>
      </p:sp>
      <p:sp>
        <p:nvSpPr>
          <p:cNvPr id="8" name="Text 5"/>
          <p:cNvSpPr txBox="1"/>
          <p:nvPr/>
        </p:nvSpPr>
        <p:spPr>
          <a:xfrm>
            <a:off x="1005840" y="4892040"/>
            <a:ext cx="5486400" cy="822960"/>
          </a:xfrm>
          <a:prstGeom prst="rect">
            <a:avLst/>
          </a:prstGeom>
          <a:noFill/>
          <a:ln/>
        </p:spPr>
        <p:txBody>
          <a:bodyPr wrap="square" lIns="0" tIns="0" rIns="0" bIns="0" rtlCol="0" anchor="ctr"/>
          <a:lstStyle/>
          <a:p>
            <a:pPr marL="0" indent="0">
              <a:buNone/>
            </a:pPr>
            <a:r>
              <a:rPr lang="en-US" sz="1300" dirty="0">
                <a:solidFill>
                  <a:srgbClr val="9198A1"/>
                </a:solidFill>
                <a:latin typeface="Calibri" pitchFamily="34" charset="0"/>
                <a:ea typeface="Calibri" pitchFamily="34" charset="-122"/>
                <a:cs typeface="Calibri" pitchFamily="34" charset="-120"/>
              </a:rPr>
              <a:t>Worked example account</a:t>
            </a:r>
            <a:endParaRPr lang="en-US" sz="1300" dirty="0"/>
          </a:p>
          <a:p>
            <a:pPr marL="0" indent="0">
              <a:buNone/>
            </a:pPr>
            <a:r>
              <a:rPr lang="en-US" sz="2000" b="1" dirty="0">
                <a:solidFill>
                  <a:srgbClr val="7EE787"/>
                </a:solidFill>
                <a:latin typeface="Courier New" pitchFamily="34" charset="0"/>
                <a:ea typeface="Courier New" pitchFamily="34" charset="-122"/>
                <a:cs typeface="Courier New" pitchFamily="34" charset="-120"/>
              </a:rPr>
              <a:t>github.com/L1F24BSCS0081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Today's lab at a glance</a:t>
            </a:r>
            <a:endParaRPr lang="en-US" sz="3200" dirty="0"/>
          </a:p>
        </p:txBody>
      </p:sp>
      <p:sp>
        <p:nvSpPr>
          <p:cNvPr id="3" name="Shape 1"/>
          <p:cNvSpPr/>
          <p:nvPr/>
        </p:nvSpPr>
        <p:spPr>
          <a:xfrm>
            <a:off x="548640" y="1508760"/>
            <a:ext cx="3520440" cy="2194560"/>
          </a:xfrm>
          <a:prstGeom prst="roundRect">
            <a:avLst>
              <a:gd name="adj" fmla="val 5000"/>
            </a:avLst>
          </a:prstGeom>
          <a:solidFill>
            <a:srgbClr val="F3F6F9"/>
          </a:solidFill>
          <a:ln w="12700">
            <a:solidFill>
              <a:srgbClr val="F3F6F9"/>
            </a:solidFill>
            <a:prstDash val="solid"/>
          </a:ln>
        </p:spPr>
        <p:txBody>
          <a:bodyPr/>
          <a:lstStyle/>
          <a:p>
            <a:endParaRPr lang="en-US"/>
          </a:p>
        </p:txBody>
      </p:sp>
      <p:sp>
        <p:nvSpPr>
          <p:cNvPr id="4" name="Shape 2"/>
          <p:cNvSpPr/>
          <p:nvPr/>
        </p:nvSpPr>
        <p:spPr>
          <a:xfrm>
            <a:off x="822960" y="1783080"/>
            <a:ext cx="685800" cy="685800"/>
          </a:xfrm>
          <a:prstGeom prst="ellipse">
            <a:avLst/>
          </a:prstGeom>
          <a:solidFill>
            <a:srgbClr val="E8590C"/>
          </a:solidFill>
          <a:ln w="12700">
            <a:solidFill>
              <a:srgbClr val="E8590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94410" y="1954530"/>
            <a:ext cx="342900" cy="342900"/>
          </a:xfrm>
          <a:prstGeom prst="rect">
            <a:avLst/>
          </a:prstGeom>
        </p:spPr>
      </p:pic>
      <p:sp>
        <p:nvSpPr>
          <p:cNvPr id="6" name="Text 3"/>
          <p:cNvSpPr txBox="1"/>
          <p:nvPr/>
        </p:nvSpPr>
        <p:spPr>
          <a:xfrm>
            <a:off x="822960" y="2606040"/>
            <a:ext cx="3017520" cy="365760"/>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1. Open Incognito</a:t>
            </a:r>
            <a:endParaRPr lang="en-US" sz="1800" dirty="0"/>
          </a:p>
        </p:txBody>
      </p:sp>
      <p:sp>
        <p:nvSpPr>
          <p:cNvPr id="7" name="Text 4"/>
          <p:cNvSpPr txBox="1"/>
          <p:nvPr/>
        </p:nvSpPr>
        <p:spPr>
          <a:xfrm>
            <a:off x="822960" y="2990088"/>
            <a:ext cx="3017520" cy="640080"/>
          </a:xfrm>
          <a:prstGeom prst="rect">
            <a:avLst/>
          </a:prstGeom>
          <a:noFill/>
          <a:ln/>
        </p:spPr>
        <p:txBody>
          <a:bodyPr wrap="square" lIns="0" tIns="0" rIns="0" bIns="0" rtlCol="0" anchor="t"/>
          <a:lstStyle/>
          <a:p>
            <a:pPr marL="0" indent="0">
              <a:buNone/>
            </a:pPr>
            <a:r>
              <a:rPr lang="en-US" sz="1400" dirty="0">
                <a:solidFill>
                  <a:srgbClr val="59636E"/>
                </a:solidFill>
                <a:latin typeface="Calibri" pitchFamily="34" charset="0"/>
                <a:ea typeface="Calibri" pitchFamily="34" charset="-122"/>
                <a:cs typeface="Calibri" pitchFamily="34" charset="-120"/>
              </a:rPr>
              <a:t>Start in a private browser window so no one else's GitHub login interferes.</a:t>
            </a:r>
            <a:endParaRPr lang="en-US" sz="1400" dirty="0"/>
          </a:p>
        </p:txBody>
      </p:sp>
      <p:sp>
        <p:nvSpPr>
          <p:cNvPr id="8" name="Shape 5"/>
          <p:cNvSpPr/>
          <p:nvPr/>
        </p:nvSpPr>
        <p:spPr>
          <a:xfrm>
            <a:off x="4297680" y="1508760"/>
            <a:ext cx="3520440" cy="2194560"/>
          </a:xfrm>
          <a:prstGeom prst="roundRect">
            <a:avLst>
              <a:gd name="adj" fmla="val 5000"/>
            </a:avLst>
          </a:prstGeom>
          <a:solidFill>
            <a:srgbClr val="F3F6F9"/>
          </a:solidFill>
          <a:ln w="12700">
            <a:solidFill>
              <a:srgbClr val="F3F6F9"/>
            </a:solidFill>
            <a:prstDash val="solid"/>
          </a:ln>
        </p:spPr>
        <p:txBody>
          <a:bodyPr/>
          <a:lstStyle/>
          <a:p>
            <a:endParaRPr lang="en-US"/>
          </a:p>
        </p:txBody>
      </p:sp>
      <p:sp>
        <p:nvSpPr>
          <p:cNvPr id="9" name="Shape 6"/>
          <p:cNvSpPr/>
          <p:nvPr/>
        </p:nvSpPr>
        <p:spPr>
          <a:xfrm>
            <a:off x="4572000" y="1783080"/>
            <a:ext cx="685800" cy="685800"/>
          </a:xfrm>
          <a:prstGeom prst="ellipse">
            <a:avLst/>
          </a:prstGeom>
          <a:solidFill>
            <a:srgbClr val="1F883D"/>
          </a:solidFill>
          <a:ln w="12700">
            <a:solidFill>
              <a:srgbClr val="1F883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743450" y="1954530"/>
            <a:ext cx="342900" cy="342900"/>
          </a:xfrm>
          <a:prstGeom prst="rect">
            <a:avLst/>
          </a:prstGeom>
        </p:spPr>
      </p:pic>
      <p:sp>
        <p:nvSpPr>
          <p:cNvPr id="11" name="Text 7"/>
          <p:cNvSpPr txBox="1"/>
          <p:nvPr/>
        </p:nvSpPr>
        <p:spPr>
          <a:xfrm>
            <a:off x="4572000" y="2606040"/>
            <a:ext cx="3017520" cy="365760"/>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2. Create account</a:t>
            </a:r>
            <a:endParaRPr lang="en-US" sz="1800" dirty="0"/>
          </a:p>
        </p:txBody>
      </p:sp>
      <p:sp>
        <p:nvSpPr>
          <p:cNvPr id="12" name="Text 8"/>
          <p:cNvSpPr txBox="1"/>
          <p:nvPr/>
        </p:nvSpPr>
        <p:spPr>
          <a:xfrm>
            <a:off x="4572000" y="2990088"/>
            <a:ext cx="3017520" cy="640080"/>
          </a:xfrm>
          <a:prstGeom prst="rect">
            <a:avLst/>
          </a:prstGeom>
          <a:noFill/>
          <a:ln/>
        </p:spPr>
        <p:txBody>
          <a:bodyPr wrap="square" lIns="0" tIns="0" rIns="0" bIns="0" rtlCol="0" anchor="t"/>
          <a:lstStyle/>
          <a:p>
            <a:pPr marL="0" indent="0">
              <a:buNone/>
            </a:pPr>
            <a:r>
              <a:rPr lang="en-US" sz="1400" dirty="0">
                <a:solidFill>
                  <a:srgbClr val="59636E"/>
                </a:solidFill>
                <a:latin typeface="Calibri" pitchFamily="34" charset="0"/>
                <a:ea typeface="Calibri" pitchFamily="34" charset="-122"/>
                <a:cs typeface="Calibri" pitchFamily="34" charset="-120"/>
              </a:rPr>
              <a:t>Username = your UCP Reg No, e.g. L1F24BSCS0081</a:t>
            </a:r>
            <a:endParaRPr lang="en-US" sz="1400" dirty="0"/>
          </a:p>
        </p:txBody>
      </p:sp>
      <p:sp>
        <p:nvSpPr>
          <p:cNvPr id="13" name="Shape 9"/>
          <p:cNvSpPr/>
          <p:nvPr/>
        </p:nvSpPr>
        <p:spPr>
          <a:xfrm>
            <a:off x="8046720" y="1508760"/>
            <a:ext cx="3520440" cy="2194560"/>
          </a:xfrm>
          <a:prstGeom prst="roundRect">
            <a:avLst>
              <a:gd name="adj" fmla="val 5000"/>
            </a:avLst>
          </a:prstGeom>
          <a:solidFill>
            <a:srgbClr val="F3F6F9"/>
          </a:solidFill>
          <a:ln w="12700">
            <a:solidFill>
              <a:srgbClr val="F3F6F9"/>
            </a:solidFill>
            <a:prstDash val="solid"/>
          </a:ln>
        </p:spPr>
        <p:txBody>
          <a:bodyPr/>
          <a:lstStyle/>
          <a:p>
            <a:endParaRPr lang="en-US"/>
          </a:p>
        </p:txBody>
      </p:sp>
      <p:sp>
        <p:nvSpPr>
          <p:cNvPr id="14" name="Shape 10"/>
          <p:cNvSpPr/>
          <p:nvPr/>
        </p:nvSpPr>
        <p:spPr>
          <a:xfrm>
            <a:off x="8321040" y="1783080"/>
            <a:ext cx="685800" cy="685800"/>
          </a:xfrm>
          <a:prstGeom prst="ellipse">
            <a:avLst/>
          </a:prstGeom>
          <a:solidFill>
            <a:srgbClr val="1F883D"/>
          </a:solidFill>
          <a:ln w="12700">
            <a:solidFill>
              <a:srgbClr val="1F883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492490" y="1954530"/>
            <a:ext cx="342900" cy="342900"/>
          </a:xfrm>
          <a:prstGeom prst="rect">
            <a:avLst/>
          </a:prstGeom>
        </p:spPr>
      </p:pic>
      <p:sp>
        <p:nvSpPr>
          <p:cNvPr id="16" name="Text 11"/>
          <p:cNvSpPr txBox="1"/>
          <p:nvPr/>
        </p:nvSpPr>
        <p:spPr>
          <a:xfrm>
            <a:off x="8321040" y="2606040"/>
            <a:ext cx="3017520" cy="365760"/>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3. Create repository</a:t>
            </a:r>
            <a:endParaRPr lang="en-US" sz="1800" dirty="0"/>
          </a:p>
        </p:txBody>
      </p:sp>
      <p:sp>
        <p:nvSpPr>
          <p:cNvPr id="17" name="Text 12"/>
          <p:cNvSpPr txBox="1"/>
          <p:nvPr/>
        </p:nvSpPr>
        <p:spPr>
          <a:xfrm>
            <a:off x="8321040" y="2990088"/>
            <a:ext cx="3017520" cy="640080"/>
          </a:xfrm>
          <a:prstGeom prst="rect">
            <a:avLst/>
          </a:prstGeom>
          <a:noFill/>
          <a:ln/>
        </p:spPr>
        <p:txBody>
          <a:bodyPr wrap="square" lIns="0" tIns="0" rIns="0" bIns="0" rtlCol="0" anchor="t"/>
          <a:lstStyle/>
          <a:p>
            <a:pPr marL="0" indent="0">
              <a:buNone/>
            </a:pPr>
            <a:r>
              <a:rPr lang="en-US" sz="1400" dirty="0">
                <a:solidFill>
                  <a:srgbClr val="59636E"/>
                </a:solidFill>
                <a:latin typeface="Calibri" pitchFamily="34" charset="0"/>
                <a:ea typeface="Calibri" pitchFamily="34" charset="-122"/>
                <a:cs typeface="Calibri" pitchFamily="34" charset="-120"/>
              </a:rPr>
              <a:t>One public repo named Assignment01-GitHub-Basics with a README.</a:t>
            </a:r>
            <a:endParaRPr lang="en-US" sz="1400" dirty="0"/>
          </a:p>
        </p:txBody>
      </p:sp>
      <p:sp>
        <p:nvSpPr>
          <p:cNvPr id="18" name="Shape 13"/>
          <p:cNvSpPr/>
          <p:nvPr/>
        </p:nvSpPr>
        <p:spPr>
          <a:xfrm>
            <a:off x="548640" y="3977640"/>
            <a:ext cx="3520440" cy="2194560"/>
          </a:xfrm>
          <a:prstGeom prst="roundRect">
            <a:avLst>
              <a:gd name="adj" fmla="val 5000"/>
            </a:avLst>
          </a:prstGeom>
          <a:solidFill>
            <a:srgbClr val="F3F6F9"/>
          </a:solidFill>
          <a:ln w="12700">
            <a:solidFill>
              <a:srgbClr val="F3F6F9"/>
            </a:solidFill>
            <a:prstDash val="solid"/>
          </a:ln>
        </p:spPr>
        <p:txBody>
          <a:bodyPr/>
          <a:lstStyle/>
          <a:p>
            <a:endParaRPr lang="en-US"/>
          </a:p>
        </p:txBody>
      </p:sp>
      <p:sp>
        <p:nvSpPr>
          <p:cNvPr id="19" name="Shape 14"/>
          <p:cNvSpPr/>
          <p:nvPr/>
        </p:nvSpPr>
        <p:spPr>
          <a:xfrm>
            <a:off x="822960" y="4251960"/>
            <a:ext cx="685800" cy="685800"/>
          </a:xfrm>
          <a:prstGeom prst="ellipse">
            <a:avLst/>
          </a:prstGeom>
          <a:solidFill>
            <a:srgbClr val="1F883D"/>
          </a:solidFill>
          <a:ln w="12700">
            <a:solidFill>
              <a:srgbClr val="1F883D"/>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994410" y="4423410"/>
            <a:ext cx="342900" cy="342900"/>
          </a:xfrm>
          <a:prstGeom prst="rect">
            <a:avLst/>
          </a:prstGeom>
        </p:spPr>
      </p:pic>
      <p:sp>
        <p:nvSpPr>
          <p:cNvPr id="21" name="Text 15"/>
          <p:cNvSpPr txBox="1"/>
          <p:nvPr/>
        </p:nvSpPr>
        <p:spPr>
          <a:xfrm>
            <a:off x="822960" y="5074920"/>
            <a:ext cx="3017520" cy="365760"/>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4. Upload .cpp file</a:t>
            </a:r>
            <a:endParaRPr lang="en-US" sz="1800" dirty="0"/>
          </a:p>
        </p:txBody>
      </p:sp>
      <p:sp>
        <p:nvSpPr>
          <p:cNvPr id="22" name="Text 16"/>
          <p:cNvSpPr txBox="1"/>
          <p:nvPr/>
        </p:nvSpPr>
        <p:spPr>
          <a:xfrm>
            <a:off x="822960" y="5458968"/>
            <a:ext cx="3017520" cy="640080"/>
          </a:xfrm>
          <a:prstGeom prst="rect">
            <a:avLst/>
          </a:prstGeom>
          <a:noFill/>
          <a:ln/>
        </p:spPr>
        <p:txBody>
          <a:bodyPr wrap="square" lIns="0" tIns="0" rIns="0" bIns="0" rtlCol="0" anchor="t"/>
          <a:lstStyle/>
          <a:p>
            <a:pPr marL="0" indent="0">
              <a:buNone/>
            </a:pPr>
            <a:r>
              <a:rPr lang="en-US" sz="1400" dirty="0">
                <a:solidFill>
                  <a:srgbClr val="59636E"/>
                </a:solidFill>
                <a:latin typeface="Calibri" pitchFamily="34" charset="0"/>
                <a:ea typeface="Calibri" pitchFamily="34" charset="-122"/>
                <a:cs typeface="Calibri" pitchFamily="34" charset="-120"/>
              </a:rPr>
              <a:t>Upload your program with a clear, proper file name.</a:t>
            </a:r>
            <a:endParaRPr lang="en-US" sz="1400" dirty="0"/>
          </a:p>
        </p:txBody>
      </p:sp>
      <p:sp>
        <p:nvSpPr>
          <p:cNvPr id="23" name="Shape 17"/>
          <p:cNvSpPr/>
          <p:nvPr/>
        </p:nvSpPr>
        <p:spPr>
          <a:xfrm>
            <a:off x="4297680" y="3977640"/>
            <a:ext cx="3520440" cy="2194560"/>
          </a:xfrm>
          <a:prstGeom prst="roundRect">
            <a:avLst>
              <a:gd name="adj" fmla="val 5000"/>
            </a:avLst>
          </a:prstGeom>
          <a:solidFill>
            <a:srgbClr val="F3F6F9"/>
          </a:solidFill>
          <a:ln w="12700">
            <a:solidFill>
              <a:srgbClr val="F3F6F9"/>
            </a:solidFill>
            <a:prstDash val="solid"/>
          </a:ln>
        </p:spPr>
        <p:txBody>
          <a:bodyPr/>
          <a:lstStyle/>
          <a:p>
            <a:endParaRPr lang="en-US"/>
          </a:p>
        </p:txBody>
      </p:sp>
      <p:sp>
        <p:nvSpPr>
          <p:cNvPr id="24" name="Shape 18"/>
          <p:cNvSpPr/>
          <p:nvPr/>
        </p:nvSpPr>
        <p:spPr>
          <a:xfrm>
            <a:off x="4572000" y="4251960"/>
            <a:ext cx="685800" cy="685800"/>
          </a:xfrm>
          <a:prstGeom prst="ellipse">
            <a:avLst/>
          </a:prstGeom>
          <a:solidFill>
            <a:srgbClr val="1F883D"/>
          </a:solidFill>
          <a:ln w="12700">
            <a:solidFill>
              <a:srgbClr val="1F883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4743450" y="4423410"/>
            <a:ext cx="342900" cy="342900"/>
          </a:xfrm>
          <a:prstGeom prst="rect">
            <a:avLst/>
          </a:prstGeom>
        </p:spPr>
      </p:pic>
      <p:sp>
        <p:nvSpPr>
          <p:cNvPr id="26" name="Text 19"/>
          <p:cNvSpPr txBox="1"/>
          <p:nvPr/>
        </p:nvSpPr>
        <p:spPr>
          <a:xfrm>
            <a:off x="4572000" y="5074920"/>
            <a:ext cx="3017520" cy="365760"/>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5. Make 5+ commits</a:t>
            </a:r>
            <a:endParaRPr lang="en-US" sz="1800" dirty="0"/>
          </a:p>
        </p:txBody>
      </p:sp>
      <p:sp>
        <p:nvSpPr>
          <p:cNvPr id="27" name="Text 20"/>
          <p:cNvSpPr txBox="1"/>
          <p:nvPr/>
        </p:nvSpPr>
        <p:spPr>
          <a:xfrm>
            <a:off x="4572000" y="5458968"/>
            <a:ext cx="3017520" cy="640080"/>
          </a:xfrm>
          <a:prstGeom prst="rect">
            <a:avLst/>
          </a:prstGeom>
          <a:noFill/>
          <a:ln/>
        </p:spPr>
        <p:txBody>
          <a:bodyPr wrap="square" lIns="0" tIns="0" rIns="0" bIns="0" rtlCol="0" anchor="t"/>
          <a:lstStyle/>
          <a:p>
            <a:pPr marL="0" indent="0">
              <a:buNone/>
            </a:pPr>
            <a:r>
              <a:rPr lang="en-US" sz="1400" dirty="0">
                <a:solidFill>
                  <a:srgbClr val="59636E"/>
                </a:solidFill>
                <a:latin typeface="Calibri" pitchFamily="34" charset="0"/>
                <a:ea typeface="Calibri" pitchFamily="34" charset="-122"/>
                <a:cs typeface="Calibri" pitchFamily="34" charset="-120"/>
              </a:rPr>
              <a:t>Improve the code and README step by step — each save is a commit.</a:t>
            </a:r>
            <a:endParaRPr lang="en-US" sz="1400" dirty="0"/>
          </a:p>
        </p:txBody>
      </p:sp>
      <p:sp>
        <p:nvSpPr>
          <p:cNvPr id="28" name="Shape 21"/>
          <p:cNvSpPr/>
          <p:nvPr/>
        </p:nvSpPr>
        <p:spPr>
          <a:xfrm>
            <a:off x="8046720" y="3977640"/>
            <a:ext cx="3520440" cy="2194560"/>
          </a:xfrm>
          <a:prstGeom prst="roundRect">
            <a:avLst>
              <a:gd name="adj" fmla="val 5000"/>
            </a:avLst>
          </a:prstGeom>
          <a:solidFill>
            <a:srgbClr val="F3F6F9"/>
          </a:solidFill>
          <a:ln w="12700">
            <a:solidFill>
              <a:srgbClr val="F3F6F9"/>
            </a:solidFill>
            <a:prstDash val="solid"/>
          </a:ln>
        </p:spPr>
        <p:txBody>
          <a:bodyPr/>
          <a:lstStyle/>
          <a:p>
            <a:endParaRPr lang="en-US"/>
          </a:p>
        </p:txBody>
      </p:sp>
      <p:sp>
        <p:nvSpPr>
          <p:cNvPr id="29" name="Shape 22"/>
          <p:cNvSpPr/>
          <p:nvPr/>
        </p:nvSpPr>
        <p:spPr>
          <a:xfrm>
            <a:off x="8321040" y="4251960"/>
            <a:ext cx="685800" cy="685800"/>
          </a:xfrm>
          <a:prstGeom prst="ellipse">
            <a:avLst/>
          </a:prstGeom>
          <a:solidFill>
            <a:srgbClr val="1F883D"/>
          </a:solidFill>
          <a:ln w="12700">
            <a:solidFill>
              <a:srgbClr val="1F883D"/>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8492490" y="4423410"/>
            <a:ext cx="342900" cy="342900"/>
          </a:xfrm>
          <a:prstGeom prst="rect">
            <a:avLst/>
          </a:prstGeom>
        </p:spPr>
      </p:pic>
      <p:sp>
        <p:nvSpPr>
          <p:cNvPr id="31" name="Text 23"/>
          <p:cNvSpPr txBox="1"/>
          <p:nvPr/>
        </p:nvSpPr>
        <p:spPr>
          <a:xfrm>
            <a:off x="8321040" y="5074920"/>
            <a:ext cx="3017520" cy="365760"/>
          </a:xfrm>
          <a:prstGeom prst="rect">
            <a:avLst/>
          </a:prstGeom>
          <a:noFill/>
          <a:ln/>
        </p:spPr>
        <p:txBody>
          <a:bodyPr wrap="square" lIns="0" tIns="0" rIns="0" bIns="0" rtlCol="0" anchor="ctr"/>
          <a:lstStyle/>
          <a:p>
            <a:pPr marL="0" indent="0">
              <a:buNone/>
            </a:pPr>
            <a:r>
              <a:rPr lang="en-US" sz="1800" b="1" dirty="0">
                <a:solidFill>
                  <a:srgbClr val="1F2328"/>
                </a:solidFill>
                <a:latin typeface="Arial" pitchFamily="34" charset="0"/>
                <a:ea typeface="Arial" pitchFamily="34" charset="-122"/>
                <a:cs typeface="Arial" pitchFamily="34" charset="-120"/>
              </a:rPr>
              <a:t>6. Share &amp; submit</a:t>
            </a:r>
            <a:endParaRPr lang="en-US" sz="1800" dirty="0"/>
          </a:p>
        </p:txBody>
      </p:sp>
      <p:sp>
        <p:nvSpPr>
          <p:cNvPr id="32" name="Text 24"/>
          <p:cNvSpPr txBox="1"/>
          <p:nvPr/>
        </p:nvSpPr>
        <p:spPr>
          <a:xfrm>
            <a:off x="8321040" y="5458968"/>
            <a:ext cx="3017520" cy="640080"/>
          </a:xfrm>
          <a:prstGeom prst="rect">
            <a:avLst/>
          </a:prstGeom>
          <a:noFill/>
          <a:ln/>
        </p:spPr>
        <p:txBody>
          <a:bodyPr wrap="square" lIns="0" tIns="0" rIns="0" bIns="0" rtlCol="0" anchor="t"/>
          <a:lstStyle/>
          <a:p>
            <a:pPr marL="0" indent="0">
              <a:buNone/>
            </a:pPr>
            <a:r>
              <a:rPr lang="en-US" sz="1400" dirty="0">
                <a:solidFill>
                  <a:srgbClr val="59636E"/>
                </a:solidFill>
                <a:latin typeface="Calibri" pitchFamily="34" charset="0"/>
                <a:ea typeface="Calibri" pitchFamily="34" charset="-122"/>
                <a:cs typeface="Calibri" pitchFamily="34" charset="-120"/>
              </a:rPr>
              <a:t>Invite the instructor, then upload your PDF on the portal.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Git vs GitHub — and two words you must know</a:t>
            </a:r>
            <a:endParaRPr lang="en-US" sz="3200" dirty="0"/>
          </a:p>
        </p:txBody>
      </p:sp>
      <p:sp>
        <p:nvSpPr>
          <p:cNvPr id="3" name="Shape 1"/>
          <p:cNvSpPr/>
          <p:nvPr/>
        </p:nvSpPr>
        <p:spPr>
          <a:xfrm>
            <a:off x="548640" y="1554480"/>
            <a:ext cx="2697480" cy="4480560"/>
          </a:xfrm>
          <a:prstGeom prst="roundRect">
            <a:avLst>
              <a:gd name="adj" fmla="val 4068"/>
            </a:avLst>
          </a:prstGeom>
          <a:solidFill>
            <a:srgbClr val="F3F6F9"/>
          </a:solidFill>
          <a:ln w="12700">
            <a:solidFill>
              <a:srgbClr val="F3F6F9"/>
            </a:solidFill>
            <a:prstDash val="solid"/>
          </a:ln>
        </p:spPr>
        <p:txBody>
          <a:bodyPr/>
          <a:lstStyle/>
          <a:p>
            <a:endParaRPr lang="en-US"/>
          </a:p>
        </p:txBody>
      </p:sp>
      <p:sp>
        <p:nvSpPr>
          <p:cNvPr id="4" name="Shape 2"/>
          <p:cNvSpPr/>
          <p:nvPr/>
        </p:nvSpPr>
        <p:spPr>
          <a:xfrm>
            <a:off x="822960" y="1828800"/>
            <a:ext cx="731520" cy="731520"/>
          </a:xfrm>
          <a:prstGeom prst="ellipse">
            <a:avLst/>
          </a:prstGeom>
          <a:solidFill>
            <a:srgbClr val="1F883D"/>
          </a:solidFill>
          <a:ln w="12700">
            <a:solidFill>
              <a:srgbClr val="1F883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05840" y="2011680"/>
            <a:ext cx="365760" cy="365760"/>
          </a:xfrm>
          <a:prstGeom prst="rect">
            <a:avLst/>
          </a:prstGeom>
        </p:spPr>
      </p:pic>
      <p:sp>
        <p:nvSpPr>
          <p:cNvPr id="6" name="Text 3"/>
          <p:cNvSpPr txBox="1"/>
          <p:nvPr/>
        </p:nvSpPr>
        <p:spPr>
          <a:xfrm>
            <a:off x="822960" y="2743200"/>
            <a:ext cx="2194560" cy="457200"/>
          </a:xfrm>
          <a:prstGeom prst="rect">
            <a:avLst/>
          </a:prstGeom>
          <a:noFill/>
          <a:ln/>
        </p:spPr>
        <p:txBody>
          <a:bodyPr wrap="square" lIns="0" tIns="0" rIns="0" bIns="0" rtlCol="0" anchor="ctr"/>
          <a:lstStyle/>
          <a:p>
            <a:pPr marL="0" indent="0">
              <a:buNone/>
            </a:pPr>
            <a:r>
              <a:rPr lang="en-US" sz="2400" b="1" dirty="0">
                <a:solidFill>
                  <a:srgbClr val="1F2328"/>
                </a:solidFill>
                <a:latin typeface="Arial" pitchFamily="34" charset="0"/>
                <a:ea typeface="Arial" pitchFamily="34" charset="-122"/>
                <a:cs typeface="Arial" pitchFamily="34" charset="-120"/>
              </a:rPr>
              <a:t>Git</a:t>
            </a:r>
            <a:endParaRPr lang="en-US" sz="2400" dirty="0"/>
          </a:p>
        </p:txBody>
      </p:sp>
      <p:sp>
        <p:nvSpPr>
          <p:cNvPr id="7" name="Text 4"/>
          <p:cNvSpPr txBox="1"/>
          <p:nvPr/>
        </p:nvSpPr>
        <p:spPr>
          <a:xfrm>
            <a:off x="822960" y="3291840"/>
            <a:ext cx="2194560" cy="2560320"/>
          </a:xfrm>
          <a:prstGeom prst="rect">
            <a:avLst/>
          </a:prstGeom>
          <a:noFill/>
          <a:ln/>
        </p:spPr>
        <p:txBody>
          <a:bodyPr wrap="square" lIns="0" tIns="0" rIns="0" bIns="0" rtlCol="0" anchor="t"/>
          <a:lstStyle/>
          <a:p>
            <a:pPr marL="0" indent="0">
              <a:buNone/>
            </a:pPr>
            <a:r>
              <a:rPr lang="en-US" sz="1500" dirty="0">
                <a:solidFill>
                  <a:srgbClr val="59636E"/>
                </a:solidFill>
                <a:latin typeface="Calibri" pitchFamily="34" charset="0"/>
                <a:ea typeface="Calibri" pitchFamily="34" charset="-122"/>
                <a:cs typeface="Calibri" pitchFamily="34" charset="-120"/>
              </a:rPr>
              <a:t>A version-control tool. It records every change you make to your files, so you can see history and go back.</a:t>
            </a:r>
            <a:endParaRPr lang="en-US" sz="1500" dirty="0"/>
          </a:p>
        </p:txBody>
      </p:sp>
      <p:sp>
        <p:nvSpPr>
          <p:cNvPr id="8" name="Shape 5"/>
          <p:cNvSpPr/>
          <p:nvPr/>
        </p:nvSpPr>
        <p:spPr>
          <a:xfrm>
            <a:off x="3474720" y="1554480"/>
            <a:ext cx="2697480" cy="4480560"/>
          </a:xfrm>
          <a:prstGeom prst="roundRect">
            <a:avLst>
              <a:gd name="adj" fmla="val 4068"/>
            </a:avLst>
          </a:prstGeom>
          <a:solidFill>
            <a:srgbClr val="0D1117"/>
          </a:solidFill>
          <a:ln w="12700">
            <a:solidFill>
              <a:srgbClr val="0D1117"/>
            </a:solidFill>
            <a:prstDash val="solid"/>
          </a:ln>
        </p:spPr>
        <p:txBody>
          <a:bodyPr/>
          <a:lstStyle/>
          <a:p>
            <a:endParaRPr lang="en-US"/>
          </a:p>
        </p:txBody>
      </p:sp>
      <p:sp>
        <p:nvSpPr>
          <p:cNvPr id="9" name="Shape 6"/>
          <p:cNvSpPr/>
          <p:nvPr/>
        </p:nvSpPr>
        <p:spPr>
          <a:xfrm>
            <a:off x="3749040" y="1828800"/>
            <a:ext cx="731520" cy="731520"/>
          </a:xfrm>
          <a:prstGeom prst="ellipse">
            <a:avLst/>
          </a:prstGeom>
          <a:solidFill>
            <a:srgbClr val="1F883D"/>
          </a:solidFill>
          <a:ln w="12700">
            <a:solidFill>
              <a:srgbClr val="1F883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931920" y="2011680"/>
            <a:ext cx="365760" cy="365760"/>
          </a:xfrm>
          <a:prstGeom prst="rect">
            <a:avLst/>
          </a:prstGeom>
        </p:spPr>
      </p:pic>
      <p:sp>
        <p:nvSpPr>
          <p:cNvPr id="11" name="Text 7"/>
          <p:cNvSpPr txBox="1"/>
          <p:nvPr/>
        </p:nvSpPr>
        <p:spPr>
          <a:xfrm>
            <a:off x="3749040" y="2743200"/>
            <a:ext cx="219456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GitHub</a:t>
            </a:r>
            <a:endParaRPr lang="en-US" sz="2400" dirty="0"/>
          </a:p>
        </p:txBody>
      </p:sp>
      <p:sp>
        <p:nvSpPr>
          <p:cNvPr id="12" name="Text 8"/>
          <p:cNvSpPr txBox="1"/>
          <p:nvPr/>
        </p:nvSpPr>
        <p:spPr>
          <a:xfrm>
            <a:off x="3749040" y="3291840"/>
            <a:ext cx="2194560" cy="2560320"/>
          </a:xfrm>
          <a:prstGeom prst="rect">
            <a:avLst/>
          </a:prstGeom>
          <a:noFill/>
          <a:ln/>
        </p:spPr>
        <p:txBody>
          <a:bodyPr wrap="square" lIns="0" tIns="0" rIns="0" bIns="0" rtlCol="0" anchor="t"/>
          <a:lstStyle/>
          <a:p>
            <a:pPr marL="0" indent="0">
              <a:buNone/>
            </a:pPr>
            <a:r>
              <a:rPr lang="en-US" sz="1500" dirty="0">
                <a:solidFill>
                  <a:srgbClr val="C9D1D9"/>
                </a:solidFill>
                <a:latin typeface="Calibri" pitchFamily="34" charset="0"/>
                <a:ea typeface="Calibri" pitchFamily="34" charset="-122"/>
                <a:cs typeface="Calibri" pitchFamily="34" charset="-120"/>
              </a:rPr>
              <a:t>A website that stores Git repositories online, so you can share code, back it up and show your work.</a:t>
            </a:r>
            <a:endParaRPr lang="en-US" sz="1500" dirty="0"/>
          </a:p>
        </p:txBody>
      </p:sp>
      <p:sp>
        <p:nvSpPr>
          <p:cNvPr id="13" name="Shape 9"/>
          <p:cNvSpPr/>
          <p:nvPr/>
        </p:nvSpPr>
        <p:spPr>
          <a:xfrm>
            <a:off x="6583680" y="1554480"/>
            <a:ext cx="5074920" cy="2011680"/>
          </a:xfrm>
          <a:prstGeom prst="roundRect">
            <a:avLst>
              <a:gd name="adj" fmla="val 5455"/>
            </a:avLst>
          </a:prstGeom>
          <a:solidFill>
            <a:srgbClr val="FFFFFF"/>
          </a:solidFill>
          <a:ln w="15875">
            <a:solidFill>
              <a:srgbClr val="D1D9E0"/>
            </a:solidFill>
            <a:prstDash val="solid"/>
          </a:ln>
        </p:spPr>
        <p:txBody>
          <a:bodyPr/>
          <a:lstStyle/>
          <a:p>
            <a:endParaRPr lang="en-US"/>
          </a:p>
        </p:txBody>
      </p:sp>
      <p:sp>
        <p:nvSpPr>
          <p:cNvPr id="14" name="Text 10"/>
          <p:cNvSpPr txBox="1"/>
          <p:nvPr/>
        </p:nvSpPr>
        <p:spPr>
          <a:xfrm>
            <a:off x="6858000" y="1783080"/>
            <a:ext cx="4572000" cy="411480"/>
          </a:xfrm>
          <a:prstGeom prst="rect">
            <a:avLst/>
          </a:prstGeom>
          <a:noFill/>
          <a:ln/>
        </p:spPr>
        <p:txBody>
          <a:bodyPr wrap="square" lIns="0" tIns="0" rIns="0" bIns="0" rtlCol="0" anchor="ctr"/>
          <a:lstStyle/>
          <a:p>
            <a:pPr marL="0" indent="0">
              <a:buNone/>
            </a:pPr>
            <a:r>
              <a:rPr lang="en-US" sz="2000" b="1" dirty="0">
                <a:solidFill>
                  <a:srgbClr val="1F883D"/>
                </a:solidFill>
                <a:latin typeface="Arial" pitchFamily="34" charset="0"/>
                <a:ea typeface="Arial" pitchFamily="34" charset="-122"/>
                <a:cs typeface="Arial" pitchFamily="34" charset="-120"/>
              </a:rPr>
              <a:t>Repository (repo)</a:t>
            </a:r>
            <a:endParaRPr lang="en-US" sz="2000" dirty="0"/>
          </a:p>
        </p:txBody>
      </p:sp>
      <p:sp>
        <p:nvSpPr>
          <p:cNvPr id="15" name="Text 11"/>
          <p:cNvSpPr txBox="1"/>
          <p:nvPr/>
        </p:nvSpPr>
        <p:spPr>
          <a:xfrm>
            <a:off x="6858000" y="2240280"/>
            <a:ext cx="4572000" cy="640080"/>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A project folder on GitHub that holds your files and their complete change history.</a:t>
            </a:r>
            <a:endParaRPr lang="en-US" sz="1500" dirty="0"/>
          </a:p>
        </p:txBody>
      </p:sp>
      <p:sp>
        <p:nvSpPr>
          <p:cNvPr id="16" name="Text 12"/>
          <p:cNvSpPr txBox="1"/>
          <p:nvPr/>
        </p:nvSpPr>
        <p:spPr>
          <a:xfrm>
            <a:off x="6858000" y="2926080"/>
            <a:ext cx="4572000" cy="411480"/>
          </a:xfrm>
          <a:prstGeom prst="rect">
            <a:avLst/>
          </a:prstGeom>
          <a:noFill/>
          <a:ln/>
        </p:spPr>
        <p:txBody>
          <a:bodyPr wrap="square" lIns="0" tIns="0" rIns="0" bIns="0" rtlCol="0" anchor="ctr"/>
          <a:lstStyle/>
          <a:p>
            <a:pPr marL="0" indent="0">
              <a:buNone/>
            </a:pPr>
            <a:r>
              <a:rPr lang="en-US" sz="1300" dirty="0">
                <a:solidFill>
                  <a:srgbClr val="59636E"/>
                </a:solidFill>
                <a:latin typeface="Courier New" pitchFamily="34" charset="0"/>
                <a:ea typeface="Courier New" pitchFamily="34" charset="-122"/>
                <a:cs typeface="Courier New" pitchFamily="34" charset="-120"/>
              </a:rPr>
              <a:t>Example: L1F24BSCS0081/Assignment01-GitHub-Basics</a:t>
            </a:r>
            <a:endParaRPr lang="en-US" sz="1300" dirty="0"/>
          </a:p>
        </p:txBody>
      </p:sp>
      <p:sp>
        <p:nvSpPr>
          <p:cNvPr id="17" name="Shape 13"/>
          <p:cNvSpPr/>
          <p:nvPr/>
        </p:nvSpPr>
        <p:spPr>
          <a:xfrm>
            <a:off x="6583680" y="3840480"/>
            <a:ext cx="5074920" cy="2011680"/>
          </a:xfrm>
          <a:prstGeom prst="roundRect">
            <a:avLst>
              <a:gd name="adj" fmla="val 5455"/>
            </a:avLst>
          </a:prstGeom>
          <a:solidFill>
            <a:srgbClr val="FFFFFF"/>
          </a:solidFill>
          <a:ln w="15875">
            <a:solidFill>
              <a:srgbClr val="D1D9E0"/>
            </a:solidFill>
            <a:prstDash val="solid"/>
          </a:ln>
        </p:spPr>
        <p:txBody>
          <a:bodyPr/>
          <a:lstStyle/>
          <a:p>
            <a:endParaRPr lang="en-US"/>
          </a:p>
        </p:txBody>
      </p:sp>
      <p:sp>
        <p:nvSpPr>
          <p:cNvPr id="18" name="Text 14"/>
          <p:cNvSpPr txBox="1"/>
          <p:nvPr/>
        </p:nvSpPr>
        <p:spPr>
          <a:xfrm>
            <a:off x="6858000" y="4069080"/>
            <a:ext cx="4572000" cy="411480"/>
          </a:xfrm>
          <a:prstGeom prst="rect">
            <a:avLst/>
          </a:prstGeom>
          <a:noFill/>
          <a:ln/>
        </p:spPr>
        <p:txBody>
          <a:bodyPr wrap="square" lIns="0" tIns="0" rIns="0" bIns="0" rtlCol="0" anchor="ctr"/>
          <a:lstStyle/>
          <a:p>
            <a:pPr marL="0" indent="0">
              <a:buNone/>
            </a:pPr>
            <a:r>
              <a:rPr lang="en-US" sz="2000" b="1" dirty="0">
                <a:solidFill>
                  <a:srgbClr val="1F883D"/>
                </a:solidFill>
                <a:latin typeface="Arial" pitchFamily="34" charset="0"/>
                <a:ea typeface="Arial" pitchFamily="34" charset="-122"/>
                <a:cs typeface="Arial" pitchFamily="34" charset="-120"/>
              </a:rPr>
              <a:t>Commit</a:t>
            </a:r>
            <a:endParaRPr lang="en-US" sz="2000" dirty="0"/>
          </a:p>
        </p:txBody>
      </p:sp>
      <p:sp>
        <p:nvSpPr>
          <p:cNvPr id="19" name="Text 15"/>
          <p:cNvSpPr txBox="1"/>
          <p:nvPr/>
        </p:nvSpPr>
        <p:spPr>
          <a:xfrm>
            <a:off x="6858000" y="4526280"/>
            <a:ext cx="4572000" cy="640080"/>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A saved snapshot of your changes, with a message that explains what changed and why.</a:t>
            </a:r>
            <a:endParaRPr lang="en-US" sz="1500" dirty="0"/>
          </a:p>
        </p:txBody>
      </p:sp>
      <p:sp>
        <p:nvSpPr>
          <p:cNvPr id="20" name="Text 16"/>
          <p:cNvSpPr txBox="1"/>
          <p:nvPr/>
        </p:nvSpPr>
        <p:spPr>
          <a:xfrm>
            <a:off x="6858000" y="5212080"/>
            <a:ext cx="4572000" cy="411480"/>
          </a:xfrm>
          <a:prstGeom prst="rect">
            <a:avLst/>
          </a:prstGeom>
          <a:noFill/>
          <a:ln/>
        </p:spPr>
        <p:txBody>
          <a:bodyPr wrap="square" lIns="0" tIns="0" rIns="0" bIns="0" rtlCol="0" anchor="ctr"/>
          <a:lstStyle/>
          <a:p>
            <a:pPr marL="0" indent="0">
              <a:buNone/>
            </a:pPr>
            <a:r>
              <a:rPr lang="en-US" sz="1300" dirty="0">
                <a:solidFill>
                  <a:srgbClr val="59636E"/>
                </a:solidFill>
                <a:latin typeface="Courier New" pitchFamily="34" charset="0"/>
                <a:ea typeface="Courier New" pitchFamily="34" charset="-122"/>
                <a:cs typeface="Courier New" pitchFamily="34" charset="-120"/>
              </a:rPr>
              <a:t>Example: “Add header comments with name and reg no”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Before you start: checklist &amp; naming rules</a:t>
            </a:r>
            <a:endParaRPr lang="en-US" sz="3200" dirty="0"/>
          </a:p>
        </p:txBody>
      </p:sp>
      <p:sp>
        <p:nvSpPr>
          <p:cNvPr id="3" name="Text 1"/>
          <p:cNvSpPr txBox="1"/>
          <p:nvPr/>
        </p:nvSpPr>
        <p:spPr>
          <a:xfrm>
            <a:off x="548640" y="1463040"/>
            <a:ext cx="4572000" cy="365760"/>
          </a:xfrm>
          <a:prstGeom prst="rect">
            <a:avLst/>
          </a:prstGeom>
          <a:noFill/>
          <a:ln/>
        </p:spPr>
        <p:txBody>
          <a:bodyPr wrap="square" lIns="0" tIns="0" rIns="0" bIns="0" rtlCol="0" anchor="ctr"/>
          <a:lstStyle/>
          <a:p>
            <a:pPr marL="0" indent="0">
              <a:buNone/>
            </a:pPr>
            <a:r>
              <a:rPr lang="en-US" sz="2000" b="1" dirty="0">
                <a:solidFill>
                  <a:srgbClr val="1F2328"/>
                </a:solidFill>
                <a:latin typeface="Arial" pitchFamily="34" charset="0"/>
                <a:ea typeface="Arial" pitchFamily="34" charset="-122"/>
                <a:cs typeface="Arial" pitchFamily="34" charset="-120"/>
              </a:rPr>
              <a:t>Have these ready</a:t>
            </a:r>
            <a:endParaRPr lang="en-US" sz="2000" dirty="0"/>
          </a:p>
        </p:txBody>
      </p:sp>
      <p:sp>
        <p:nvSpPr>
          <p:cNvPr id="4" name="Shape 2"/>
          <p:cNvSpPr/>
          <p:nvPr/>
        </p:nvSpPr>
        <p:spPr>
          <a:xfrm>
            <a:off x="548640" y="1965960"/>
            <a:ext cx="384048" cy="384048"/>
          </a:xfrm>
          <a:prstGeom prst="ellipse">
            <a:avLst/>
          </a:prstGeom>
          <a:solidFill>
            <a:srgbClr val="0D1117"/>
          </a:solidFill>
          <a:ln w="12700">
            <a:solidFill>
              <a:srgbClr val="0D1117"/>
            </a:solidFill>
            <a:prstDash val="solid"/>
          </a:ln>
        </p:spPr>
        <p:txBody>
          <a:bodyPr/>
          <a:lstStyle/>
          <a:p>
            <a:endParaRPr lang="en-US"/>
          </a:p>
        </p:txBody>
      </p:sp>
      <p:sp>
        <p:nvSpPr>
          <p:cNvPr id="5" name="Text 3"/>
          <p:cNvSpPr txBox="1"/>
          <p:nvPr/>
        </p:nvSpPr>
        <p:spPr>
          <a:xfrm>
            <a:off x="548640" y="1965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097280" y="1929384"/>
            <a:ext cx="4389120" cy="79552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An email address you can open right now (you will receive an 8-digit code).</a:t>
            </a:r>
            <a:endParaRPr lang="en-US" sz="1500" dirty="0"/>
          </a:p>
        </p:txBody>
      </p:sp>
      <p:sp>
        <p:nvSpPr>
          <p:cNvPr id="7" name="Shape 5"/>
          <p:cNvSpPr/>
          <p:nvPr/>
        </p:nvSpPr>
        <p:spPr>
          <a:xfrm>
            <a:off x="548640" y="2834640"/>
            <a:ext cx="384048" cy="384048"/>
          </a:xfrm>
          <a:prstGeom prst="ellipse">
            <a:avLst/>
          </a:prstGeom>
          <a:solidFill>
            <a:srgbClr val="0D1117"/>
          </a:solidFill>
          <a:ln w="12700">
            <a:solidFill>
              <a:srgbClr val="0D1117"/>
            </a:solidFill>
            <a:prstDash val="solid"/>
          </a:ln>
        </p:spPr>
        <p:txBody>
          <a:bodyPr/>
          <a:lstStyle/>
          <a:p>
            <a:endParaRPr lang="en-US"/>
          </a:p>
        </p:txBody>
      </p:sp>
      <p:sp>
        <p:nvSpPr>
          <p:cNvPr id="8" name="Text 6"/>
          <p:cNvSpPr txBox="1"/>
          <p:nvPr/>
        </p:nvSpPr>
        <p:spPr>
          <a:xfrm>
            <a:off x="548640" y="2834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1097280" y="2798064"/>
            <a:ext cx="4389120" cy="79552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Your UCP registration number written correctly, e.g. L1F24BSCS0081.</a:t>
            </a:r>
            <a:endParaRPr lang="en-US" sz="1500" dirty="0"/>
          </a:p>
        </p:txBody>
      </p:sp>
      <p:sp>
        <p:nvSpPr>
          <p:cNvPr id="10" name="Shape 8"/>
          <p:cNvSpPr/>
          <p:nvPr/>
        </p:nvSpPr>
        <p:spPr>
          <a:xfrm>
            <a:off x="548640" y="3703320"/>
            <a:ext cx="384048" cy="384048"/>
          </a:xfrm>
          <a:prstGeom prst="ellipse">
            <a:avLst/>
          </a:prstGeom>
          <a:solidFill>
            <a:srgbClr val="0D1117"/>
          </a:solidFill>
          <a:ln w="12700">
            <a:solidFill>
              <a:srgbClr val="0D1117"/>
            </a:solidFill>
            <a:prstDash val="solid"/>
          </a:ln>
        </p:spPr>
        <p:txBody>
          <a:bodyPr/>
          <a:lstStyle/>
          <a:p>
            <a:endParaRPr lang="en-US"/>
          </a:p>
        </p:txBody>
      </p:sp>
      <p:sp>
        <p:nvSpPr>
          <p:cNvPr id="11" name="Text 9"/>
          <p:cNvSpPr txBox="1"/>
          <p:nvPr/>
        </p:nvSpPr>
        <p:spPr>
          <a:xfrm>
            <a:off x="548640" y="37033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Text 10"/>
          <p:cNvSpPr txBox="1"/>
          <p:nvPr/>
        </p:nvSpPr>
        <p:spPr>
          <a:xfrm>
            <a:off x="1097280" y="3666744"/>
            <a:ext cx="4389120" cy="79552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A strong password you will remember — write it somewhere safe.</a:t>
            </a:r>
            <a:endParaRPr lang="en-US" sz="1500" dirty="0"/>
          </a:p>
        </p:txBody>
      </p:sp>
      <p:sp>
        <p:nvSpPr>
          <p:cNvPr id="13" name="Shape 11"/>
          <p:cNvSpPr/>
          <p:nvPr/>
        </p:nvSpPr>
        <p:spPr>
          <a:xfrm>
            <a:off x="548640" y="4572000"/>
            <a:ext cx="384048" cy="384048"/>
          </a:xfrm>
          <a:prstGeom prst="ellipse">
            <a:avLst/>
          </a:prstGeom>
          <a:solidFill>
            <a:srgbClr val="0D1117"/>
          </a:solidFill>
          <a:ln w="12700">
            <a:solidFill>
              <a:srgbClr val="0D1117"/>
            </a:solidFill>
            <a:prstDash val="solid"/>
          </a:ln>
        </p:spPr>
        <p:txBody>
          <a:bodyPr/>
          <a:lstStyle/>
          <a:p>
            <a:endParaRPr lang="en-US"/>
          </a:p>
        </p:txBody>
      </p:sp>
      <p:sp>
        <p:nvSpPr>
          <p:cNvPr id="14" name="Text 12"/>
          <p:cNvSpPr txBox="1"/>
          <p:nvPr/>
        </p:nvSpPr>
        <p:spPr>
          <a:xfrm>
            <a:off x="548640" y="45720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txBox="1"/>
          <p:nvPr/>
        </p:nvSpPr>
        <p:spPr>
          <a:xfrm>
            <a:off x="1097280" y="4535424"/>
            <a:ext cx="4389120" cy="79552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Your C++ file saved on the lab PC, e.g. on the Desktop, named sum_of_first_50_natural_numbers.cpp</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0" y="1554480"/>
          <a:ext cx="5715000" cy="2834640"/>
        </p:xfrm>
        <a:graphic>
          <a:graphicData uri="http://schemas.openxmlformats.org/drawingml/2006/table">
            <a:tbl>
              <a:tblPr/>
              <a:tblGrid>
                <a:gridCol w="13258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5669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Item</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0D111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Use exactly</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0D111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0D1117"/>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Username</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L1F24BSCS0081</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Instructor can identify you</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Repository</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Assignment01-GitHub-Basics</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No spaces; hyphens are fine</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C++ file</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sum_of_first_50_</a:t>
                      </a:r>
                      <a:endParaRPr lang="en-US" sz="1300" dirty="0">
                        <a:latin typeface="Calibri" charset="0"/>
                        <a:ea typeface="Calibri" charset="0"/>
                        <a:cs typeface="Calibri" charset="0"/>
                      </a:endParaRPr>
                    </a:p>
                    <a:p>
                      <a:pPr marL="0" indent="0">
                        <a:buNone/>
                      </a:pPr>
                      <a:r>
                        <a:rPr lang="en-US" sz="1300" dirty="0">
                          <a:solidFill>
                            <a:srgbClr val="1F2328"/>
                          </a:solidFill>
                          <a:latin typeface="Calibri" pitchFamily="34" charset="0"/>
                          <a:ea typeface="Calibri" pitchFamily="34" charset="-122"/>
                          <a:cs typeface="Calibri" pitchFamily="34" charset="-120"/>
                        </a:rPr>
                        <a:t>natural_numbers.cpp</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Describes the program; ends in .cpp</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Visibility</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Public</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Instructor can open the link</a:t>
                      </a:r>
                      <a:endParaRPr lang="en-US" sz="1300" dirty="0">
                        <a:latin typeface="Calibri" charset="0"/>
                        <a:ea typeface="Calibri" charset="0"/>
                        <a:cs typeface="Calibri" charset="0"/>
                      </a:endParaRPr>
                    </a:p>
                  </a:txBody>
                  <a:tcPr marL="73152" marR="73152" marT="73152" marB="73152"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txBox="1"/>
          <p:nvPr/>
        </p:nvSpPr>
        <p:spPr>
          <a:xfrm>
            <a:off x="5943600" y="4709160"/>
            <a:ext cx="5715000" cy="457200"/>
          </a:xfrm>
          <a:prstGeom prst="rect">
            <a:avLst/>
          </a:prstGeom>
          <a:noFill/>
          <a:ln/>
        </p:spPr>
        <p:txBody>
          <a:bodyPr wrap="square" lIns="0" tIns="0" rIns="0" bIns="0" rtlCol="0" anchor="ctr"/>
          <a:lstStyle/>
          <a:p>
            <a:pPr marL="0" indent="0">
              <a:buNone/>
            </a:pPr>
            <a:r>
              <a:rPr lang="en-US" sz="1400" i="1" dirty="0">
                <a:solidFill>
                  <a:srgbClr val="E8590C"/>
                </a:solidFill>
                <a:latin typeface="Calibri" pitchFamily="34" charset="0"/>
                <a:ea typeface="Calibri" pitchFamily="34" charset="-122"/>
                <a:cs typeface="Calibri" pitchFamily="34" charset="-120"/>
              </a:rPr>
              <a:t>Avoid names like “new.cpp”, “my code final (2).cpp” or “untitled.cpp”.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1</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Why use an Incognito (private) window?</a:t>
            </a:r>
            <a:endParaRPr lang="en-US" sz="3200" dirty="0"/>
          </a:p>
        </p:txBody>
      </p:sp>
      <p:sp>
        <p:nvSpPr>
          <p:cNvPr id="5" name="Text 3"/>
          <p:cNvSpPr txBox="1"/>
          <p:nvPr/>
        </p:nvSpPr>
        <p:spPr>
          <a:xfrm>
            <a:off x="548640" y="1691640"/>
            <a:ext cx="5394960" cy="365760"/>
          </a:xfrm>
          <a:prstGeom prst="rect">
            <a:avLst/>
          </a:prstGeom>
          <a:noFill/>
          <a:ln/>
        </p:spPr>
        <p:txBody>
          <a:bodyPr wrap="square" lIns="0" tIns="0" rIns="0" bIns="0" rtlCol="0" anchor="ctr"/>
          <a:lstStyle/>
          <a:p>
            <a:pPr marL="0" indent="0">
              <a:buNone/>
            </a:pPr>
            <a:r>
              <a:rPr lang="en-US" sz="2000" b="1" dirty="0">
                <a:solidFill>
                  <a:srgbClr val="CF222E"/>
                </a:solidFill>
                <a:latin typeface="Arial" pitchFamily="34" charset="0"/>
                <a:ea typeface="Arial" pitchFamily="34" charset="-122"/>
                <a:cs typeface="Arial" pitchFamily="34" charset="-120"/>
              </a:rPr>
              <a:t>The problem on shared lab computers</a:t>
            </a:r>
            <a:endParaRPr lang="en-US" sz="2000" dirty="0"/>
          </a:p>
        </p:txBody>
      </p:sp>
      <p:sp>
        <p:nvSpPr>
          <p:cNvPr id="6" name="Shape 4"/>
          <p:cNvSpPr/>
          <p:nvPr/>
        </p:nvSpPr>
        <p:spPr>
          <a:xfrm>
            <a:off x="548640" y="2240280"/>
            <a:ext cx="566928" cy="566928"/>
          </a:xfrm>
          <a:prstGeom prst="ellipse">
            <a:avLst/>
          </a:prstGeom>
          <a:solidFill>
            <a:srgbClr val="CF222E"/>
          </a:solidFill>
          <a:ln w="12700">
            <a:solidFill>
              <a:srgbClr val="CF222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90372" y="2382012"/>
            <a:ext cx="283464" cy="283464"/>
          </a:xfrm>
          <a:prstGeom prst="rect">
            <a:avLst/>
          </a:prstGeom>
        </p:spPr>
      </p:pic>
      <p:sp>
        <p:nvSpPr>
          <p:cNvPr id="8" name="Text 5"/>
          <p:cNvSpPr txBox="1"/>
          <p:nvPr/>
        </p:nvSpPr>
        <p:spPr>
          <a:xfrm>
            <a:off x="1325880" y="2240280"/>
            <a:ext cx="4572000" cy="731520"/>
          </a:xfrm>
          <a:prstGeom prst="rect">
            <a:avLst/>
          </a:prstGeom>
          <a:noFill/>
          <a:ln/>
        </p:spPr>
        <p:txBody>
          <a:bodyPr wrap="square" lIns="0" tIns="0" rIns="0" bIns="0" rtlCol="0" anchor="ctr"/>
          <a:lstStyle/>
          <a:p>
            <a:pPr marL="0" indent="0">
              <a:buNone/>
            </a:pPr>
            <a:r>
              <a:rPr lang="en-US" sz="1500" dirty="0">
                <a:solidFill>
                  <a:srgbClr val="1F2328"/>
                </a:solidFill>
                <a:latin typeface="Calibri" pitchFamily="34" charset="0"/>
                <a:ea typeface="Calibri" pitchFamily="34" charset="-122"/>
                <a:cs typeface="Calibri" pitchFamily="34" charset="-120"/>
              </a:rPr>
              <a:t>A previous student may still be logged in to GitHub on the same browser.</a:t>
            </a:r>
            <a:endParaRPr lang="en-US" sz="1500" dirty="0"/>
          </a:p>
        </p:txBody>
      </p:sp>
      <p:sp>
        <p:nvSpPr>
          <p:cNvPr id="9" name="Shape 6"/>
          <p:cNvSpPr/>
          <p:nvPr/>
        </p:nvSpPr>
        <p:spPr>
          <a:xfrm>
            <a:off x="548640" y="3291840"/>
            <a:ext cx="566928" cy="566928"/>
          </a:xfrm>
          <a:prstGeom prst="ellipse">
            <a:avLst/>
          </a:prstGeom>
          <a:solidFill>
            <a:srgbClr val="CF222E"/>
          </a:solidFill>
          <a:ln w="12700">
            <a:solidFill>
              <a:srgbClr val="CF222E"/>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90372" y="3433572"/>
            <a:ext cx="283464" cy="283464"/>
          </a:xfrm>
          <a:prstGeom prst="rect">
            <a:avLst/>
          </a:prstGeom>
        </p:spPr>
      </p:pic>
      <p:sp>
        <p:nvSpPr>
          <p:cNvPr id="11" name="Text 7"/>
          <p:cNvSpPr txBox="1"/>
          <p:nvPr/>
        </p:nvSpPr>
        <p:spPr>
          <a:xfrm>
            <a:off x="1325880" y="3291840"/>
            <a:ext cx="4572000" cy="731520"/>
          </a:xfrm>
          <a:prstGeom prst="rect">
            <a:avLst/>
          </a:prstGeom>
          <a:noFill/>
          <a:ln/>
        </p:spPr>
        <p:txBody>
          <a:bodyPr wrap="square" lIns="0" tIns="0" rIns="0" bIns="0" rtlCol="0" anchor="ctr"/>
          <a:lstStyle/>
          <a:p>
            <a:pPr marL="0" indent="0">
              <a:buNone/>
            </a:pPr>
            <a:r>
              <a:rPr lang="en-US" sz="1500" dirty="0">
                <a:solidFill>
                  <a:srgbClr val="1F2328"/>
                </a:solidFill>
                <a:latin typeface="Calibri" pitchFamily="34" charset="0"/>
                <a:ea typeface="Calibri" pitchFamily="34" charset="-122"/>
                <a:cs typeface="Calibri" pitchFamily="34" charset="-120"/>
              </a:rPr>
              <a:t>You might create a repository or commit inside someone else's account by mistake.</a:t>
            </a:r>
            <a:endParaRPr lang="en-US" sz="1500" dirty="0"/>
          </a:p>
        </p:txBody>
      </p:sp>
      <p:sp>
        <p:nvSpPr>
          <p:cNvPr id="12" name="Shape 8"/>
          <p:cNvSpPr/>
          <p:nvPr/>
        </p:nvSpPr>
        <p:spPr>
          <a:xfrm>
            <a:off x="548640" y="4343400"/>
            <a:ext cx="566928" cy="566928"/>
          </a:xfrm>
          <a:prstGeom prst="ellipse">
            <a:avLst/>
          </a:prstGeom>
          <a:solidFill>
            <a:srgbClr val="CF222E"/>
          </a:solidFill>
          <a:ln w="12700">
            <a:solidFill>
              <a:srgbClr val="CF222E"/>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690372" y="4485132"/>
            <a:ext cx="283464" cy="283464"/>
          </a:xfrm>
          <a:prstGeom prst="rect">
            <a:avLst/>
          </a:prstGeom>
        </p:spPr>
      </p:pic>
      <p:sp>
        <p:nvSpPr>
          <p:cNvPr id="14" name="Text 9"/>
          <p:cNvSpPr txBox="1"/>
          <p:nvPr/>
        </p:nvSpPr>
        <p:spPr>
          <a:xfrm>
            <a:off x="1325880" y="4343400"/>
            <a:ext cx="4572000" cy="731520"/>
          </a:xfrm>
          <a:prstGeom prst="rect">
            <a:avLst/>
          </a:prstGeom>
          <a:noFill/>
          <a:ln/>
        </p:spPr>
        <p:txBody>
          <a:bodyPr wrap="square" lIns="0" tIns="0" rIns="0" bIns="0" rtlCol="0" anchor="ctr"/>
          <a:lstStyle/>
          <a:p>
            <a:pPr marL="0" indent="0">
              <a:buNone/>
            </a:pPr>
            <a:r>
              <a:rPr lang="en-US" sz="1500" dirty="0">
                <a:solidFill>
                  <a:srgbClr val="1F2328"/>
                </a:solidFill>
                <a:latin typeface="Calibri" pitchFamily="34" charset="0"/>
                <a:ea typeface="Calibri" pitchFamily="34" charset="-122"/>
                <a:cs typeface="Calibri" pitchFamily="34" charset="-120"/>
              </a:rPr>
              <a:t>The browser may autofill another person's email or password.</a:t>
            </a:r>
            <a:endParaRPr lang="en-US" sz="1500" dirty="0"/>
          </a:p>
        </p:txBody>
      </p:sp>
      <p:sp>
        <p:nvSpPr>
          <p:cNvPr id="15" name="Shape 10"/>
          <p:cNvSpPr/>
          <p:nvPr/>
        </p:nvSpPr>
        <p:spPr>
          <a:xfrm>
            <a:off x="6400800" y="1691640"/>
            <a:ext cx="5257800" cy="4206240"/>
          </a:xfrm>
          <a:prstGeom prst="roundRect">
            <a:avLst>
              <a:gd name="adj" fmla="val 2609"/>
            </a:avLst>
          </a:prstGeom>
          <a:solidFill>
            <a:srgbClr val="0D1117"/>
          </a:solidFill>
          <a:ln w="12700">
            <a:solidFill>
              <a:srgbClr val="0D1117"/>
            </a:solidFill>
            <a:prstDash val="solid"/>
          </a:ln>
        </p:spPr>
        <p:txBody>
          <a:bodyPr/>
          <a:lstStyle/>
          <a:p>
            <a:endParaRPr lang="en-US"/>
          </a:p>
        </p:txBody>
      </p:sp>
      <p:sp>
        <p:nvSpPr>
          <p:cNvPr id="16" name="Shape 11"/>
          <p:cNvSpPr/>
          <p:nvPr/>
        </p:nvSpPr>
        <p:spPr>
          <a:xfrm>
            <a:off x="6720840" y="1965960"/>
            <a:ext cx="731520" cy="731520"/>
          </a:xfrm>
          <a:prstGeom prst="ellipse">
            <a:avLst/>
          </a:prstGeom>
          <a:solidFill>
            <a:srgbClr val="1F883D"/>
          </a:solidFill>
          <a:ln w="12700">
            <a:solidFill>
              <a:srgbClr val="1F883D"/>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6903720" y="2148840"/>
            <a:ext cx="365760" cy="365760"/>
          </a:xfrm>
          <a:prstGeom prst="rect">
            <a:avLst/>
          </a:prstGeom>
        </p:spPr>
      </p:pic>
      <p:sp>
        <p:nvSpPr>
          <p:cNvPr id="18" name="Text 12"/>
          <p:cNvSpPr txBox="1"/>
          <p:nvPr/>
        </p:nvSpPr>
        <p:spPr>
          <a:xfrm>
            <a:off x="7635240" y="2057400"/>
            <a:ext cx="3840480" cy="54864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How Incognito fixes it</a:t>
            </a:r>
            <a:endParaRPr lang="en-US" sz="2000" dirty="0"/>
          </a:p>
        </p:txBody>
      </p:sp>
      <p:sp>
        <p:nvSpPr>
          <p:cNvPr id="19" name="Text 13"/>
          <p:cNvSpPr txBox="1"/>
          <p:nvPr/>
        </p:nvSpPr>
        <p:spPr>
          <a:xfrm>
            <a:off x="6720840" y="2926080"/>
            <a:ext cx="4663440" cy="2743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Starts with no saved logins or cookies — a clean GitHub sign-up page.</a:t>
            </a:r>
            <a:endParaRPr lang="en-US" sz="1600" dirty="0"/>
          </a:p>
          <a:p>
            <a:pPr marL="342900" indent="-3429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Nothing you sign into is remembered after you close all Incognito windows.</a:t>
            </a:r>
            <a:endParaRPr lang="en-US" sz="1600" dirty="0"/>
          </a:p>
          <a:p>
            <a:pPr marL="342900" indent="-3429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Your GitHub account and repository are saved online — you lose nothing.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1</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Open a private window before anything else</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3840480" cy="2286000"/>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Browser</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0D1117"/>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Shortcut</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0D1117"/>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F2328"/>
                          </a:solidFill>
                          <a:latin typeface="Calibri" pitchFamily="34" charset="0"/>
                          <a:ea typeface="Calibri" pitchFamily="34" charset="-122"/>
                          <a:cs typeface="Calibri" pitchFamily="34" charset="-120"/>
                        </a:rPr>
                        <a:t>Chrome (Incognito)</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400" dirty="0">
                          <a:solidFill>
                            <a:srgbClr val="1F2328"/>
                          </a:solidFill>
                          <a:latin typeface="Calibri" pitchFamily="34" charset="0"/>
                          <a:ea typeface="Calibri" pitchFamily="34" charset="-122"/>
                          <a:cs typeface="Calibri" pitchFamily="34" charset="-120"/>
                        </a:rPr>
                        <a:t>Ctrl + Shift + N</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F2328"/>
                          </a:solidFill>
                          <a:latin typeface="Calibri" pitchFamily="34" charset="0"/>
                          <a:ea typeface="Calibri" pitchFamily="34" charset="-122"/>
                          <a:cs typeface="Calibri" pitchFamily="34" charset="-120"/>
                        </a:rPr>
                        <a:t>Edge (InPrivate)</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400" dirty="0">
                          <a:solidFill>
                            <a:srgbClr val="1F2328"/>
                          </a:solidFill>
                          <a:latin typeface="Calibri" pitchFamily="34" charset="0"/>
                          <a:ea typeface="Calibri" pitchFamily="34" charset="-122"/>
                          <a:cs typeface="Calibri" pitchFamily="34" charset="-120"/>
                        </a:rPr>
                        <a:t>Ctrl + Shift + N</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F2328"/>
                          </a:solidFill>
                          <a:latin typeface="Calibri" pitchFamily="34" charset="0"/>
                          <a:ea typeface="Calibri" pitchFamily="34" charset="-122"/>
                          <a:cs typeface="Calibri" pitchFamily="34" charset="-120"/>
                        </a:rPr>
                        <a:t>Firefox (Private)</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400" dirty="0">
                          <a:solidFill>
                            <a:srgbClr val="1F2328"/>
                          </a:solidFill>
                          <a:latin typeface="Calibri" pitchFamily="34" charset="0"/>
                          <a:ea typeface="Calibri" pitchFamily="34" charset="-122"/>
                          <a:cs typeface="Calibri" pitchFamily="34" charset="-120"/>
                        </a:rPr>
                        <a:t>Ctrl + Shift + P</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rgbClr val="1F2328"/>
                          </a:solidFill>
                          <a:latin typeface="Calibri" pitchFamily="34" charset="0"/>
                          <a:ea typeface="Calibri" pitchFamily="34" charset="-122"/>
                          <a:cs typeface="Calibri" pitchFamily="34" charset="-120"/>
                        </a:rPr>
                        <a:t>Mac Chrome / Safari</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tc>
                  <a:txBody>
                    <a:bodyPr/>
                    <a:lstStyle/>
                    <a:p>
                      <a:pPr marL="0" indent="0">
                        <a:buNone/>
                      </a:pPr>
                      <a:r>
                        <a:rPr lang="en-US" sz="1400" dirty="0">
                          <a:solidFill>
                            <a:srgbClr val="1F2328"/>
                          </a:solidFill>
                          <a:latin typeface="Calibri" pitchFamily="34" charset="0"/>
                          <a:ea typeface="Calibri" pitchFamily="34" charset="-122"/>
                          <a:cs typeface="Calibri" pitchFamily="34" charset="-120"/>
                        </a:rPr>
                        <a:t>⌘ + Shift + N</a:t>
                      </a:r>
                      <a:endParaRPr lang="en-US" sz="1400" dirty="0">
                        <a:latin typeface="Calibri" charset="0"/>
                        <a:ea typeface="Calibri" charset="0"/>
                        <a:cs typeface="Calibri" charset="0"/>
                      </a:endParaRPr>
                    </a:p>
                  </a:txBody>
                  <a:tcPr marL="73152" marR="73152" marT="73152" marB="73152">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548640" y="4206240"/>
            <a:ext cx="3840480" cy="731520"/>
          </a:xfrm>
          <a:prstGeom prst="rect">
            <a:avLst/>
          </a:prstGeom>
          <a:noFill/>
          <a:ln/>
        </p:spPr>
        <p:txBody>
          <a:bodyPr wrap="square" lIns="0" tIns="0" rIns="0" bIns="0" rtlCol="0" anchor="ctr"/>
          <a:lstStyle/>
          <a:p>
            <a:pPr marL="0" indent="0">
              <a:buNone/>
            </a:pPr>
            <a:r>
              <a:rPr lang="en-US" sz="1400" dirty="0">
                <a:solidFill>
                  <a:srgbClr val="59636E"/>
                </a:solidFill>
                <a:latin typeface="Calibri" pitchFamily="34" charset="0"/>
                <a:ea typeface="Calibri" pitchFamily="34" charset="-122"/>
                <a:cs typeface="Calibri" pitchFamily="34" charset="-120"/>
              </a:rPr>
              <a:t>Or: click the ⋮ / … menu at the top-right → “New Incognito / InPrivate / Private window”.</a:t>
            </a:r>
            <a:endParaRPr lang="en-US" sz="1400" dirty="0"/>
          </a:p>
        </p:txBody>
      </p:sp>
      <p:sp>
        <p:nvSpPr>
          <p:cNvPr id="5" name="Text 4"/>
          <p:cNvSpPr txBox="1"/>
          <p:nvPr/>
        </p:nvSpPr>
        <p:spPr>
          <a:xfrm>
            <a:off x="548640" y="4983480"/>
            <a:ext cx="3840480" cy="731520"/>
          </a:xfrm>
          <a:prstGeom prst="rect">
            <a:avLst/>
          </a:prstGeom>
          <a:noFill/>
          <a:ln/>
        </p:spPr>
        <p:txBody>
          <a:bodyPr wrap="square" lIns="0" tIns="0" rIns="0" bIns="0" rtlCol="0" anchor="ctr"/>
          <a:lstStyle/>
          <a:p>
            <a:pPr marL="0" indent="0">
              <a:buNone/>
            </a:pPr>
            <a:r>
              <a:rPr lang="en-US" sz="1400" b="1" dirty="0">
                <a:solidFill>
                  <a:srgbClr val="1F883D"/>
                </a:solidFill>
                <a:latin typeface="Calibri" pitchFamily="34" charset="0"/>
                <a:ea typeface="Calibri" pitchFamily="34" charset="-122"/>
                <a:cs typeface="Calibri" pitchFamily="34" charset="-120"/>
              </a:rPr>
              <a:t>Check: you should see the dark window and the Incognito label next to the address bar.</a:t>
            </a:r>
            <a:endParaRPr lang="en-US" sz="1400" dirty="0"/>
          </a:p>
        </p:txBody>
      </p:sp>
      <p:sp>
        <p:nvSpPr>
          <p:cNvPr id="8" name="Shape 5"/>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9" name="Image 0" descr="shots/01_incognito.png"/>
          <p:cNvPicPr>
            <a:picLocks noChangeAspect="1"/>
          </p:cNvPicPr>
          <p:nvPr/>
        </p:nvPicPr>
        <p:blipFill>
          <a:blip r:embed="rId3"/>
          <a:stretch>
            <a:fillRect/>
          </a:stretch>
        </p:blipFill>
        <p:spPr>
          <a:xfrm>
            <a:off x="4754880" y="1737360"/>
            <a:ext cx="6903720" cy="4099084"/>
          </a:xfrm>
          <a:prstGeom prst="rect">
            <a:avLst/>
          </a:prstGeom>
        </p:spPr>
      </p:pic>
      <p:sp>
        <p:nvSpPr>
          <p:cNvPr id="10" name="Text 6"/>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2</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Create your GitHub account</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In the Incognito window go to github.com/signup</a:t>
            </a:r>
            <a:endParaRPr lang="en-US" sz="1500" dirty="0"/>
          </a:p>
        </p:txBody>
      </p:sp>
      <p:sp>
        <p:nvSpPr>
          <p:cNvPr id="8" name="Shape 6"/>
          <p:cNvSpPr/>
          <p:nvPr/>
        </p:nvSpPr>
        <p:spPr>
          <a:xfrm>
            <a:off x="548640" y="269748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6609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Enter an email you can open now, and a strong password.</a:t>
            </a:r>
            <a:endParaRPr lang="en-US" sz="1500" dirty="0"/>
          </a:p>
        </p:txBody>
      </p:sp>
      <p:sp>
        <p:nvSpPr>
          <p:cNvPr id="11" name="Shape 9"/>
          <p:cNvSpPr/>
          <p:nvPr/>
        </p:nvSpPr>
        <p:spPr>
          <a:xfrm>
            <a:off x="548640" y="36118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611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5753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Username: type your Reg No exactly — L1F24BSCS0081. Wait for the green “available” tick.</a:t>
            </a:r>
            <a:endParaRPr lang="en-US" sz="1500" dirty="0"/>
          </a:p>
        </p:txBody>
      </p:sp>
      <p:sp>
        <p:nvSpPr>
          <p:cNvPr id="14" name="Shape 12"/>
          <p:cNvSpPr/>
          <p:nvPr/>
        </p:nvSpPr>
        <p:spPr>
          <a:xfrm>
            <a:off x="548640" y="45262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548640" y="4526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1097280" y="44897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Select Pakistan as your country, then click Create account.</a:t>
            </a:r>
            <a:endParaRPr lang="en-US" sz="1500" dirty="0"/>
          </a:p>
        </p:txBody>
      </p:sp>
      <p:sp>
        <p:nvSpPr>
          <p:cNvPr id="17" name="Shape 15"/>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8" name="Image 0" descr="shots/02_signup.png"/>
          <p:cNvPicPr>
            <a:picLocks noChangeAspect="1"/>
          </p:cNvPicPr>
          <p:nvPr/>
        </p:nvPicPr>
        <p:blipFill>
          <a:blip r:embed="rId3"/>
          <a:stretch>
            <a:fillRect/>
          </a:stretch>
        </p:blipFill>
        <p:spPr>
          <a:xfrm>
            <a:off x="4754880" y="1737360"/>
            <a:ext cx="6903720" cy="4099084"/>
          </a:xfrm>
          <a:prstGeom prst="rect">
            <a:avLst/>
          </a:prstGeom>
        </p:spPr>
      </p:pic>
      <p:sp>
        <p:nvSpPr>
          <p:cNvPr id="19" name="Text 16"/>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2</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Username rules — get it right the first time</a:t>
            </a:r>
            <a:endParaRPr lang="en-US" sz="3200" dirty="0"/>
          </a:p>
        </p:txBody>
      </p:sp>
      <p:sp>
        <p:nvSpPr>
          <p:cNvPr id="5" name="Shape 3"/>
          <p:cNvSpPr/>
          <p:nvPr/>
        </p:nvSpPr>
        <p:spPr>
          <a:xfrm>
            <a:off x="548640" y="1737360"/>
            <a:ext cx="5394960" cy="4206240"/>
          </a:xfrm>
          <a:prstGeom prst="roundRect">
            <a:avLst>
              <a:gd name="adj" fmla="val 2609"/>
            </a:avLst>
          </a:prstGeom>
          <a:solidFill>
            <a:srgbClr val="E9F7EE"/>
          </a:solidFill>
          <a:ln w="12700">
            <a:solidFill>
              <a:srgbClr val="E9F7E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2011680"/>
            <a:ext cx="457200" cy="457200"/>
          </a:xfrm>
          <a:prstGeom prst="rect">
            <a:avLst/>
          </a:prstGeom>
        </p:spPr>
      </p:pic>
      <p:sp>
        <p:nvSpPr>
          <p:cNvPr id="7" name="Text 4"/>
          <p:cNvSpPr txBox="1"/>
          <p:nvPr/>
        </p:nvSpPr>
        <p:spPr>
          <a:xfrm>
            <a:off x="1463040" y="2011680"/>
            <a:ext cx="4206240" cy="457200"/>
          </a:xfrm>
          <a:prstGeom prst="rect">
            <a:avLst/>
          </a:prstGeom>
          <a:noFill/>
          <a:ln/>
        </p:spPr>
        <p:txBody>
          <a:bodyPr wrap="square" lIns="0" tIns="0" rIns="0" bIns="0" rtlCol="0" anchor="ctr"/>
          <a:lstStyle/>
          <a:p>
            <a:pPr marL="0" indent="0">
              <a:buNone/>
            </a:pPr>
            <a:r>
              <a:rPr lang="en-US" sz="2000" b="1" dirty="0">
                <a:solidFill>
                  <a:srgbClr val="1F883D"/>
                </a:solidFill>
                <a:latin typeface="Arial" pitchFamily="34" charset="0"/>
                <a:ea typeface="Arial" pitchFamily="34" charset="-122"/>
                <a:cs typeface="Arial" pitchFamily="34" charset="-120"/>
              </a:rPr>
              <a:t>Correct</a:t>
            </a:r>
            <a:endParaRPr lang="en-US" sz="2000" dirty="0"/>
          </a:p>
        </p:txBody>
      </p:sp>
      <p:sp>
        <p:nvSpPr>
          <p:cNvPr id="8" name="Text 5"/>
          <p:cNvSpPr txBox="1"/>
          <p:nvPr/>
        </p:nvSpPr>
        <p:spPr>
          <a:xfrm>
            <a:off x="868680" y="2743200"/>
            <a:ext cx="2194560" cy="365760"/>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L1F24BSCS0081</a:t>
            </a:r>
            <a:endParaRPr lang="en-US" sz="1600" dirty="0"/>
          </a:p>
        </p:txBody>
      </p:sp>
      <p:sp>
        <p:nvSpPr>
          <p:cNvPr id="9" name="Text 6"/>
          <p:cNvSpPr txBox="1"/>
          <p:nvPr/>
        </p:nvSpPr>
        <p:spPr>
          <a:xfrm>
            <a:off x="3108960" y="2743200"/>
            <a:ext cx="2651760" cy="640080"/>
          </a:xfrm>
          <a:prstGeom prst="rect">
            <a:avLst/>
          </a:prstGeom>
          <a:noFill/>
          <a:ln/>
        </p:spPr>
        <p:txBody>
          <a:bodyPr wrap="square" lIns="0" tIns="0" rIns="0" bIns="0" rtlCol="0" anchor="t"/>
          <a:lstStyle/>
          <a:p>
            <a:pPr marL="0" indent="0">
              <a:buNone/>
            </a:pPr>
            <a:r>
              <a:rPr lang="en-US" sz="1300" dirty="0">
                <a:solidFill>
                  <a:srgbClr val="59636E"/>
                </a:solidFill>
                <a:latin typeface="Calibri" pitchFamily="34" charset="0"/>
                <a:ea typeface="Calibri" pitchFamily="34" charset="-122"/>
                <a:cs typeface="Calibri" pitchFamily="34" charset="-120"/>
              </a:rPr>
              <a:t>Exactly as on your student card</a:t>
            </a:r>
            <a:endParaRPr lang="en-US" sz="1300" dirty="0"/>
          </a:p>
        </p:txBody>
      </p:sp>
      <p:sp>
        <p:nvSpPr>
          <p:cNvPr id="10" name="Text 7"/>
          <p:cNvSpPr txBox="1"/>
          <p:nvPr/>
        </p:nvSpPr>
        <p:spPr>
          <a:xfrm>
            <a:off x="868680" y="3520440"/>
            <a:ext cx="2194560" cy="365760"/>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l1f24bscs0081</a:t>
            </a:r>
            <a:endParaRPr lang="en-US" sz="1600" dirty="0"/>
          </a:p>
        </p:txBody>
      </p:sp>
      <p:sp>
        <p:nvSpPr>
          <p:cNvPr id="11" name="Text 8"/>
          <p:cNvSpPr txBox="1"/>
          <p:nvPr/>
        </p:nvSpPr>
        <p:spPr>
          <a:xfrm>
            <a:off x="3108960" y="3520440"/>
            <a:ext cx="2651760" cy="640080"/>
          </a:xfrm>
          <a:prstGeom prst="rect">
            <a:avLst/>
          </a:prstGeom>
          <a:noFill/>
          <a:ln/>
        </p:spPr>
        <p:txBody>
          <a:bodyPr wrap="square" lIns="0" tIns="0" rIns="0" bIns="0" rtlCol="0" anchor="t"/>
          <a:lstStyle/>
          <a:p>
            <a:pPr marL="0" indent="0">
              <a:buNone/>
            </a:pPr>
            <a:r>
              <a:rPr lang="en-US" sz="1300" dirty="0">
                <a:solidFill>
                  <a:srgbClr val="59636E"/>
                </a:solidFill>
                <a:latin typeface="Calibri" pitchFamily="34" charset="0"/>
                <a:ea typeface="Calibri" pitchFamily="34" charset="-122"/>
                <a:cs typeface="Calibri" pitchFamily="34" charset="-120"/>
              </a:rPr>
              <a:t>Also fine — GitHub usernames are not case-sensitive</a:t>
            </a:r>
            <a:endParaRPr lang="en-US" sz="1300" dirty="0"/>
          </a:p>
        </p:txBody>
      </p:sp>
      <p:sp>
        <p:nvSpPr>
          <p:cNvPr id="12" name="Text 9"/>
          <p:cNvSpPr txBox="1"/>
          <p:nvPr/>
        </p:nvSpPr>
        <p:spPr>
          <a:xfrm>
            <a:off x="868680" y="4297680"/>
            <a:ext cx="2194560" cy="365760"/>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One account</a:t>
            </a:r>
            <a:endParaRPr lang="en-US" sz="1600" dirty="0"/>
          </a:p>
        </p:txBody>
      </p:sp>
      <p:sp>
        <p:nvSpPr>
          <p:cNvPr id="13" name="Text 10"/>
          <p:cNvSpPr txBox="1"/>
          <p:nvPr/>
        </p:nvSpPr>
        <p:spPr>
          <a:xfrm>
            <a:off x="3108960" y="4297680"/>
            <a:ext cx="2651760" cy="640080"/>
          </a:xfrm>
          <a:prstGeom prst="rect">
            <a:avLst/>
          </a:prstGeom>
          <a:noFill/>
          <a:ln/>
        </p:spPr>
        <p:txBody>
          <a:bodyPr wrap="square" lIns="0" tIns="0" rIns="0" bIns="0" rtlCol="0" anchor="t"/>
          <a:lstStyle/>
          <a:p>
            <a:pPr marL="0" indent="0">
              <a:buNone/>
            </a:pPr>
            <a:r>
              <a:rPr lang="en-US" sz="1300" dirty="0">
                <a:solidFill>
                  <a:srgbClr val="59636E"/>
                </a:solidFill>
                <a:latin typeface="Calibri" pitchFamily="34" charset="0"/>
                <a:ea typeface="Calibri" pitchFamily="34" charset="-122"/>
                <a:cs typeface="Calibri" pitchFamily="34" charset="-120"/>
              </a:rPr>
              <a:t>One account per student, reused all semester</a:t>
            </a:r>
            <a:endParaRPr lang="en-US" sz="1300" dirty="0"/>
          </a:p>
        </p:txBody>
      </p:sp>
      <p:sp>
        <p:nvSpPr>
          <p:cNvPr id="14" name="Shape 11"/>
          <p:cNvSpPr/>
          <p:nvPr/>
        </p:nvSpPr>
        <p:spPr>
          <a:xfrm>
            <a:off x="6263640" y="1737360"/>
            <a:ext cx="5394960" cy="4206240"/>
          </a:xfrm>
          <a:prstGeom prst="roundRect">
            <a:avLst>
              <a:gd name="adj" fmla="val 2609"/>
            </a:avLst>
          </a:prstGeom>
          <a:solidFill>
            <a:srgbClr val="FDECEC"/>
          </a:solidFill>
          <a:ln w="12700">
            <a:solidFill>
              <a:srgbClr val="FDECEC"/>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6583680" y="2011680"/>
            <a:ext cx="457200" cy="457200"/>
          </a:xfrm>
          <a:prstGeom prst="rect">
            <a:avLst/>
          </a:prstGeom>
        </p:spPr>
      </p:pic>
      <p:sp>
        <p:nvSpPr>
          <p:cNvPr id="16" name="Text 12"/>
          <p:cNvSpPr txBox="1"/>
          <p:nvPr/>
        </p:nvSpPr>
        <p:spPr>
          <a:xfrm>
            <a:off x="7178040" y="2011680"/>
            <a:ext cx="4206240" cy="457200"/>
          </a:xfrm>
          <a:prstGeom prst="rect">
            <a:avLst/>
          </a:prstGeom>
          <a:noFill/>
          <a:ln/>
        </p:spPr>
        <p:txBody>
          <a:bodyPr wrap="square" lIns="0" tIns="0" rIns="0" bIns="0" rtlCol="0" anchor="ctr"/>
          <a:lstStyle/>
          <a:p>
            <a:pPr marL="0" indent="0">
              <a:buNone/>
            </a:pPr>
            <a:r>
              <a:rPr lang="en-US" sz="2000" b="1" dirty="0">
                <a:solidFill>
                  <a:srgbClr val="CF222E"/>
                </a:solidFill>
                <a:latin typeface="Arial" pitchFamily="34" charset="0"/>
                <a:ea typeface="Arial" pitchFamily="34" charset="-122"/>
                <a:cs typeface="Arial" pitchFamily="34" charset="-120"/>
              </a:rPr>
              <a:t>Wrong</a:t>
            </a:r>
            <a:endParaRPr lang="en-US" sz="2000" dirty="0"/>
          </a:p>
        </p:txBody>
      </p:sp>
      <p:sp>
        <p:nvSpPr>
          <p:cNvPr id="17" name="Text 13"/>
          <p:cNvSpPr txBox="1"/>
          <p:nvPr/>
        </p:nvSpPr>
        <p:spPr>
          <a:xfrm>
            <a:off x="6583680" y="2743200"/>
            <a:ext cx="2194560" cy="365760"/>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L1F24-BSCS-0081</a:t>
            </a:r>
            <a:endParaRPr lang="en-US" sz="1600" dirty="0"/>
          </a:p>
        </p:txBody>
      </p:sp>
      <p:sp>
        <p:nvSpPr>
          <p:cNvPr id="18" name="Text 14"/>
          <p:cNvSpPr txBox="1"/>
          <p:nvPr/>
        </p:nvSpPr>
        <p:spPr>
          <a:xfrm>
            <a:off x="8823960" y="2743200"/>
            <a:ext cx="2651760" cy="640080"/>
          </a:xfrm>
          <a:prstGeom prst="rect">
            <a:avLst/>
          </a:prstGeom>
          <a:noFill/>
          <a:ln/>
        </p:spPr>
        <p:txBody>
          <a:bodyPr wrap="square" lIns="0" tIns="0" rIns="0" bIns="0" rtlCol="0" anchor="t"/>
          <a:lstStyle/>
          <a:p>
            <a:pPr marL="0" indent="0">
              <a:buNone/>
            </a:pPr>
            <a:r>
              <a:rPr lang="en-US" sz="1300" dirty="0">
                <a:solidFill>
                  <a:srgbClr val="59636E"/>
                </a:solidFill>
                <a:latin typeface="Calibri" pitchFamily="34" charset="0"/>
                <a:ea typeface="Calibri" pitchFamily="34" charset="-122"/>
                <a:cs typeface="Calibri" pitchFamily="34" charset="-120"/>
              </a:rPr>
              <a:t>Extra hyphens added</a:t>
            </a:r>
            <a:endParaRPr lang="en-US" sz="1300" dirty="0"/>
          </a:p>
        </p:txBody>
      </p:sp>
      <p:sp>
        <p:nvSpPr>
          <p:cNvPr id="19" name="Text 15"/>
          <p:cNvSpPr txBox="1"/>
          <p:nvPr/>
        </p:nvSpPr>
        <p:spPr>
          <a:xfrm>
            <a:off x="6583680" y="3520440"/>
            <a:ext cx="2194560" cy="365760"/>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L1F24BSCS81</a:t>
            </a:r>
            <a:endParaRPr lang="en-US" sz="1600" dirty="0"/>
          </a:p>
        </p:txBody>
      </p:sp>
      <p:sp>
        <p:nvSpPr>
          <p:cNvPr id="20" name="Text 16"/>
          <p:cNvSpPr txBox="1"/>
          <p:nvPr/>
        </p:nvSpPr>
        <p:spPr>
          <a:xfrm>
            <a:off x="8823960" y="3520440"/>
            <a:ext cx="2651760" cy="640080"/>
          </a:xfrm>
          <a:prstGeom prst="rect">
            <a:avLst/>
          </a:prstGeom>
          <a:noFill/>
          <a:ln/>
        </p:spPr>
        <p:txBody>
          <a:bodyPr wrap="square" lIns="0" tIns="0" rIns="0" bIns="0" rtlCol="0" anchor="t"/>
          <a:lstStyle/>
          <a:p>
            <a:pPr marL="0" indent="0">
              <a:buNone/>
            </a:pPr>
            <a:r>
              <a:rPr lang="en-US" sz="1300" dirty="0">
                <a:solidFill>
                  <a:srgbClr val="59636E"/>
                </a:solidFill>
                <a:latin typeface="Calibri" pitchFamily="34" charset="0"/>
                <a:ea typeface="Calibri" pitchFamily="34" charset="-122"/>
                <a:cs typeface="Calibri" pitchFamily="34" charset="-120"/>
              </a:rPr>
              <a:t>Digits missing</a:t>
            </a:r>
            <a:endParaRPr lang="en-US" sz="1300" dirty="0"/>
          </a:p>
        </p:txBody>
      </p:sp>
      <p:sp>
        <p:nvSpPr>
          <p:cNvPr id="21" name="Text 17"/>
          <p:cNvSpPr txBox="1"/>
          <p:nvPr/>
        </p:nvSpPr>
        <p:spPr>
          <a:xfrm>
            <a:off x="6583680" y="4297680"/>
            <a:ext cx="2194560" cy="365760"/>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ali_L1F24BSCS0081</a:t>
            </a:r>
            <a:endParaRPr lang="en-US" sz="1600" dirty="0"/>
          </a:p>
        </p:txBody>
      </p:sp>
      <p:sp>
        <p:nvSpPr>
          <p:cNvPr id="22" name="Text 18"/>
          <p:cNvSpPr txBox="1"/>
          <p:nvPr/>
        </p:nvSpPr>
        <p:spPr>
          <a:xfrm>
            <a:off x="8823960" y="4297680"/>
            <a:ext cx="2651760" cy="640080"/>
          </a:xfrm>
          <a:prstGeom prst="rect">
            <a:avLst/>
          </a:prstGeom>
          <a:noFill/>
          <a:ln/>
        </p:spPr>
        <p:txBody>
          <a:bodyPr wrap="square" lIns="0" tIns="0" rIns="0" bIns="0" rtlCol="0" anchor="t"/>
          <a:lstStyle/>
          <a:p>
            <a:pPr marL="0" indent="0">
              <a:buNone/>
            </a:pPr>
            <a:r>
              <a:rPr lang="en-US" sz="1300" dirty="0">
                <a:solidFill>
                  <a:srgbClr val="59636E"/>
                </a:solidFill>
                <a:latin typeface="Calibri" pitchFamily="34" charset="0"/>
                <a:ea typeface="Calibri" pitchFamily="34" charset="-122"/>
                <a:cs typeface="Calibri" pitchFamily="34" charset="-120"/>
              </a:rPr>
              <a:t>Name added; underscores are not allowed</a:t>
            </a:r>
            <a:endParaRPr lang="en-US" sz="1300" dirty="0"/>
          </a:p>
        </p:txBody>
      </p:sp>
      <p:sp>
        <p:nvSpPr>
          <p:cNvPr id="23" name="Text 19"/>
          <p:cNvSpPr txBox="1"/>
          <p:nvPr/>
        </p:nvSpPr>
        <p:spPr>
          <a:xfrm>
            <a:off x="6583680" y="5074920"/>
            <a:ext cx="2194560" cy="365760"/>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cooldev2006</a:t>
            </a:r>
            <a:endParaRPr lang="en-US" sz="1600" dirty="0"/>
          </a:p>
        </p:txBody>
      </p:sp>
      <p:sp>
        <p:nvSpPr>
          <p:cNvPr id="24" name="Text 20"/>
          <p:cNvSpPr txBox="1"/>
          <p:nvPr/>
        </p:nvSpPr>
        <p:spPr>
          <a:xfrm>
            <a:off x="8823960" y="5074920"/>
            <a:ext cx="2651760" cy="640080"/>
          </a:xfrm>
          <a:prstGeom prst="rect">
            <a:avLst/>
          </a:prstGeom>
          <a:noFill/>
          <a:ln/>
        </p:spPr>
        <p:txBody>
          <a:bodyPr wrap="square" lIns="0" tIns="0" rIns="0" bIns="0" rtlCol="0" anchor="t"/>
          <a:lstStyle/>
          <a:p>
            <a:pPr marL="0" indent="0">
              <a:buNone/>
            </a:pPr>
            <a:r>
              <a:rPr lang="en-US" sz="1300" dirty="0">
                <a:solidFill>
                  <a:srgbClr val="59636E"/>
                </a:solidFill>
                <a:latin typeface="Calibri" pitchFamily="34" charset="0"/>
                <a:ea typeface="Calibri" pitchFamily="34" charset="-122"/>
                <a:cs typeface="Calibri" pitchFamily="34" charset="-120"/>
              </a:rPr>
              <a:t>Instructor cannot identify you</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3</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Verify you are human and confirm your email</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Solve the short visual puzzle GitHub shows you.</a:t>
            </a:r>
            <a:endParaRPr lang="en-US" sz="1500" dirty="0"/>
          </a:p>
        </p:txBody>
      </p:sp>
      <p:sp>
        <p:nvSpPr>
          <p:cNvPr id="8" name="Shape 6"/>
          <p:cNvSpPr/>
          <p:nvPr/>
        </p:nvSpPr>
        <p:spPr>
          <a:xfrm>
            <a:off x="548640" y="269748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6609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Open your email in a new tab of the same Incognito window (Ctrl + T).</a:t>
            </a:r>
            <a:endParaRPr lang="en-US" sz="1500" dirty="0"/>
          </a:p>
        </p:txBody>
      </p:sp>
      <p:sp>
        <p:nvSpPr>
          <p:cNvPr id="11" name="Shape 9"/>
          <p:cNvSpPr/>
          <p:nvPr/>
        </p:nvSpPr>
        <p:spPr>
          <a:xfrm>
            <a:off x="548640" y="36118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611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5753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Copy the 8-digit launch code from GitHub's email and enter it.</a:t>
            </a:r>
            <a:endParaRPr lang="en-US" sz="1500" dirty="0"/>
          </a:p>
        </p:txBody>
      </p:sp>
      <p:sp>
        <p:nvSpPr>
          <p:cNvPr id="14" name="Shape 12"/>
          <p:cNvSpPr/>
          <p:nvPr/>
        </p:nvSpPr>
        <p:spPr>
          <a:xfrm>
            <a:off x="548640" y="45262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548640" y="4526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1097280" y="44897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No email after 2 minutes? Check Spam / Promotions, or click Resend.</a:t>
            </a:r>
            <a:endParaRPr lang="en-US" sz="1500" dirty="0"/>
          </a:p>
        </p:txBody>
      </p:sp>
      <p:sp>
        <p:nvSpPr>
          <p:cNvPr id="17" name="Shape 15"/>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8" name="Image 0" descr="shots/03_verify.png"/>
          <p:cNvPicPr>
            <a:picLocks noChangeAspect="1"/>
          </p:cNvPicPr>
          <p:nvPr/>
        </p:nvPicPr>
        <p:blipFill>
          <a:blip r:embed="rId3"/>
          <a:stretch>
            <a:fillRect/>
          </a:stretch>
        </p:blipFill>
        <p:spPr>
          <a:xfrm>
            <a:off x="4754880" y="1737360"/>
            <a:ext cx="6903720" cy="4099084"/>
          </a:xfrm>
          <a:prstGeom prst="rect">
            <a:avLst/>
          </a:prstGeom>
        </p:spPr>
      </p:pic>
      <p:sp>
        <p:nvSpPr>
          <p:cNvPr id="19" name="Text 16"/>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4</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Start a new repository</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93268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Make sure the avatar at the top-right is YOUR account.</a:t>
            </a:r>
            <a:endParaRPr lang="en-US" sz="1500" dirty="0"/>
          </a:p>
        </p:txBody>
      </p:sp>
      <p:sp>
        <p:nvSpPr>
          <p:cNvPr id="8" name="Shape 6"/>
          <p:cNvSpPr/>
          <p:nvPr/>
        </p:nvSpPr>
        <p:spPr>
          <a:xfrm>
            <a:off x="548640" y="278892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7889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752344"/>
            <a:ext cx="3383280" cy="93268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Click the ＋ button next to your avatar.</a:t>
            </a:r>
            <a:endParaRPr lang="en-US" sz="1500" dirty="0"/>
          </a:p>
        </p:txBody>
      </p:sp>
      <p:sp>
        <p:nvSpPr>
          <p:cNvPr id="11" name="Shape 9"/>
          <p:cNvSpPr/>
          <p:nvPr/>
        </p:nvSpPr>
        <p:spPr>
          <a:xfrm>
            <a:off x="548640" y="379476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794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758184"/>
            <a:ext cx="3383280" cy="93268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Choose “New repository” (or the green Create repository button on the dashboard).</a:t>
            </a:r>
            <a:endParaRPr lang="en-US" sz="1500" dirty="0"/>
          </a:p>
        </p:txBody>
      </p:sp>
      <p:sp>
        <p:nvSpPr>
          <p:cNvPr id="14" name="Shape 12"/>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5" name="Image 0" descr="shots/04_new_menu.png"/>
          <p:cNvPicPr>
            <a:picLocks noChangeAspect="1"/>
          </p:cNvPicPr>
          <p:nvPr/>
        </p:nvPicPr>
        <p:blipFill>
          <a:blip r:embed="rId3"/>
          <a:stretch>
            <a:fillRect/>
          </a:stretch>
        </p:blipFill>
        <p:spPr>
          <a:xfrm>
            <a:off x="4754880" y="1737360"/>
            <a:ext cx="6903720" cy="4099084"/>
          </a:xfrm>
          <a:prstGeom prst="rect">
            <a:avLst/>
          </a:prstGeom>
        </p:spPr>
      </p:pic>
      <p:sp>
        <p:nvSpPr>
          <p:cNvPr id="16" name="Text 13"/>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4</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Fill in the repository details</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Repository name: Assignment01-GitHub-Basics</a:t>
            </a:r>
            <a:endParaRPr lang="en-US" sz="1500" dirty="0"/>
          </a:p>
        </p:txBody>
      </p:sp>
      <p:sp>
        <p:nvSpPr>
          <p:cNvPr id="8" name="Shape 6"/>
          <p:cNvSpPr/>
          <p:nvPr/>
        </p:nvSpPr>
        <p:spPr>
          <a:xfrm>
            <a:off x="548640" y="269748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6609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Description: one line about the assignment (optional but good practice).</a:t>
            </a:r>
            <a:endParaRPr lang="en-US" sz="1500" dirty="0"/>
          </a:p>
        </p:txBody>
      </p:sp>
      <p:sp>
        <p:nvSpPr>
          <p:cNvPr id="11" name="Shape 9"/>
          <p:cNvSpPr/>
          <p:nvPr/>
        </p:nvSpPr>
        <p:spPr>
          <a:xfrm>
            <a:off x="548640" y="36118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611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5753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Visibility: Public, so the instructor can open it.</a:t>
            </a:r>
            <a:endParaRPr lang="en-US" sz="1500" dirty="0"/>
          </a:p>
        </p:txBody>
      </p:sp>
      <p:sp>
        <p:nvSpPr>
          <p:cNvPr id="14" name="Shape 12"/>
          <p:cNvSpPr/>
          <p:nvPr/>
        </p:nvSpPr>
        <p:spPr>
          <a:xfrm>
            <a:off x="548640" y="45262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548640" y="4526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1097280" y="44897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Turn ON “Add README” — this creates Commit #1 automatically. Then click Create repository.</a:t>
            </a:r>
            <a:endParaRPr lang="en-US" sz="1500" dirty="0"/>
          </a:p>
        </p:txBody>
      </p:sp>
      <p:sp>
        <p:nvSpPr>
          <p:cNvPr id="17" name="Shape 15"/>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8" name="Image 0" descr="shots/05_create_repo.png"/>
          <p:cNvPicPr>
            <a:picLocks noChangeAspect="1"/>
          </p:cNvPicPr>
          <p:nvPr/>
        </p:nvPicPr>
        <p:blipFill>
          <a:blip r:embed="rId3"/>
          <a:stretch>
            <a:fillRect/>
          </a:stretch>
        </p:blipFill>
        <p:spPr>
          <a:xfrm>
            <a:off x="4754880" y="1737360"/>
            <a:ext cx="6903720" cy="4099084"/>
          </a:xfrm>
          <a:prstGeom prst="rect">
            <a:avLst/>
          </a:prstGeom>
        </p:spPr>
      </p:pic>
      <p:sp>
        <p:nvSpPr>
          <p:cNvPr id="19" name="Text 16"/>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The sample program you will upload</a:t>
            </a:r>
            <a:endParaRPr lang="en-US" sz="3200" dirty="0"/>
          </a:p>
        </p:txBody>
      </p:sp>
      <p:sp>
        <p:nvSpPr>
          <p:cNvPr id="3" name="Shape 1"/>
          <p:cNvSpPr/>
          <p:nvPr/>
        </p:nvSpPr>
        <p:spPr>
          <a:xfrm>
            <a:off x="548640" y="1463040"/>
            <a:ext cx="6949440" cy="4937760"/>
          </a:xfrm>
          <a:prstGeom prst="roundRect">
            <a:avLst>
              <a:gd name="adj" fmla="val 1852"/>
            </a:avLst>
          </a:prstGeom>
          <a:solidFill>
            <a:srgbClr val="0D1117"/>
          </a:solidFill>
          <a:ln w="12700">
            <a:solidFill>
              <a:srgbClr val="0D1117"/>
            </a:solidFill>
            <a:prstDash val="solid"/>
          </a:ln>
        </p:spPr>
        <p:txBody>
          <a:bodyPr/>
          <a:lstStyle/>
          <a:p>
            <a:endParaRPr lang="en-US"/>
          </a:p>
        </p:txBody>
      </p:sp>
      <p:sp>
        <p:nvSpPr>
          <p:cNvPr id="4" name="Text 2"/>
          <p:cNvSpPr txBox="1"/>
          <p:nvPr/>
        </p:nvSpPr>
        <p:spPr>
          <a:xfrm>
            <a:off x="777240" y="1600200"/>
            <a:ext cx="6583680" cy="4663440"/>
          </a:xfrm>
          <a:prstGeom prst="rect">
            <a:avLst/>
          </a:prstGeom>
          <a:noFill/>
          <a:ln/>
        </p:spPr>
        <p:txBody>
          <a:bodyPr wrap="square" lIns="0" tIns="0" rIns="0" bIns="0" rtlCol="0" anchor="t"/>
          <a:lstStyle/>
          <a:p>
            <a:pPr marL="0" indent="0">
              <a:buNone/>
            </a:pPr>
            <a:r>
              <a:rPr lang="en-US" sz="1000" dirty="0">
                <a:solidFill>
                  <a:srgbClr val="E6EDF3"/>
                </a:solidFill>
                <a:latin typeface="Courier New" pitchFamily="34" charset="0"/>
                <a:ea typeface="Courier New" pitchFamily="34" charset="-122"/>
                <a:cs typeface="Courier New" pitchFamily="34" charset="-120"/>
              </a:rPr>
              <a:t>/*
 * Program    : Sum of First 50 Natural Numbers
 * Name       : Student Name
 * Reg No     : L1F24BSCS0081
 * Assignment : 01 - Getting Started with GitHub
 */
#include &lt;iostream&gt;
using namespace std;
int main() {
    const int N = 50;
    int sum = 0;
    // Method 1: add numbers one by one using a loop
    for (int i = 1; i &lt;= N; i++) {
        sum += i;
    }
    cout &lt;&lt; "Sum of first " &lt;&lt; N &lt;&lt; " natural numbers (loop): " &lt;&lt; sum &lt;&lt; endl;
    // Method 2: verify using the formula n(n+1)/2
    int formulaSum = N * (N + 1) / 2;
    cout &lt;&lt; "Sum using formula n(n+1)/2: " &lt;&lt; formulaSum &lt;&lt; endl;
    return 0;
}
</a:t>
            </a:r>
            <a:endParaRPr lang="en-US" sz="1000" dirty="0"/>
          </a:p>
        </p:txBody>
      </p:sp>
      <p:sp>
        <p:nvSpPr>
          <p:cNvPr id="5" name="Text 3"/>
          <p:cNvSpPr txBox="1"/>
          <p:nvPr/>
        </p:nvSpPr>
        <p:spPr>
          <a:xfrm>
            <a:off x="7863840" y="1463040"/>
            <a:ext cx="3840480" cy="365760"/>
          </a:xfrm>
          <a:prstGeom prst="rect">
            <a:avLst/>
          </a:prstGeom>
          <a:noFill/>
          <a:ln/>
        </p:spPr>
        <p:txBody>
          <a:bodyPr wrap="square" lIns="0" tIns="0" rIns="0" bIns="0" rtlCol="0" anchor="ctr"/>
          <a:lstStyle/>
          <a:p>
            <a:pPr marL="0" indent="0">
              <a:buNone/>
            </a:pPr>
            <a:r>
              <a:rPr lang="en-US" sz="1600" b="1" dirty="0">
                <a:solidFill>
                  <a:srgbClr val="59636E"/>
                </a:solidFill>
                <a:latin typeface="Arial" pitchFamily="34" charset="0"/>
                <a:ea typeface="Arial" pitchFamily="34" charset="-122"/>
                <a:cs typeface="Arial" pitchFamily="34" charset="-120"/>
              </a:rPr>
              <a:t>File name</a:t>
            </a:r>
            <a:endParaRPr lang="en-US" sz="1600" dirty="0"/>
          </a:p>
        </p:txBody>
      </p:sp>
      <p:sp>
        <p:nvSpPr>
          <p:cNvPr id="6" name="Text 4"/>
          <p:cNvSpPr txBox="1"/>
          <p:nvPr/>
        </p:nvSpPr>
        <p:spPr>
          <a:xfrm>
            <a:off x="7863840" y="1828800"/>
            <a:ext cx="3840480" cy="640080"/>
          </a:xfrm>
          <a:prstGeom prst="rect">
            <a:avLst/>
          </a:prstGeom>
          <a:noFill/>
          <a:ln/>
        </p:spPr>
        <p:txBody>
          <a:bodyPr wrap="square" lIns="0" tIns="0" rIns="0" bIns="0" rtlCol="0" anchor="ctr"/>
          <a:lstStyle/>
          <a:p>
            <a:pPr marL="0" indent="0">
              <a:buNone/>
            </a:pPr>
            <a:r>
              <a:rPr lang="en-US" sz="1400" b="1" dirty="0">
                <a:solidFill>
                  <a:srgbClr val="1F883D"/>
                </a:solidFill>
                <a:latin typeface="Courier New" pitchFamily="34" charset="0"/>
                <a:ea typeface="Courier New" pitchFamily="34" charset="-122"/>
                <a:cs typeface="Courier New" pitchFamily="34" charset="-120"/>
              </a:rPr>
              <a:t>sum_of_first_50_natural_numbers.cpp</a:t>
            </a:r>
            <a:endParaRPr lang="en-US" sz="1400" dirty="0"/>
          </a:p>
        </p:txBody>
      </p:sp>
      <p:sp>
        <p:nvSpPr>
          <p:cNvPr id="7" name="Text 5"/>
          <p:cNvSpPr txBox="1"/>
          <p:nvPr/>
        </p:nvSpPr>
        <p:spPr>
          <a:xfrm>
            <a:off x="7863840" y="2697480"/>
            <a:ext cx="3840480" cy="365760"/>
          </a:xfrm>
          <a:prstGeom prst="rect">
            <a:avLst/>
          </a:prstGeom>
          <a:noFill/>
          <a:ln/>
        </p:spPr>
        <p:txBody>
          <a:bodyPr wrap="square" lIns="0" tIns="0" rIns="0" bIns="0" rtlCol="0" anchor="ctr"/>
          <a:lstStyle/>
          <a:p>
            <a:pPr marL="0" indent="0">
              <a:buNone/>
            </a:pPr>
            <a:r>
              <a:rPr lang="en-US" sz="1600" b="1" dirty="0">
                <a:solidFill>
                  <a:srgbClr val="59636E"/>
                </a:solidFill>
                <a:latin typeface="Arial" pitchFamily="34" charset="0"/>
                <a:ea typeface="Arial" pitchFamily="34" charset="-122"/>
                <a:cs typeface="Arial" pitchFamily="34" charset="-120"/>
              </a:rPr>
              <a:t>Expected output</a:t>
            </a:r>
            <a:endParaRPr lang="en-US" sz="1600" dirty="0"/>
          </a:p>
        </p:txBody>
      </p:sp>
      <p:sp>
        <p:nvSpPr>
          <p:cNvPr id="8" name="Shape 6"/>
          <p:cNvSpPr/>
          <p:nvPr/>
        </p:nvSpPr>
        <p:spPr>
          <a:xfrm>
            <a:off x="7863840" y="3108960"/>
            <a:ext cx="3794760" cy="1005840"/>
          </a:xfrm>
          <a:prstGeom prst="roundRect">
            <a:avLst>
              <a:gd name="adj" fmla="val 7273"/>
            </a:avLst>
          </a:prstGeom>
          <a:solidFill>
            <a:srgbClr val="F3F6F9"/>
          </a:solidFill>
          <a:ln w="12700">
            <a:solidFill>
              <a:srgbClr val="F3F6F9"/>
            </a:solidFill>
            <a:prstDash val="solid"/>
          </a:ln>
        </p:spPr>
        <p:txBody>
          <a:bodyPr/>
          <a:lstStyle/>
          <a:p>
            <a:endParaRPr lang="en-US"/>
          </a:p>
        </p:txBody>
      </p:sp>
      <p:sp>
        <p:nvSpPr>
          <p:cNvPr id="9" name="Text 7"/>
          <p:cNvSpPr txBox="1"/>
          <p:nvPr/>
        </p:nvSpPr>
        <p:spPr>
          <a:xfrm>
            <a:off x="8001000" y="3200400"/>
            <a:ext cx="3566160" cy="822960"/>
          </a:xfrm>
          <a:prstGeom prst="rect">
            <a:avLst/>
          </a:prstGeom>
          <a:noFill/>
          <a:ln/>
        </p:spPr>
        <p:txBody>
          <a:bodyPr wrap="square" lIns="0" tIns="0" rIns="0" bIns="0" rtlCol="0" anchor="ctr"/>
          <a:lstStyle/>
          <a:p>
            <a:pPr marL="0" indent="0">
              <a:buNone/>
            </a:pPr>
            <a:r>
              <a:rPr lang="en-US" sz="1000" dirty="0">
                <a:solidFill>
                  <a:srgbClr val="1F2328"/>
                </a:solidFill>
                <a:latin typeface="Courier New" pitchFamily="34" charset="0"/>
                <a:ea typeface="Courier New" pitchFamily="34" charset="-122"/>
                <a:cs typeface="Courier New" pitchFamily="34" charset="-120"/>
              </a:rPr>
              <a:t>Sum of first 50 natural numbers (loop): 1275</a:t>
            </a:r>
            <a:endParaRPr lang="en-US" sz="1000" dirty="0"/>
          </a:p>
          <a:p>
            <a:pPr marL="0" indent="0">
              <a:buNone/>
            </a:pPr>
            <a:r>
              <a:rPr lang="en-US" sz="1000" dirty="0">
                <a:solidFill>
                  <a:srgbClr val="1F2328"/>
                </a:solidFill>
                <a:latin typeface="Courier New" pitchFamily="34" charset="0"/>
                <a:ea typeface="Courier New" pitchFamily="34" charset="-122"/>
                <a:cs typeface="Courier New" pitchFamily="34" charset="-120"/>
              </a:rPr>
              <a:t>Sum using formula n(n+1)/2: 1275</a:t>
            </a:r>
            <a:endParaRPr lang="en-US" sz="1000" dirty="0"/>
          </a:p>
        </p:txBody>
      </p:sp>
      <p:sp>
        <p:nvSpPr>
          <p:cNvPr id="10" name="Shape 8"/>
          <p:cNvSpPr/>
          <p:nvPr/>
        </p:nvSpPr>
        <p:spPr>
          <a:xfrm>
            <a:off x="7863840" y="4434840"/>
            <a:ext cx="3794760" cy="1965960"/>
          </a:xfrm>
          <a:prstGeom prst="roundRect">
            <a:avLst>
              <a:gd name="adj" fmla="val 3721"/>
            </a:avLst>
          </a:prstGeom>
          <a:solidFill>
            <a:srgbClr val="FFF1E8"/>
          </a:solidFill>
          <a:ln w="12700">
            <a:solidFill>
              <a:srgbClr val="FFF1E8"/>
            </a:solidFill>
            <a:prstDash val="solid"/>
          </a:ln>
        </p:spPr>
        <p:txBody>
          <a:bodyPr/>
          <a:lstStyle/>
          <a:p>
            <a:endParaRPr lang="en-US"/>
          </a:p>
        </p:txBody>
      </p:sp>
      <p:sp>
        <p:nvSpPr>
          <p:cNvPr id="11" name="Text 9"/>
          <p:cNvSpPr txBox="1"/>
          <p:nvPr/>
        </p:nvSpPr>
        <p:spPr>
          <a:xfrm>
            <a:off x="8046720" y="4572000"/>
            <a:ext cx="3474720" cy="1737360"/>
          </a:xfrm>
          <a:prstGeom prst="rect">
            <a:avLst/>
          </a:prstGeom>
          <a:noFill/>
          <a:ln/>
        </p:spPr>
        <p:txBody>
          <a:bodyPr wrap="square" lIns="0" tIns="0" rIns="0" bIns="0" rtlCol="0" anchor="t"/>
          <a:lstStyle/>
          <a:p>
            <a:pPr marL="0" indent="0">
              <a:buNone/>
            </a:pPr>
            <a:r>
              <a:rPr lang="en-US" sz="1300" b="1" dirty="0">
                <a:solidFill>
                  <a:srgbClr val="E8590C"/>
                </a:solidFill>
                <a:latin typeface="Calibri" pitchFamily="34" charset="0"/>
                <a:ea typeface="Calibri" pitchFamily="34" charset="-122"/>
                <a:cs typeface="Calibri" pitchFamily="34" charset="-120"/>
              </a:rPr>
              <a:t>Tip</a:t>
            </a:r>
            <a:endParaRPr lang="en-US" sz="1300" dirty="0"/>
          </a:p>
          <a:p>
            <a:pPr marL="0" indent="0">
              <a:buNone/>
            </a:pPr>
            <a:r>
              <a:rPr lang="en-US" sz="1300" dirty="0">
                <a:solidFill>
                  <a:srgbClr val="1F2328"/>
                </a:solidFill>
                <a:latin typeface="Calibri" pitchFamily="34" charset="0"/>
                <a:ea typeface="Calibri" pitchFamily="34" charset="-122"/>
                <a:cs typeface="Calibri" pitchFamily="34" charset="-120"/>
              </a:rPr>
              <a:t>First upload a simple loop-only version. The header comments and formula check are added later as separate commits — that is how you reach 5 commits honestly.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5</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Open the upload page</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93268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You are now on your repository page — note “1 Commit” (the README).</a:t>
            </a:r>
            <a:endParaRPr lang="en-US" sz="1500" dirty="0"/>
          </a:p>
        </p:txBody>
      </p:sp>
      <p:sp>
        <p:nvSpPr>
          <p:cNvPr id="8" name="Shape 6"/>
          <p:cNvSpPr/>
          <p:nvPr/>
        </p:nvSpPr>
        <p:spPr>
          <a:xfrm>
            <a:off x="548640" y="278892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7889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752344"/>
            <a:ext cx="3383280" cy="93268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Click Add file.</a:t>
            </a:r>
            <a:endParaRPr lang="en-US" sz="1500" dirty="0"/>
          </a:p>
        </p:txBody>
      </p:sp>
      <p:sp>
        <p:nvSpPr>
          <p:cNvPr id="11" name="Shape 9"/>
          <p:cNvSpPr/>
          <p:nvPr/>
        </p:nvSpPr>
        <p:spPr>
          <a:xfrm>
            <a:off x="548640" y="379476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794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758184"/>
            <a:ext cx="3383280" cy="93268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Choose Upload files.</a:t>
            </a:r>
            <a:endParaRPr lang="en-US" sz="1500" dirty="0"/>
          </a:p>
        </p:txBody>
      </p:sp>
      <p:sp>
        <p:nvSpPr>
          <p:cNvPr id="14" name="Shape 12"/>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5" name="Image 0" descr="shots/06_add_file.png"/>
          <p:cNvPicPr>
            <a:picLocks noChangeAspect="1"/>
          </p:cNvPicPr>
          <p:nvPr/>
        </p:nvPicPr>
        <p:blipFill>
          <a:blip r:embed="rId3"/>
          <a:stretch>
            <a:fillRect/>
          </a:stretch>
        </p:blipFill>
        <p:spPr>
          <a:xfrm>
            <a:off x="4754880" y="1737360"/>
            <a:ext cx="6903720" cy="4099084"/>
          </a:xfrm>
          <a:prstGeom prst="rect">
            <a:avLst/>
          </a:prstGeom>
        </p:spPr>
      </p:pic>
      <p:sp>
        <p:nvSpPr>
          <p:cNvPr id="16" name="Text 13"/>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5</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Upload your .cpp file and commit</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Drag the .cpp file from the Desktop into the box, or click “choose your files”.</a:t>
            </a:r>
            <a:endParaRPr lang="en-US" sz="1500" dirty="0"/>
          </a:p>
        </p:txBody>
      </p:sp>
      <p:sp>
        <p:nvSpPr>
          <p:cNvPr id="8" name="Shape 6"/>
          <p:cNvSpPr/>
          <p:nvPr/>
        </p:nvSpPr>
        <p:spPr>
          <a:xfrm>
            <a:off x="548640" y="269748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6609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Check the file name is correct before committing.</a:t>
            </a:r>
            <a:endParaRPr lang="en-US" sz="1500" dirty="0"/>
          </a:p>
        </p:txBody>
      </p:sp>
      <p:sp>
        <p:nvSpPr>
          <p:cNvPr id="11" name="Shape 9"/>
          <p:cNvSpPr/>
          <p:nvPr/>
        </p:nvSpPr>
        <p:spPr>
          <a:xfrm>
            <a:off x="548640" y="36118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611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5753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Commit message: Add C++ program to find sum of first 50 natural numbers</a:t>
            </a:r>
            <a:endParaRPr lang="en-US" sz="1500" dirty="0"/>
          </a:p>
        </p:txBody>
      </p:sp>
      <p:sp>
        <p:nvSpPr>
          <p:cNvPr id="14" name="Shape 12"/>
          <p:cNvSpPr/>
          <p:nvPr/>
        </p:nvSpPr>
        <p:spPr>
          <a:xfrm>
            <a:off x="548640" y="45262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548640" y="4526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1097280" y="44897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Click Commit changes — this is Commit #2.</a:t>
            </a:r>
            <a:endParaRPr lang="en-US" sz="1500" dirty="0"/>
          </a:p>
        </p:txBody>
      </p:sp>
      <p:sp>
        <p:nvSpPr>
          <p:cNvPr id="17" name="Shape 15"/>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8" name="Image 0" descr="shots/07_upload.png"/>
          <p:cNvPicPr>
            <a:picLocks noChangeAspect="1"/>
          </p:cNvPicPr>
          <p:nvPr/>
        </p:nvPicPr>
        <p:blipFill>
          <a:blip r:embed="rId3"/>
          <a:stretch>
            <a:fillRect/>
          </a:stretch>
        </p:blipFill>
        <p:spPr>
          <a:xfrm>
            <a:off x="4754880" y="1737360"/>
            <a:ext cx="6903720" cy="4099084"/>
          </a:xfrm>
          <a:prstGeom prst="rect">
            <a:avLst/>
          </a:prstGeom>
        </p:spPr>
      </p:pic>
      <p:sp>
        <p:nvSpPr>
          <p:cNvPr id="19" name="Text 16"/>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Writing good commit messages</a:t>
            </a:r>
            <a:endParaRPr lang="en-US" sz="3200" dirty="0"/>
          </a:p>
        </p:txBody>
      </p:sp>
      <p:sp>
        <p:nvSpPr>
          <p:cNvPr id="3" name="Text 1"/>
          <p:cNvSpPr txBox="1"/>
          <p:nvPr/>
        </p:nvSpPr>
        <p:spPr>
          <a:xfrm>
            <a:off x="548640" y="1417320"/>
            <a:ext cx="11064240" cy="640080"/>
          </a:xfrm>
          <a:prstGeom prst="rect">
            <a:avLst/>
          </a:prstGeom>
          <a:noFill/>
          <a:ln/>
        </p:spPr>
        <p:txBody>
          <a:bodyPr wrap="square" lIns="0" tIns="0" rIns="0" bIns="0" rtlCol="0" anchor="ctr"/>
          <a:lstStyle/>
          <a:p>
            <a:pPr marL="0" indent="0">
              <a:buNone/>
            </a:pPr>
            <a:r>
              <a:rPr lang="en-US" sz="1700" dirty="0">
                <a:solidFill>
                  <a:srgbClr val="59636E"/>
                </a:solidFill>
                <a:latin typeface="Calibri" pitchFamily="34" charset="0"/>
                <a:ea typeface="Calibri" pitchFamily="34" charset="-122"/>
                <a:cs typeface="Calibri" pitchFamily="34" charset="-120"/>
              </a:rPr>
              <a:t>A commit message tells your future self and your teacher what changed. Start with a verb and keep it short and specific.</a:t>
            </a:r>
            <a:endParaRPr lang="en-US" sz="1700" dirty="0"/>
          </a:p>
        </p:txBody>
      </p:sp>
      <p:sp>
        <p:nvSpPr>
          <p:cNvPr id="4" name="Shape 2"/>
          <p:cNvSpPr/>
          <p:nvPr/>
        </p:nvSpPr>
        <p:spPr>
          <a:xfrm>
            <a:off x="548640" y="2286000"/>
            <a:ext cx="5394960" cy="3840480"/>
          </a:xfrm>
          <a:prstGeom prst="roundRect">
            <a:avLst>
              <a:gd name="adj" fmla="val 2857"/>
            </a:avLst>
          </a:prstGeom>
          <a:solidFill>
            <a:srgbClr val="E9F7EE"/>
          </a:solidFill>
          <a:ln w="12700">
            <a:solidFill>
              <a:srgbClr val="E9F7EE"/>
            </a:solidFill>
            <a:prstDash val="solid"/>
          </a:ln>
        </p:spPr>
        <p:txBody>
          <a:bodyPr/>
          <a:lstStyle/>
          <a:p>
            <a:endParaRPr lang="en-US"/>
          </a:p>
        </p:txBody>
      </p:sp>
      <p:sp>
        <p:nvSpPr>
          <p:cNvPr id="5" name="Text 3"/>
          <p:cNvSpPr txBox="1"/>
          <p:nvPr/>
        </p:nvSpPr>
        <p:spPr>
          <a:xfrm>
            <a:off x="868680" y="2468880"/>
            <a:ext cx="4572000" cy="457200"/>
          </a:xfrm>
          <a:prstGeom prst="rect">
            <a:avLst/>
          </a:prstGeom>
          <a:noFill/>
          <a:ln/>
        </p:spPr>
        <p:txBody>
          <a:bodyPr wrap="square" lIns="0" tIns="0" rIns="0" bIns="0" rtlCol="0" anchor="ctr"/>
          <a:lstStyle/>
          <a:p>
            <a:pPr marL="0" indent="0">
              <a:buNone/>
            </a:pPr>
            <a:r>
              <a:rPr lang="en-US" sz="2000" b="1" dirty="0">
                <a:solidFill>
                  <a:srgbClr val="1F883D"/>
                </a:solidFill>
                <a:latin typeface="Arial" pitchFamily="34" charset="0"/>
                <a:ea typeface="Arial" pitchFamily="34" charset="-122"/>
                <a:cs typeface="Arial" pitchFamily="34" charset="-120"/>
              </a:rPr>
              <a:t>Good</a:t>
            </a:r>
            <a:endParaRPr lang="en-US" sz="2000" dirty="0"/>
          </a:p>
        </p:txBody>
      </p:sp>
      <p:pic>
        <p:nvPicPr>
          <p:cNvPr id="6" name="Image 0" descr="preencoded.png"/>
          <p:cNvPicPr>
            <a:picLocks noChangeAspect="1"/>
          </p:cNvPicPr>
          <p:nvPr/>
        </p:nvPicPr>
        <p:blipFill>
          <a:blip r:embed="rId3"/>
          <a:stretch>
            <a:fillRect/>
          </a:stretch>
        </p:blipFill>
        <p:spPr>
          <a:xfrm>
            <a:off x="868680" y="3090672"/>
            <a:ext cx="292608" cy="292608"/>
          </a:xfrm>
          <a:prstGeom prst="rect">
            <a:avLst/>
          </a:prstGeom>
        </p:spPr>
      </p:pic>
      <p:sp>
        <p:nvSpPr>
          <p:cNvPr id="7" name="Text 4"/>
          <p:cNvSpPr txBox="1"/>
          <p:nvPr/>
        </p:nvSpPr>
        <p:spPr>
          <a:xfrm>
            <a:off x="1325880" y="3017520"/>
            <a:ext cx="4480560" cy="457200"/>
          </a:xfrm>
          <a:prstGeom prst="rect">
            <a:avLst/>
          </a:prstGeom>
          <a:noFill/>
          <a:ln/>
        </p:spPr>
        <p:txBody>
          <a:bodyPr wrap="square" lIns="0" tIns="0" rIns="0" bIns="0" rtlCol="0" anchor="ctr"/>
          <a:lstStyle/>
          <a:p>
            <a:pPr marL="0" indent="0">
              <a:buNone/>
            </a:pPr>
            <a:r>
              <a:rPr lang="en-US" sz="1500" dirty="0">
                <a:solidFill>
                  <a:srgbClr val="1F2328"/>
                </a:solidFill>
                <a:latin typeface="Courier New" pitchFamily="34" charset="0"/>
                <a:ea typeface="Courier New" pitchFamily="34" charset="-122"/>
                <a:cs typeface="Courier New" pitchFamily="34" charset="-120"/>
              </a:rPr>
              <a:t>Add loop to sum first 50 numbers</a:t>
            </a:r>
            <a:endParaRPr lang="en-US" sz="1500" dirty="0"/>
          </a:p>
        </p:txBody>
      </p:sp>
      <p:pic>
        <p:nvPicPr>
          <p:cNvPr id="8" name="Image 1" descr="preencoded.png"/>
          <p:cNvPicPr>
            <a:picLocks noChangeAspect="1"/>
          </p:cNvPicPr>
          <p:nvPr/>
        </p:nvPicPr>
        <p:blipFill>
          <a:blip r:embed="rId3"/>
          <a:stretch>
            <a:fillRect/>
          </a:stretch>
        </p:blipFill>
        <p:spPr>
          <a:xfrm>
            <a:off x="868680" y="3803904"/>
            <a:ext cx="292608" cy="292608"/>
          </a:xfrm>
          <a:prstGeom prst="rect">
            <a:avLst/>
          </a:prstGeom>
        </p:spPr>
      </p:pic>
      <p:sp>
        <p:nvSpPr>
          <p:cNvPr id="9" name="Text 5"/>
          <p:cNvSpPr txBox="1"/>
          <p:nvPr/>
        </p:nvSpPr>
        <p:spPr>
          <a:xfrm>
            <a:off x="1325880" y="3730752"/>
            <a:ext cx="4480560" cy="457200"/>
          </a:xfrm>
          <a:prstGeom prst="rect">
            <a:avLst/>
          </a:prstGeom>
          <a:noFill/>
          <a:ln/>
        </p:spPr>
        <p:txBody>
          <a:bodyPr wrap="square" lIns="0" tIns="0" rIns="0" bIns="0" rtlCol="0" anchor="ctr"/>
          <a:lstStyle/>
          <a:p>
            <a:pPr marL="0" indent="0">
              <a:buNone/>
            </a:pPr>
            <a:r>
              <a:rPr lang="en-US" sz="1500" dirty="0">
                <a:solidFill>
                  <a:srgbClr val="1F2328"/>
                </a:solidFill>
                <a:latin typeface="Courier New" pitchFamily="34" charset="0"/>
                <a:ea typeface="Courier New" pitchFamily="34" charset="-122"/>
                <a:cs typeface="Courier New" pitchFamily="34" charset="-120"/>
              </a:rPr>
              <a:t>Add header comments with reg no</a:t>
            </a:r>
            <a:endParaRPr lang="en-US" sz="1500" dirty="0"/>
          </a:p>
        </p:txBody>
      </p:sp>
      <p:pic>
        <p:nvPicPr>
          <p:cNvPr id="10" name="Image 2" descr="preencoded.png"/>
          <p:cNvPicPr>
            <a:picLocks noChangeAspect="1"/>
          </p:cNvPicPr>
          <p:nvPr/>
        </p:nvPicPr>
        <p:blipFill>
          <a:blip r:embed="rId3"/>
          <a:stretch>
            <a:fillRect/>
          </a:stretch>
        </p:blipFill>
        <p:spPr>
          <a:xfrm>
            <a:off x="868680" y="4517136"/>
            <a:ext cx="292608" cy="292608"/>
          </a:xfrm>
          <a:prstGeom prst="rect">
            <a:avLst/>
          </a:prstGeom>
        </p:spPr>
      </p:pic>
      <p:sp>
        <p:nvSpPr>
          <p:cNvPr id="11" name="Text 6"/>
          <p:cNvSpPr txBox="1"/>
          <p:nvPr/>
        </p:nvSpPr>
        <p:spPr>
          <a:xfrm>
            <a:off x="1325880" y="4443984"/>
            <a:ext cx="4480560" cy="457200"/>
          </a:xfrm>
          <a:prstGeom prst="rect">
            <a:avLst/>
          </a:prstGeom>
          <a:noFill/>
          <a:ln/>
        </p:spPr>
        <p:txBody>
          <a:bodyPr wrap="square" lIns="0" tIns="0" rIns="0" bIns="0" rtlCol="0" anchor="ctr"/>
          <a:lstStyle/>
          <a:p>
            <a:pPr marL="0" indent="0">
              <a:buNone/>
            </a:pPr>
            <a:r>
              <a:rPr lang="en-US" sz="1500" dirty="0">
                <a:solidFill>
                  <a:srgbClr val="1F2328"/>
                </a:solidFill>
                <a:latin typeface="Courier New" pitchFamily="34" charset="0"/>
                <a:ea typeface="Courier New" pitchFamily="34" charset="-122"/>
                <a:cs typeface="Courier New" pitchFamily="34" charset="-120"/>
              </a:rPr>
              <a:t>Fix off-by-one error in loop</a:t>
            </a:r>
            <a:endParaRPr lang="en-US" sz="1500" dirty="0"/>
          </a:p>
        </p:txBody>
      </p:sp>
      <p:pic>
        <p:nvPicPr>
          <p:cNvPr id="12" name="Image 3" descr="preencoded.png"/>
          <p:cNvPicPr>
            <a:picLocks noChangeAspect="1"/>
          </p:cNvPicPr>
          <p:nvPr/>
        </p:nvPicPr>
        <p:blipFill>
          <a:blip r:embed="rId3"/>
          <a:stretch>
            <a:fillRect/>
          </a:stretch>
        </p:blipFill>
        <p:spPr>
          <a:xfrm>
            <a:off x="868680" y="5230368"/>
            <a:ext cx="292608" cy="292608"/>
          </a:xfrm>
          <a:prstGeom prst="rect">
            <a:avLst/>
          </a:prstGeom>
        </p:spPr>
      </p:pic>
      <p:sp>
        <p:nvSpPr>
          <p:cNvPr id="13" name="Text 7"/>
          <p:cNvSpPr txBox="1"/>
          <p:nvPr/>
        </p:nvSpPr>
        <p:spPr>
          <a:xfrm>
            <a:off x="1325880" y="5157216"/>
            <a:ext cx="4480560" cy="457200"/>
          </a:xfrm>
          <a:prstGeom prst="rect">
            <a:avLst/>
          </a:prstGeom>
          <a:noFill/>
          <a:ln/>
        </p:spPr>
        <p:txBody>
          <a:bodyPr wrap="square" lIns="0" tIns="0" rIns="0" bIns="0" rtlCol="0" anchor="ctr"/>
          <a:lstStyle/>
          <a:p>
            <a:pPr marL="0" indent="0">
              <a:buNone/>
            </a:pPr>
            <a:r>
              <a:rPr lang="en-US" sz="1500" dirty="0">
                <a:solidFill>
                  <a:srgbClr val="1F2328"/>
                </a:solidFill>
                <a:latin typeface="Courier New" pitchFamily="34" charset="0"/>
                <a:ea typeface="Courier New" pitchFamily="34" charset="-122"/>
                <a:cs typeface="Courier New" pitchFamily="34" charset="-120"/>
              </a:rPr>
              <a:t>Update README with output</a:t>
            </a:r>
            <a:endParaRPr lang="en-US" sz="1500" dirty="0"/>
          </a:p>
        </p:txBody>
      </p:sp>
      <p:sp>
        <p:nvSpPr>
          <p:cNvPr id="14" name="Shape 8"/>
          <p:cNvSpPr/>
          <p:nvPr/>
        </p:nvSpPr>
        <p:spPr>
          <a:xfrm>
            <a:off x="6263640" y="2286000"/>
            <a:ext cx="5394960" cy="3840480"/>
          </a:xfrm>
          <a:prstGeom prst="roundRect">
            <a:avLst>
              <a:gd name="adj" fmla="val 2857"/>
            </a:avLst>
          </a:prstGeom>
          <a:solidFill>
            <a:srgbClr val="FDECEC"/>
          </a:solidFill>
          <a:ln w="12700">
            <a:solidFill>
              <a:srgbClr val="FDECEC"/>
            </a:solidFill>
            <a:prstDash val="solid"/>
          </a:ln>
        </p:spPr>
        <p:txBody>
          <a:bodyPr/>
          <a:lstStyle/>
          <a:p>
            <a:endParaRPr lang="en-US"/>
          </a:p>
        </p:txBody>
      </p:sp>
      <p:sp>
        <p:nvSpPr>
          <p:cNvPr id="15" name="Text 9"/>
          <p:cNvSpPr txBox="1"/>
          <p:nvPr/>
        </p:nvSpPr>
        <p:spPr>
          <a:xfrm>
            <a:off x="6583680" y="2468880"/>
            <a:ext cx="4572000" cy="457200"/>
          </a:xfrm>
          <a:prstGeom prst="rect">
            <a:avLst/>
          </a:prstGeom>
          <a:noFill/>
          <a:ln/>
        </p:spPr>
        <p:txBody>
          <a:bodyPr wrap="square" lIns="0" tIns="0" rIns="0" bIns="0" rtlCol="0" anchor="ctr"/>
          <a:lstStyle/>
          <a:p>
            <a:pPr marL="0" indent="0">
              <a:buNone/>
            </a:pPr>
            <a:r>
              <a:rPr lang="en-US" sz="2000" b="1" dirty="0">
                <a:solidFill>
                  <a:srgbClr val="CF222E"/>
                </a:solidFill>
                <a:latin typeface="Arial" pitchFamily="34" charset="0"/>
                <a:ea typeface="Arial" pitchFamily="34" charset="-122"/>
                <a:cs typeface="Arial" pitchFamily="34" charset="-120"/>
              </a:rPr>
              <a:t>Avoid</a:t>
            </a:r>
            <a:endParaRPr lang="en-US" sz="2000" dirty="0"/>
          </a:p>
        </p:txBody>
      </p:sp>
      <p:pic>
        <p:nvPicPr>
          <p:cNvPr id="16" name="Image 4" descr="preencoded.png"/>
          <p:cNvPicPr>
            <a:picLocks noChangeAspect="1"/>
          </p:cNvPicPr>
          <p:nvPr/>
        </p:nvPicPr>
        <p:blipFill>
          <a:blip r:embed="rId4"/>
          <a:stretch>
            <a:fillRect/>
          </a:stretch>
        </p:blipFill>
        <p:spPr>
          <a:xfrm>
            <a:off x="6583680" y="3090672"/>
            <a:ext cx="292608" cy="292608"/>
          </a:xfrm>
          <a:prstGeom prst="rect">
            <a:avLst/>
          </a:prstGeom>
        </p:spPr>
      </p:pic>
      <p:sp>
        <p:nvSpPr>
          <p:cNvPr id="17" name="Text 10"/>
          <p:cNvSpPr txBox="1"/>
          <p:nvPr/>
        </p:nvSpPr>
        <p:spPr>
          <a:xfrm>
            <a:off x="7040880" y="3017520"/>
            <a:ext cx="4480560" cy="457200"/>
          </a:xfrm>
          <a:prstGeom prst="rect">
            <a:avLst/>
          </a:prstGeom>
          <a:noFill/>
          <a:ln/>
        </p:spPr>
        <p:txBody>
          <a:bodyPr wrap="square" lIns="0" tIns="0" rIns="0" bIns="0" rtlCol="0" anchor="ctr"/>
          <a:lstStyle/>
          <a:p>
            <a:pPr marL="0" indent="0">
              <a:buNone/>
            </a:pPr>
            <a:r>
              <a:rPr lang="en-US" sz="1500" dirty="0">
                <a:solidFill>
                  <a:srgbClr val="1F2328"/>
                </a:solidFill>
                <a:latin typeface="Courier New" pitchFamily="34" charset="0"/>
                <a:ea typeface="Courier New" pitchFamily="34" charset="-122"/>
                <a:cs typeface="Courier New" pitchFamily="34" charset="-120"/>
              </a:rPr>
              <a:t>update</a:t>
            </a:r>
            <a:endParaRPr lang="en-US" sz="1500" dirty="0"/>
          </a:p>
        </p:txBody>
      </p:sp>
      <p:pic>
        <p:nvPicPr>
          <p:cNvPr id="18" name="Image 5" descr="preencoded.png"/>
          <p:cNvPicPr>
            <a:picLocks noChangeAspect="1"/>
          </p:cNvPicPr>
          <p:nvPr/>
        </p:nvPicPr>
        <p:blipFill>
          <a:blip r:embed="rId4"/>
          <a:stretch>
            <a:fillRect/>
          </a:stretch>
        </p:blipFill>
        <p:spPr>
          <a:xfrm>
            <a:off x="6583680" y="3803904"/>
            <a:ext cx="292608" cy="292608"/>
          </a:xfrm>
          <a:prstGeom prst="rect">
            <a:avLst/>
          </a:prstGeom>
        </p:spPr>
      </p:pic>
      <p:sp>
        <p:nvSpPr>
          <p:cNvPr id="19" name="Text 11"/>
          <p:cNvSpPr txBox="1"/>
          <p:nvPr/>
        </p:nvSpPr>
        <p:spPr>
          <a:xfrm>
            <a:off x="7040880" y="3730752"/>
            <a:ext cx="4480560" cy="457200"/>
          </a:xfrm>
          <a:prstGeom prst="rect">
            <a:avLst/>
          </a:prstGeom>
          <a:noFill/>
          <a:ln/>
        </p:spPr>
        <p:txBody>
          <a:bodyPr wrap="square" lIns="0" tIns="0" rIns="0" bIns="0" rtlCol="0" anchor="ctr"/>
          <a:lstStyle/>
          <a:p>
            <a:pPr marL="0" indent="0">
              <a:buNone/>
            </a:pPr>
            <a:r>
              <a:rPr lang="en-US" sz="1500" dirty="0">
                <a:solidFill>
                  <a:srgbClr val="1F2328"/>
                </a:solidFill>
                <a:latin typeface="Courier New" pitchFamily="34" charset="0"/>
                <a:ea typeface="Courier New" pitchFamily="34" charset="-122"/>
                <a:cs typeface="Courier New" pitchFamily="34" charset="-120"/>
              </a:rPr>
              <a:t>asdf</a:t>
            </a:r>
            <a:endParaRPr lang="en-US" sz="1500" dirty="0"/>
          </a:p>
        </p:txBody>
      </p:sp>
      <p:pic>
        <p:nvPicPr>
          <p:cNvPr id="20" name="Image 6" descr="preencoded.png"/>
          <p:cNvPicPr>
            <a:picLocks noChangeAspect="1"/>
          </p:cNvPicPr>
          <p:nvPr/>
        </p:nvPicPr>
        <p:blipFill>
          <a:blip r:embed="rId4"/>
          <a:stretch>
            <a:fillRect/>
          </a:stretch>
        </p:blipFill>
        <p:spPr>
          <a:xfrm>
            <a:off x="6583680" y="4517136"/>
            <a:ext cx="292608" cy="292608"/>
          </a:xfrm>
          <a:prstGeom prst="rect">
            <a:avLst/>
          </a:prstGeom>
        </p:spPr>
      </p:pic>
      <p:sp>
        <p:nvSpPr>
          <p:cNvPr id="21" name="Text 12"/>
          <p:cNvSpPr txBox="1"/>
          <p:nvPr/>
        </p:nvSpPr>
        <p:spPr>
          <a:xfrm>
            <a:off x="7040880" y="4443984"/>
            <a:ext cx="4480560" cy="457200"/>
          </a:xfrm>
          <a:prstGeom prst="rect">
            <a:avLst/>
          </a:prstGeom>
          <a:noFill/>
          <a:ln/>
        </p:spPr>
        <p:txBody>
          <a:bodyPr wrap="square" lIns="0" tIns="0" rIns="0" bIns="0" rtlCol="0" anchor="ctr"/>
          <a:lstStyle/>
          <a:p>
            <a:pPr marL="0" indent="0">
              <a:buNone/>
            </a:pPr>
            <a:r>
              <a:rPr lang="en-US" sz="1500" dirty="0">
                <a:solidFill>
                  <a:srgbClr val="1F2328"/>
                </a:solidFill>
                <a:latin typeface="Courier New" pitchFamily="34" charset="0"/>
                <a:ea typeface="Courier New" pitchFamily="34" charset="-122"/>
                <a:cs typeface="Courier New" pitchFamily="34" charset="-120"/>
              </a:rPr>
              <a:t>final final 2</a:t>
            </a:r>
            <a:endParaRPr lang="en-US" sz="1500" dirty="0"/>
          </a:p>
        </p:txBody>
      </p:sp>
      <p:pic>
        <p:nvPicPr>
          <p:cNvPr id="22" name="Image 7" descr="preencoded.png"/>
          <p:cNvPicPr>
            <a:picLocks noChangeAspect="1"/>
          </p:cNvPicPr>
          <p:nvPr/>
        </p:nvPicPr>
        <p:blipFill>
          <a:blip r:embed="rId4"/>
          <a:stretch>
            <a:fillRect/>
          </a:stretch>
        </p:blipFill>
        <p:spPr>
          <a:xfrm>
            <a:off x="6583680" y="5230368"/>
            <a:ext cx="292608" cy="292608"/>
          </a:xfrm>
          <a:prstGeom prst="rect">
            <a:avLst/>
          </a:prstGeom>
        </p:spPr>
      </p:pic>
      <p:sp>
        <p:nvSpPr>
          <p:cNvPr id="23" name="Text 13"/>
          <p:cNvSpPr txBox="1"/>
          <p:nvPr/>
        </p:nvSpPr>
        <p:spPr>
          <a:xfrm>
            <a:off x="7040880" y="5157216"/>
            <a:ext cx="4480560" cy="457200"/>
          </a:xfrm>
          <a:prstGeom prst="rect">
            <a:avLst/>
          </a:prstGeom>
          <a:noFill/>
          <a:ln/>
        </p:spPr>
        <p:txBody>
          <a:bodyPr wrap="square" lIns="0" tIns="0" rIns="0" bIns="0" rtlCol="0" anchor="ctr"/>
          <a:lstStyle/>
          <a:p>
            <a:pPr marL="0" indent="0">
              <a:buNone/>
            </a:pPr>
            <a:r>
              <a:rPr lang="en-US" sz="1500" dirty="0">
                <a:solidFill>
                  <a:srgbClr val="1F2328"/>
                </a:solidFill>
                <a:latin typeface="Courier New" pitchFamily="34" charset="0"/>
                <a:ea typeface="Courier New" pitchFamily="34" charset="-122"/>
                <a:cs typeface="Courier New" pitchFamily="34" charset="-120"/>
              </a:rPr>
              <a:t>changes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Your 5 commits — the plan</a:t>
            </a:r>
            <a:endParaRPr lang="en-US" sz="3200" dirty="0"/>
          </a:p>
        </p:txBody>
      </p:sp>
      <p:sp>
        <p:nvSpPr>
          <p:cNvPr id="3" name="Shape 1"/>
          <p:cNvSpPr/>
          <p:nvPr/>
        </p:nvSpPr>
        <p:spPr>
          <a:xfrm>
            <a:off x="960120" y="1737360"/>
            <a:ext cx="0" cy="4389120"/>
          </a:xfrm>
          <a:prstGeom prst="line">
            <a:avLst/>
          </a:prstGeom>
          <a:noFill/>
          <a:ln w="25400">
            <a:solidFill>
              <a:srgbClr val="D1D9E0"/>
            </a:solidFill>
            <a:prstDash val="solid"/>
          </a:ln>
        </p:spPr>
        <p:txBody>
          <a:bodyPr/>
          <a:lstStyle/>
          <a:p>
            <a:endParaRPr lang="en-US"/>
          </a:p>
        </p:txBody>
      </p:sp>
      <p:sp>
        <p:nvSpPr>
          <p:cNvPr id="4" name="Shape 2"/>
          <p:cNvSpPr/>
          <p:nvPr/>
        </p:nvSpPr>
        <p:spPr>
          <a:xfrm>
            <a:off x="685800" y="1508760"/>
            <a:ext cx="548640" cy="548640"/>
          </a:xfrm>
          <a:prstGeom prst="ellipse">
            <a:avLst/>
          </a:prstGeom>
          <a:solidFill>
            <a:srgbClr val="1F883D"/>
          </a:solidFill>
          <a:ln w="25400">
            <a:solidFill>
              <a:srgbClr val="FFFFFF"/>
            </a:solidFill>
            <a:prstDash val="solid"/>
          </a:ln>
        </p:spPr>
        <p:txBody>
          <a:bodyPr/>
          <a:lstStyle/>
          <a:p>
            <a:endParaRPr lang="en-US"/>
          </a:p>
        </p:txBody>
      </p:sp>
      <p:sp>
        <p:nvSpPr>
          <p:cNvPr id="5" name="Text 3"/>
          <p:cNvSpPr txBox="1"/>
          <p:nvPr/>
        </p:nvSpPr>
        <p:spPr>
          <a:xfrm>
            <a:off x="685800" y="15087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463040" y="1490472"/>
            <a:ext cx="7498080" cy="347472"/>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Initial commit</a:t>
            </a:r>
            <a:endParaRPr lang="en-US" sz="1600" dirty="0"/>
          </a:p>
        </p:txBody>
      </p:sp>
      <p:sp>
        <p:nvSpPr>
          <p:cNvPr id="7" name="Text 5"/>
          <p:cNvSpPr txBox="1"/>
          <p:nvPr/>
        </p:nvSpPr>
        <p:spPr>
          <a:xfrm>
            <a:off x="1463040" y="1856232"/>
            <a:ext cx="7498080" cy="320040"/>
          </a:xfrm>
          <a:prstGeom prst="rect">
            <a:avLst/>
          </a:prstGeom>
          <a:noFill/>
          <a:ln/>
        </p:spPr>
        <p:txBody>
          <a:bodyPr wrap="square" lIns="0" tIns="0" rIns="0" bIns="0" rtlCol="0" anchor="ctr"/>
          <a:lstStyle/>
          <a:p>
            <a:pPr marL="0" indent="0">
              <a:buNone/>
            </a:pPr>
            <a:r>
              <a:rPr lang="en-US" sz="1400" dirty="0">
                <a:solidFill>
                  <a:srgbClr val="59636E"/>
                </a:solidFill>
                <a:latin typeface="Calibri" pitchFamily="34" charset="0"/>
                <a:ea typeface="Calibri" pitchFamily="34" charset="-122"/>
                <a:cs typeface="Calibri" pitchFamily="34" charset="-120"/>
              </a:rPr>
              <a:t>Created automatically when you tick “Add README”.</a:t>
            </a:r>
            <a:endParaRPr lang="en-US" sz="1400" dirty="0"/>
          </a:p>
        </p:txBody>
      </p:sp>
      <p:sp>
        <p:nvSpPr>
          <p:cNvPr id="8" name="Shape 6"/>
          <p:cNvSpPr/>
          <p:nvPr/>
        </p:nvSpPr>
        <p:spPr>
          <a:xfrm>
            <a:off x="9692640" y="1600200"/>
            <a:ext cx="1920240" cy="384048"/>
          </a:xfrm>
          <a:prstGeom prst="roundRect">
            <a:avLst>
              <a:gd name="adj" fmla="val 50000"/>
            </a:avLst>
          </a:prstGeom>
          <a:solidFill>
            <a:srgbClr val="F3F6F9"/>
          </a:solidFill>
          <a:ln w="12700">
            <a:solidFill>
              <a:srgbClr val="F3F6F9"/>
            </a:solidFill>
            <a:prstDash val="solid"/>
          </a:ln>
        </p:spPr>
        <p:txBody>
          <a:bodyPr/>
          <a:lstStyle/>
          <a:p>
            <a:endParaRPr lang="en-US"/>
          </a:p>
        </p:txBody>
      </p:sp>
      <p:sp>
        <p:nvSpPr>
          <p:cNvPr id="9" name="Text 7"/>
          <p:cNvSpPr txBox="1"/>
          <p:nvPr/>
        </p:nvSpPr>
        <p:spPr>
          <a:xfrm>
            <a:off x="9692640" y="1600200"/>
            <a:ext cx="1920240" cy="384048"/>
          </a:xfrm>
          <a:prstGeom prst="rect">
            <a:avLst/>
          </a:prstGeom>
          <a:noFill/>
          <a:ln/>
        </p:spPr>
        <p:txBody>
          <a:bodyPr wrap="square" lIns="0" tIns="0" rIns="0" bIns="0" rtlCol="0" anchor="ctr"/>
          <a:lstStyle/>
          <a:p>
            <a:pPr marL="0" indent="0" algn="ctr">
              <a:buNone/>
            </a:pPr>
            <a:r>
              <a:rPr lang="en-US" sz="1200" b="1" dirty="0">
                <a:solidFill>
                  <a:srgbClr val="1F2328"/>
                </a:solidFill>
                <a:latin typeface="Calibri" pitchFamily="34" charset="0"/>
                <a:ea typeface="Calibri" pitchFamily="34" charset="-122"/>
                <a:cs typeface="Calibri" pitchFamily="34" charset="-120"/>
              </a:rPr>
              <a:t>README.md</a:t>
            </a:r>
            <a:endParaRPr lang="en-US" sz="1200" dirty="0"/>
          </a:p>
        </p:txBody>
      </p:sp>
      <p:sp>
        <p:nvSpPr>
          <p:cNvPr id="10" name="Shape 8"/>
          <p:cNvSpPr/>
          <p:nvPr/>
        </p:nvSpPr>
        <p:spPr>
          <a:xfrm>
            <a:off x="685800" y="2441448"/>
            <a:ext cx="548640" cy="548640"/>
          </a:xfrm>
          <a:prstGeom prst="ellipse">
            <a:avLst/>
          </a:prstGeom>
          <a:solidFill>
            <a:srgbClr val="1F883D"/>
          </a:solidFill>
          <a:ln w="25400">
            <a:solidFill>
              <a:srgbClr val="FFFFFF"/>
            </a:solidFill>
            <a:prstDash val="solid"/>
          </a:ln>
        </p:spPr>
        <p:txBody>
          <a:bodyPr/>
          <a:lstStyle/>
          <a:p>
            <a:endParaRPr lang="en-US"/>
          </a:p>
        </p:txBody>
      </p:sp>
      <p:sp>
        <p:nvSpPr>
          <p:cNvPr id="11" name="Text 9"/>
          <p:cNvSpPr txBox="1"/>
          <p:nvPr/>
        </p:nvSpPr>
        <p:spPr>
          <a:xfrm>
            <a:off x="685800" y="24414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1463040" y="2423160"/>
            <a:ext cx="7498080" cy="347472"/>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Add C++ program to find sum of first 50 natural numbers</a:t>
            </a:r>
            <a:endParaRPr lang="en-US" sz="1600" dirty="0"/>
          </a:p>
        </p:txBody>
      </p:sp>
      <p:sp>
        <p:nvSpPr>
          <p:cNvPr id="13" name="Text 11"/>
          <p:cNvSpPr txBox="1"/>
          <p:nvPr/>
        </p:nvSpPr>
        <p:spPr>
          <a:xfrm>
            <a:off x="1463040" y="2788920"/>
            <a:ext cx="7498080" cy="320040"/>
          </a:xfrm>
          <a:prstGeom prst="rect">
            <a:avLst/>
          </a:prstGeom>
          <a:noFill/>
          <a:ln/>
        </p:spPr>
        <p:txBody>
          <a:bodyPr wrap="square" lIns="0" tIns="0" rIns="0" bIns="0" rtlCol="0" anchor="ctr"/>
          <a:lstStyle/>
          <a:p>
            <a:pPr marL="0" indent="0">
              <a:buNone/>
            </a:pPr>
            <a:r>
              <a:rPr lang="en-US" sz="1400" dirty="0">
                <a:solidFill>
                  <a:srgbClr val="59636E"/>
                </a:solidFill>
                <a:latin typeface="Calibri" pitchFamily="34" charset="0"/>
                <a:ea typeface="Calibri" pitchFamily="34" charset="-122"/>
                <a:cs typeface="Calibri" pitchFamily="34" charset="-120"/>
              </a:rPr>
              <a:t>Upload the simple loop version of the .cpp file.</a:t>
            </a:r>
            <a:endParaRPr lang="en-US" sz="1400" dirty="0"/>
          </a:p>
        </p:txBody>
      </p:sp>
      <p:sp>
        <p:nvSpPr>
          <p:cNvPr id="14" name="Shape 12"/>
          <p:cNvSpPr/>
          <p:nvPr/>
        </p:nvSpPr>
        <p:spPr>
          <a:xfrm>
            <a:off x="9692640" y="2532888"/>
            <a:ext cx="1920240" cy="384048"/>
          </a:xfrm>
          <a:prstGeom prst="roundRect">
            <a:avLst>
              <a:gd name="adj" fmla="val 50000"/>
            </a:avLst>
          </a:prstGeom>
          <a:solidFill>
            <a:srgbClr val="F3F6F9"/>
          </a:solidFill>
          <a:ln w="12700">
            <a:solidFill>
              <a:srgbClr val="F3F6F9"/>
            </a:solidFill>
            <a:prstDash val="solid"/>
          </a:ln>
        </p:spPr>
        <p:txBody>
          <a:bodyPr/>
          <a:lstStyle/>
          <a:p>
            <a:endParaRPr lang="en-US"/>
          </a:p>
        </p:txBody>
      </p:sp>
      <p:sp>
        <p:nvSpPr>
          <p:cNvPr id="15" name="Text 13"/>
          <p:cNvSpPr txBox="1"/>
          <p:nvPr/>
        </p:nvSpPr>
        <p:spPr>
          <a:xfrm>
            <a:off x="9692640" y="2532888"/>
            <a:ext cx="1920240" cy="384048"/>
          </a:xfrm>
          <a:prstGeom prst="rect">
            <a:avLst/>
          </a:prstGeom>
          <a:noFill/>
          <a:ln/>
        </p:spPr>
        <p:txBody>
          <a:bodyPr wrap="square" lIns="0" tIns="0" rIns="0" bIns="0" rtlCol="0" anchor="ctr"/>
          <a:lstStyle/>
          <a:p>
            <a:pPr marL="0" indent="0" algn="ctr">
              <a:buNone/>
            </a:pPr>
            <a:r>
              <a:rPr lang="en-US" sz="1200" b="1" dirty="0">
                <a:solidFill>
                  <a:srgbClr val="1F2328"/>
                </a:solidFill>
                <a:latin typeface="Calibri" pitchFamily="34" charset="0"/>
                <a:ea typeface="Calibri" pitchFamily="34" charset="-122"/>
                <a:cs typeface="Calibri" pitchFamily="34" charset="-120"/>
              </a:rPr>
              <a:t>Upload</a:t>
            </a:r>
            <a:endParaRPr lang="en-US" sz="1200" dirty="0"/>
          </a:p>
        </p:txBody>
      </p:sp>
      <p:sp>
        <p:nvSpPr>
          <p:cNvPr id="16" name="Shape 14"/>
          <p:cNvSpPr/>
          <p:nvPr/>
        </p:nvSpPr>
        <p:spPr>
          <a:xfrm>
            <a:off x="685800" y="3374136"/>
            <a:ext cx="548640" cy="548640"/>
          </a:xfrm>
          <a:prstGeom prst="ellipse">
            <a:avLst/>
          </a:prstGeom>
          <a:solidFill>
            <a:srgbClr val="1F883D"/>
          </a:solidFill>
          <a:ln w="25400">
            <a:solidFill>
              <a:srgbClr val="FFFFFF"/>
            </a:solidFill>
            <a:prstDash val="solid"/>
          </a:ln>
        </p:spPr>
        <p:txBody>
          <a:bodyPr/>
          <a:lstStyle/>
          <a:p>
            <a:endParaRPr lang="en-US"/>
          </a:p>
        </p:txBody>
      </p:sp>
      <p:sp>
        <p:nvSpPr>
          <p:cNvPr id="17" name="Text 15"/>
          <p:cNvSpPr txBox="1"/>
          <p:nvPr/>
        </p:nvSpPr>
        <p:spPr>
          <a:xfrm>
            <a:off x="685800" y="337413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1463040" y="3355848"/>
            <a:ext cx="7498080" cy="347472"/>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Add header comments with name and reg no</a:t>
            </a:r>
            <a:endParaRPr lang="en-US" sz="1600" dirty="0"/>
          </a:p>
        </p:txBody>
      </p:sp>
      <p:sp>
        <p:nvSpPr>
          <p:cNvPr id="19" name="Text 17"/>
          <p:cNvSpPr txBox="1"/>
          <p:nvPr/>
        </p:nvSpPr>
        <p:spPr>
          <a:xfrm>
            <a:off x="1463040" y="3721608"/>
            <a:ext cx="7498080" cy="320040"/>
          </a:xfrm>
          <a:prstGeom prst="rect">
            <a:avLst/>
          </a:prstGeom>
          <a:noFill/>
          <a:ln/>
        </p:spPr>
        <p:txBody>
          <a:bodyPr wrap="square" lIns="0" tIns="0" rIns="0" bIns="0" rtlCol="0" anchor="ctr"/>
          <a:lstStyle/>
          <a:p>
            <a:pPr marL="0" indent="0">
              <a:buNone/>
            </a:pPr>
            <a:r>
              <a:rPr lang="en-US" sz="1400" dirty="0">
                <a:solidFill>
                  <a:srgbClr val="59636E"/>
                </a:solidFill>
                <a:latin typeface="Calibri" pitchFamily="34" charset="0"/>
                <a:ea typeface="Calibri" pitchFamily="34" charset="-122"/>
                <a:cs typeface="Calibri" pitchFamily="34" charset="-120"/>
              </a:rPr>
              <a:t>Edit the .cpp: add the /* … */ block at the top.</a:t>
            </a:r>
            <a:endParaRPr lang="en-US" sz="1400" dirty="0"/>
          </a:p>
        </p:txBody>
      </p:sp>
      <p:sp>
        <p:nvSpPr>
          <p:cNvPr id="20" name="Shape 18"/>
          <p:cNvSpPr/>
          <p:nvPr/>
        </p:nvSpPr>
        <p:spPr>
          <a:xfrm>
            <a:off x="9692640" y="3465576"/>
            <a:ext cx="1920240" cy="384048"/>
          </a:xfrm>
          <a:prstGeom prst="roundRect">
            <a:avLst>
              <a:gd name="adj" fmla="val 50000"/>
            </a:avLst>
          </a:prstGeom>
          <a:solidFill>
            <a:srgbClr val="F3F6F9"/>
          </a:solidFill>
          <a:ln w="12700">
            <a:solidFill>
              <a:srgbClr val="F3F6F9"/>
            </a:solidFill>
            <a:prstDash val="solid"/>
          </a:ln>
        </p:spPr>
        <p:txBody>
          <a:bodyPr/>
          <a:lstStyle/>
          <a:p>
            <a:endParaRPr lang="en-US"/>
          </a:p>
        </p:txBody>
      </p:sp>
      <p:sp>
        <p:nvSpPr>
          <p:cNvPr id="21" name="Text 19"/>
          <p:cNvSpPr txBox="1"/>
          <p:nvPr/>
        </p:nvSpPr>
        <p:spPr>
          <a:xfrm>
            <a:off x="9692640" y="3465576"/>
            <a:ext cx="1920240" cy="384048"/>
          </a:xfrm>
          <a:prstGeom prst="rect">
            <a:avLst/>
          </a:prstGeom>
          <a:noFill/>
          <a:ln/>
        </p:spPr>
        <p:txBody>
          <a:bodyPr wrap="square" lIns="0" tIns="0" rIns="0" bIns="0" rtlCol="0" anchor="ctr"/>
          <a:lstStyle/>
          <a:p>
            <a:pPr marL="0" indent="0" algn="ctr">
              <a:buNone/>
            </a:pPr>
            <a:r>
              <a:rPr lang="en-US" sz="1200" b="1" dirty="0">
                <a:solidFill>
                  <a:srgbClr val="1F2328"/>
                </a:solidFill>
                <a:latin typeface="Calibri" pitchFamily="34" charset="0"/>
                <a:ea typeface="Calibri" pitchFamily="34" charset="-122"/>
                <a:cs typeface="Calibri" pitchFamily="34" charset="-120"/>
              </a:rPr>
              <a:t>Edit .cpp</a:t>
            </a:r>
            <a:endParaRPr lang="en-US" sz="1200" dirty="0"/>
          </a:p>
        </p:txBody>
      </p:sp>
      <p:sp>
        <p:nvSpPr>
          <p:cNvPr id="22" name="Shape 20"/>
          <p:cNvSpPr/>
          <p:nvPr/>
        </p:nvSpPr>
        <p:spPr>
          <a:xfrm>
            <a:off x="685800" y="4306824"/>
            <a:ext cx="548640" cy="548640"/>
          </a:xfrm>
          <a:prstGeom prst="ellipse">
            <a:avLst/>
          </a:prstGeom>
          <a:solidFill>
            <a:srgbClr val="1F883D"/>
          </a:solidFill>
          <a:ln w="25400">
            <a:solidFill>
              <a:srgbClr val="FFFFFF"/>
            </a:solidFill>
            <a:prstDash val="solid"/>
          </a:ln>
        </p:spPr>
        <p:txBody>
          <a:bodyPr/>
          <a:lstStyle/>
          <a:p>
            <a:endParaRPr lang="en-US"/>
          </a:p>
        </p:txBody>
      </p:sp>
      <p:sp>
        <p:nvSpPr>
          <p:cNvPr id="23" name="Text 21"/>
          <p:cNvSpPr txBox="1"/>
          <p:nvPr/>
        </p:nvSpPr>
        <p:spPr>
          <a:xfrm>
            <a:off x="685800" y="430682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4" name="Text 22"/>
          <p:cNvSpPr txBox="1"/>
          <p:nvPr/>
        </p:nvSpPr>
        <p:spPr>
          <a:xfrm>
            <a:off x="1463040" y="4288536"/>
            <a:ext cx="7498080" cy="347472"/>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Add formula-based verification n(n+1)/2</a:t>
            </a:r>
            <a:endParaRPr lang="en-US" sz="1600" dirty="0"/>
          </a:p>
        </p:txBody>
      </p:sp>
      <p:sp>
        <p:nvSpPr>
          <p:cNvPr id="25" name="Text 23"/>
          <p:cNvSpPr txBox="1"/>
          <p:nvPr/>
        </p:nvSpPr>
        <p:spPr>
          <a:xfrm>
            <a:off x="1463040" y="4654296"/>
            <a:ext cx="7498080" cy="320040"/>
          </a:xfrm>
          <a:prstGeom prst="rect">
            <a:avLst/>
          </a:prstGeom>
          <a:noFill/>
          <a:ln/>
        </p:spPr>
        <p:txBody>
          <a:bodyPr wrap="square" lIns="0" tIns="0" rIns="0" bIns="0" rtlCol="0" anchor="ctr"/>
          <a:lstStyle/>
          <a:p>
            <a:pPr marL="0" indent="0">
              <a:buNone/>
            </a:pPr>
            <a:r>
              <a:rPr lang="en-US" sz="1400" dirty="0">
                <a:solidFill>
                  <a:srgbClr val="59636E"/>
                </a:solidFill>
                <a:latin typeface="Calibri" pitchFamily="34" charset="0"/>
                <a:ea typeface="Calibri" pitchFamily="34" charset="-122"/>
                <a:cs typeface="Calibri" pitchFamily="34" charset="-120"/>
              </a:rPr>
              <a:t>Edit the .cpp: add Method 2 using the formula.</a:t>
            </a:r>
            <a:endParaRPr lang="en-US" sz="1400" dirty="0"/>
          </a:p>
        </p:txBody>
      </p:sp>
      <p:sp>
        <p:nvSpPr>
          <p:cNvPr id="26" name="Shape 24"/>
          <p:cNvSpPr/>
          <p:nvPr/>
        </p:nvSpPr>
        <p:spPr>
          <a:xfrm>
            <a:off x="9692640" y="4398264"/>
            <a:ext cx="1920240" cy="384048"/>
          </a:xfrm>
          <a:prstGeom prst="roundRect">
            <a:avLst>
              <a:gd name="adj" fmla="val 50000"/>
            </a:avLst>
          </a:prstGeom>
          <a:solidFill>
            <a:srgbClr val="F3F6F9"/>
          </a:solidFill>
          <a:ln w="12700">
            <a:solidFill>
              <a:srgbClr val="F3F6F9"/>
            </a:solidFill>
            <a:prstDash val="solid"/>
          </a:ln>
        </p:spPr>
        <p:txBody>
          <a:bodyPr/>
          <a:lstStyle/>
          <a:p>
            <a:endParaRPr lang="en-US"/>
          </a:p>
        </p:txBody>
      </p:sp>
      <p:sp>
        <p:nvSpPr>
          <p:cNvPr id="27" name="Text 25"/>
          <p:cNvSpPr txBox="1"/>
          <p:nvPr/>
        </p:nvSpPr>
        <p:spPr>
          <a:xfrm>
            <a:off x="9692640" y="4398264"/>
            <a:ext cx="1920240" cy="384048"/>
          </a:xfrm>
          <a:prstGeom prst="rect">
            <a:avLst/>
          </a:prstGeom>
          <a:noFill/>
          <a:ln/>
        </p:spPr>
        <p:txBody>
          <a:bodyPr wrap="square" lIns="0" tIns="0" rIns="0" bIns="0" rtlCol="0" anchor="ctr"/>
          <a:lstStyle/>
          <a:p>
            <a:pPr marL="0" indent="0" algn="ctr">
              <a:buNone/>
            </a:pPr>
            <a:r>
              <a:rPr lang="en-US" sz="1200" b="1" dirty="0">
                <a:solidFill>
                  <a:srgbClr val="1F2328"/>
                </a:solidFill>
                <a:latin typeface="Calibri" pitchFamily="34" charset="0"/>
                <a:ea typeface="Calibri" pitchFamily="34" charset="-122"/>
                <a:cs typeface="Calibri" pitchFamily="34" charset="-120"/>
              </a:rPr>
              <a:t>Edit .cpp</a:t>
            </a:r>
            <a:endParaRPr lang="en-US" sz="1200" dirty="0"/>
          </a:p>
        </p:txBody>
      </p:sp>
      <p:sp>
        <p:nvSpPr>
          <p:cNvPr id="28" name="Shape 26"/>
          <p:cNvSpPr/>
          <p:nvPr/>
        </p:nvSpPr>
        <p:spPr>
          <a:xfrm>
            <a:off x="685800" y="5239512"/>
            <a:ext cx="548640" cy="548640"/>
          </a:xfrm>
          <a:prstGeom prst="ellipse">
            <a:avLst/>
          </a:prstGeom>
          <a:solidFill>
            <a:srgbClr val="1F883D"/>
          </a:solidFill>
          <a:ln w="25400">
            <a:solidFill>
              <a:srgbClr val="FFFFFF"/>
            </a:solidFill>
            <a:prstDash val="solid"/>
          </a:ln>
        </p:spPr>
        <p:txBody>
          <a:bodyPr/>
          <a:lstStyle/>
          <a:p>
            <a:endParaRPr lang="en-US"/>
          </a:p>
        </p:txBody>
      </p:sp>
      <p:sp>
        <p:nvSpPr>
          <p:cNvPr id="29" name="Text 27"/>
          <p:cNvSpPr txBox="1"/>
          <p:nvPr/>
        </p:nvSpPr>
        <p:spPr>
          <a:xfrm>
            <a:off x="685800" y="52395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8"/>
          <p:cNvSpPr txBox="1"/>
          <p:nvPr/>
        </p:nvSpPr>
        <p:spPr>
          <a:xfrm>
            <a:off x="1463040" y="5221224"/>
            <a:ext cx="7498080" cy="347472"/>
          </a:xfrm>
          <a:prstGeom prst="rect">
            <a:avLst/>
          </a:prstGeom>
          <a:noFill/>
          <a:ln/>
        </p:spPr>
        <p:txBody>
          <a:bodyPr wrap="square" lIns="0" tIns="0" rIns="0" bIns="0" rtlCol="0" anchor="ctr"/>
          <a:lstStyle/>
          <a:p>
            <a:pPr marL="0" indent="0">
              <a:buNone/>
            </a:pPr>
            <a:r>
              <a:rPr lang="en-US" sz="1600" b="1" dirty="0">
                <a:solidFill>
                  <a:srgbClr val="1F2328"/>
                </a:solidFill>
                <a:latin typeface="Courier New" pitchFamily="34" charset="0"/>
                <a:ea typeface="Courier New" pitchFamily="34" charset="-122"/>
                <a:cs typeface="Courier New" pitchFamily="34" charset="-120"/>
              </a:rPr>
              <a:t>Update README with program description and output</a:t>
            </a:r>
            <a:endParaRPr lang="en-US" sz="1600" dirty="0"/>
          </a:p>
        </p:txBody>
      </p:sp>
      <p:sp>
        <p:nvSpPr>
          <p:cNvPr id="31" name="Text 29"/>
          <p:cNvSpPr txBox="1"/>
          <p:nvPr/>
        </p:nvSpPr>
        <p:spPr>
          <a:xfrm>
            <a:off x="1463040" y="5586984"/>
            <a:ext cx="7498080" cy="320040"/>
          </a:xfrm>
          <a:prstGeom prst="rect">
            <a:avLst/>
          </a:prstGeom>
          <a:noFill/>
          <a:ln/>
        </p:spPr>
        <p:txBody>
          <a:bodyPr wrap="square" lIns="0" tIns="0" rIns="0" bIns="0" rtlCol="0" anchor="ctr"/>
          <a:lstStyle/>
          <a:p>
            <a:pPr marL="0" indent="0">
              <a:buNone/>
            </a:pPr>
            <a:r>
              <a:rPr lang="en-US" sz="1400" dirty="0">
                <a:solidFill>
                  <a:srgbClr val="59636E"/>
                </a:solidFill>
                <a:latin typeface="Calibri" pitchFamily="34" charset="0"/>
                <a:ea typeface="Calibri" pitchFamily="34" charset="-122"/>
                <a:cs typeface="Calibri" pitchFamily="34" charset="-120"/>
              </a:rPr>
              <a:t>Edit README.md: describe the program and paste the output.</a:t>
            </a:r>
            <a:endParaRPr lang="en-US" sz="1400" dirty="0"/>
          </a:p>
        </p:txBody>
      </p:sp>
      <p:sp>
        <p:nvSpPr>
          <p:cNvPr id="32" name="Shape 30"/>
          <p:cNvSpPr/>
          <p:nvPr/>
        </p:nvSpPr>
        <p:spPr>
          <a:xfrm>
            <a:off x="9692640" y="5330952"/>
            <a:ext cx="1920240" cy="384048"/>
          </a:xfrm>
          <a:prstGeom prst="roundRect">
            <a:avLst>
              <a:gd name="adj" fmla="val 50000"/>
            </a:avLst>
          </a:prstGeom>
          <a:solidFill>
            <a:srgbClr val="F3F6F9"/>
          </a:solidFill>
          <a:ln w="12700">
            <a:solidFill>
              <a:srgbClr val="F3F6F9"/>
            </a:solidFill>
            <a:prstDash val="solid"/>
          </a:ln>
        </p:spPr>
        <p:txBody>
          <a:bodyPr/>
          <a:lstStyle/>
          <a:p>
            <a:endParaRPr lang="en-US"/>
          </a:p>
        </p:txBody>
      </p:sp>
      <p:sp>
        <p:nvSpPr>
          <p:cNvPr id="33" name="Text 31"/>
          <p:cNvSpPr txBox="1"/>
          <p:nvPr/>
        </p:nvSpPr>
        <p:spPr>
          <a:xfrm>
            <a:off x="9692640" y="5330952"/>
            <a:ext cx="1920240" cy="384048"/>
          </a:xfrm>
          <a:prstGeom prst="rect">
            <a:avLst/>
          </a:prstGeom>
          <a:noFill/>
          <a:ln/>
        </p:spPr>
        <p:txBody>
          <a:bodyPr wrap="square" lIns="0" tIns="0" rIns="0" bIns="0" rtlCol="0" anchor="ctr"/>
          <a:lstStyle/>
          <a:p>
            <a:pPr marL="0" indent="0" algn="ctr">
              <a:buNone/>
            </a:pPr>
            <a:r>
              <a:rPr lang="en-US" sz="1200" b="1" dirty="0">
                <a:solidFill>
                  <a:srgbClr val="1F2328"/>
                </a:solidFill>
                <a:latin typeface="Calibri" pitchFamily="34" charset="0"/>
                <a:ea typeface="Calibri" pitchFamily="34" charset="-122"/>
                <a:cs typeface="Calibri" pitchFamily="34" charset="-120"/>
              </a:rPr>
              <a:t>Edit README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6</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Edit a file on GitHub and commit</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Click the file name, then the ✎ pencil (Edit) icon.</a:t>
            </a:r>
            <a:endParaRPr lang="en-US" sz="1500" dirty="0"/>
          </a:p>
        </p:txBody>
      </p:sp>
      <p:sp>
        <p:nvSpPr>
          <p:cNvPr id="8" name="Shape 6"/>
          <p:cNvSpPr/>
          <p:nvPr/>
        </p:nvSpPr>
        <p:spPr>
          <a:xfrm>
            <a:off x="548640" y="269748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6609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Make one change from the plan, e.g. add the header comment block.</a:t>
            </a:r>
            <a:endParaRPr lang="en-US" sz="1500" dirty="0"/>
          </a:p>
        </p:txBody>
      </p:sp>
      <p:sp>
        <p:nvSpPr>
          <p:cNvPr id="11" name="Shape 9"/>
          <p:cNvSpPr/>
          <p:nvPr/>
        </p:nvSpPr>
        <p:spPr>
          <a:xfrm>
            <a:off x="548640" y="36118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611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5753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Click Commit changes…, write the message, click Commit changes.</a:t>
            </a:r>
            <a:endParaRPr lang="en-US" sz="1500" dirty="0"/>
          </a:p>
        </p:txBody>
      </p:sp>
      <p:sp>
        <p:nvSpPr>
          <p:cNvPr id="14" name="Shape 12"/>
          <p:cNvSpPr/>
          <p:nvPr/>
        </p:nvSpPr>
        <p:spPr>
          <a:xfrm>
            <a:off x="548640" y="45262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548640" y="4526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1097280" y="44897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Repeat for commits #4 and #5 (formula, then README).</a:t>
            </a:r>
            <a:endParaRPr lang="en-US" sz="1500" dirty="0"/>
          </a:p>
        </p:txBody>
      </p:sp>
      <p:sp>
        <p:nvSpPr>
          <p:cNvPr id="17" name="Shape 15"/>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8" name="Image 0" descr="shots/08_edit_commit.png"/>
          <p:cNvPicPr>
            <a:picLocks noChangeAspect="1"/>
          </p:cNvPicPr>
          <p:nvPr/>
        </p:nvPicPr>
        <p:blipFill>
          <a:blip r:embed="rId3"/>
          <a:stretch>
            <a:fillRect/>
          </a:stretch>
        </p:blipFill>
        <p:spPr>
          <a:xfrm>
            <a:off x="4754880" y="1737360"/>
            <a:ext cx="6903720" cy="4099084"/>
          </a:xfrm>
          <a:prstGeom prst="rect">
            <a:avLst/>
          </a:prstGeom>
        </p:spPr>
      </p:pic>
      <p:sp>
        <p:nvSpPr>
          <p:cNvPr id="19" name="Text 16"/>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7</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Check your commit history</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On the repository page click the “Commits” count (clock icon).</a:t>
            </a:r>
            <a:endParaRPr lang="en-US" sz="1500" dirty="0"/>
          </a:p>
        </p:txBody>
      </p:sp>
      <p:sp>
        <p:nvSpPr>
          <p:cNvPr id="8" name="Shape 6"/>
          <p:cNvSpPr/>
          <p:nvPr/>
        </p:nvSpPr>
        <p:spPr>
          <a:xfrm>
            <a:off x="548640" y="269748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6609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You should see at least 5 commits, newest at the top.</a:t>
            </a:r>
            <a:endParaRPr lang="en-US" sz="1500" dirty="0"/>
          </a:p>
        </p:txBody>
      </p:sp>
      <p:sp>
        <p:nvSpPr>
          <p:cNvPr id="11" name="Shape 9"/>
          <p:cNvSpPr/>
          <p:nvPr/>
        </p:nvSpPr>
        <p:spPr>
          <a:xfrm>
            <a:off x="548640" y="36118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611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5753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Each has your username, a clear message and a unique ID (hash).</a:t>
            </a:r>
            <a:endParaRPr lang="en-US" sz="1500" dirty="0"/>
          </a:p>
        </p:txBody>
      </p:sp>
      <p:sp>
        <p:nvSpPr>
          <p:cNvPr id="14" name="Shape 12"/>
          <p:cNvSpPr/>
          <p:nvPr/>
        </p:nvSpPr>
        <p:spPr>
          <a:xfrm>
            <a:off x="548640" y="45262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548640" y="4526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1097280" y="44897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Click any commit to see exactly which lines changed (green = added).</a:t>
            </a:r>
            <a:endParaRPr lang="en-US" sz="1500" dirty="0"/>
          </a:p>
        </p:txBody>
      </p:sp>
      <p:sp>
        <p:nvSpPr>
          <p:cNvPr id="17" name="Shape 15"/>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8" name="Image 0" descr="shots/09_history.png"/>
          <p:cNvPicPr>
            <a:picLocks noChangeAspect="1"/>
          </p:cNvPicPr>
          <p:nvPr/>
        </p:nvPicPr>
        <p:blipFill>
          <a:blip r:embed="rId3"/>
          <a:stretch>
            <a:fillRect/>
          </a:stretch>
        </p:blipFill>
        <p:spPr>
          <a:xfrm>
            <a:off x="4754880" y="1737360"/>
            <a:ext cx="6903720" cy="4099084"/>
          </a:xfrm>
          <a:prstGeom prst="rect">
            <a:avLst/>
          </a:prstGeom>
        </p:spPr>
      </p:pic>
      <p:sp>
        <p:nvSpPr>
          <p:cNvPr id="19" name="Text 16"/>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8</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Share your repository with your instructor</a:t>
            </a:r>
            <a:endParaRPr lang="en-US" sz="3200" dirty="0"/>
          </a:p>
        </p:txBody>
      </p:sp>
      <p:sp>
        <p:nvSpPr>
          <p:cNvPr id="5" name="Shape 3"/>
          <p:cNvSpPr/>
          <p:nvPr/>
        </p:nvSpPr>
        <p:spPr>
          <a:xfrm>
            <a:off x="548640" y="178308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7465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Open your repository and click the ⚙ Settings tab.</a:t>
            </a:r>
            <a:endParaRPr lang="en-US" sz="1500" dirty="0"/>
          </a:p>
        </p:txBody>
      </p:sp>
      <p:sp>
        <p:nvSpPr>
          <p:cNvPr id="8" name="Shape 6"/>
          <p:cNvSpPr/>
          <p:nvPr/>
        </p:nvSpPr>
        <p:spPr>
          <a:xfrm>
            <a:off x="548640" y="269748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6609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In the left sidebar under Access, click Collaborators, then Add people.</a:t>
            </a:r>
            <a:endParaRPr lang="en-US" sz="1500" dirty="0"/>
          </a:p>
        </p:txBody>
      </p:sp>
      <p:sp>
        <p:nvSpPr>
          <p:cNvPr id="11" name="Shape 9"/>
          <p:cNvSpPr/>
          <p:nvPr/>
        </p:nvSpPr>
        <p:spPr>
          <a:xfrm>
            <a:off x="548640" y="36118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611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5753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Type the instructor's email: fareeha.iqbal@ucp.edu.pk</a:t>
            </a:r>
            <a:endParaRPr lang="en-US" sz="1500" dirty="0"/>
          </a:p>
        </p:txBody>
      </p:sp>
      <p:sp>
        <p:nvSpPr>
          <p:cNvPr id="14" name="Shape 12"/>
          <p:cNvSpPr/>
          <p:nvPr/>
        </p:nvSpPr>
        <p:spPr>
          <a:xfrm>
            <a:off x="548640" y="45262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548640" y="4526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1097280" y="4489704"/>
            <a:ext cx="3383280" cy="84124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Select it and click Add … to this repository. Status shows “Pending Invite” until accepted.</a:t>
            </a:r>
            <a:endParaRPr lang="en-US" sz="1500" dirty="0"/>
          </a:p>
        </p:txBody>
      </p:sp>
      <p:sp>
        <p:nvSpPr>
          <p:cNvPr id="17" name="Shape 15"/>
          <p:cNvSpPr/>
          <p:nvPr/>
        </p:nvSpPr>
        <p:spPr>
          <a:xfrm>
            <a:off x="548640" y="5532120"/>
            <a:ext cx="3931920" cy="685800"/>
          </a:xfrm>
          <a:prstGeom prst="roundRect">
            <a:avLst>
              <a:gd name="adj" fmla="val 10667"/>
            </a:avLst>
          </a:prstGeom>
          <a:solidFill>
            <a:srgbClr val="FFF1E8"/>
          </a:solidFill>
          <a:ln w="12700">
            <a:solidFill>
              <a:srgbClr val="FFF1E8"/>
            </a:solidFill>
            <a:prstDash val="solid"/>
          </a:ln>
        </p:spPr>
        <p:txBody>
          <a:bodyPr/>
          <a:lstStyle/>
          <a:p>
            <a:endParaRPr lang="en-US"/>
          </a:p>
        </p:txBody>
      </p:sp>
      <p:sp>
        <p:nvSpPr>
          <p:cNvPr id="18" name="Text 16"/>
          <p:cNvSpPr txBox="1"/>
          <p:nvPr/>
        </p:nvSpPr>
        <p:spPr>
          <a:xfrm>
            <a:off x="685800" y="5577840"/>
            <a:ext cx="3703320" cy="594360"/>
          </a:xfrm>
          <a:prstGeom prst="rect">
            <a:avLst/>
          </a:prstGeom>
          <a:noFill/>
          <a:ln/>
        </p:spPr>
        <p:txBody>
          <a:bodyPr wrap="square" lIns="0" tIns="0" rIns="0" bIns="0" rtlCol="0" anchor="ctr"/>
          <a:lstStyle/>
          <a:p>
            <a:pPr marL="0" indent="0">
              <a:buNone/>
            </a:pPr>
            <a:r>
              <a:rPr lang="en-US" sz="1250" b="1" dirty="0">
                <a:solidFill>
                  <a:srgbClr val="E8590C"/>
                </a:solidFill>
                <a:latin typeface="Calibri" pitchFamily="34" charset="0"/>
                <a:ea typeface="Calibri" pitchFamily="34" charset="-122"/>
                <a:cs typeface="Calibri" pitchFamily="34" charset="-120"/>
              </a:rPr>
              <a:t>Type the email exactly — a typo sends the invite to the wrong person.</a:t>
            </a:r>
            <a:endParaRPr lang="en-US" sz="1250" dirty="0"/>
          </a:p>
        </p:txBody>
      </p:sp>
      <p:sp>
        <p:nvSpPr>
          <p:cNvPr id="19" name="Shape 17"/>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20" name="Image 0" descr="shots/11_collaborator.png"/>
          <p:cNvPicPr>
            <a:picLocks noChangeAspect="1"/>
          </p:cNvPicPr>
          <p:nvPr/>
        </p:nvPicPr>
        <p:blipFill>
          <a:blip r:embed="rId3"/>
          <a:stretch>
            <a:fillRect/>
          </a:stretch>
        </p:blipFill>
        <p:spPr>
          <a:xfrm>
            <a:off x="4754880" y="1737360"/>
            <a:ext cx="6903720" cy="4099084"/>
          </a:xfrm>
          <a:prstGeom prst="rect">
            <a:avLst/>
          </a:prstGeom>
        </p:spPr>
      </p:pic>
      <p:sp>
        <p:nvSpPr>
          <p:cNvPr id="21" name="Text 18"/>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9</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Final result — check before you submit</a:t>
            </a:r>
            <a:endParaRPr lang="en-US" sz="3200" dirty="0"/>
          </a:p>
        </p:txBody>
      </p:sp>
      <p:sp>
        <p:nvSpPr>
          <p:cNvPr id="5" name="Text 3"/>
          <p:cNvSpPr txBox="1"/>
          <p:nvPr/>
        </p:nvSpPr>
        <p:spPr>
          <a:xfrm>
            <a:off x="548640" y="1783080"/>
            <a:ext cx="3931920" cy="365760"/>
          </a:xfrm>
          <a:prstGeom prst="rect">
            <a:avLst/>
          </a:prstGeom>
          <a:noFill/>
          <a:ln/>
        </p:spPr>
        <p:txBody>
          <a:bodyPr wrap="square" lIns="0" tIns="0" rIns="0" bIns="0" rtlCol="0" anchor="ctr"/>
          <a:lstStyle/>
          <a:p>
            <a:pPr marL="0" indent="0">
              <a:buNone/>
            </a:pPr>
            <a:r>
              <a:rPr lang="en-US" sz="1500" dirty="0">
                <a:solidFill>
                  <a:srgbClr val="59636E"/>
                </a:solidFill>
                <a:latin typeface="Calibri" pitchFamily="34" charset="0"/>
                <a:ea typeface="Calibri" pitchFamily="34" charset="-122"/>
                <a:cs typeface="Calibri" pitchFamily="34" charset="-120"/>
              </a:rPr>
              <a:t>Your repository link will look like this:</a:t>
            </a:r>
            <a:endParaRPr lang="en-US" sz="1500" dirty="0"/>
          </a:p>
        </p:txBody>
      </p:sp>
      <p:sp>
        <p:nvSpPr>
          <p:cNvPr id="6" name="Shape 4"/>
          <p:cNvSpPr/>
          <p:nvPr/>
        </p:nvSpPr>
        <p:spPr>
          <a:xfrm>
            <a:off x="548640" y="2194560"/>
            <a:ext cx="3931920" cy="868680"/>
          </a:xfrm>
          <a:prstGeom prst="roundRect">
            <a:avLst>
              <a:gd name="adj" fmla="val 8421"/>
            </a:avLst>
          </a:prstGeom>
          <a:solidFill>
            <a:srgbClr val="0D1117"/>
          </a:solidFill>
          <a:ln w="12700">
            <a:solidFill>
              <a:srgbClr val="0D1117"/>
            </a:solidFill>
            <a:prstDash val="solid"/>
          </a:ln>
        </p:spPr>
        <p:txBody>
          <a:bodyPr/>
          <a:lstStyle/>
          <a:p>
            <a:endParaRPr lang="en-US"/>
          </a:p>
        </p:txBody>
      </p:sp>
      <p:sp>
        <p:nvSpPr>
          <p:cNvPr id="7" name="Text 5"/>
          <p:cNvSpPr txBox="1"/>
          <p:nvPr/>
        </p:nvSpPr>
        <p:spPr>
          <a:xfrm>
            <a:off x="685800" y="2240280"/>
            <a:ext cx="3749040" cy="777240"/>
          </a:xfrm>
          <a:prstGeom prst="rect">
            <a:avLst/>
          </a:prstGeom>
          <a:noFill/>
          <a:ln/>
        </p:spPr>
        <p:txBody>
          <a:bodyPr wrap="square" lIns="0" tIns="0" rIns="0" bIns="0" rtlCol="0" anchor="ctr"/>
          <a:lstStyle/>
          <a:p>
            <a:pPr marL="0" indent="0">
              <a:buNone/>
            </a:pPr>
            <a:r>
              <a:rPr lang="en-US" sz="1200" dirty="0">
                <a:solidFill>
                  <a:srgbClr val="7EE787"/>
                </a:solidFill>
                <a:latin typeface="Courier New" pitchFamily="34" charset="0"/>
                <a:ea typeface="Courier New" pitchFamily="34" charset="-122"/>
                <a:cs typeface="Courier New" pitchFamily="34" charset="-120"/>
              </a:rPr>
              <a:t>https://github.com/</a:t>
            </a:r>
            <a:endParaRPr lang="en-US" sz="1200" dirty="0"/>
          </a:p>
          <a:p>
            <a:pPr marL="0" indent="0">
              <a:buNone/>
            </a:pPr>
            <a:r>
              <a:rPr lang="en-US" sz="1200" dirty="0">
                <a:solidFill>
                  <a:srgbClr val="7EE787"/>
                </a:solidFill>
                <a:latin typeface="Courier New" pitchFamily="34" charset="0"/>
                <a:ea typeface="Courier New" pitchFamily="34" charset="-122"/>
                <a:cs typeface="Courier New" pitchFamily="34" charset="-120"/>
              </a:rPr>
              <a:t>L1F24BSCS0081/Assignment01-GitHub-Basics</a:t>
            </a:r>
            <a:endParaRPr lang="en-US" sz="1200" dirty="0"/>
          </a:p>
        </p:txBody>
      </p:sp>
      <p:sp>
        <p:nvSpPr>
          <p:cNvPr id="8" name="Text 6"/>
          <p:cNvSpPr txBox="1"/>
          <p:nvPr/>
        </p:nvSpPr>
        <p:spPr>
          <a:xfrm>
            <a:off x="548640" y="3337560"/>
            <a:ext cx="3931920" cy="365760"/>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Before submitting, confirm:</a:t>
            </a:r>
            <a:endParaRPr lang="en-US" sz="1600" dirty="0"/>
          </a:p>
        </p:txBody>
      </p:sp>
      <p:sp>
        <p:nvSpPr>
          <p:cNvPr id="9" name="Text 7"/>
          <p:cNvSpPr txBox="1"/>
          <p:nvPr/>
        </p:nvSpPr>
        <p:spPr>
          <a:xfrm>
            <a:off x="548640" y="3749040"/>
            <a:ext cx="393192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F2328"/>
                </a:solidFill>
                <a:latin typeface="Calibri" pitchFamily="34" charset="0"/>
                <a:ea typeface="Calibri" pitchFamily="34" charset="-122"/>
                <a:cs typeface="Calibri" pitchFamily="34" charset="-120"/>
              </a:rPr>
              <a:t>Username is your Reg No</a:t>
            </a:r>
            <a:endParaRPr lang="en-US" sz="1400" dirty="0"/>
          </a:p>
          <a:p>
            <a:pPr marL="342900" indent="-342900">
              <a:spcAft>
                <a:spcPts val="400"/>
              </a:spcAft>
              <a:buSzPct val="100000"/>
              <a:buChar char="•"/>
            </a:pPr>
            <a:r>
              <a:rPr lang="en-US" sz="1400" dirty="0">
                <a:solidFill>
                  <a:srgbClr val="1F2328"/>
                </a:solidFill>
                <a:latin typeface="Calibri" pitchFamily="34" charset="0"/>
                <a:ea typeface="Calibri" pitchFamily="34" charset="-122"/>
                <a:cs typeface="Calibri" pitchFamily="34" charset="-120"/>
              </a:rPr>
              <a:t>Repository is Public</a:t>
            </a:r>
            <a:endParaRPr lang="en-US" sz="1400" dirty="0"/>
          </a:p>
          <a:p>
            <a:pPr marL="342900" indent="-342900">
              <a:spcAft>
                <a:spcPts val="400"/>
              </a:spcAft>
              <a:buSzPct val="100000"/>
              <a:buChar char="•"/>
            </a:pPr>
            <a:r>
              <a:rPr lang="en-US" sz="1400" dirty="0">
                <a:solidFill>
                  <a:srgbClr val="1F2328"/>
                </a:solidFill>
                <a:latin typeface="Calibri" pitchFamily="34" charset="0"/>
                <a:ea typeface="Calibri" pitchFamily="34" charset="-122"/>
                <a:cs typeface="Calibri" pitchFamily="34" charset="-120"/>
              </a:rPr>
              <a:t>.cpp file has a proper name</a:t>
            </a:r>
            <a:endParaRPr lang="en-US" sz="1400" dirty="0"/>
          </a:p>
          <a:p>
            <a:pPr marL="342900" indent="-342900">
              <a:spcAft>
                <a:spcPts val="400"/>
              </a:spcAft>
              <a:buSzPct val="100000"/>
              <a:buChar char="•"/>
            </a:pPr>
            <a:r>
              <a:rPr lang="en-US" sz="1400" dirty="0">
                <a:solidFill>
                  <a:srgbClr val="1F2328"/>
                </a:solidFill>
                <a:latin typeface="Calibri" pitchFamily="34" charset="0"/>
                <a:ea typeface="Calibri" pitchFamily="34" charset="-122"/>
                <a:cs typeface="Calibri" pitchFamily="34" charset="-120"/>
              </a:rPr>
              <a:t>At least 5 commits are shown</a:t>
            </a:r>
            <a:endParaRPr lang="en-US" sz="1400" dirty="0"/>
          </a:p>
          <a:p>
            <a:pPr marL="342900" indent="-342900">
              <a:spcAft>
                <a:spcPts val="400"/>
              </a:spcAft>
              <a:buSzPct val="100000"/>
              <a:buChar char="•"/>
            </a:pPr>
            <a:r>
              <a:rPr lang="en-US" sz="1400" dirty="0">
                <a:solidFill>
                  <a:srgbClr val="1F2328"/>
                </a:solidFill>
                <a:latin typeface="Calibri" pitchFamily="34" charset="0"/>
                <a:ea typeface="Calibri" pitchFamily="34" charset="-122"/>
                <a:cs typeface="Calibri" pitchFamily="34" charset="-120"/>
              </a:rPr>
              <a:t>README describes the program</a:t>
            </a:r>
            <a:endParaRPr lang="en-US" sz="1400" dirty="0"/>
          </a:p>
          <a:p>
            <a:pPr marL="342900" indent="-342900">
              <a:spcAft>
                <a:spcPts val="400"/>
              </a:spcAft>
              <a:buSzPct val="100000"/>
              <a:buChar char="•"/>
            </a:pPr>
            <a:r>
              <a:rPr lang="en-US" sz="1400" dirty="0">
                <a:solidFill>
                  <a:srgbClr val="1F2328"/>
                </a:solidFill>
                <a:latin typeface="Calibri" pitchFamily="34" charset="0"/>
                <a:ea typeface="Calibri" pitchFamily="34" charset="-122"/>
                <a:cs typeface="Calibri" pitchFamily="34" charset="-120"/>
              </a:rPr>
              <a:t>Instructor invited as collaborator</a:t>
            </a:r>
            <a:endParaRPr lang="en-US" sz="1400" dirty="0"/>
          </a:p>
        </p:txBody>
      </p:sp>
      <p:sp>
        <p:nvSpPr>
          <p:cNvPr id="10" name="Shape 8"/>
          <p:cNvSpPr/>
          <p:nvPr/>
        </p:nvSpPr>
        <p:spPr>
          <a:xfrm>
            <a:off x="4754880" y="1737360"/>
            <a:ext cx="6903720" cy="4099084"/>
          </a:xfrm>
          <a:prstGeom prst="rect">
            <a:avLst/>
          </a:prstGeom>
          <a:solidFill>
            <a:srgbClr val="FFFFFF"/>
          </a:solidFill>
          <a:ln w="12700">
            <a:solidFill>
              <a:srgbClr val="D1D9E0"/>
            </a:solidFill>
            <a:prstDash val="solid"/>
          </a:ln>
          <a:effectLst>
            <a:outerShdw blurRad="101600" dist="38100" dir="5400000" algn="bl" rotWithShape="0">
              <a:srgbClr val="000000">
                <a:alpha val="25000"/>
              </a:srgbClr>
            </a:outerShdw>
          </a:effectLst>
        </p:spPr>
        <p:txBody>
          <a:bodyPr/>
          <a:lstStyle/>
          <a:p>
            <a:endParaRPr lang="en-US"/>
          </a:p>
        </p:txBody>
      </p:sp>
      <p:pic>
        <p:nvPicPr>
          <p:cNvPr id="11" name="Image 0" descr="shots/10_final_repo.png"/>
          <p:cNvPicPr>
            <a:picLocks noChangeAspect="1"/>
          </p:cNvPicPr>
          <p:nvPr/>
        </p:nvPicPr>
        <p:blipFill>
          <a:blip r:embed="rId3"/>
          <a:stretch>
            <a:fillRect/>
          </a:stretch>
        </p:blipFill>
        <p:spPr>
          <a:xfrm>
            <a:off x="4754880" y="1737360"/>
            <a:ext cx="6903720" cy="4099084"/>
          </a:xfrm>
          <a:prstGeom prst="rect">
            <a:avLst/>
          </a:prstGeom>
        </p:spPr>
      </p:pic>
      <p:sp>
        <p:nvSpPr>
          <p:cNvPr id="12" name="Text 9"/>
          <p:cNvSpPr txBox="1"/>
          <p:nvPr/>
        </p:nvSpPr>
        <p:spPr>
          <a:xfrm>
            <a:off x="4754880" y="5909596"/>
            <a:ext cx="6903720" cy="228600"/>
          </a:xfrm>
          <a:prstGeom prst="rect">
            <a:avLst/>
          </a:prstGeom>
          <a:noFill/>
          <a:ln/>
        </p:spPr>
        <p:txBody>
          <a:bodyPr wrap="square" lIns="0" tIns="0" rIns="0" bIns="0" rtlCol="0" anchor="ctr"/>
          <a:lstStyle/>
          <a:p>
            <a:pPr marL="0" indent="0">
              <a:buNone/>
            </a:pPr>
            <a:r>
              <a:rPr lang="en-US" sz="1000" i="1" dirty="0">
                <a:solidFill>
                  <a:srgbClr val="59636E"/>
                </a:solidFill>
                <a:latin typeface="Calibri" pitchFamily="34" charset="0"/>
                <a:ea typeface="Calibri" pitchFamily="34" charset="-122"/>
                <a:cs typeface="Calibri" pitchFamily="34" charset="-120"/>
              </a:rPr>
              <a:t>Illustrative mock-up — the real GitHub screens may look slightly different.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143000" cy="365760"/>
          </a:xfrm>
          <a:prstGeom prst="roundRect">
            <a:avLst>
              <a:gd name="adj" fmla="val 50000"/>
            </a:avLst>
          </a:prstGeom>
          <a:solidFill>
            <a:srgbClr val="1F883D"/>
          </a:solidFill>
          <a:ln w="12700">
            <a:solidFill>
              <a:srgbClr val="1F883D"/>
            </a:solidFill>
            <a:prstDash val="solid"/>
          </a:ln>
        </p:spPr>
        <p:txBody>
          <a:bodyPr/>
          <a:lstStyle/>
          <a:p>
            <a:endParaRPr lang="en-US"/>
          </a:p>
        </p:txBody>
      </p:sp>
      <p:sp>
        <p:nvSpPr>
          <p:cNvPr id="3" name="Text 1"/>
          <p:cNvSpPr txBox="1"/>
          <p:nvPr/>
        </p:nvSpPr>
        <p:spPr>
          <a:xfrm>
            <a:off x="548640" y="384048"/>
            <a:ext cx="1143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STEP 10</a:t>
            </a:r>
            <a:endParaRPr lang="en-US" sz="1300" dirty="0"/>
          </a:p>
        </p:txBody>
      </p:sp>
      <p:sp>
        <p:nvSpPr>
          <p:cNvPr id="4" name="Text 2"/>
          <p:cNvSpPr txBox="1"/>
          <p:nvPr/>
        </p:nvSpPr>
        <p:spPr>
          <a:xfrm>
            <a:off x="548640" y="804672"/>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Submit your PDF on the portal</a:t>
            </a:r>
            <a:endParaRPr lang="en-US" sz="3200" dirty="0"/>
          </a:p>
        </p:txBody>
      </p:sp>
      <p:sp>
        <p:nvSpPr>
          <p:cNvPr id="5" name="Shape 3"/>
          <p:cNvSpPr/>
          <p:nvPr/>
        </p:nvSpPr>
        <p:spPr>
          <a:xfrm>
            <a:off x="548640" y="1691640"/>
            <a:ext cx="384048" cy="384048"/>
          </a:xfrm>
          <a:prstGeom prst="ellipse">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548640" y="1691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097280" y="1655064"/>
            <a:ext cx="3657600" cy="74980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Make ONE PDF named with your Reg No: L1F24BSCS0081_Assignment01.pdf</a:t>
            </a:r>
            <a:endParaRPr lang="en-US" sz="1500" dirty="0"/>
          </a:p>
        </p:txBody>
      </p:sp>
      <p:sp>
        <p:nvSpPr>
          <p:cNvPr id="8" name="Shape 6"/>
          <p:cNvSpPr/>
          <p:nvPr/>
        </p:nvSpPr>
        <p:spPr>
          <a:xfrm>
            <a:off x="548640" y="2514600"/>
            <a:ext cx="384048" cy="384048"/>
          </a:xfrm>
          <a:prstGeom prst="ellipse">
            <a:avLst/>
          </a:prstGeom>
          <a:solidFill>
            <a:srgbClr val="0D1117"/>
          </a:solidFill>
          <a:ln w="12700">
            <a:solidFill>
              <a:srgbClr val="0D1117"/>
            </a:solidFill>
            <a:prstDash val="solid"/>
          </a:ln>
        </p:spPr>
        <p:txBody>
          <a:bodyPr/>
          <a:lstStyle/>
          <a:p>
            <a:endParaRPr lang="en-US"/>
          </a:p>
        </p:txBody>
      </p:sp>
      <p:sp>
        <p:nvSpPr>
          <p:cNvPr id="9" name="Text 7"/>
          <p:cNvSpPr txBox="1"/>
          <p:nvPr/>
        </p:nvSpPr>
        <p:spPr>
          <a:xfrm>
            <a:off x="548640" y="25146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097280" y="2478024"/>
            <a:ext cx="3657600" cy="74980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Page 1 — your repository link (copied from the address bar).</a:t>
            </a:r>
            <a:endParaRPr lang="en-US" sz="1500" dirty="0"/>
          </a:p>
        </p:txBody>
      </p:sp>
      <p:sp>
        <p:nvSpPr>
          <p:cNvPr id="11" name="Shape 9"/>
          <p:cNvSpPr/>
          <p:nvPr/>
        </p:nvSpPr>
        <p:spPr>
          <a:xfrm>
            <a:off x="548640" y="3337560"/>
            <a:ext cx="384048" cy="384048"/>
          </a:xfrm>
          <a:prstGeom prst="ellipse">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548640" y="33375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1097280" y="3300984"/>
            <a:ext cx="3657600" cy="74980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Page 2 — screenshot of your Commits page showing at least 5 commits.</a:t>
            </a:r>
            <a:endParaRPr lang="en-US" sz="1500" dirty="0"/>
          </a:p>
        </p:txBody>
      </p:sp>
      <p:sp>
        <p:nvSpPr>
          <p:cNvPr id="14" name="Shape 12"/>
          <p:cNvSpPr/>
          <p:nvPr/>
        </p:nvSpPr>
        <p:spPr>
          <a:xfrm>
            <a:off x="548640" y="4160520"/>
            <a:ext cx="384048" cy="384048"/>
          </a:xfrm>
          <a:prstGeom prst="ellipse">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548640" y="41605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1097280" y="4123944"/>
            <a:ext cx="3657600" cy="74980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Page 3 — screenshot of Settings → Collaborators showing the instructor invited.</a:t>
            </a:r>
            <a:endParaRPr lang="en-US" sz="1500" dirty="0"/>
          </a:p>
        </p:txBody>
      </p:sp>
      <p:sp>
        <p:nvSpPr>
          <p:cNvPr id="17" name="Shape 15"/>
          <p:cNvSpPr/>
          <p:nvPr/>
        </p:nvSpPr>
        <p:spPr>
          <a:xfrm>
            <a:off x="548640" y="4983480"/>
            <a:ext cx="384048" cy="384048"/>
          </a:xfrm>
          <a:prstGeom prst="ellipse">
            <a:avLst/>
          </a:prstGeom>
          <a:solidFill>
            <a:srgbClr val="0D1117"/>
          </a:solidFill>
          <a:ln w="12700">
            <a:solidFill>
              <a:srgbClr val="0D1117"/>
            </a:solidFill>
            <a:prstDash val="solid"/>
          </a:ln>
        </p:spPr>
        <p:txBody>
          <a:bodyPr/>
          <a:lstStyle/>
          <a:p>
            <a:endParaRPr lang="en-US"/>
          </a:p>
        </p:txBody>
      </p:sp>
      <p:sp>
        <p:nvSpPr>
          <p:cNvPr id="18" name="Text 16"/>
          <p:cNvSpPr txBox="1"/>
          <p:nvPr/>
        </p:nvSpPr>
        <p:spPr>
          <a:xfrm>
            <a:off x="548640" y="4983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9" name="Text 17"/>
          <p:cNvSpPr txBox="1"/>
          <p:nvPr/>
        </p:nvSpPr>
        <p:spPr>
          <a:xfrm>
            <a:off x="1097280" y="4946904"/>
            <a:ext cx="3657600" cy="749808"/>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Upload the PDF on the course portal before the deadline.</a:t>
            </a:r>
            <a:endParaRPr lang="en-US" sz="1500" dirty="0"/>
          </a:p>
        </p:txBody>
      </p:sp>
      <p:sp>
        <p:nvSpPr>
          <p:cNvPr id="20" name="Shape 18"/>
          <p:cNvSpPr/>
          <p:nvPr/>
        </p:nvSpPr>
        <p:spPr>
          <a:xfrm>
            <a:off x="5074920" y="1691640"/>
            <a:ext cx="2057400" cy="1221581"/>
          </a:xfrm>
          <a:prstGeom prst="rect">
            <a:avLst/>
          </a:prstGeom>
          <a:solidFill>
            <a:srgbClr val="FFFFFF"/>
          </a:solidFill>
          <a:ln w="12700">
            <a:solidFill>
              <a:srgbClr val="D1D9E0"/>
            </a:solidFill>
            <a:prstDash val="solid"/>
          </a:ln>
          <a:effectLst>
            <a:outerShdw blurRad="76200" dist="25400" dir="5400000" algn="bl" rotWithShape="0">
              <a:srgbClr val="000000">
                <a:alpha val="20000"/>
              </a:srgbClr>
            </a:outerShdw>
          </a:effectLst>
        </p:spPr>
        <p:txBody>
          <a:bodyPr/>
          <a:lstStyle/>
          <a:p>
            <a:endParaRPr lang="en-US"/>
          </a:p>
        </p:txBody>
      </p:sp>
      <p:pic>
        <p:nvPicPr>
          <p:cNvPr id="21" name="Image 0" descr="shots/10_final_repo.png"/>
          <p:cNvPicPr>
            <a:picLocks noChangeAspect="1"/>
          </p:cNvPicPr>
          <p:nvPr/>
        </p:nvPicPr>
        <p:blipFill>
          <a:blip r:embed="rId3"/>
          <a:stretch>
            <a:fillRect/>
          </a:stretch>
        </p:blipFill>
        <p:spPr>
          <a:xfrm>
            <a:off x="5074920" y="1691640"/>
            <a:ext cx="2057400" cy="1221581"/>
          </a:xfrm>
          <a:prstGeom prst="rect">
            <a:avLst/>
          </a:prstGeom>
        </p:spPr>
      </p:pic>
      <p:sp>
        <p:nvSpPr>
          <p:cNvPr id="22" name="Text 19"/>
          <p:cNvSpPr txBox="1"/>
          <p:nvPr/>
        </p:nvSpPr>
        <p:spPr>
          <a:xfrm>
            <a:off x="5074920" y="3004661"/>
            <a:ext cx="2057400" cy="274320"/>
          </a:xfrm>
          <a:prstGeom prst="rect">
            <a:avLst/>
          </a:prstGeom>
          <a:noFill/>
          <a:ln/>
        </p:spPr>
        <p:txBody>
          <a:bodyPr wrap="square" lIns="0" tIns="0" rIns="0" bIns="0" rtlCol="0" anchor="ctr"/>
          <a:lstStyle/>
          <a:p>
            <a:pPr marL="0" indent="0" algn="ctr">
              <a:buNone/>
            </a:pPr>
            <a:r>
              <a:rPr lang="en-US" sz="1200" b="1" dirty="0">
                <a:solidFill>
                  <a:srgbClr val="1F2328"/>
                </a:solidFill>
                <a:latin typeface="Arial" pitchFamily="34" charset="0"/>
                <a:ea typeface="Arial" pitchFamily="34" charset="-122"/>
                <a:cs typeface="Arial" pitchFamily="34" charset="-120"/>
              </a:rPr>
              <a:t>Page 1 · Repository link</a:t>
            </a:r>
            <a:endParaRPr lang="en-US" sz="1200" dirty="0"/>
          </a:p>
        </p:txBody>
      </p:sp>
      <p:sp>
        <p:nvSpPr>
          <p:cNvPr id="23" name="Shape 20"/>
          <p:cNvSpPr/>
          <p:nvPr/>
        </p:nvSpPr>
        <p:spPr>
          <a:xfrm>
            <a:off x="7315200" y="1691640"/>
            <a:ext cx="2057400" cy="1221581"/>
          </a:xfrm>
          <a:prstGeom prst="rect">
            <a:avLst/>
          </a:prstGeom>
          <a:solidFill>
            <a:srgbClr val="FFFFFF"/>
          </a:solidFill>
          <a:ln w="12700">
            <a:solidFill>
              <a:srgbClr val="D1D9E0"/>
            </a:solidFill>
            <a:prstDash val="solid"/>
          </a:ln>
          <a:effectLst>
            <a:outerShdw blurRad="76200" dist="25400" dir="5400000" algn="bl" rotWithShape="0">
              <a:srgbClr val="000000">
                <a:alpha val="20000"/>
              </a:srgbClr>
            </a:outerShdw>
          </a:effectLst>
        </p:spPr>
        <p:txBody>
          <a:bodyPr/>
          <a:lstStyle/>
          <a:p>
            <a:endParaRPr lang="en-US"/>
          </a:p>
        </p:txBody>
      </p:sp>
      <p:pic>
        <p:nvPicPr>
          <p:cNvPr id="24" name="Image 1" descr="shots/09_history.png"/>
          <p:cNvPicPr>
            <a:picLocks noChangeAspect="1"/>
          </p:cNvPicPr>
          <p:nvPr/>
        </p:nvPicPr>
        <p:blipFill>
          <a:blip r:embed="rId4"/>
          <a:stretch>
            <a:fillRect/>
          </a:stretch>
        </p:blipFill>
        <p:spPr>
          <a:xfrm>
            <a:off x="7315200" y="1691640"/>
            <a:ext cx="2057400" cy="1221581"/>
          </a:xfrm>
          <a:prstGeom prst="rect">
            <a:avLst/>
          </a:prstGeom>
        </p:spPr>
      </p:pic>
      <p:sp>
        <p:nvSpPr>
          <p:cNvPr id="25" name="Text 21"/>
          <p:cNvSpPr txBox="1"/>
          <p:nvPr/>
        </p:nvSpPr>
        <p:spPr>
          <a:xfrm>
            <a:off x="7315200" y="3004661"/>
            <a:ext cx="2057400" cy="274320"/>
          </a:xfrm>
          <a:prstGeom prst="rect">
            <a:avLst/>
          </a:prstGeom>
          <a:noFill/>
          <a:ln/>
        </p:spPr>
        <p:txBody>
          <a:bodyPr wrap="square" lIns="0" tIns="0" rIns="0" bIns="0" rtlCol="0" anchor="ctr"/>
          <a:lstStyle/>
          <a:p>
            <a:pPr marL="0" indent="0" algn="ctr">
              <a:buNone/>
            </a:pPr>
            <a:r>
              <a:rPr lang="en-US" sz="1200" b="1" dirty="0">
                <a:solidFill>
                  <a:srgbClr val="1F2328"/>
                </a:solidFill>
                <a:latin typeface="Arial" pitchFamily="34" charset="0"/>
                <a:ea typeface="Arial" pitchFamily="34" charset="-122"/>
                <a:cs typeface="Arial" pitchFamily="34" charset="-120"/>
              </a:rPr>
              <a:t>Page 2 · Commit history</a:t>
            </a:r>
            <a:endParaRPr lang="en-US" sz="1200" dirty="0"/>
          </a:p>
        </p:txBody>
      </p:sp>
      <p:sp>
        <p:nvSpPr>
          <p:cNvPr id="26" name="Shape 22"/>
          <p:cNvSpPr/>
          <p:nvPr/>
        </p:nvSpPr>
        <p:spPr>
          <a:xfrm>
            <a:off x="9555480" y="1691640"/>
            <a:ext cx="2057400" cy="1221581"/>
          </a:xfrm>
          <a:prstGeom prst="rect">
            <a:avLst/>
          </a:prstGeom>
          <a:solidFill>
            <a:srgbClr val="FFFFFF"/>
          </a:solidFill>
          <a:ln w="12700">
            <a:solidFill>
              <a:srgbClr val="D1D9E0"/>
            </a:solidFill>
            <a:prstDash val="solid"/>
          </a:ln>
          <a:effectLst>
            <a:outerShdw blurRad="76200" dist="25400" dir="5400000" algn="bl" rotWithShape="0">
              <a:srgbClr val="000000">
                <a:alpha val="20000"/>
              </a:srgbClr>
            </a:outerShdw>
          </a:effectLst>
        </p:spPr>
        <p:txBody>
          <a:bodyPr/>
          <a:lstStyle/>
          <a:p>
            <a:endParaRPr lang="en-US"/>
          </a:p>
        </p:txBody>
      </p:sp>
      <p:pic>
        <p:nvPicPr>
          <p:cNvPr id="27" name="Image 2" descr="shots/11_collaborator.png"/>
          <p:cNvPicPr>
            <a:picLocks noChangeAspect="1"/>
          </p:cNvPicPr>
          <p:nvPr/>
        </p:nvPicPr>
        <p:blipFill>
          <a:blip r:embed="rId5"/>
          <a:stretch>
            <a:fillRect/>
          </a:stretch>
        </p:blipFill>
        <p:spPr>
          <a:xfrm>
            <a:off x="9555480" y="1691640"/>
            <a:ext cx="2057400" cy="1221581"/>
          </a:xfrm>
          <a:prstGeom prst="rect">
            <a:avLst/>
          </a:prstGeom>
        </p:spPr>
      </p:pic>
      <p:sp>
        <p:nvSpPr>
          <p:cNvPr id="28" name="Text 23"/>
          <p:cNvSpPr txBox="1"/>
          <p:nvPr/>
        </p:nvSpPr>
        <p:spPr>
          <a:xfrm>
            <a:off x="9555480" y="3004661"/>
            <a:ext cx="2057400" cy="274320"/>
          </a:xfrm>
          <a:prstGeom prst="rect">
            <a:avLst/>
          </a:prstGeom>
          <a:noFill/>
          <a:ln/>
        </p:spPr>
        <p:txBody>
          <a:bodyPr wrap="square" lIns="0" tIns="0" rIns="0" bIns="0" rtlCol="0" anchor="ctr"/>
          <a:lstStyle/>
          <a:p>
            <a:pPr marL="0" indent="0" algn="ctr">
              <a:buNone/>
            </a:pPr>
            <a:r>
              <a:rPr lang="en-US" sz="1200" b="1" dirty="0">
                <a:solidFill>
                  <a:srgbClr val="1F2328"/>
                </a:solidFill>
                <a:latin typeface="Arial" pitchFamily="34" charset="0"/>
                <a:ea typeface="Arial" pitchFamily="34" charset="-122"/>
                <a:cs typeface="Arial" pitchFamily="34" charset="-120"/>
              </a:rPr>
              <a:t>Page 3 · Collaborator invite</a:t>
            </a:r>
            <a:endParaRPr lang="en-US" sz="1200" dirty="0"/>
          </a:p>
        </p:txBody>
      </p:sp>
      <p:sp>
        <p:nvSpPr>
          <p:cNvPr id="29" name="Shape 24"/>
          <p:cNvSpPr/>
          <p:nvPr/>
        </p:nvSpPr>
        <p:spPr>
          <a:xfrm>
            <a:off x="5074920" y="3337560"/>
            <a:ext cx="6583680" cy="2880360"/>
          </a:xfrm>
          <a:prstGeom prst="roundRect">
            <a:avLst>
              <a:gd name="adj" fmla="val 3810"/>
            </a:avLst>
          </a:prstGeom>
          <a:solidFill>
            <a:srgbClr val="0D1117"/>
          </a:solidFill>
          <a:ln w="12700">
            <a:solidFill>
              <a:srgbClr val="0D1117"/>
            </a:solidFill>
            <a:prstDash val="solid"/>
          </a:ln>
        </p:spPr>
        <p:txBody>
          <a:bodyPr/>
          <a:lstStyle/>
          <a:p>
            <a:endParaRPr lang="en-US"/>
          </a:p>
        </p:txBody>
      </p:sp>
      <p:sp>
        <p:nvSpPr>
          <p:cNvPr id="30" name="Shape 25"/>
          <p:cNvSpPr/>
          <p:nvPr/>
        </p:nvSpPr>
        <p:spPr>
          <a:xfrm>
            <a:off x="5349240" y="3566160"/>
            <a:ext cx="640080" cy="640080"/>
          </a:xfrm>
          <a:prstGeom prst="ellipse">
            <a:avLst/>
          </a:prstGeom>
          <a:solidFill>
            <a:srgbClr val="E8590C"/>
          </a:solidFill>
          <a:ln w="12700">
            <a:solidFill>
              <a:srgbClr val="E8590C"/>
            </a:solidFill>
            <a:prstDash val="solid"/>
          </a:ln>
        </p:spPr>
        <p:txBody>
          <a:bodyPr/>
          <a:lstStyle/>
          <a:p>
            <a:endParaRPr lang="en-US"/>
          </a:p>
        </p:txBody>
      </p:sp>
      <p:pic>
        <p:nvPicPr>
          <p:cNvPr id="31" name="Image 3" descr="preencoded.png"/>
          <p:cNvPicPr>
            <a:picLocks noChangeAspect="1"/>
          </p:cNvPicPr>
          <p:nvPr/>
        </p:nvPicPr>
        <p:blipFill>
          <a:blip r:embed="rId6"/>
          <a:stretch>
            <a:fillRect/>
          </a:stretch>
        </p:blipFill>
        <p:spPr>
          <a:xfrm>
            <a:off x="5509260" y="3726180"/>
            <a:ext cx="320040" cy="320040"/>
          </a:xfrm>
          <a:prstGeom prst="rect">
            <a:avLst/>
          </a:prstGeom>
        </p:spPr>
      </p:pic>
      <p:sp>
        <p:nvSpPr>
          <p:cNvPr id="32" name="Text 26"/>
          <p:cNvSpPr txBox="1"/>
          <p:nvPr/>
        </p:nvSpPr>
        <p:spPr>
          <a:xfrm>
            <a:off x="6172200" y="3611880"/>
            <a:ext cx="5303520" cy="54864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Deadline rules</a:t>
            </a:r>
            <a:endParaRPr lang="en-US" sz="2000" dirty="0"/>
          </a:p>
        </p:txBody>
      </p:sp>
      <p:sp>
        <p:nvSpPr>
          <p:cNvPr id="33" name="Text 27"/>
          <p:cNvSpPr txBox="1"/>
          <p:nvPr/>
        </p:nvSpPr>
        <p:spPr>
          <a:xfrm>
            <a:off x="5349240" y="4343400"/>
            <a:ext cx="612648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6EDF3"/>
                </a:solidFill>
                <a:latin typeface="Calibri" pitchFamily="34" charset="0"/>
                <a:ea typeface="Calibri" pitchFamily="34" charset="-122"/>
                <a:cs typeface="Calibri" pitchFamily="34" charset="-120"/>
              </a:rPr>
              <a:t>The portal upload time is your official submission time.</a:t>
            </a:r>
            <a:endParaRPr lang="en-US" sz="1500" dirty="0"/>
          </a:p>
          <a:p>
            <a:pPr marL="342900" indent="-342900">
              <a:spcAft>
                <a:spcPts val="600"/>
              </a:spcAft>
              <a:buSzPct val="100000"/>
              <a:buChar char="•"/>
            </a:pPr>
            <a:r>
              <a:rPr lang="en-US" sz="1500" dirty="0">
                <a:solidFill>
                  <a:srgbClr val="E6EDF3"/>
                </a:solidFill>
                <a:latin typeface="Calibri" pitchFamily="34" charset="0"/>
                <a:ea typeface="Calibri" pitchFamily="34" charset="-122"/>
                <a:cs typeface="Calibri" pitchFamily="34" charset="-120"/>
              </a:rPr>
              <a:t>Only commits made before the deadline will be marked.</a:t>
            </a:r>
            <a:endParaRPr lang="en-US" sz="1500" dirty="0"/>
          </a:p>
          <a:p>
            <a:pPr marL="342900" indent="-342900">
              <a:spcAft>
                <a:spcPts val="600"/>
              </a:spcAft>
              <a:buSzPct val="100000"/>
              <a:buChar char="•"/>
            </a:pPr>
            <a:r>
              <a:rPr lang="en-US" sz="1500" dirty="0">
                <a:solidFill>
                  <a:srgbClr val="E6EDF3"/>
                </a:solidFill>
                <a:latin typeface="Calibri" pitchFamily="34" charset="0"/>
                <a:ea typeface="Calibri" pitchFamily="34" charset="-122"/>
                <a:cs typeface="Calibri" pitchFamily="34" charset="-120"/>
              </a:rPr>
              <a:t>No PDF on the portal = not submitted, even if your GitHub work is complete.</a:t>
            </a:r>
            <a:endParaRPr lang="en-US" sz="1500" dirty="0"/>
          </a:p>
          <a:p>
            <a:pPr marL="342900" indent="-342900">
              <a:spcAft>
                <a:spcPts val="600"/>
              </a:spcAft>
              <a:buSzPct val="100000"/>
              <a:buChar char="•"/>
            </a:pPr>
            <a:r>
              <a:rPr lang="en-US" sz="1500" dirty="0">
                <a:solidFill>
                  <a:srgbClr val="E6EDF3"/>
                </a:solidFill>
                <a:latin typeface="Calibri" pitchFamily="34" charset="0"/>
                <a:ea typeface="Calibri" pitchFamily="34" charset="-122"/>
                <a:cs typeface="Calibri" pitchFamily="34" charset="-120"/>
              </a:rPr>
              <a:t>Late submissions are handled as per course policy.</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ctr"/>
          <a:lstStyle/>
          <a:p>
            <a:pPr marL="0" indent="0">
              <a:buNone/>
            </a:pPr>
            <a:r>
              <a:rPr lang="en-US" sz="3200" b="1" dirty="0">
                <a:solidFill>
                  <a:srgbClr val="1F2328"/>
                </a:solidFill>
                <a:latin typeface="Arial" pitchFamily="34" charset="0"/>
                <a:ea typeface="Arial" pitchFamily="34" charset="-122"/>
                <a:cs typeface="Arial" pitchFamily="34" charset="-120"/>
              </a:rPr>
              <a:t>Troubleshooting</a:t>
            </a:r>
            <a:endParaRPr lang="en-US" sz="3200" dirty="0"/>
          </a:p>
        </p:txBody>
      </p:sp>
      <p:sp>
        <p:nvSpPr>
          <p:cNvPr id="3" name="Shape 1"/>
          <p:cNvSpPr/>
          <p:nvPr/>
        </p:nvSpPr>
        <p:spPr>
          <a:xfrm>
            <a:off x="548640" y="1463040"/>
            <a:ext cx="3520440" cy="2286000"/>
          </a:xfrm>
          <a:prstGeom prst="roundRect">
            <a:avLst>
              <a:gd name="adj" fmla="val 4800"/>
            </a:avLst>
          </a:prstGeom>
          <a:solidFill>
            <a:srgbClr val="F3F6F9"/>
          </a:solidFill>
          <a:ln w="12700">
            <a:solidFill>
              <a:srgbClr val="F3F6F9"/>
            </a:solidFill>
            <a:prstDash val="solid"/>
          </a:ln>
        </p:spPr>
        <p:txBody>
          <a:bodyPr/>
          <a:lstStyle/>
          <a:p>
            <a:endParaRPr lang="en-US"/>
          </a:p>
        </p:txBody>
      </p:sp>
      <p:sp>
        <p:nvSpPr>
          <p:cNvPr id="4" name="Shape 2"/>
          <p:cNvSpPr/>
          <p:nvPr/>
        </p:nvSpPr>
        <p:spPr>
          <a:xfrm>
            <a:off x="822960" y="1737360"/>
            <a:ext cx="566928" cy="566928"/>
          </a:xfrm>
          <a:prstGeom prst="ellipse">
            <a:avLst/>
          </a:prstGeom>
          <a:solidFill>
            <a:srgbClr val="E8590C"/>
          </a:solidFill>
          <a:ln w="12700">
            <a:solidFill>
              <a:srgbClr val="E8590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64692" y="1879092"/>
            <a:ext cx="283464" cy="283464"/>
          </a:xfrm>
          <a:prstGeom prst="rect">
            <a:avLst/>
          </a:prstGeom>
        </p:spPr>
      </p:pic>
      <p:sp>
        <p:nvSpPr>
          <p:cNvPr id="6" name="Text 3"/>
          <p:cNvSpPr txBox="1"/>
          <p:nvPr/>
        </p:nvSpPr>
        <p:spPr>
          <a:xfrm>
            <a:off x="1554480" y="1737360"/>
            <a:ext cx="2377440" cy="566928"/>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No verification email</a:t>
            </a:r>
            <a:endParaRPr lang="en-US" sz="1600" dirty="0"/>
          </a:p>
        </p:txBody>
      </p:sp>
      <p:sp>
        <p:nvSpPr>
          <p:cNvPr id="7" name="Text 4"/>
          <p:cNvSpPr txBox="1"/>
          <p:nvPr/>
        </p:nvSpPr>
        <p:spPr>
          <a:xfrm>
            <a:off x="822960" y="2468880"/>
            <a:ext cx="3017520" cy="1188720"/>
          </a:xfrm>
          <a:prstGeom prst="rect">
            <a:avLst/>
          </a:prstGeom>
          <a:noFill/>
          <a:ln/>
        </p:spPr>
        <p:txBody>
          <a:bodyPr wrap="square" lIns="0" tIns="0" rIns="0" bIns="0" rtlCol="0" anchor="t"/>
          <a:lstStyle/>
          <a:p>
            <a:pPr marL="0" indent="0">
              <a:buNone/>
            </a:pPr>
            <a:r>
              <a:rPr lang="en-US" sz="1350" dirty="0">
                <a:solidFill>
                  <a:srgbClr val="59636E"/>
                </a:solidFill>
                <a:latin typeface="Calibri" pitchFamily="34" charset="0"/>
                <a:ea typeface="Calibri" pitchFamily="34" charset="-122"/>
                <a:cs typeface="Calibri" pitchFamily="34" charset="-120"/>
              </a:rPr>
              <a:t>Wait 2 minutes, check Spam / Promotions, click Resend. Check the email address is spelled correctly.</a:t>
            </a:r>
            <a:endParaRPr lang="en-US" sz="1350" dirty="0"/>
          </a:p>
        </p:txBody>
      </p:sp>
      <p:sp>
        <p:nvSpPr>
          <p:cNvPr id="8" name="Shape 5"/>
          <p:cNvSpPr/>
          <p:nvPr/>
        </p:nvSpPr>
        <p:spPr>
          <a:xfrm>
            <a:off x="4297680" y="1463040"/>
            <a:ext cx="3520440" cy="2286000"/>
          </a:xfrm>
          <a:prstGeom prst="roundRect">
            <a:avLst>
              <a:gd name="adj" fmla="val 4800"/>
            </a:avLst>
          </a:prstGeom>
          <a:solidFill>
            <a:srgbClr val="F3F6F9"/>
          </a:solidFill>
          <a:ln w="12700">
            <a:solidFill>
              <a:srgbClr val="F3F6F9"/>
            </a:solidFill>
            <a:prstDash val="solid"/>
          </a:ln>
        </p:spPr>
        <p:txBody>
          <a:bodyPr/>
          <a:lstStyle/>
          <a:p>
            <a:endParaRPr lang="en-US"/>
          </a:p>
        </p:txBody>
      </p:sp>
      <p:sp>
        <p:nvSpPr>
          <p:cNvPr id="9" name="Shape 6"/>
          <p:cNvSpPr/>
          <p:nvPr/>
        </p:nvSpPr>
        <p:spPr>
          <a:xfrm>
            <a:off x="4572000" y="1737360"/>
            <a:ext cx="566928" cy="566928"/>
          </a:xfrm>
          <a:prstGeom prst="ellipse">
            <a:avLst/>
          </a:prstGeom>
          <a:solidFill>
            <a:srgbClr val="E8590C"/>
          </a:solidFill>
          <a:ln w="12700">
            <a:solidFill>
              <a:srgbClr val="E8590C"/>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713732" y="1879092"/>
            <a:ext cx="283464" cy="283464"/>
          </a:xfrm>
          <a:prstGeom prst="rect">
            <a:avLst/>
          </a:prstGeom>
        </p:spPr>
      </p:pic>
      <p:sp>
        <p:nvSpPr>
          <p:cNvPr id="11" name="Text 7"/>
          <p:cNvSpPr txBox="1"/>
          <p:nvPr/>
        </p:nvSpPr>
        <p:spPr>
          <a:xfrm>
            <a:off x="5303520" y="1737360"/>
            <a:ext cx="2377440" cy="566928"/>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Username already taken</a:t>
            </a:r>
            <a:endParaRPr lang="en-US" sz="1600" dirty="0"/>
          </a:p>
        </p:txBody>
      </p:sp>
      <p:sp>
        <p:nvSpPr>
          <p:cNvPr id="12" name="Text 8"/>
          <p:cNvSpPr txBox="1"/>
          <p:nvPr/>
        </p:nvSpPr>
        <p:spPr>
          <a:xfrm>
            <a:off x="4572000" y="2468880"/>
            <a:ext cx="3017520" cy="1188720"/>
          </a:xfrm>
          <a:prstGeom prst="rect">
            <a:avLst/>
          </a:prstGeom>
          <a:noFill/>
          <a:ln/>
        </p:spPr>
        <p:txBody>
          <a:bodyPr wrap="square" lIns="0" tIns="0" rIns="0" bIns="0" rtlCol="0" anchor="t"/>
          <a:lstStyle/>
          <a:p>
            <a:pPr marL="0" indent="0">
              <a:buNone/>
            </a:pPr>
            <a:r>
              <a:rPr lang="en-US" sz="1350" dirty="0">
                <a:solidFill>
                  <a:srgbClr val="59636E"/>
                </a:solidFill>
                <a:latin typeface="Calibri" pitchFamily="34" charset="0"/>
                <a:ea typeface="Calibri" pitchFamily="34" charset="-122"/>
                <a:cs typeface="Calibri" pitchFamily="34" charset="-120"/>
              </a:rPr>
              <a:t>Tell your instructor. Do not invent a different username.</a:t>
            </a:r>
            <a:endParaRPr lang="en-US" sz="1350" dirty="0"/>
          </a:p>
        </p:txBody>
      </p:sp>
      <p:sp>
        <p:nvSpPr>
          <p:cNvPr id="13" name="Shape 9"/>
          <p:cNvSpPr/>
          <p:nvPr/>
        </p:nvSpPr>
        <p:spPr>
          <a:xfrm>
            <a:off x="8046720" y="1463040"/>
            <a:ext cx="3520440" cy="2286000"/>
          </a:xfrm>
          <a:prstGeom prst="roundRect">
            <a:avLst>
              <a:gd name="adj" fmla="val 4800"/>
            </a:avLst>
          </a:prstGeom>
          <a:solidFill>
            <a:srgbClr val="F3F6F9"/>
          </a:solidFill>
          <a:ln w="12700">
            <a:solidFill>
              <a:srgbClr val="F3F6F9"/>
            </a:solidFill>
            <a:prstDash val="solid"/>
          </a:ln>
        </p:spPr>
        <p:txBody>
          <a:bodyPr/>
          <a:lstStyle/>
          <a:p>
            <a:endParaRPr lang="en-US"/>
          </a:p>
        </p:txBody>
      </p:sp>
      <p:sp>
        <p:nvSpPr>
          <p:cNvPr id="14" name="Shape 10"/>
          <p:cNvSpPr/>
          <p:nvPr/>
        </p:nvSpPr>
        <p:spPr>
          <a:xfrm>
            <a:off x="8321040" y="1737360"/>
            <a:ext cx="566928" cy="566928"/>
          </a:xfrm>
          <a:prstGeom prst="ellipse">
            <a:avLst/>
          </a:prstGeom>
          <a:solidFill>
            <a:srgbClr val="E8590C"/>
          </a:solidFill>
          <a:ln w="12700">
            <a:solidFill>
              <a:srgbClr val="E8590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462772" y="1879092"/>
            <a:ext cx="283464" cy="283464"/>
          </a:xfrm>
          <a:prstGeom prst="rect">
            <a:avLst/>
          </a:prstGeom>
        </p:spPr>
      </p:pic>
      <p:sp>
        <p:nvSpPr>
          <p:cNvPr id="16" name="Text 11"/>
          <p:cNvSpPr txBox="1"/>
          <p:nvPr/>
        </p:nvSpPr>
        <p:spPr>
          <a:xfrm>
            <a:off x="9052560" y="1737360"/>
            <a:ext cx="2377440" cy="566928"/>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Someone else's account opened</a:t>
            </a:r>
            <a:endParaRPr lang="en-US" sz="1600" dirty="0"/>
          </a:p>
        </p:txBody>
      </p:sp>
      <p:sp>
        <p:nvSpPr>
          <p:cNvPr id="17" name="Text 12"/>
          <p:cNvSpPr txBox="1"/>
          <p:nvPr/>
        </p:nvSpPr>
        <p:spPr>
          <a:xfrm>
            <a:off x="8321040" y="2468880"/>
            <a:ext cx="3017520" cy="1188720"/>
          </a:xfrm>
          <a:prstGeom prst="rect">
            <a:avLst/>
          </a:prstGeom>
          <a:noFill/>
          <a:ln/>
        </p:spPr>
        <p:txBody>
          <a:bodyPr wrap="square" lIns="0" tIns="0" rIns="0" bIns="0" rtlCol="0" anchor="t"/>
          <a:lstStyle/>
          <a:p>
            <a:pPr marL="0" indent="0">
              <a:buNone/>
            </a:pPr>
            <a:r>
              <a:rPr lang="en-US" sz="1350" dirty="0">
                <a:solidFill>
                  <a:srgbClr val="59636E"/>
                </a:solidFill>
                <a:latin typeface="Calibri" pitchFamily="34" charset="0"/>
                <a:ea typeface="Calibri" pitchFamily="34" charset="-122"/>
                <a:cs typeface="Calibri" pitchFamily="34" charset="-120"/>
              </a:rPr>
              <a:t>Close the window, open a fresh Incognito window, and sign in with your own details.</a:t>
            </a:r>
            <a:endParaRPr lang="en-US" sz="1350" dirty="0"/>
          </a:p>
        </p:txBody>
      </p:sp>
      <p:sp>
        <p:nvSpPr>
          <p:cNvPr id="18" name="Shape 13"/>
          <p:cNvSpPr/>
          <p:nvPr/>
        </p:nvSpPr>
        <p:spPr>
          <a:xfrm>
            <a:off x="548640" y="3977640"/>
            <a:ext cx="3520440" cy="2286000"/>
          </a:xfrm>
          <a:prstGeom prst="roundRect">
            <a:avLst>
              <a:gd name="adj" fmla="val 4800"/>
            </a:avLst>
          </a:prstGeom>
          <a:solidFill>
            <a:srgbClr val="F3F6F9"/>
          </a:solidFill>
          <a:ln w="12700">
            <a:solidFill>
              <a:srgbClr val="F3F6F9"/>
            </a:solidFill>
            <a:prstDash val="solid"/>
          </a:ln>
        </p:spPr>
        <p:txBody>
          <a:bodyPr/>
          <a:lstStyle/>
          <a:p>
            <a:endParaRPr lang="en-US"/>
          </a:p>
        </p:txBody>
      </p:sp>
      <p:sp>
        <p:nvSpPr>
          <p:cNvPr id="19" name="Shape 14"/>
          <p:cNvSpPr/>
          <p:nvPr/>
        </p:nvSpPr>
        <p:spPr>
          <a:xfrm>
            <a:off x="822960" y="4251960"/>
            <a:ext cx="566928" cy="566928"/>
          </a:xfrm>
          <a:prstGeom prst="ellipse">
            <a:avLst/>
          </a:prstGeom>
          <a:solidFill>
            <a:srgbClr val="E8590C"/>
          </a:solidFill>
          <a:ln w="12700">
            <a:solidFill>
              <a:srgbClr val="E8590C"/>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964692" y="4393692"/>
            <a:ext cx="283464" cy="283464"/>
          </a:xfrm>
          <a:prstGeom prst="rect">
            <a:avLst/>
          </a:prstGeom>
        </p:spPr>
      </p:pic>
      <p:sp>
        <p:nvSpPr>
          <p:cNvPr id="21" name="Text 15"/>
          <p:cNvSpPr txBox="1"/>
          <p:nvPr/>
        </p:nvSpPr>
        <p:spPr>
          <a:xfrm>
            <a:off x="1554480" y="4251960"/>
            <a:ext cx="2377440" cy="566928"/>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Wrong file uploaded</a:t>
            </a:r>
            <a:endParaRPr lang="en-US" sz="1600" dirty="0"/>
          </a:p>
        </p:txBody>
      </p:sp>
      <p:sp>
        <p:nvSpPr>
          <p:cNvPr id="22" name="Text 16"/>
          <p:cNvSpPr txBox="1"/>
          <p:nvPr/>
        </p:nvSpPr>
        <p:spPr>
          <a:xfrm>
            <a:off x="822960" y="4983480"/>
            <a:ext cx="3017520" cy="1188720"/>
          </a:xfrm>
          <a:prstGeom prst="rect">
            <a:avLst/>
          </a:prstGeom>
          <a:noFill/>
          <a:ln/>
        </p:spPr>
        <p:txBody>
          <a:bodyPr wrap="square" lIns="0" tIns="0" rIns="0" bIns="0" rtlCol="0" anchor="t"/>
          <a:lstStyle/>
          <a:p>
            <a:pPr marL="0" indent="0">
              <a:buNone/>
            </a:pPr>
            <a:r>
              <a:rPr lang="en-US" sz="1350" dirty="0">
                <a:solidFill>
                  <a:srgbClr val="59636E"/>
                </a:solidFill>
                <a:latin typeface="Calibri" pitchFamily="34" charset="0"/>
                <a:ea typeface="Calibri" pitchFamily="34" charset="-122"/>
                <a:cs typeface="Calibri" pitchFamily="34" charset="-120"/>
              </a:rPr>
              <a:t>Open the file → ⋯ menu → Delete file (this is also a commit), then upload the correct one.</a:t>
            </a:r>
            <a:endParaRPr lang="en-US" sz="1350" dirty="0"/>
          </a:p>
        </p:txBody>
      </p:sp>
      <p:sp>
        <p:nvSpPr>
          <p:cNvPr id="23" name="Shape 17"/>
          <p:cNvSpPr/>
          <p:nvPr/>
        </p:nvSpPr>
        <p:spPr>
          <a:xfrm>
            <a:off x="4297680" y="3977640"/>
            <a:ext cx="3520440" cy="2286000"/>
          </a:xfrm>
          <a:prstGeom prst="roundRect">
            <a:avLst>
              <a:gd name="adj" fmla="val 4800"/>
            </a:avLst>
          </a:prstGeom>
          <a:solidFill>
            <a:srgbClr val="F3F6F9"/>
          </a:solidFill>
          <a:ln w="12700">
            <a:solidFill>
              <a:srgbClr val="F3F6F9"/>
            </a:solidFill>
            <a:prstDash val="solid"/>
          </a:ln>
        </p:spPr>
        <p:txBody>
          <a:bodyPr/>
          <a:lstStyle/>
          <a:p>
            <a:endParaRPr lang="en-US"/>
          </a:p>
        </p:txBody>
      </p:sp>
      <p:sp>
        <p:nvSpPr>
          <p:cNvPr id="24" name="Shape 18"/>
          <p:cNvSpPr/>
          <p:nvPr/>
        </p:nvSpPr>
        <p:spPr>
          <a:xfrm>
            <a:off x="4572000" y="4251960"/>
            <a:ext cx="566928" cy="566928"/>
          </a:xfrm>
          <a:prstGeom prst="ellipse">
            <a:avLst/>
          </a:prstGeom>
          <a:solidFill>
            <a:srgbClr val="E8590C"/>
          </a:solidFill>
          <a:ln w="12700">
            <a:solidFill>
              <a:srgbClr val="E8590C"/>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4713732" y="4393692"/>
            <a:ext cx="283464" cy="283464"/>
          </a:xfrm>
          <a:prstGeom prst="rect">
            <a:avLst/>
          </a:prstGeom>
        </p:spPr>
      </p:pic>
      <p:sp>
        <p:nvSpPr>
          <p:cNvPr id="26" name="Text 19"/>
          <p:cNvSpPr txBox="1"/>
          <p:nvPr/>
        </p:nvSpPr>
        <p:spPr>
          <a:xfrm>
            <a:off x="5303520" y="4251960"/>
            <a:ext cx="2377440" cy="566928"/>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Typo in a file name</a:t>
            </a:r>
            <a:endParaRPr lang="en-US" sz="1600" dirty="0"/>
          </a:p>
        </p:txBody>
      </p:sp>
      <p:sp>
        <p:nvSpPr>
          <p:cNvPr id="27" name="Text 20"/>
          <p:cNvSpPr txBox="1"/>
          <p:nvPr/>
        </p:nvSpPr>
        <p:spPr>
          <a:xfrm>
            <a:off x="4572000" y="4983480"/>
            <a:ext cx="3017520" cy="1188720"/>
          </a:xfrm>
          <a:prstGeom prst="rect">
            <a:avLst/>
          </a:prstGeom>
          <a:noFill/>
          <a:ln/>
        </p:spPr>
        <p:txBody>
          <a:bodyPr wrap="square" lIns="0" tIns="0" rIns="0" bIns="0" rtlCol="0" anchor="t"/>
          <a:lstStyle/>
          <a:p>
            <a:pPr marL="0" indent="0">
              <a:buNone/>
            </a:pPr>
            <a:r>
              <a:rPr lang="en-US" sz="1350" dirty="0">
                <a:solidFill>
                  <a:srgbClr val="59636E"/>
                </a:solidFill>
                <a:latin typeface="Calibri" pitchFamily="34" charset="0"/>
                <a:ea typeface="Calibri" pitchFamily="34" charset="-122"/>
                <a:cs typeface="Calibri" pitchFamily="34" charset="-120"/>
              </a:rPr>
              <a:t>Edit the file and change the name in the name box at the top, then commit.</a:t>
            </a:r>
            <a:endParaRPr lang="en-US" sz="1350" dirty="0"/>
          </a:p>
        </p:txBody>
      </p:sp>
      <p:sp>
        <p:nvSpPr>
          <p:cNvPr id="28" name="Shape 21"/>
          <p:cNvSpPr/>
          <p:nvPr/>
        </p:nvSpPr>
        <p:spPr>
          <a:xfrm>
            <a:off x="8046720" y="3977640"/>
            <a:ext cx="3520440" cy="2286000"/>
          </a:xfrm>
          <a:prstGeom prst="roundRect">
            <a:avLst>
              <a:gd name="adj" fmla="val 4800"/>
            </a:avLst>
          </a:prstGeom>
          <a:solidFill>
            <a:srgbClr val="F3F6F9"/>
          </a:solidFill>
          <a:ln w="12700">
            <a:solidFill>
              <a:srgbClr val="F3F6F9"/>
            </a:solidFill>
            <a:prstDash val="solid"/>
          </a:ln>
        </p:spPr>
        <p:txBody>
          <a:bodyPr/>
          <a:lstStyle/>
          <a:p>
            <a:endParaRPr lang="en-US"/>
          </a:p>
        </p:txBody>
      </p:sp>
      <p:sp>
        <p:nvSpPr>
          <p:cNvPr id="29" name="Shape 22"/>
          <p:cNvSpPr/>
          <p:nvPr/>
        </p:nvSpPr>
        <p:spPr>
          <a:xfrm>
            <a:off x="8321040" y="4251960"/>
            <a:ext cx="566928" cy="566928"/>
          </a:xfrm>
          <a:prstGeom prst="ellipse">
            <a:avLst/>
          </a:prstGeom>
          <a:solidFill>
            <a:srgbClr val="E8590C"/>
          </a:solidFill>
          <a:ln w="12700">
            <a:solidFill>
              <a:srgbClr val="E8590C"/>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8462772" y="4393692"/>
            <a:ext cx="283464" cy="283464"/>
          </a:xfrm>
          <a:prstGeom prst="rect">
            <a:avLst/>
          </a:prstGeom>
        </p:spPr>
      </p:pic>
      <p:sp>
        <p:nvSpPr>
          <p:cNvPr id="31" name="Text 23"/>
          <p:cNvSpPr txBox="1"/>
          <p:nvPr/>
        </p:nvSpPr>
        <p:spPr>
          <a:xfrm>
            <a:off x="9052560" y="4251960"/>
            <a:ext cx="2377440" cy="566928"/>
          </a:xfrm>
          <a:prstGeom prst="rect">
            <a:avLst/>
          </a:prstGeom>
          <a:noFill/>
          <a:ln/>
        </p:spPr>
        <p:txBody>
          <a:bodyPr wrap="square" lIns="0" tIns="0" rIns="0" bIns="0" rtlCol="0" anchor="ctr"/>
          <a:lstStyle/>
          <a:p>
            <a:pPr marL="0" indent="0">
              <a:buNone/>
            </a:pPr>
            <a:r>
              <a:rPr lang="en-US" sz="1600" b="1" dirty="0">
                <a:solidFill>
                  <a:srgbClr val="1F2328"/>
                </a:solidFill>
                <a:latin typeface="Arial" pitchFamily="34" charset="0"/>
                <a:ea typeface="Arial" pitchFamily="34" charset="-122"/>
                <a:cs typeface="Arial" pitchFamily="34" charset="-120"/>
              </a:rPr>
              <a:t>Forgot password</a:t>
            </a:r>
            <a:endParaRPr lang="en-US" sz="1600" dirty="0"/>
          </a:p>
        </p:txBody>
      </p:sp>
      <p:sp>
        <p:nvSpPr>
          <p:cNvPr id="32" name="Text 24"/>
          <p:cNvSpPr txBox="1"/>
          <p:nvPr/>
        </p:nvSpPr>
        <p:spPr>
          <a:xfrm>
            <a:off x="8321040" y="4983480"/>
            <a:ext cx="3017520" cy="1188720"/>
          </a:xfrm>
          <a:prstGeom prst="rect">
            <a:avLst/>
          </a:prstGeom>
          <a:noFill/>
          <a:ln/>
        </p:spPr>
        <p:txBody>
          <a:bodyPr wrap="square" lIns="0" tIns="0" rIns="0" bIns="0" rtlCol="0" anchor="t"/>
          <a:lstStyle/>
          <a:p>
            <a:pPr marL="0" indent="0">
              <a:buNone/>
            </a:pPr>
            <a:r>
              <a:rPr lang="en-US" sz="1350" dirty="0">
                <a:solidFill>
                  <a:srgbClr val="59636E"/>
                </a:solidFill>
                <a:latin typeface="Calibri" pitchFamily="34" charset="0"/>
                <a:ea typeface="Calibri" pitchFamily="34" charset="-122"/>
                <a:cs typeface="Calibri" pitchFamily="34" charset="-120"/>
              </a:rPr>
              <a:t>On the sign-in page click “Forgot password?” and reset it via your email.</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760549" y="1872343"/>
            <a:ext cx="10058400" cy="3553097"/>
          </a:xfrm>
          <a:prstGeom prst="rect">
            <a:avLst/>
          </a:prstGeom>
          <a:noFill/>
          <a:ln/>
        </p:spPr>
        <p:txBody>
          <a:bodyPr wrap="square" lIns="0" tIns="0" rIns="0" bIns="0" rtlCol="0" anchor="ctr"/>
          <a:lstStyle/>
          <a:p>
            <a:pPr marL="0" indent="0">
              <a:buNone/>
            </a:pPr>
            <a:r>
              <a:rPr lang="en-US" sz="1600" b="1" u="sng" dirty="0">
                <a:solidFill>
                  <a:srgbClr val="FFFFFF"/>
                </a:solidFill>
                <a:latin typeface="Arial" pitchFamily="34" charset="0"/>
                <a:ea typeface="Arial" pitchFamily="34" charset="-122"/>
                <a:cs typeface="Arial" pitchFamily="34" charset="-120"/>
              </a:rPr>
              <a:t>For Queries:</a:t>
            </a:r>
          </a:p>
          <a:p>
            <a:pPr marL="0" indent="0">
              <a:buNone/>
            </a:pPr>
            <a:endParaRPr lang="en-US" sz="1600" b="1" dirty="0">
              <a:solidFill>
                <a:srgbClr val="FFFFFF"/>
              </a:solidFill>
              <a:latin typeface="Arial" pitchFamily="34" charset="0"/>
              <a:cs typeface="Arial" pitchFamily="34" charset="-120"/>
            </a:endParaRPr>
          </a:p>
          <a:p>
            <a:pPr marL="0" indent="0">
              <a:buNone/>
            </a:pPr>
            <a:r>
              <a:rPr lang="en-US" sz="1600" b="1" dirty="0">
                <a:solidFill>
                  <a:srgbClr val="FFFFFF"/>
                </a:solidFill>
                <a:latin typeface="Arial" pitchFamily="34" charset="0"/>
                <a:cs typeface="Arial" pitchFamily="34" charset="-120"/>
              </a:rPr>
              <a:t>Email me at </a:t>
            </a:r>
            <a:r>
              <a:rPr lang="en-US" sz="1600" b="1" dirty="0">
                <a:solidFill>
                  <a:srgbClr val="FFFFFF"/>
                </a:solidFill>
                <a:latin typeface="Arial" pitchFamily="34" charset="0"/>
                <a:cs typeface="Arial" pitchFamily="34" charset="-120"/>
                <a:hlinkClick r:id="rId3"/>
              </a:rPr>
              <a:t>fareeha.iqbal@ucp.edu.pk</a:t>
            </a:r>
            <a:br>
              <a:rPr lang="en-US" sz="1600" b="1" dirty="0">
                <a:solidFill>
                  <a:srgbClr val="FFFFFF"/>
                </a:solidFill>
                <a:latin typeface="Arial" pitchFamily="34" charset="0"/>
                <a:cs typeface="Arial" pitchFamily="34" charset="-120"/>
              </a:rPr>
            </a:br>
            <a:endParaRPr lang="en-US" sz="1600" b="1" dirty="0">
              <a:solidFill>
                <a:srgbClr val="FFFFFF"/>
              </a:solidFill>
              <a:latin typeface="Arial" pitchFamily="34" charset="0"/>
              <a:cs typeface="Arial" pitchFamily="34" charset="-120"/>
            </a:endParaRPr>
          </a:p>
          <a:p>
            <a:pPr marL="0" indent="0">
              <a:buNone/>
            </a:pPr>
            <a:br>
              <a:rPr lang="en-US" sz="1600" b="1" dirty="0">
                <a:solidFill>
                  <a:srgbClr val="FFFFFF"/>
                </a:solidFill>
                <a:latin typeface="Arial" pitchFamily="34" charset="0"/>
                <a:cs typeface="Arial" pitchFamily="34" charset="-120"/>
              </a:rPr>
            </a:br>
            <a:r>
              <a:rPr lang="en-US" sz="1600" b="1" u="sng" dirty="0">
                <a:solidFill>
                  <a:srgbClr val="FFFFFF"/>
                </a:solidFill>
                <a:latin typeface="Arial" pitchFamily="34" charset="0"/>
                <a:cs typeface="Arial" pitchFamily="34" charset="-120"/>
              </a:rPr>
              <a:t>Office Hours:</a:t>
            </a:r>
          </a:p>
          <a:p>
            <a:endParaRPr lang="en-US" sz="1600" b="1" dirty="0">
              <a:solidFill>
                <a:srgbClr val="FFFFFF"/>
              </a:solidFill>
              <a:latin typeface="Arial" pitchFamily="34" charset="0"/>
              <a:cs typeface="Arial" pitchFamily="34" charset="-120"/>
            </a:endParaRPr>
          </a:p>
          <a:p>
            <a:r>
              <a:rPr lang="en-US" sz="1600" b="1" dirty="0">
                <a:solidFill>
                  <a:srgbClr val="FFFFFF"/>
                </a:solidFill>
                <a:latin typeface="Arial" pitchFamily="34" charset="0"/>
                <a:cs typeface="Arial" pitchFamily="34" charset="-120"/>
              </a:rPr>
              <a:t>Wednesday : 11:00 AM – 1:00 PM</a:t>
            </a:r>
            <a:br>
              <a:rPr lang="en-US" sz="1600" b="1" dirty="0">
                <a:solidFill>
                  <a:srgbClr val="FFFFFF"/>
                </a:solidFill>
                <a:latin typeface="Arial" pitchFamily="34" charset="0"/>
                <a:cs typeface="Arial" pitchFamily="34" charset="-120"/>
              </a:rPr>
            </a:br>
            <a:r>
              <a:rPr lang="en-US" sz="1600" b="1" dirty="0">
                <a:solidFill>
                  <a:srgbClr val="FFFFFF"/>
                </a:solidFill>
                <a:latin typeface="Arial" pitchFamily="34" charset="0"/>
                <a:cs typeface="Arial" pitchFamily="34" charset="-120"/>
              </a:rPr>
              <a:t>Friday : 10:00 AM -12:30 PM</a:t>
            </a:r>
            <a:br>
              <a:rPr lang="en-US" sz="1600" b="1" dirty="0">
                <a:solidFill>
                  <a:srgbClr val="FFFFFF"/>
                </a:solidFill>
                <a:latin typeface="Arial" pitchFamily="34" charset="0"/>
                <a:cs typeface="Arial" pitchFamily="34" charset="-120"/>
              </a:rPr>
            </a:br>
            <a:br>
              <a:rPr lang="en-US" sz="1600" b="1" dirty="0">
                <a:solidFill>
                  <a:srgbClr val="FFFFFF"/>
                </a:solidFill>
                <a:latin typeface="Arial" pitchFamily="34" charset="0"/>
                <a:cs typeface="Arial" pitchFamily="34" charset="-120"/>
              </a:rPr>
            </a:br>
            <a:r>
              <a:rPr lang="en-US" sz="1600" b="1" u="sng" dirty="0">
                <a:solidFill>
                  <a:srgbClr val="FFFFFF"/>
                </a:solidFill>
                <a:latin typeface="Arial" pitchFamily="34" charset="0"/>
                <a:cs typeface="Arial" pitchFamily="34" charset="-120"/>
              </a:rPr>
              <a:t>Office Venue:</a:t>
            </a:r>
          </a:p>
          <a:p>
            <a:endParaRPr lang="en-US" sz="1600" b="1" u="sng" dirty="0">
              <a:solidFill>
                <a:srgbClr val="FFFFFF"/>
              </a:solidFill>
              <a:latin typeface="Arial" pitchFamily="34" charset="0"/>
              <a:cs typeface="Arial" pitchFamily="34" charset="-120"/>
            </a:endParaRPr>
          </a:p>
          <a:p>
            <a:r>
              <a:rPr lang="en-US" sz="1600" b="1" dirty="0">
                <a:solidFill>
                  <a:srgbClr val="FFFFFF"/>
                </a:solidFill>
                <a:latin typeface="Arial" pitchFamily="34" charset="0"/>
                <a:cs typeface="Arial" pitchFamily="34" charset="-120"/>
              </a:rPr>
              <a:t>A Building F301-Cabin 4</a:t>
            </a:r>
            <a:br>
              <a:rPr lang="en-US" sz="1600" b="1" dirty="0">
                <a:solidFill>
                  <a:srgbClr val="FFFFFF"/>
                </a:solidFill>
                <a:latin typeface="Arial" pitchFamily="34" charset="0"/>
                <a:cs typeface="Arial" pitchFamily="34" charset="-120"/>
              </a:rPr>
            </a:b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2545</Words>
  <Application>Microsoft Office PowerPoint</Application>
  <PresentationFormat>Widescreen</PresentationFormat>
  <Paragraphs>323</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01 - Getting Started with GitHub</dc:title>
  <dc:subject>PptxGenJS Presentation</dc:subject>
  <dc:creator>PptxGenJS</dc:creator>
  <cp:lastModifiedBy>Fareeha Iqbal</cp:lastModifiedBy>
  <cp:revision>3</cp:revision>
  <dcterms:created xsi:type="dcterms:W3CDTF">2026-10-07T07:25:11Z</dcterms:created>
  <dcterms:modified xsi:type="dcterms:W3CDTF">2026-10-07T07:37:37Z</dcterms:modified>
</cp:coreProperties>
</file>